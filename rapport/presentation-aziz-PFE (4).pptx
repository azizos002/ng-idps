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40"/>
  </p:notesMasterIdLst>
  <p:sldIdLst>
    <p:sldId id="257" r:id="rId5"/>
    <p:sldId id="258" r:id="rId6"/>
    <p:sldId id="371" r:id="rId7"/>
    <p:sldId id="260" r:id="rId8"/>
    <p:sldId id="261" r:id="rId9"/>
    <p:sldId id="262" r:id="rId10"/>
    <p:sldId id="443" r:id="rId11"/>
    <p:sldId id="386" r:id="rId12"/>
    <p:sldId id="391" r:id="rId13"/>
    <p:sldId id="423" r:id="rId14"/>
    <p:sldId id="425" r:id="rId15"/>
    <p:sldId id="441" r:id="rId16"/>
    <p:sldId id="426" r:id="rId17"/>
    <p:sldId id="428" r:id="rId18"/>
    <p:sldId id="429" r:id="rId19"/>
    <p:sldId id="430" r:id="rId20"/>
    <p:sldId id="431" r:id="rId21"/>
    <p:sldId id="432" r:id="rId22"/>
    <p:sldId id="433" r:id="rId23"/>
    <p:sldId id="434" r:id="rId24"/>
    <p:sldId id="435" r:id="rId25"/>
    <p:sldId id="436" r:id="rId26"/>
    <p:sldId id="437" r:id="rId27"/>
    <p:sldId id="438" r:id="rId28"/>
    <p:sldId id="439" r:id="rId29"/>
    <p:sldId id="440" r:id="rId30"/>
    <p:sldId id="387" r:id="rId31"/>
    <p:sldId id="374" r:id="rId32"/>
    <p:sldId id="376" r:id="rId33"/>
    <p:sldId id="384" r:id="rId34"/>
    <p:sldId id="388" r:id="rId35"/>
    <p:sldId id="419" r:id="rId36"/>
    <p:sldId id="418" r:id="rId37"/>
    <p:sldId id="420" r:id="rId38"/>
    <p:sldId id="442" r:id="rId39"/>
  </p:sldIdLst>
  <p:sldSz cx="18288000" cy="10287000"/>
  <p:notesSz cx="6858000" cy="9144000"/>
  <p:embeddedFontLst>
    <p:embeddedFont>
      <p:font typeface="Bricolage Grotesque Bold" panose="020B0604020202020204" charset="0"/>
      <p:regular r:id="rId41"/>
    </p:embeddedFont>
    <p:embeddedFont>
      <p:font typeface="Cambria Math" panose="02040503050406030204" pitchFamily="18" charset="0"/>
      <p:regular r:id="rId42"/>
    </p:embeddedFont>
    <p:embeddedFont>
      <p:font typeface="DejaVu Sans Light" panose="020B0604020202020204" charset="0"/>
      <p:regular r:id="rId43"/>
    </p:embeddedFont>
    <p:embeddedFont>
      <p:font typeface="Proxima Nova Bold" panose="020B0604020202020204" charset="0"/>
      <p:regular r:id="rId44"/>
    </p:embeddedFont>
    <p:embeddedFont>
      <p:font typeface="Times New Roman Bold" panose="02020803070505020304" pitchFamily="18" charset="0"/>
      <p:bold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F54"/>
    <a:srgbClr val="D6CAEE"/>
    <a:srgbClr val="101A30"/>
    <a:srgbClr val="7030A0"/>
    <a:srgbClr val="2FE1F5"/>
    <a:srgbClr val="E63950"/>
    <a:srgbClr val="29BDD1"/>
    <a:srgbClr val="9964CC"/>
    <a:srgbClr val="F0F7FE"/>
    <a:srgbClr val="2AC4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2EB210-6935-47B9-A79E-ED2E26868EA4}" v="47" dt="2026-10-13T21:09:52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38039" autoAdjust="0"/>
  </p:normalViewPr>
  <p:slideViewPr>
    <p:cSldViewPr snapToGrid="0">
      <p:cViewPr varScale="1">
        <p:scale>
          <a:sx n="21" d="100"/>
          <a:sy n="21" d="100"/>
        </p:scale>
        <p:origin x="2626" y="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-763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2.fntdata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notesMaster" Target="notesMasters/notesMaster1.xml"/><Relationship Id="rId45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font" Target="fonts/font3.fntdata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font" Target="fonts/font1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iz dhifaoui" userId="a71dd549-9a7f-4b11-be81-ce6baa9925ee" providerId="ADAL" clId="{CEE57F83-6CD5-4134-B006-AA689D2D216F}"/>
    <pc:docChg chg="undo custSel modSld">
      <pc:chgData name="aziz dhifaoui" userId="a71dd549-9a7f-4b11-be81-ce6baa9925ee" providerId="ADAL" clId="{CEE57F83-6CD5-4134-B006-AA689D2D216F}" dt="2026-10-13T21:14:50.658" v="313" actId="20577"/>
      <pc:docMkLst>
        <pc:docMk/>
      </pc:docMkLst>
      <pc:sldChg chg="modNotesTx">
        <pc:chgData name="aziz dhifaoui" userId="a71dd549-9a7f-4b11-be81-ce6baa9925ee" providerId="ADAL" clId="{CEE57F83-6CD5-4134-B006-AA689D2D216F}" dt="2026-10-13T21:10:31.558" v="308" actId="20577"/>
        <pc:sldMkLst>
          <pc:docMk/>
          <pc:sldMk cId="0" sldId="257"/>
        </pc:sldMkLst>
      </pc:sldChg>
      <pc:sldChg chg="modSp mod">
        <pc:chgData name="aziz dhifaoui" userId="a71dd549-9a7f-4b11-be81-ce6baa9925ee" providerId="ADAL" clId="{CEE57F83-6CD5-4134-B006-AA689D2D216F}" dt="2026-10-13T21:10:59.785" v="312" actId="20577"/>
        <pc:sldMkLst>
          <pc:docMk/>
          <pc:sldMk cId="0" sldId="258"/>
        </pc:sldMkLst>
        <pc:spChg chg="mod">
          <ac:chgData name="aziz dhifaoui" userId="a71dd549-9a7f-4b11-be81-ce6baa9925ee" providerId="ADAL" clId="{CEE57F83-6CD5-4134-B006-AA689D2D216F}" dt="2026-10-13T21:10:59.785" v="312" actId="20577"/>
          <ac:spMkLst>
            <pc:docMk/>
            <pc:sldMk cId="0" sldId="258"/>
            <ac:spMk id="24" creationId="{00000000-0000-0000-0000-000000000000}"/>
          </ac:spMkLst>
        </pc:spChg>
      </pc:sldChg>
      <pc:sldChg chg="modNotesTx">
        <pc:chgData name="aziz dhifaoui" userId="a71dd549-9a7f-4b11-be81-ce6baa9925ee" providerId="ADAL" clId="{CEE57F83-6CD5-4134-B006-AA689D2D216F}" dt="2026-10-13T20:33:21.114" v="68" actId="20577"/>
        <pc:sldMkLst>
          <pc:docMk/>
          <pc:sldMk cId="0" sldId="260"/>
        </pc:sldMkLst>
      </pc:sldChg>
      <pc:sldChg chg="modNotesTx">
        <pc:chgData name="aziz dhifaoui" userId="a71dd549-9a7f-4b11-be81-ce6baa9925ee" providerId="ADAL" clId="{CEE57F83-6CD5-4134-B006-AA689D2D216F}" dt="2026-10-13T20:35:32.455" v="75" actId="20577"/>
        <pc:sldMkLst>
          <pc:docMk/>
          <pc:sldMk cId="0" sldId="261"/>
        </pc:sldMkLst>
      </pc:sldChg>
      <pc:sldChg chg="modNotesTx">
        <pc:chgData name="aziz dhifaoui" userId="a71dd549-9a7f-4b11-be81-ce6baa9925ee" providerId="ADAL" clId="{CEE57F83-6CD5-4134-B006-AA689D2D216F}" dt="2026-10-13T20:35:59.859" v="76" actId="20577"/>
        <pc:sldMkLst>
          <pc:docMk/>
          <pc:sldMk cId="0" sldId="262"/>
        </pc:sldMkLst>
      </pc:sldChg>
      <pc:sldChg chg="modNotesTx">
        <pc:chgData name="aziz dhifaoui" userId="a71dd549-9a7f-4b11-be81-ce6baa9925ee" providerId="ADAL" clId="{CEE57F83-6CD5-4134-B006-AA689D2D216F}" dt="2026-10-13T21:14:50.658" v="313" actId="20577"/>
        <pc:sldMkLst>
          <pc:docMk/>
          <pc:sldMk cId="3269726701" sldId="371"/>
        </pc:sldMkLst>
      </pc:sldChg>
      <pc:sldChg chg="modNotesTx">
        <pc:chgData name="aziz dhifaoui" userId="a71dd549-9a7f-4b11-be81-ce6baa9925ee" providerId="ADAL" clId="{CEE57F83-6CD5-4134-B006-AA689D2D216F}" dt="2026-10-13T20:12:49.192" v="3" actId="20577"/>
        <pc:sldMkLst>
          <pc:docMk/>
          <pc:sldMk cId="2533728520" sldId="374"/>
        </pc:sldMkLst>
      </pc:sldChg>
      <pc:sldChg chg="modNotesTx">
        <pc:chgData name="aziz dhifaoui" userId="a71dd549-9a7f-4b11-be81-ce6baa9925ee" providerId="ADAL" clId="{CEE57F83-6CD5-4134-B006-AA689D2D216F}" dt="2026-10-13T20:17:46.998" v="43" actId="20577"/>
        <pc:sldMkLst>
          <pc:docMk/>
          <pc:sldMk cId="180052311" sldId="384"/>
        </pc:sldMkLst>
      </pc:sldChg>
      <pc:sldChg chg="modNotesTx">
        <pc:chgData name="aziz dhifaoui" userId="a71dd549-9a7f-4b11-be81-ce6baa9925ee" providerId="ADAL" clId="{CEE57F83-6CD5-4134-B006-AA689D2D216F}" dt="2026-10-13T20:12:44.561" v="1" actId="20577"/>
        <pc:sldMkLst>
          <pc:docMk/>
          <pc:sldMk cId="4140363702" sldId="387"/>
        </pc:sldMkLst>
      </pc:sldChg>
      <pc:sldChg chg="modNotesTx">
        <pc:chgData name="aziz dhifaoui" userId="a71dd549-9a7f-4b11-be81-ce6baa9925ee" providerId="ADAL" clId="{CEE57F83-6CD5-4134-B006-AA689D2D216F}" dt="2026-10-13T20:17:38.098" v="42" actId="20577"/>
        <pc:sldMkLst>
          <pc:docMk/>
          <pc:sldMk cId="2495716551" sldId="388"/>
        </pc:sldMkLst>
      </pc:sldChg>
      <pc:sldChg chg="modNotesTx">
        <pc:chgData name="aziz dhifaoui" userId="a71dd549-9a7f-4b11-be81-ce6baa9925ee" providerId="ADAL" clId="{CEE57F83-6CD5-4134-B006-AA689D2D216F}" dt="2026-10-13T20:42:24.607" v="229" actId="20577"/>
        <pc:sldMkLst>
          <pc:docMk/>
          <pc:sldMk cId="1557206270" sldId="391"/>
        </pc:sldMkLst>
      </pc:sldChg>
      <pc:sldChg chg="modNotesTx">
        <pc:chgData name="aziz dhifaoui" userId="a71dd549-9a7f-4b11-be81-ce6baa9925ee" providerId="ADAL" clId="{CEE57F83-6CD5-4134-B006-AA689D2D216F}" dt="2026-10-13T20:21:47.272" v="47" actId="20577"/>
        <pc:sldMkLst>
          <pc:docMk/>
          <pc:sldMk cId="2655830711" sldId="418"/>
        </pc:sldMkLst>
      </pc:sldChg>
      <pc:sldChg chg="modNotesTx">
        <pc:chgData name="aziz dhifaoui" userId="a71dd549-9a7f-4b11-be81-ce6baa9925ee" providerId="ADAL" clId="{CEE57F83-6CD5-4134-B006-AA689D2D216F}" dt="2026-10-13T20:16:58.641" v="41" actId="20577"/>
        <pc:sldMkLst>
          <pc:docMk/>
          <pc:sldMk cId="491428751" sldId="419"/>
        </pc:sldMkLst>
      </pc:sldChg>
      <pc:sldChg chg="addSp">
        <pc:chgData name="aziz dhifaoui" userId="a71dd549-9a7f-4b11-be81-ce6baa9925ee" providerId="ADAL" clId="{CEE57F83-6CD5-4134-B006-AA689D2D216F}" dt="2026-10-13T14:57:37.653" v="0"/>
        <pc:sldMkLst>
          <pc:docMk/>
          <pc:sldMk cId="4166168400" sldId="428"/>
        </pc:sldMkLst>
        <pc:picChg chg="add">
          <ac:chgData name="aziz dhifaoui" userId="a71dd549-9a7f-4b11-be81-ce6baa9925ee" providerId="ADAL" clId="{CEE57F83-6CD5-4134-B006-AA689D2D216F}" dt="2026-10-13T14:57:37.653" v="0"/>
          <ac:picMkLst>
            <pc:docMk/>
            <pc:sldMk cId="4166168400" sldId="428"/>
            <ac:picMk id="16" creationId="{570A2664-7184-C1EC-88C4-184BEE434CE9}"/>
          </ac:picMkLst>
        </pc:picChg>
      </pc:sldChg>
      <pc:sldChg chg="modSp mod modNotesTx">
        <pc:chgData name="aziz dhifaoui" userId="a71dd549-9a7f-4b11-be81-ce6baa9925ee" providerId="ADAL" clId="{CEE57F83-6CD5-4134-B006-AA689D2D216F}" dt="2026-10-13T20:41:49.770" v="225" actId="20577"/>
        <pc:sldMkLst>
          <pc:docMk/>
          <pc:sldMk cId="1635312907" sldId="443"/>
        </pc:sldMkLst>
        <pc:spChg chg="mod">
          <ac:chgData name="aziz dhifaoui" userId="a71dd549-9a7f-4b11-be81-ce6baa9925ee" providerId="ADAL" clId="{CEE57F83-6CD5-4134-B006-AA689D2D216F}" dt="2026-10-13T20:39:23.686" v="129" actId="1037"/>
          <ac:spMkLst>
            <pc:docMk/>
            <pc:sldMk cId="1635312907" sldId="443"/>
            <ac:spMk id="10" creationId="{470260F1-7E31-7FAF-CF22-D38592B6C0C9}"/>
          </ac:spMkLst>
        </pc:spChg>
        <pc:spChg chg="mod">
          <ac:chgData name="aziz dhifaoui" userId="a71dd549-9a7f-4b11-be81-ce6baa9925ee" providerId="ADAL" clId="{CEE57F83-6CD5-4134-B006-AA689D2D216F}" dt="2026-10-13T20:40:27.289" v="207" actId="1037"/>
          <ac:spMkLst>
            <pc:docMk/>
            <pc:sldMk cId="1635312907" sldId="443"/>
            <ac:spMk id="12" creationId="{DB794B12-F7B5-E4E7-A605-4B848C683865}"/>
          </ac:spMkLst>
        </pc:spChg>
        <pc:spChg chg="mod">
          <ac:chgData name="aziz dhifaoui" userId="a71dd549-9a7f-4b11-be81-ce6baa9925ee" providerId="ADAL" clId="{CEE57F83-6CD5-4134-B006-AA689D2D216F}" dt="2026-10-13T20:39:19.613" v="126"/>
          <ac:spMkLst>
            <pc:docMk/>
            <pc:sldMk cId="1635312907" sldId="443"/>
            <ac:spMk id="17" creationId="{63A228A6-08C5-4723-156A-87F1730B44FA}"/>
          </ac:spMkLst>
        </pc:spChg>
        <pc:spChg chg="mod">
          <ac:chgData name="aziz dhifaoui" userId="a71dd549-9a7f-4b11-be81-ce6baa9925ee" providerId="ADAL" clId="{CEE57F83-6CD5-4134-B006-AA689D2D216F}" dt="2026-10-13T20:40:19.860" v="202" actId="120"/>
          <ac:spMkLst>
            <pc:docMk/>
            <pc:sldMk cId="1635312907" sldId="443"/>
            <ac:spMk id="22" creationId="{F10F3CEC-1492-0064-C290-BE07E43F3F2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01CE8C-F70D-4249-B48F-02DF46090E5C}" type="datetimeFigureOut">
              <a:rPr lang="fr-TN" smtClean="0"/>
              <a:t>10/13/2026</a:t>
            </a:fld>
            <a:endParaRPr lang="fr-TN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TN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TN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TN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416125-8C64-4F60-9C47-92B1855ADCC6}" type="slidenum">
              <a:rPr lang="fr-TN" smtClean="0"/>
              <a:t>‹#›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533656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Bonjour </a:t>
            </a:r>
            <a:r>
              <a:rPr lang="en-US" dirty="0" err="1"/>
              <a:t>Monsieurs</a:t>
            </a:r>
            <a:r>
              <a:rPr lang="en-US" dirty="0"/>
              <a:t> les members de juries,</a:t>
            </a:r>
            <a:br>
              <a:rPr lang="en-US" dirty="0"/>
            </a:br>
            <a:r>
              <a:rPr lang="en-US" dirty="0"/>
              <a:t>——————————————————————————————————————————</a:t>
            </a:r>
            <a:br>
              <a:rPr lang="en-US" dirty="0"/>
            </a:br>
            <a:r>
              <a:rPr lang="en-US" dirty="0"/>
              <a:t>Je suis Aziz Dhifaoui, </a:t>
            </a:r>
            <a:r>
              <a:rPr lang="en-US" dirty="0" err="1"/>
              <a:t>étudiant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2ème </a:t>
            </a:r>
            <a:r>
              <a:rPr lang="en-US" dirty="0" err="1"/>
              <a:t>année</a:t>
            </a:r>
            <a:r>
              <a:rPr lang="en-US" dirty="0"/>
              <a:t> </a:t>
            </a:r>
            <a:r>
              <a:rPr lang="en-US" dirty="0" err="1"/>
              <a:t>Mastère</a:t>
            </a:r>
            <a:r>
              <a:rPr lang="en-US" dirty="0"/>
              <a:t> Expert Réseaux</a:t>
            </a:r>
          </a:p>
          <a:p>
            <a:r>
              <a:rPr lang="en-US" dirty="0"/>
              <a:t>——————————————————————————————————————————</a:t>
            </a:r>
          </a:p>
          <a:p>
            <a:r>
              <a:rPr lang="en-US" dirty="0"/>
              <a:t>Je </a:t>
            </a:r>
            <a:r>
              <a:rPr lang="en-US" dirty="0" err="1"/>
              <a:t>tiens</a:t>
            </a:r>
            <a:r>
              <a:rPr lang="en-US" dirty="0"/>
              <a:t> tout </a:t>
            </a:r>
            <a:r>
              <a:rPr lang="en-US" dirty="0" err="1"/>
              <a:t>d’abord</a:t>
            </a:r>
            <a:r>
              <a:rPr lang="en-US" dirty="0"/>
              <a:t> à </a:t>
            </a:r>
            <a:r>
              <a:rPr lang="en-US" dirty="0" err="1"/>
              <a:t>remercier</a:t>
            </a:r>
            <a:r>
              <a:rPr lang="en-US" dirty="0"/>
              <a:t> Monsieur le </a:t>
            </a:r>
            <a:r>
              <a:rPr lang="en-US" dirty="0" err="1"/>
              <a:t>Président</a:t>
            </a:r>
            <a:r>
              <a:rPr lang="en-US" dirty="0"/>
              <a:t> et Monsieur le Rapporteur, pour </a:t>
            </a:r>
            <a:r>
              <a:rPr lang="en-US" dirty="0" err="1"/>
              <a:t>l’intérêt</a:t>
            </a:r>
            <a:r>
              <a:rPr lang="en-US" dirty="0"/>
              <a:t> </a:t>
            </a:r>
            <a:r>
              <a:rPr lang="en-US" dirty="0" err="1"/>
              <a:t>qu’ils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bien voulu porter à </a:t>
            </a:r>
            <a:r>
              <a:rPr lang="en-US" dirty="0" err="1"/>
              <a:t>mon</a:t>
            </a:r>
            <a:r>
              <a:rPr lang="en-US" dirty="0"/>
              <a:t> travail </a:t>
            </a:r>
            <a:r>
              <a:rPr lang="en-US" dirty="0" err="1"/>
              <a:t>en</a:t>
            </a:r>
            <a:r>
              <a:rPr lang="en-US" dirty="0"/>
              <a:t> acceptant de faire </a:t>
            </a:r>
            <a:r>
              <a:rPr lang="en-US" dirty="0" err="1"/>
              <a:t>partie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jury,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Monsieur Hamdi </a:t>
            </a:r>
            <a:r>
              <a:rPr lang="en-US" dirty="0" err="1"/>
              <a:t>Aloulou</a:t>
            </a:r>
            <a:r>
              <a:rPr lang="en-US" dirty="0"/>
              <a:t>, pour son </a:t>
            </a:r>
            <a:r>
              <a:rPr lang="en-US" dirty="0" err="1"/>
              <a:t>soutien</a:t>
            </a:r>
            <a:r>
              <a:rPr lang="en-US" dirty="0"/>
              <a:t> et son </a:t>
            </a:r>
            <a:r>
              <a:rPr lang="en-US" dirty="0" err="1"/>
              <a:t>encadrement</a:t>
            </a:r>
            <a:r>
              <a:rPr lang="en-US" dirty="0"/>
              <a:t> </a:t>
            </a:r>
            <a:r>
              <a:rPr lang="en-US" dirty="0" err="1"/>
              <a:t>infinis</a:t>
            </a:r>
            <a:r>
              <a:rPr lang="en-US" dirty="0"/>
              <a:t> tout au long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  <a:p>
            <a:r>
              <a:rPr lang="en-US" dirty="0"/>
              <a:t>——————————————————————————————————————————</a:t>
            </a:r>
          </a:p>
          <a:p>
            <a:r>
              <a:rPr lang="en-US" dirty="0" err="1"/>
              <a:t>J’ai</a:t>
            </a:r>
            <a:r>
              <a:rPr lang="en-US" dirty="0"/>
              <a:t> le plaisir de vous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 de fin </a:t>
            </a:r>
            <a:r>
              <a:rPr lang="en-US" dirty="0" err="1"/>
              <a:t>d’études</a:t>
            </a:r>
            <a:r>
              <a:rPr lang="en-US" dirty="0"/>
              <a:t>, </a:t>
            </a:r>
            <a:r>
              <a:rPr lang="en-US" dirty="0" err="1"/>
              <a:t>intitulé</a:t>
            </a:r>
            <a:r>
              <a:rPr lang="en-US" dirty="0"/>
              <a:t> </a:t>
            </a:r>
            <a:r>
              <a:rPr lang="en-US" b="1" dirty="0"/>
              <a:t>« NG-IDPS : </a:t>
            </a:r>
            <a:r>
              <a:rPr lang="en-US" b="1" dirty="0" err="1"/>
              <a:t>Plateforme</a:t>
            </a:r>
            <a:r>
              <a:rPr lang="en-US" b="1" dirty="0"/>
              <a:t> </a:t>
            </a:r>
            <a:r>
              <a:rPr lang="en-US" b="1" dirty="0" err="1"/>
              <a:t>autonome</a:t>
            </a:r>
            <a:r>
              <a:rPr lang="en-US" b="1" dirty="0"/>
              <a:t> de </a:t>
            </a:r>
            <a:r>
              <a:rPr lang="en-US" b="1" dirty="0" err="1"/>
              <a:t>cyberdéfense</a:t>
            </a:r>
            <a:r>
              <a:rPr lang="en-US" b="1" dirty="0"/>
              <a:t> pour la </a:t>
            </a:r>
            <a:r>
              <a:rPr lang="en-US" b="1" dirty="0" err="1"/>
              <a:t>détection</a:t>
            </a:r>
            <a:r>
              <a:rPr lang="en-US" b="1" dirty="0"/>
              <a:t> et la </a:t>
            </a:r>
            <a:r>
              <a:rPr lang="en-US" b="1" dirty="0" err="1"/>
              <a:t>prévention</a:t>
            </a:r>
            <a:r>
              <a:rPr lang="en-US" b="1" dirty="0"/>
              <a:t> des </a:t>
            </a:r>
            <a:r>
              <a:rPr lang="en-US" b="1" dirty="0" err="1"/>
              <a:t>cyberattaques</a:t>
            </a:r>
            <a:r>
              <a:rPr lang="en-US" b="1" dirty="0"/>
              <a:t> 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38143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vous guider tout au long de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présentation</a:t>
            </a:r>
            <a:r>
              <a:rPr lang="en-US" dirty="0"/>
              <a:t>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structuré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exposé </a:t>
            </a:r>
            <a:r>
              <a:rPr lang="en-US" dirty="0" err="1"/>
              <a:t>en</a:t>
            </a:r>
            <a:r>
              <a:rPr lang="en-US" dirty="0"/>
              <a:t> quatre parties </a:t>
            </a:r>
            <a:r>
              <a:rPr lang="en-US" dirty="0" err="1"/>
              <a:t>principales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488552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Laissez-moi commencer par </a:t>
            </a:r>
            <a:r>
              <a:rPr lang="en-US" dirty="0" err="1"/>
              <a:t>une</a:t>
            </a:r>
            <a:r>
              <a:rPr lang="en-US" dirty="0"/>
              <a:t> image.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Imaginez</a:t>
            </a:r>
            <a:r>
              <a:rPr lang="en-US" dirty="0"/>
              <a:t> un </a:t>
            </a:r>
            <a:r>
              <a:rPr lang="en-US" dirty="0" err="1"/>
              <a:t>administrateur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, seul </a:t>
            </a:r>
            <a:r>
              <a:rPr lang="en-US" dirty="0" err="1"/>
              <a:t>responsable</a:t>
            </a:r>
            <a:r>
              <a:rPr lang="en-US" dirty="0"/>
              <a:t> de la sécurité d’un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Sa </a:t>
            </a:r>
            <a:r>
              <a:rPr lang="en-US" dirty="0" err="1"/>
              <a:t>journée</a:t>
            </a:r>
            <a:r>
              <a:rPr lang="en-US" dirty="0"/>
              <a:t> de travail se </a:t>
            </a:r>
            <a:r>
              <a:rPr lang="en-US" dirty="0" err="1"/>
              <a:t>termine</a:t>
            </a:r>
            <a:r>
              <a:rPr lang="en-US" dirty="0"/>
              <a:t>. Mais son réseau, </a:t>
            </a:r>
            <a:r>
              <a:rPr lang="en-US" dirty="0" err="1"/>
              <a:t>lui</a:t>
            </a:r>
            <a:r>
              <a:rPr lang="en-US" dirty="0"/>
              <a:t>, ne </a:t>
            </a:r>
            <a:r>
              <a:rPr lang="en-US" dirty="0" err="1"/>
              <a:t>s’arrête</a:t>
            </a:r>
            <a:r>
              <a:rPr lang="en-US" dirty="0"/>
              <a:t> jamais.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Il continue de </a:t>
            </a:r>
            <a:r>
              <a:rPr lang="en-US" dirty="0" err="1"/>
              <a:t>recevoir</a:t>
            </a:r>
            <a:r>
              <a:rPr lang="en-US" dirty="0"/>
              <a:t> du </a:t>
            </a:r>
            <a:r>
              <a:rPr lang="en-US" dirty="0" err="1"/>
              <a:t>trafic</a:t>
            </a:r>
            <a:r>
              <a:rPr lang="en-US" dirty="0"/>
              <a:t>, sans pause.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différence</a:t>
            </a:r>
            <a:r>
              <a:rPr lang="en-US" dirty="0"/>
              <a:t> qui a </a:t>
            </a:r>
            <a:r>
              <a:rPr lang="en-US" dirty="0" err="1"/>
              <a:t>motivé</a:t>
            </a:r>
            <a:r>
              <a:rPr lang="en-US" dirty="0"/>
              <a:t> </a:t>
            </a:r>
            <a:r>
              <a:rPr lang="en-US" dirty="0" err="1"/>
              <a:t>mon</a:t>
            </a:r>
            <a:r>
              <a:rPr lang="en-US" dirty="0"/>
              <a:t> travail : </a:t>
            </a:r>
            <a:r>
              <a:rPr lang="en-US" dirty="0" err="1"/>
              <a:t>une</a:t>
            </a:r>
            <a:r>
              <a:rPr lang="en-US" dirty="0"/>
              <a:t> menace </a:t>
            </a:r>
            <a:r>
              <a:rPr lang="en-US" dirty="0" err="1"/>
              <a:t>toujours</a:t>
            </a:r>
            <a:r>
              <a:rPr lang="en-US" dirty="0"/>
              <a:t> </a:t>
            </a:r>
            <a:r>
              <a:rPr lang="en-US" dirty="0" err="1"/>
              <a:t>présente</a:t>
            </a:r>
            <a:r>
              <a:rPr lang="en-US" dirty="0"/>
              <a:t>, face à </a:t>
            </a:r>
            <a:r>
              <a:rPr lang="en-US" dirty="0" err="1"/>
              <a:t>une</a:t>
            </a:r>
            <a:r>
              <a:rPr lang="en-US" dirty="0"/>
              <a:t> surveillance humaine </a:t>
            </a:r>
            <a:r>
              <a:rPr lang="en-US" dirty="0" err="1"/>
              <a:t>forcément</a:t>
            </a:r>
            <a:r>
              <a:rPr lang="en-US" dirty="0"/>
              <a:t> </a:t>
            </a:r>
            <a:r>
              <a:rPr lang="en-US" dirty="0" err="1"/>
              <a:t>limitée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un </a:t>
            </a:r>
            <a:r>
              <a:rPr lang="en-US" dirty="0" err="1"/>
              <a:t>cas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la situation de la </a:t>
            </a:r>
            <a:r>
              <a:rPr lang="en-US" dirty="0" err="1"/>
              <a:t>plupart</a:t>
            </a:r>
            <a:r>
              <a:rPr lang="en-US" dirty="0"/>
              <a:t> des PME </a:t>
            </a:r>
            <a:r>
              <a:rPr lang="en-US" dirty="0" err="1"/>
              <a:t>aujourd’hui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Elles </a:t>
            </a:r>
            <a:r>
              <a:rPr lang="en-US" dirty="0" err="1"/>
              <a:t>n’ont</a:t>
            </a:r>
            <a:r>
              <a:rPr lang="en-US" dirty="0"/>
              <a:t> </a:t>
            </a:r>
            <a:r>
              <a:rPr lang="en-US" dirty="0" err="1"/>
              <a:t>ni</a:t>
            </a:r>
            <a:r>
              <a:rPr lang="en-US" dirty="0"/>
              <a:t> </a:t>
            </a:r>
            <a:r>
              <a:rPr lang="en-US" dirty="0" err="1"/>
              <a:t>l’équipe</a:t>
            </a:r>
            <a:r>
              <a:rPr lang="en-US" dirty="0"/>
              <a:t>, </a:t>
            </a:r>
            <a:r>
              <a:rPr lang="en-US" dirty="0" err="1"/>
              <a:t>ni</a:t>
            </a:r>
            <a:r>
              <a:rPr lang="en-US" dirty="0"/>
              <a:t> le budget, pour </a:t>
            </a:r>
            <a:r>
              <a:rPr lang="en-US" dirty="0" err="1"/>
              <a:t>une</a:t>
            </a:r>
            <a:r>
              <a:rPr lang="en-US" dirty="0"/>
              <a:t> sécurité disponible </a:t>
            </a:r>
            <a:r>
              <a:rPr lang="en-US" dirty="0" err="1"/>
              <a:t>en</a:t>
            </a:r>
            <a:r>
              <a:rPr lang="en-US" dirty="0"/>
              <a:t> permanence.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Elles </a:t>
            </a:r>
            <a:r>
              <a:rPr lang="en-US" dirty="0" err="1"/>
              <a:t>n’ont</a:t>
            </a:r>
            <a:r>
              <a:rPr lang="en-US" dirty="0"/>
              <a:t> pas les moyens des </a:t>
            </a:r>
            <a:r>
              <a:rPr lang="en-US" dirty="0" err="1"/>
              <a:t>grandes</a:t>
            </a:r>
            <a:r>
              <a:rPr lang="en-US" dirty="0"/>
              <a:t> </a:t>
            </a:r>
            <a:r>
              <a:rPr lang="en-US" dirty="0" err="1"/>
              <a:t>plateformes</a:t>
            </a:r>
            <a:r>
              <a:rPr lang="en-US" dirty="0"/>
              <a:t> </a:t>
            </a:r>
            <a:r>
              <a:rPr lang="en-US" dirty="0" err="1"/>
              <a:t>commerciales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Or un point est </a:t>
            </a:r>
            <a:r>
              <a:rPr lang="en-US" dirty="0" err="1"/>
              <a:t>essentiel</a:t>
            </a:r>
            <a:r>
              <a:rPr lang="en-US" dirty="0"/>
              <a:t>, et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celui</a:t>
            </a:r>
            <a:r>
              <a:rPr lang="en-US" dirty="0"/>
              <a:t> qui a </a:t>
            </a:r>
            <a:r>
              <a:rPr lang="en-US" dirty="0" err="1"/>
              <a:t>guidé</a:t>
            </a:r>
            <a:r>
              <a:rPr lang="en-US" dirty="0"/>
              <a:t> toute ma </a:t>
            </a:r>
            <a:r>
              <a:rPr lang="en-US" dirty="0" err="1"/>
              <a:t>réflexion</a:t>
            </a:r>
            <a:r>
              <a:rPr lang="en-US" dirty="0"/>
              <a:t> : plus le </a:t>
            </a:r>
            <a:r>
              <a:rPr lang="en-US" dirty="0" err="1"/>
              <a:t>délai</a:t>
            </a:r>
            <a:r>
              <a:rPr lang="en-US" dirty="0"/>
              <a:t> entre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et la </a:t>
            </a:r>
            <a:r>
              <a:rPr lang="en-US" dirty="0" err="1"/>
              <a:t>réponse</a:t>
            </a:r>
            <a:r>
              <a:rPr lang="en-US" dirty="0"/>
              <a:t> est court, plus les </a:t>
            </a:r>
            <a:r>
              <a:rPr lang="en-US" dirty="0" err="1"/>
              <a:t>dégâts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limités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À </a:t>
            </a:r>
            <a:r>
              <a:rPr lang="en-US" dirty="0" err="1"/>
              <a:t>l’inverse</a:t>
            </a:r>
            <a:r>
              <a:rPr lang="en-US" dirty="0"/>
              <a:t>, plus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délai</a:t>
            </a:r>
            <a:r>
              <a:rPr lang="en-US" dirty="0"/>
              <a:t> </a:t>
            </a:r>
            <a:r>
              <a:rPr lang="en-US" dirty="0" err="1"/>
              <a:t>s’allonge</a:t>
            </a:r>
            <a:r>
              <a:rPr lang="en-US" dirty="0"/>
              <a:t>, plus </a:t>
            </a:r>
            <a:r>
              <a:rPr lang="en-US" dirty="0" err="1"/>
              <a:t>l’attaquant</a:t>
            </a:r>
            <a:r>
              <a:rPr lang="en-US" dirty="0"/>
              <a:t> a le temps </a:t>
            </a:r>
            <a:r>
              <a:rPr lang="en-US" dirty="0" err="1"/>
              <a:t>d’agir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problème</a:t>
            </a:r>
            <a:r>
              <a:rPr lang="en-US" dirty="0"/>
              <a:t> qui est au </a:t>
            </a:r>
            <a:r>
              <a:rPr lang="en-US" dirty="0" err="1"/>
              <a:t>cœur</a:t>
            </a:r>
            <a:r>
              <a:rPr lang="en-US" dirty="0"/>
              <a:t> de </a:t>
            </a:r>
            <a:r>
              <a:rPr lang="en-US" dirty="0" err="1"/>
              <a:t>mon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 : comment </a:t>
            </a:r>
            <a:r>
              <a:rPr lang="en-US" dirty="0" err="1"/>
              <a:t>réagir</a:t>
            </a:r>
            <a:r>
              <a:rPr lang="en-US" dirty="0"/>
              <a:t> </a:t>
            </a:r>
            <a:r>
              <a:rPr lang="en-US" dirty="0" err="1"/>
              <a:t>vite</a:t>
            </a:r>
            <a:r>
              <a:rPr lang="en-US" dirty="0"/>
              <a:t>, et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continu</a:t>
            </a:r>
            <a:r>
              <a:rPr lang="en-US" dirty="0"/>
              <a:t>, sans </a:t>
            </a:r>
            <a:r>
              <a:rPr lang="en-US" dirty="0" err="1"/>
              <a:t>dépendre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personne</a:t>
            </a:r>
            <a:r>
              <a:rPr lang="en-US" dirty="0"/>
              <a:t> derrière un </a:t>
            </a:r>
            <a:r>
              <a:rPr lang="en-US" dirty="0" err="1"/>
              <a:t>écran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</a:t>
            </a:r>
            <a:r>
              <a:rPr lang="en-US" dirty="0" err="1"/>
              <a:t>présenter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problème</a:t>
            </a:r>
            <a:r>
              <a:rPr lang="en-US" dirty="0"/>
              <a:t> à travers cinq </a:t>
            </a:r>
            <a:r>
              <a:rPr lang="en-US" dirty="0" err="1"/>
              <a:t>défis</a:t>
            </a:r>
            <a:r>
              <a:rPr lang="en-US" dirty="0"/>
              <a:t> techniques précis.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032816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Cette </a:t>
            </a:r>
            <a:r>
              <a:rPr lang="en-US" dirty="0" err="1"/>
              <a:t>différence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viens</a:t>
            </a:r>
            <a:r>
              <a:rPr lang="en-US" dirty="0"/>
              <a:t> </a:t>
            </a:r>
            <a:r>
              <a:rPr lang="en-US" dirty="0" err="1"/>
              <a:t>d’expliquer</a:t>
            </a:r>
            <a:r>
              <a:rPr lang="en-US" dirty="0"/>
              <a:t> se </a:t>
            </a:r>
            <a:r>
              <a:rPr lang="en-US" dirty="0" err="1"/>
              <a:t>traduit</a:t>
            </a:r>
            <a:r>
              <a:rPr lang="en-US" dirty="0"/>
              <a:t>, </a:t>
            </a:r>
            <a:r>
              <a:rPr lang="en-US" dirty="0" err="1"/>
              <a:t>concrètement</a:t>
            </a:r>
            <a:r>
              <a:rPr lang="en-US" dirty="0"/>
              <a:t>, par cinq </a:t>
            </a:r>
            <a:r>
              <a:rPr lang="en-US" dirty="0" err="1"/>
              <a:t>défis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latence</a:t>
            </a:r>
            <a:r>
              <a:rPr lang="en-US" dirty="0"/>
              <a:t>. Une </a:t>
            </a:r>
            <a:r>
              <a:rPr lang="en-US" dirty="0" err="1"/>
              <a:t>décision</a:t>
            </a:r>
            <a:r>
              <a:rPr lang="en-US" dirty="0"/>
              <a:t> doit arriver très </a:t>
            </a:r>
            <a:r>
              <a:rPr lang="en-US" dirty="0" err="1"/>
              <a:t>vite</a:t>
            </a:r>
            <a:r>
              <a:rPr lang="en-US" dirty="0"/>
              <a:t>, </a:t>
            </a:r>
            <a:r>
              <a:rPr lang="en-US" dirty="0" err="1"/>
              <a:t>presque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temps </a:t>
            </a:r>
            <a:r>
              <a:rPr lang="en-US" dirty="0" err="1"/>
              <a:t>réel</a:t>
            </a:r>
            <a:r>
              <a:rPr lang="en-US" dirty="0"/>
              <a:t>. Sinon, </a:t>
            </a:r>
            <a:r>
              <a:rPr lang="en-US" dirty="0" err="1"/>
              <a:t>l’attaque</a:t>
            </a:r>
            <a:r>
              <a:rPr lang="en-US" dirty="0"/>
              <a:t> a déjà </a:t>
            </a:r>
            <a:r>
              <a:rPr lang="en-US" dirty="0" err="1"/>
              <a:t>réussi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b="1" dirty="0"/>
              <a:t>faux </a:t>
            </a:r>
            <a:r>
              <a:rPr lang="en-US" b="1" dirty="0" err="1"/>
              <a:t>positifs</a:t>
            </a:r>
            <a:r>
              <a:rPr lang="en-US" dirty="0"/>
              <a:t>. Si le </a:t>
            </a:r>
            <a:r>
              <a:rPr lang="en-US" dirty="0" err="1"/>
              <a:t>système</a:t>
            </a:r>
            <a:r>
              <a:rPr lang="en-US" dirty="0"/>
              <a:t> se trompe trop </a:t>
            </a:r>
            <a:r>
              <a:rPr lang="en-US" dirty="0" err="1"/>
              <a:t>souvent</a:t>
            </a:r>
            <a:r>
              <a:rPr lang="en-US" dirty="0"/>
              <a:t>, les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deviennent</a:t>
            </a:r>
            <a:r>
              <a:rPr lang="en-US" dirty="0"/>
              <a:t> </a:t>
            </a:r>
            <a:r>
              <a:rPr lang="en-US" dirty="0" err="1"/>
              <a:t>inutiles</a:t>
            </a:r>
            <a:r>
              <a:rPr lang="en-US" dirty="0"/>
              <a:t>. Il faut </a:t>
            </a:r>
            <a:r>
              <a:rPr lang="en-US" dirty="0" err="1"/>
              <a:t>rester</a:t>
            </a:r>
            <a:r>
              <a:rPr lang="en-US" dirty="0"/>
              <a:t> précis, sans </a:t>
            </a:r>
            <a:r>
              <a:rPr lang="en-US" dirty="0" err="1"/>
              <a:t>perdre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sensibilité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sont</a:t>
            </a:r>
            <a:r>
              <a:rPr lang="en-US" dirty="0"/>
              <a:t> les </a:t>
            </a:r>
            <a:r>
              <a:rPr lang="en-US" b="1" dirty="0" err="1"/>
              <a:t>comportements</a:t>
            </a:r>
            <a:r>
              <a:rPr lang="en-US" b="1" dirty="0"/>
              <a:t> inconnus</a:t>
            </a:r>
            <a:r>
              <a:rPr lang="en-US" dirty="0"/>
              <a:t>. Une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basée</a:t>
            </a:r>
            <a:r>
              <a:rPr lang="en-US" dirty="0"/>
              <a:t> </a:t>
            </a:r>
            <a:r>
              <a:rPr lang="en-US" dirty="0" err="1"/>
              <a:t>uniquement</a:t>
            </a:r>
            <a:r>
              <a:rPr lang="en-US" dirty="0"/>
              <a:t> sur des signatures </a:t>
            </a:r>
            <a:r>
              <a:rPr lang="en-US" dirty="0" err="1"/>
              <a:t>connues</a:t>
            </a:r>
            <a:r>
              <a:rPr lang="en-US" dirty="0"/>
              <a:t> ne </a:t>
            </a:r>
            <a:r>
              <a:rPr lang="en-US" dirty="0" err="1"/>
              <a:t>voit</a:t>
            </a:r>
            <a:r>
              <a:rPr lang="en-US" dirty="0"/>
              <a:t> pas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nouvelle,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zero-day. Il faut </a:t>
            </a:r>
            <a:r>
              <a:rPr lang="en-US" dirty="0" err="1"/>
              <a:t>donc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approche</a:t>
            </a:r>
            <a:r>
              <a:rPr lang="en-US" dirty="0"/>
              <a:t> capable </a:t>
            </a:r>
            <a:r>
              <a:rPr lang="en-US" dirty="0" err="1"/>
              <a:t>d’apprendre</a:t>
            </a:r>
            <a:r>
              <a:rPr lang="en-US" dirty="0"/>
              <a:t> le </a:t>
            </a:r>
            <a:r>
              <a:rPr lang="en-US" dirty="0" err="1"/>
              <a:t>comportement</a:t>
            </a:r>
            <a:r>
              <a:rPr lang="en-US" dirty="0"/>
              <a:t> normal, pour </a:t>
            </a:r>
            <a:r>
              <a:rPr lang="en-US" dirty="0" err="1"/>
              <a:t>repérer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qui </a:t>
            </a:r>
            <a:r>
              <a:rPr lang="en-US" dirty="0" err="1"/>
              <a:t>en</a:t>
            </a:r>
            <a:r>
              <a:rPr lang="en-US" dirty="0"/>
              <a:t> sort.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accessibilité</a:t>
            </a:r>
            <a:r>
              <a:rPr lang="en-US" dirty="0"/>
              <a:t>. Une petite </a:t>
            </a:r>
            <a:r>
              <a:rPr lang="en-US" dirty="0" err="1"/>
              <a:t>organisation</a:t>
            </a:r>
            <a:r>
              <a:rPr lang="en-US" dirty="0"/>
              <a:t> a </a:t>
            </a:r>
            <a:r>
              <a:rPr lang="en-US" dirty="0" err="1"/>
              <a:t>besoin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solution open-source, </a:t>
            </a: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héberger</a:t>
            </a:r>
            <a:r>
              <a:rPr lang="en-US" dirty="0"/>
              <a:t> </a:t>
            </a:r>
            <a:r>
              <a:rPr lang="en-US" dirty="0" err="1"/>
              <a:t>elle-même</a:t>
            </a:r>
            <a:r>
              <a:rPr lang="en-US" dirty="0"/>
              <a:t>, sans </a:t>
            </a:r>
            <a:r>
              <a:rPr lang="en-US" dirty="0" err="1"/>
              <a:t>dépendre</a:t>
            </a:r>
            <a:r>
              <a:rPr lang="en-US" dirty="0"/>
              <a:t> d’un </a:t>
            </a:r>
            <a:r>
              <a:rPr lang="en-US" dirty="0" err="1"/>
              <a:t>éditeur</a:t>
            </a:r>
            <a:r>
              <a:rPr lang="en-US" dirty="0"/>
              <a:t> commercial.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le </a:t>
            </a:r>
            <a:r>
              <a:rPr lang="en-US" dirty="0" err="1"/>
              <a:t>cinquième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continuité</a:t>
            </a:r>
            <a:r>
              <a:rPr lang="en-US" b="1" dirty="0"/>
              <a:t> de la </a:t>
            </a:r>
            <a:r>
              <a:rPr lang="en-US" b="1" dirty="0" err="1"/>
              <a:t>réponse</a:t>
            </a:r>
            <a:r>
              <a:rPr lang="en-US" dirty="0"/>
              <a:t>. Il faut </a:t>
            </a:r>
            <a:r>
              <a:rPr lang="en-US" dirty="0" err="1"/>
              <a:t>pouvoir</a:t>
            </a:r>
            <a:r>
              <a:rPr lang="en-US" dirty="0"/>
              <a:t> </a:t>
            </a:r>
            <a:r>
              <a:rPr lang="en-US" dirty="0" err="1"/>
              <a:t>automatiser</a:t>
            </a:r>
            <a:r>
              <a:rPr lang="en-US" dirty="0"/>
              <a:t> la mitigation, 24/7, tout </a:t>
            </a:r>
            <a:r>
              <a:rPr lang="en-US" dirty="0" err="1"/>
              <a:t>en</a:t>
            </a:r>
            <a:r>
              <a:rPr lang="en-US" dirty="0"/>
              <a:t> gardant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traçabilité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de </a:t>
            </a:r>
            <a:r>
              <a:rPr lang="en-US" dirty="0" err="1"/>
              <a:t>chaque</a:t>
            </a:r>
            <a:r>
              <a:rPr lang="en-US" dirty="0"/>
              <a:t> action.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cinq </a:t>
            </a:r>
            <a:r>
              <a:rPr lang="en-US" dirty="0" err="1"/>
              <a:t>défis</a:t>
            </a:r>
            <a:r>
              <a:rPr lang="en-US" dirty="0"/>
              <a:t> qui </a:t>
            </a:r>
            <a:r>
              <a:rPr lang="en-US" dirty="0" err="1"/>
              <a:t>vont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guider </a:t>
            </a:r>
            <a:r>
              <a:rPr lang="en-US" dirty="0" err="1"/>
              <a:t>notre</a:t>
            </a:r>
            <a:r>
              <a:rPr lang="en-US" dirty="0"/>
              <a:t> lecture des solutions déjà </a:t>
            </a:r>
            <a:r>
              <a:rPr lang="en-US" dirty="0" err="1"/>
              <a:t>existantes</a:t>
            </a:r>
            <a:r>
              <a:rPr lang="en-US" dirty="0"/>
              <a:t> sur le </a:t>
            </a:r>
            <a:r>
              <a:rPr lang="en-US" dirty="0" err="1"/>
              <a:t>marché</a:t>
            </a:r>
            <a:r>
              <a:rPr lang="en-US" dirty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199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Face à </a:t>
            </a:r>
            <a:r>
              <a:rPr lang="en-US" dirty="0" err="1"/>
              <a:t>ces</a:t>
            </a:r>
            <a:r>
              <a:rPr lang="en-US" dirty="0"/>
              <a:t> cinq </a:t>
            </a:r>
            <a:r>
              <a:rPr lang="en-US" dirty="0" err="1"/>
              <a:t>défis</a:t>
            </a:r>
            <a:r>
              <a:rPr lang="en-US" dirty="0"/>
              <a:t>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étudié</a:t>
            </a:r>
            <a:r>
              <a:rPr lang="en-US" dirty="0"/>
              <a:t> trois </a:t>
            </a:r>
            <a:r>
              <a:rPr lang="en-US" dirty="0" err="1"/>
              <a:t>familles</a:t>
            </a:r>
            <a:r>
              <a:rPr lang="en-US" dirty="0"/>
              <a:t> de solutions déjà </a:t>
            </a:r>
            <a:r>
              <a:rPr lang="en-US" dirty="0" err="1"/>
              <a:t>présentes</a:t>
            </a:r>
            <a:r>
              <a:rPr lang="en-US" dirty="0"/>
              <a:t> sur le </a:t>
            </a:r>
            <a:r>
              <a:rPr lang="en-US" dirty="0" err="1"/>
              <a:t>marché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/>
              <a:t>Snort et Zeek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font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détection</a:t>
            </a:r>
            <a:r>
              <a:rPr lang="en-US" dirty="0"/>
              <a:t> par signatures </a:t>
            </a:r>
            <a:r>
              <a:rPr lang="en-US" dirty="0" err="1"/>
              <a:t>solide</a:t>
            </a:r>
            <a:r>
              <a:rPr lang="en-US" dirty="0"/>
              <a:t>, et </a:t>
            </a:r>
            <a:r>
              <a:rPr lang="en-US" dirty="0" err="1"/>
              <a:t>une</a:t>
            </a:r>
            <a:r>
              <a:rPr lang="en-US" dirty="0"/>
              <a:t> bonne </a:t>
            </a:r>
            <a:r>
              <a:rPr lang="en-US" dirty="0" err="1"/>
              <a:t>analyse</a:t>
            </a:r>
            <a:r>
              <a:rPr lang="en-US" dirty="0"/>
              <a:t> de </a:t>
            </a:r>
            <a:r>
              <a:rPr lang="en-US" dirty="0" err="1"/>
              <a:t>protocole</a:t>
            </a:r>
            <a:r>
              <a:rPr lang="en-US" dirty="0"/>
              <a:t>. Mais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n’ont</a:t>
            </a:r>
            <a:r>
              <a:rPr lang="en-US" dirty="0"/>
              <a:t> pas de </a:t>
            </a:r>
            <a:r>
              <a:rPr lang="en-US" dirty="0" err="1"/>
              <a:t>comportemental</a:t>
            </a:r>
            <a:r>
              <a:rPr lang="en-US" dirty="0"/>
              <a:t>, et pas </a:t>
            </a:r>
            <a:r>
              <a:rPr lang="en-US" dirty="0" err="1"/>
              <a:t>d’orchestration</a:t>
            </a:r>
            <a:r>
              <a:rPr lang="en-US" dirty="0"/>
              <a:t> </a:t>
            </a:r>
            <a:r>
              <a:rPr lang="en-US" dirty="0" err="1"/>
              <a:t>intégrée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détectent</a:t>
            </a:r>
            <a:r>
              <a:rPr lang="en-US" dirty="0"/>
              <a:t>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ils</a:t>
            </a:r>
            <a:r>
              <a:rPr lang="en-US" dirty="0"/>
              <a:t> ne </a:t>
            </a:r>
            <a:r>
              <a:rPr lang="en-US" dirty="0" err="1"/>
              <a:t>répondent</a:t>
            </a:r>
            <a:r>
              <a:rPr lang="en-US" dirty="0"/>
              <a:t> pas.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 err="1"/>
              <a:t>Qradar</a:t>
            </a:r>
            <a:r>
              <a:rPr lang="en-US" b="1" dirty="0"/>
              <a:t> et Splunk ES</a:t>
            </a:r>
            <a:r>
              <a:rPr lang="en-US" dirty="0"/>
              <a:t>.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offrent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corrélation</a:t>
            </a:r>
            <a:r>
              <a:rPr lang="en-US" dirty="0"/>
              <a:t> et un SOAR matures. Mais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coût</a:t>
            </a:r>
            <a:r>
              <a:rPr lang="en-US" dirty="0"/>
              <a:t> de </a:t>
            </a:r>
            <a:r>
              <a:rPr lang="en-US" dirty="0" err="1"/>
              <a:t>licence</a:t>
            </a:r>
            <a:r>
              <a:rPr lang="en-US" dirty="0"/>
              <a:t> est </a:t>
            </a:r>
            <a:r>
              <a:rPr lang="en-US" dirty="0" err="1"/>
              <a:t>élevé</a:t>
            </a:r>
            <a:r>
              <a:rPr lang="en-US" dirty="0"/>
              <a:t>, et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dépendent</a:t>
            </a:r>
            <a:r>
              <a:rPr lang="en-US" dirty="0"/>
              <a:t> </a:t>
            </a:r>
            <a:r>
              <a:rPr lang="en-US" dirty="0" err="1"/>
              <a:t>souvent</a:t>
            </a:r>
            <a:r>
              <a:rPr lang="en-US" dirty="0"/>
              <a:t> du cloud </a:t>
            </a:r>
            <a:r>
              <a:rPr lang="en-US" dirty="0" err="1"/>
              <a:t>ou</a:t>
            </a:r>
            <a:r>
              <a:rPr lang="en-US" dirty="0"/>
              <a:t> d’un </a:t>
            </a:r>
            <a:r>
              <a:rPr lang="en-US" dirty="0" err="1"/>
              <a:t>éditeur</a:t>
            </a:r>
            <a:r>
              <a:rPr lang="en-US" dirty="0"/>
              <a:t>. Pour </a:t>
            </a:r>
            <a:r>
              <a:rPr lang="en-US" dirty="0" err="1"/>
              <a:t>une</a:t>
            </a:r>
            <a:r>
              <a:rPr lang="en-US" dirty="0"/>
              <a:t> petite </a:t>
            </a:r>
            <a:r>
              <a:rPr lang="en-US" dirty="0" err="1"/>
              <a:t>organisation</a:t>
            </a:r>
            <a:r>
              <a:rPr lang="en-US" dirty="0"/>
              <a:t>,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restent</a:t>
            </a:r>
            <a:r>
              <a:rPr lang="en-US" dirty="0"/>
              <a:t> </a:t>
            </a:r>
            <a:r>
              <a:rPr lang="en-US" dirty="0" err="1"/>
              <a:t>inaccessibles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b="1" dirty="0"/>
              <a:t>Darktrace</a:t>
            </a:r>
            <a:r>
              <a:rPr lang="en-US" dirty="0"/>
              <a:t>. Il propose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</a:t>
            </a:r>
            <a:r>
              <a:rPr lang="en-US" dirty="0" err="1"/>
              <a:t>avancée</a:t>
            </a:r>
            <a:r>
              <a:rPr lang="en-US" dirty="0"/>
              <a:t>, </a:t>
            </a:r>
            <a:r>
              <a:rPr lang="en-US" dirty="0" err="1"/>
              <a:t>basée</a:t>
            </a:r>
            <a:r>
              <a:rPr lang="en-US" dirty="0"/>
              <a:t> sur </a:t>
            </a:r>
            <a:r>
              <a:rPr lang="en-US" dirty="0" err="1"/>
              <a:t>l’IA</a:t>
            </a:r>
            <a:r>
              <a:rPr lang="en-US" dirty="0"/>
              <a:t>. Mais son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dirty="0" err="1"/>
              <a:t>reste</a:t>
            </a:r>
            <a:r>
              <a:rPr lang="en-US" dirty="0"/>
              <a:t> fermé : impossible de </a:t>
            </a:r>
            <a:r>
              <a:rPr lang="en-US" dirty="0" err="1"/>
              <a:t>l’héberger</a:t>
            </a:r>
            <a:r>
              <a:rPr lang="en-US" dirty="0"/>
              <a:t> soi-</a:t>
            </a:r>
            <a:r>
              <a:rPr lang="en-US" dirty="0" err="1"/>
              <a:t>même</a:t>
            </a:r>
            <a:r>
              <a:rPr lang="en-US" dirty="0"/>
              <a:t>, impossible </a:t>
            </a:r>
            <a:r>
              <a:rPr lang="en-US" dirty="0" err="1"/>
              <a:t>d’inspecter</a:t>
            </a:r>
            <a:r>
              <a:rPr lang="en-US" dirty="0"/>
              <a:t> </a:t>
            </a:r>
            <a:r>
              <a:rPr lang="en-US" dirty="0" err="1"/>
              <a:t>ou</a:t>
            </a:r>
            <a:r>
              <a:rPr lang="en-US" dirty="0"/>
              <a:t> de </a:t>
            </a:r>
            <a:r>
              <a:rPr lang="en-US" dirty="0" err="1"/>
              <a:t>réentraîner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sur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propres</a:t>
            </a:r>
            <a:r>
              <a:rPr lang="en-US" dirty="0"/>
              <a:t> données. Et surtout, la </a:t>
            </a:r>
            <a:r>
              <a:rPr lang="en-US" dirty="0" err="1"/>
              <a:t>réponse</a:t>
            </a:r>
            <a:r>
              <a:rPr lang="en-US" dirty="0"/>
              <a:t> </a:t>
            </a:r>
            <a:r>
              <a:rPr lang="en-US" dirty="0" err="1"/>
              <a:t>automatique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incluse</a:t>
            </a:r>
            <a:r>
              <a:rPr lang="en-US" dirty="0"/>
              <a:t> par </a:t>
            </a:r>
            <a:r>
              <a:rPr lang="en-US" dirty="0" err="1"/>
              <a:t>défaut</a:t>
            </a:r>
            <a:r>
              <a:rPr lang="en-US" dirty="0"/>
              <a:t> — </a:t>
            </a:r>
            <a:r>
              <a:rPr lang="en-US" dirty="0" err="1"/>
              <a:t>c’est</a:t>
            </a:r>
            <a:r>
              <a:rPr lang="en-US" dirty="0"/>
              <a:t> un module </a:t>
            </a:r>
            <a:r>
              <a:rPr lang="en-US" dirty="0" err="1"/>
              <a:t>séparé</a:t>
            </a:r>
            <a:r>
              <a:rPr lang="en-US" dirty="0"/>
              <a:t>, </a:t>
            </a:r>
            <a:r>
              <a:rPr lang="en-US" dirty="0" err="1"/>
              <a:t>payant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plus, </a:t>
            </a:r>
            <a:r>
              <a:rPr lang="en-US" dirty="0" err="1"/>
              <a:t>appelé</a:t>
            </a:r>
            <a:r>
              <a:rPr lang="en-US" dirty="0"/>
              <a:t> Darktrace RESPOND.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Aucune</a:t>
            </a:r>
            <a:r>
              <a:rPr lang="en-US" dirty="0"/>
              <a:t> de </a:t>
            </a:r>
            <a:r>
              <a:rPr lang="en-US" dirty="0" err="1"/>
              <a:t>ces</a:t>
            </a:r>
            <a:r>
              <a:rPr lang="en-US" dirty="0"/>
              <a:t> trois solutions ne </a:t>
            </a:r>
            <a:r>
              <a:rPr lang="en-US" dirty="0" err="1"/>
              <a:t>répond</a:t>
            </a:r>
            <a:r>
              <a:rPr lang="en-US" dirty="0"/>
              <a:t>, à </a:t>
            </a:r>
            <a:r>
              <a:rPr lang="en-US" dirty="0" err="1"/>
              <a:t>elle</a:t>
            </a:r>
            <a:r>
              <a:rPr lang="en-US" dirty="0"/>
              <a:t> </a:t>
            </a:r>
            <a:r>
              <a:rPr lang="en-US" dirty="0" err="1"/>
              <a:t>seule</a:t>
            </a:r>
            <a:r>
              <a:rPr lang="en-US" dirty="0"/>
              <a:t>, aux cinq </a:t>
            </a:r>
            <a:r>
              <a:rPr lang="en-US" dirty="0" err="1"/>
              <a:t>défis</a:t>
            </a:r>
            <a:r>
              <a:rPr lang="en-US" dirty="0"/>
              <a:t> </a:t>
            </a:r>
            <a:r>
              <a:rPr lang="en-US" dirty="0" err="1"/>
              <a:t>identifiés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 </a:t>
            </a:r>
            <a:br>
              <a:rPr lang="en-US" dirty="0"/>
            </a:b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exactement</a:t>
            </a:r>
            <a:r>
              <a:rPr lang="en-US" dirty="0"/>
              <a:t> </a:t>
            </a:r>
            <a:r>
              <a:rPr lang="en-US" dirty="0" err="1"/>
              <a:t>cet</a:t>
            </a:r>
            <a:r>
              <a:rPr lang="en-US" dirty="0"/>
              <a:t> </a:t>
            </a:r>
            <a:r>
              <a:rPr lang="en-US" dirty="0" err="1"/>
              <a:t>espace</a:t>
            </a:r>
            <a:r>
              <a:rPr lang="en-US" dirty="0"/>
              <a:t> — à </a:t>
            </a:r>
            <a:r>
              <a:rPr lang="en-US" dirty="0" err="1"/>
              <a:t>l’intersection</a:t>
            </a:r>
            <a:r>
              <a:rPr lang="en-US" dirty="0"/>
              <a:t> des trois —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vient</a:t>
            </a:r>
            <a:r>
              <a:rPr lang="en-US" dirty="0"/>
              <a:t> </a:t>
            </a:r>
            <a:r>
              <a:rPr lang="en-US" dirty="0" err="1"/>
              <a:t>occuper</a:t>
            </a:r>
            <a:r>
              <a:rPr lang="en-US" dirty="0"/>
              <a:t> la solution </a:t>
            </a:r>
            <a:r>
              <a:rPr lang="en-US" dirty="0" err="1"/>
              <a:t>que</a:t>
            </a:r>
            <a:r>
              <a:rPr lang="en-US" dirty="0"/>
              <a:t> je </a:t>
            </a:r>
            <a:r>
              <a:rPr lang="en-US" dirty="0" err="1"/>
              <a:t>vais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vous </a:t>
            </a:r>
            <a:r>
              <a:rPr lang="en-US" dirty="0" err="1"/>
              <a:t>présenter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2819680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dirty="0"/>
              <a:t>NG-IDPS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Elle repose sur quatre </a:t>
            </a:r>
            <a:r>
              <a:rPr lang="en-US" dirty="0" err="1"/>
              <a:t>capacités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 err="1"/>
              <a:t>détection</a:t>
            </a:r>
            <a:r>
              <a:rPr lang="en-US" b="1" dirty="0"/>
              <a:t> </a:t>
            </a:r>
            <a:r>
              <a:rPr lang="en-US" b="1" dirty="0" err="1"/>
              <a:t>hybride</a:t>
            </a:r>
            <a:r>
              <a:rPr lang="en-US" dirty="0"/>
              <a:t>. Elle combine Suricata, pour les signatures </a:t>
            </a:r>
            <a:r>
              <a:rPr lang="en-US" dirty="0" err="1"/>
              <a:t>connues</a:t>
            </a:r>
            <a:r>
              <a:rPr lang="en-US" dirty="0"/>
              <a:t>, et un </a:t>
            </a:r>
            <a:r>
              <a:rPr lang="en-US" dirty="0" err="1"/>
              <a:t>modèle</a:t>
            </a:r>
            <a:r>
              <a:rPr lang="en-US" dirty="0"/>
              <a:t> LSTM-VAE, pour le </a:t>
            </a:r>
            <a:r>
              <a:rPr lang="en-US" dirty="0" err="1"/>
              <a:t>comportemental</a:t>
            </a:r>
            <a:r>
              <a:rPr lang="en-US" dirty="0"/>
              <a:t> non </a:t>
            </a:r>
            <a:r>
              <a:rPr lang="en-US" dirty="0" err="1"/>
              <a:t>supervisé</a:t>
            </a:r>
            <a:r>
              <a:rPr lang="en-US" dirty="0"/>
              <a:t>. Ensemble, </a:t>
            </a:r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couvrent</a:t>
            </a:r>
            <a:r>
              <a:rPr lang="en-US" dirty="0"/>
              <a:t> à la </a:t>
            </a:r>
            <a:r>
              <a:rPr lang="en-US" dirty="0" err="1"/>
              <a:t>fois</a:t>
            </a:r>
            <a:r>
              <a:rPr lang="en-US" dirty="0"/>
              <a:t> les menaces </a:t>
            </a:r>
            <a:r>
              <a:rPr lang="en-US" dirty="0" err="1"/>
              <a:t>connues</a:t>
            </a:r>
            <a:r>
              <a:rPr lang="en-US" dirty="0"/>
              <a:t>, et les </a:t>
            </a:r>
            <a:r>
              <a:rPr lang="en-US" dirty="0" err="1"/>
              <a:t>attaques</a:t>
            </a:r>
            <a:r>
              <a:rPr lang="en-US" dirty="0"/>
              <a:t> zero-day.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b="1" dirty="0" err="1"/>
              <a:t>analyse</a:t>
            </a:r>
            <a:r>
              <a:rPr lang="en-US" b="1" dirty="0"/>
              <a:t> cognitive locale</a:t>
            </a:r>
            <a:r>
              <a:rPr lang="en-US" dirty="0"/>
              <a:t>. Un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langage</a:t>
            </a:r>
            <a:r>
              <a:rPr lang="en-US" dirty="0"/>
              <a:t>, Llama 3, </a:t>
            </a:r>
            <a:r>
              <a:rPr lang="en-US" dirty="0" err="1"/>
              <a:t>exécuté</a:t>
            </a:r>
            <a:r>
              <a:rPr lang="en-US" dirty="0"/>
              <a:t> via </a:t>
            </a:r>
            <a:r>
              <a:rPr lang="en-US" dirty="0" err="1"/>
              <a:t>Ollama</a:t>
            </a:r>
            <a:r>
              <a:rPr lang="en-US" dirty="0"/>
              <a:t>, </a:t>
            </a:r>
            <a:r>
              <a:rPr lang="en-US" dirty="0" err="1"/>
              <a:t>génère</a:t>
            </a:r>
            <a:r>
              <a:rPr lang="en-US" dirty="0"/>
              <a:t> un diagnostic </a:t>
            </a:r>
            <a:r>
              <a:rPr lang="en-US" dirty="0" err="1"/>
              <a:t>structuré</a:t>
            </a:r>
            <a:r>
              <a:rPr lang="en-US" dirty="0"/>
              <a:t> pour </a:t>
            </a:r>
            <a:r>
              <a:rPr lang="en-US" dirty="0" err="1"/>
              <a:t>chaque</a:t>
            </a:r>
            <a:r>
              <a:rPr lang="en-US" dirty="0"/>
              <a:t> incident. Et tout </a:t>
            </a:r>
            <a:r>
              <a:rPr lang="en-US" dirty="0" err="1"/>
              <a:t>cela</a:t>
            </a:r>
            <a:r>
              <a:rPr lang="en-US" dirty="0"/>
              <a:t> se fait </a:t>
            </a:r>
            <a:r>
              <a:rPr lang="en-US" dirty="0" err="1"/>
              <a:t>en</a:t>
            </a:r>
            <a:r>
              <a:rPr lang="en-US" dirty="0"/>
              <a:t> local, sans </a:t>
            </a:r>
            <a:r>
              <a:rPr lang="en-US" dirty="0" err="1"/>
              <a:t>dépendance</a:t>
            </a:r>
            <a:r>
              <a:rPr lang="en-US" dirty="0"/>
              <a:t> </a:t>
            </a:r>
            <a:r>
              <a:rPr lang="en-US" dirty="0" err="1"/>
              <a:t>obligatoire</a:t>
            </a:r>
            <a:r>
              <a:rPr lang="en-US" dirty="0"/>
              <a:t> au cloud.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</a:t>
            </a:r>
            <a:r>
              <a:rPr lang="en-US" b="1" dirty="0"/>
              <a:t>SOAR multi-</a:t>
            </a:r>
            <a:r>
              <a:rPr lang="en-US" b="1" dirty="0" err="1"/>
              <a:t>paliers</a:t>
            </a:r>
            <a:r>
              <a:rPr lang="en-US" dirty="0"/>
              <a:t>. Il </a:t>
            </a:r>
            <a:r>
              <a:rPr lang="en-US" dirty="0" err="1"/>
              <a:t>corrèle</a:t>
            </a:r>
            <a:r>
              <a:rPr lang="en-US" dirty="0"/>
              <a:t> les </a:t>
            </a:r>
            <a:r>
              <a:rPr lang="en-US" dirty="0" err="1"/>
              <a:t>alertes</a:t>
            </a:r>
            <a:r>
              <a:rPr lang="en-US" dirty="0"/>
              <a:t>, </a:t>
            </a:r>
            <a:r>
              <a:rPr lang="en-US" dirty="0" err="1"/>
              <a:t>calcule</a:t>
            </a:r>
            <a:r>
              <a:rPr lang="en-US" dirty="0"/>
              <a:t> un score composite de menace, et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bloquer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 de façon </a:t>
            </a:r>
            <a:r>
              <a:rPr lang="en-US" dirty="0" err="1"/>
              <a:t>autonome</a:t>
            </a:r>
            <a:r>
              <a:rPr lang="en-US" dirty="0"/>
              <a:t> — tout </a:t>
            </a:r>
            <a:r>
              <a:rPr lang="en-US" dirty="0" err="1"/>
              <a:t>en</a:t>
            </a:r>
            <a:r>
              <a:rPr lang="en-US" dirty="0"/>
              <a:t> gardant </a:t>
            </a:r>
            <a:r>
              <a:rPr lang="en-US" dirty="0" err="1"/>
              <a:t>une</a:t>
            </a:r>
            <a:r>
              <a:rPr lang="en-US" dirty="0"/>
              <a:t> supervision humaine possible.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la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un module de </a:t>
            </a:r>
            <a:r>
              <a:rPr lang="en-US" b="1" dirty="0" err="1"/>
              <a:t>renseignement</a:t>
            </a:r>
            <a:r>
              <a:rPr lang="en-US" b="1" dirty="0"/>
              <a:t> et de formation</a:t>
            </a:r>
            <a:r>
              <a:rPr lang="en-US" dirty="0"/>
              <a:t>. Il assure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veille</a:t>
            </a:r>
            <a:r>
              <a:rPr lang="en-US" dirty="0"/>
              <a:t> CTI continue, et des </a:t>
            </a:r>
            <a:r>
              <a:rPr lang="en-US" dirty="0" err="1"/>
              <a:t>parcours</a:t>
            </a:r>
            <a:r>
              <a:rPr lang="en-US" dirty="0"/>
              <a:t> de </a:t>
            </a:r>
            <a:r>
              <a:rPr lang="en-US" dirty="0" err="1"/>
              <a:t>sensibilisation</a:t>
            </a:r>
            <a:r>
              <a:rPr lang="en-US" dirty="0"/>
              <a:t> </a:t>
            </a:r>
            <a:r>
              <a:rPr lang="en-US" dirty="0" err="1"/>
              <a:t>ciblés</a:t>
            </a:r>
            <a:r>
              <a:rPr lang="en-US" dirty="0"/>
              <a:t> pour </a:t>
            </a:r>
            <a:r>
              <a:rPr lang="en-US" dirty="0" err="1"/>
              <a:t>réduire</a:t>
            </a:r>
            <a:r>
              <a:rPr lang="en-US" dirty="0"/>
              <a:t> le </a:t>
            </a:r>
            <a:r>
              <a:rPr lang="en-US" dirty="0" err="1"/>
              <a:t>facteur</a:t>
            </a:r>
            <a:r>
              <a:rPr lang="en-US" dirty="0"/>
              <a:t> </a:t>
            </a:r>
            <a:r>
              <a:rPr lang="en-US" dirty="0" err="1"/>
              <a:t>humain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comment </a:t>
            </a:r>
            <a:r>
              <a:rPr lang="en-US" dirty="0" err="1"/>
              <a:t>ces</a:t>
            </a:r>
            <a:r>
              <a:rPr lang="en-US" dirty="0"/>
              <a:t> quatre </a:t>
            </a:r>
            <a:r>
              <a:rPr lang="en-US" dirty="0" err="1"/>
              <a:t>capacités</a:t>
            </a:r>
            <a:r>
              <a:rPr lang="en-US" dirty="0"/>
              <a:t> </a:t>
            </a:r>
            <a:r>
              <a:rPr lang="en-US" dirty="0" err="1"/>
              <a:t>répondent</a:t>
            </a:r>
            <a:r>
              <a:rPr lang="en-US" dirty="0"/>
              <a:t> </a:t>
            </a:r>
            <a:r>
              <a:rPr lang="en-US" dirty="0" err="1"/>
              <a:t>concrètement</a:t>
            </a:r>
            <a:r>
              <a:rPr lang="en-US" dirty="0"/>
              <a:t> aux </a:t>
            </a:r>
            <a:r>
              <a:rPr lang="en-US" dirty="0" err="1"/>
              <a:t>besoins</a:t>
            </a:r>
            <a:r>
              <a:rPr lang="en-US" dirty="0"/>
              <a:t> du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888619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ECD0D-AF43-1CAB-BBDC-39F8948D2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9D53CD-E744-E293-F500-4B397C7D4F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A2C82E-8C40-9A3C-D338-9A8344A34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Pour </a:t>
            </a:r>
            <a:r>
              <a:rPr lang="en-US" dirty="0" err="1"/>
              <a:t>remplir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rôle</a:t>
            </a:r>
            <a:r>
              <a:rPr lang="en-US" dirty="0"/>
              <a:t>, NG-IDPS doit </a:t>
            </a:r>
            <a:r>
              <a:rPr lang="en-US" dirty="0" err="1"/>
              <a:t>répondre</a:t>
            </a:r>
            <a:r>
              <a:rPr lang="en-US" dirty="0"/>
              <a:t> à quatre </a:t>
            </a:r>
            <a:r>
              <a:rPr lang="en-US" dirty="0" err="1"/>
              <a:t>besoins</a:t>
            </a:r>
            <a:r>
              <a:rPr lang="en-US" dirty="0"/>
              <a:t> bien précis.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premier,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/>
              <a:t>supervision et le pilotage</a:t>
            </a:r>
            <a:r>
              <a:rPr lang="en-US" dirty="0"/>
              <a:t>. </a:t>
            </a:r>
            <a:r>
              <a:rPr lang="en-US" dirty="0" err="1"/>
              <a:t>L’administrateur</a:t>
            </a:r>
            <a:r>
              <a:rPr lang="en-US" dirty="0"/>
              <a:t> doit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visibilité</a:t>
            </a:r>
            <a:r>
              <a:rPr lang="en-US" dirty="0"/>
              <a:t> </a:t>
            </a:r>
            <a:r>
              <a:rPr lang="en-US" dirty="0" err="1"/>
              <a:t>constante</a:t>
            </a:r>
            <a:r>
              <a:rPr lang="en-US" dirty="0"/>
              <a:t>, et un </a:t>
            </a:r>
            <a:r>
              <a:rPr lang="en-US" dirty="0" err="1"/>
              <a:t>contrôle</a:t>
            </a:r>
            <a:r>
              <a:rPr lang="en-US" dirty="0"/>
              <a:t> </a:t>
            </a:r>
            <a:r>
              <a:rPr lang="en-US" dirty="0" err="1"/>
              <a:t>réel</a:t>
            </a:r>
            <a:r>
              <a:rPr lang="en-US" dirty="0"/>
              <a:t> sur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fait le </a:t>
            </a:r>
            <a:r>
              <a:rPr lang="en-US" dirty="0" err="1"/>
              <a:t>système</a:t>
            </a:r>
            <a:r>
              <a:rPr lang="en-US" dirty="0"/>
              <a:t> et son </a:t>
            </a:r>
            <a:r>
              <a:rPr lang="en-US" dirty="0" err="1"/>
              <a:t>etat</a:t>
            </a:r>
            <a:r>
              <a:rPr lang="en-US" dirty="0"/>
              <a:t> de </a:t>
            </a:r>
            <a:r>
              <a:rPr lang="en-US" dirty="0" err="1"/>
              <a:t>fonctionement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deuxième,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détection</a:t>
            </a:r>
            <a:r>
              <a:rPr lang="en-US" b="1" dirty="0"/>
              <a:t> et la </a:t>
            </a:r>
            <a:r>
              <a:rPr lang="en-US" b="1" dirty="0" err="1"/>
              <a:t>corrélation</a:t>
            </a:r>
            <a:r>
              <a:rPr lang="en-US" b="1" dirty="0"/>
              <a:t> </a:t>
            </a:r>
            <a:r>
              <a:rPr lang="en-US" b="1" dirty="0" err="1"/>
              <a:t>autonome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dirty="0" err="1"/>
              <a:t>cœur</a:t>
            </a:r>
            <a:r>
              <a:rPr lang="en-US" dirty="0"/>
              <a:t> </a:t>
            </a:r>
            <a:r>
              <a:rPr lang="en-US" dirty="0" err="1"/>
              <a:t>opérationnel</a:t>
            </a:r>
            <a:r>
              <a:rPr lang="en-US" dirty="0"/>
              <a:t> : transformer du </a:t>
            </a:r>
            <a:r>
              <a:rPr lang="en-US" dirty="0" err="1"/>
              <a:t>trafic</a:t>
            </a:r>
            <a:r>
              <a:rPr lang="en-US" dirty="0"/>
              <a:t> brut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</a:t>
            </a:r>
            <a:r>
              <a:rPr lang="en-US" dirty="0" err="1"/>
              <a:t>qualifiées</a:t>
            </a:r>
            <a:r>
              <a:rPr lang="en-US" dirty="0"/>
              <a:t>, sans intervention humaine à </a:t>
            </a:r>
            <a:r>
              <a:rPr lang="en-US" dirty="0" err="1"/>
              <a:t>chaque</a:t>
            </a:r>
            <a:r>
              <a:rPr lang="en-US" dirty="0"/>
              <a:t> étape.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le </a:t>
            </a:r>
            <a:r>
              <a:rPr lang="en-US" b="1" dirty="0"/>
              <a:t>diagnostic et le </a:t>
            </a:r>
            <a:r>
              <a:rPr lang="en-US" b="1" dirty="0" err="1"/>
              <a:t>renseignement</a:t>
            </a:r>
            <a:r>
              <a:rPr lang="en-US" dirty="0"/>
              <a:t>.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alerte</a:t>
            </a:r>
            <a:r>
              <a:rPr lang="en-US" dirty="0"/>
              <a:t> doit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enrichie</a:t>
            </a:r>
            <a:r>
              <a:rPr lang="en-US" dirty="0"/>
              <a:t> d’un </a:t>
            </a:r>
            <a:r>
              <a:rPr lang="en-US" dirty="0" err="1"/>
              <a:t>contexte</a:t>
            </a:r>
            <a:r>
              <a:rPr lang="en-US" dirty="0"/>
              <a:t> exploitable — pas </a:t>
            </a:r>
            <a:r>
              <a:rPr lang="en-US" dirty="0" err="1"/>
              <a:t>juste</a:t>
            </a:r>
            <a:r>
              <a:rPr lang="en-US" dirty="0"/>
              <a:t> un signal brut, </a:t>
            </a:r>
            <a:r>
              <a:rPr lang="en-US" dirty="0" err="1"/>
              <a:t>mais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explication </a:t>
            </a:r>
            <a:r>
              <a:rPr lang="en-US" dirty="0" err="1"/>
              <a:t>claire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le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sensibilisation</a:t>
            </a:r>
            <a:r>
              <a:rPr lang="en-US" b="1" dirty="0"/>
              <a:t> du </a:t>
            </a:r>
            <a:r>
              <a:rPr lang="en-US" b="1" dirty="0" err="1"/>
              <a:t>facteur</a:t>
            </a:r>
            <a:r>
              <a:rPr lang="en-US" b="1" dirty="0"/>
              <a:t> </a:t>
            </a:r>
            <a:r>
              <a:rPr lang="en-US" b="1" dirty="0" err="1"/>
              <a:t>humain</a:t>
            </a:r>
            <a:r>
              <a:rPr lang="en-US" dirty="0"/>
              <a:t>. Parce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partie</a:t>
            </a:r>
            <a:r>
              <a:rPr lang="en-US" dirty="0"/>
              <a:t> des incidents </a:t>
            </a:r>
            <a:r>
              <a:rPr lang="en-US" dirty="0" err="1"/>
              <a:t>vient</a:t>
            </a:r>
            <a:r>
              <a:rPr lang="en-US" dirty="0"/>
              <a:t> des </a:t>
            </a:r>
            <a:r>
              <a:rPr lang="en-US" dirty="0" err="1"/>
              <a:t>utilisateurs</a:t>
            </a:r>
            <a:r>
              <a:rPr lang="en-US" dirty="0"/>
              <a:t> </a:t>
            </a:r>
            <a:r>
              <a:rPr lang="en-US" dirty="0" err="1"/>
              <a:t>eux-mêmes</a:t>
            </a:r>
            <a:r>
              <a:rPr lang="en-US" dirty="0"/>
              <a:t>, pas </a:t>
            </a:r>
            <a:r>
              <a:rPr lang="en-US" dirty="0" err="1"/>
              <a:t>seulement</a:t>
            </a:r>
            <a:r>
              <a:rPr lang="en-US" dirty="0"/>
              <a:t> du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Voyons</a:t>
            </a:r>
            <a:r>
              <a:rPr lang="en-US" dirty="0"/>
              <a:t> </a:t>
            </a:r>
            <a:r>
              <a:rPr lang="en-US" dirty="0" err="1"/>
              <a:t>maintenant</a:t>
            </a:r>
            <a:r>
              <a:rPr lang="en-US" dirty="0"/>
              <a:t> comment </a:t>
            </a:r>
            <a:r>
              <a:rPr lang="en-US" dirty="0" err="1"/>
              <a:t>ces</a:t>
            </a:r>
            <a:r>
              <a:rPr lang="en-US" dirty="0"/>
              <a:t> quatre </a:t>
            </a:r>
            <a:r>
              <a:rPr lang="en-US" dirty="0" err="1"/>
              <a:t>besoins</a:t>
            </a:r>
            <a:r>
              <a:rPr lang="en-US" dirty="0"/>
              <a:t> </a:t>
            </a:r>
            <a:r>
              <a:rPr lang="en-US" dirty="0" err="1"/>
              <a:t>ont</a:t>
            </a:r>
            <a:r>
              <a:rPr lang="en-US" dirty="0"/>
              <a:t>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traduits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DB2735-DCC8-46A5-4067-F329F021B2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892857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à la deuxième </a:t>
            </a:r>
            <a:r>
              <a:rPr lang="en-US" err="1"/>
              <a:t>partie</a:t>
            </a:r>
            <a:r>
              <a:rPr lang="en-US"/>
              <a:t> de ma </a:t>
            </a:r>
            <a:r>
              <a:rPr lang="en-US" err="1"/>
              <a:t>présentation</a:t>
            </a:r>
            <a:r>
              <a:rPr lang="en-US"/>
              <a:t> : la </a:t>
            </a:r>
            <a:r>
              <a:rPr lang="en-US" err="1"/>
              <a:t>méthodologie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suivie</a:t>
            </a:r>
            <a:r>
              <a:rPr lang="en-US"/>
              <a:t>, et le </a:t>
            </a:r>
            <a:r>
              <a:rPr lang="en-US" err="1"/>
              <a:t>déroulement</a:t>
            </a:r>
            <a:r>
              <a:rPr lang="en-US"/>
              <a:t> des six sprints qui </a:t>
            </a:r>
            <a:r>
              <a:rPr lang="en-US" err="1"/>
              <a:t>ont</a:t>
            </a:r>
            <a:r>
              <a:rPr lang="en-US"/>
              <a:t> </a:t>
            </a:r>
            <a:r>
              <a:rPr lang="en-US" err="1"/>
              <a:t>construit</a:t>
            </a:r>
            <a:r>
              <a:rPr lang="en-US"/>
              <a:t> le </a:t>
            </a:r>
            <a:r>
              <a:rPr lang="en-US" err="1"/>
              <a:t>système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57947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organiser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travail,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choisi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méthodologie</a:t>
            </a:r>
            <a:r>
              <a:rPr lang="en-US" dirty="0"/>
              <a:t> </a:t>
            </a:r>
            <a:r>
              <a:rPr lang="en-US" b="1" dirty="0"/>
              <a:t>Agile Scrum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Cette </a:t>
            </a:r>
            <a:r>
              <a:rPr lang="en-US" dirty="0" err="1"/>
              <a:t>approche</a:t>
            </a:r>
            <a:r>
              <a:rPr lang="en-US" dirty="0"/>
              <a:t> </a:t>
            </a:r>
            <a:r>
              <a:rPr lang="en-US" dirty="0" err="1"/>
              <a:t>m’a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 </a:t>
            </a:r>
            <a:r>
              <a:rPr lang="en-US" dirty="0" err="1"/>
              <a:t>d’avancer</a:t>
            </a:r>
            <a:r>
              <a:rPr lang="en-US" dirty="0"/>
              <a:t> de façon </a:t>
            </a:r>
            <a:r>
              <a:rPr lang="en-US" dirty="0" err="1"/>
              <a:t>incrémentale</a:t>
            </a:r>
            <a:r>
              <a:rPr lang="en-US" dirty="0"/>
              <a:t>, de valider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brique</a:t>
            </a:r>
            <a:r>
              <a:rPr lang="en-US" dirty="0"/>
              <a:t> avant de </a:t>
            </a:r>
            <a:r>
              <a:rPr lang="en-US" dirty="0" err="1"/>
              <a:t>construire</a:t>
            </a:r>
            <a:r>
              <a:rPr lang="en-US" dirty="0"/>
              <a:t> la </a:t>
            </a:r>
            <a:r>
              <a:rPr lang="en-US" dirty="0" err="1"/>
              <a:t>suivante</a:t>
            </a:r>
            <a:r>
              <a:rPr lang="en-US" dirty="0"/>
              <a:t>, et de </a:t>
            </a:r>
            <a:r>
              <a:rPr lang="en-US" dirty="0" err="1"/>
              <a:t>m’adapter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un </a:t>
            </a:r>
            <a:r>
              <a:rPr lang="en-US" dirty="0" err="1"/>
              <a:t>résultat</a:t>
            </a:r>
            <a:r>
              <a:rPr lang="en-US" dirty="0"/>
              <a:t> ne </a:t>
            </a:r>
            <a:r>
              <a:rPr lang="en-US" dirty="0" err="1"/>
              <a:t>correspondait</a:t>
            </a:r>
            <a:r>
              <a:rPr lang="en-US" dirty="0"/>
              <a:t> pas aux </a:t>
            </a:r>
            <a:r>
              <a:rPr lang="en-US" dirty="0" err="1"/>
              <a:t>attentes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organisé</a:t>
            </a:r>
            <a:r>
              <a:rPr lang="en-US" dirty="0"/>
              <a:t> le </a:t>
            </a:r>
            <a:r>
              <a:rPr lang="en-US" dirty="0" err="1"/>
              <a:t>projet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deux releases, </a:t>
            </a:r>
            <a:r>
              <a:rPr lang="en-US" dirty="0" err="1"/>
              <a:t>regroupant</a:t>
            </a:r>
            <a:r>
              <a:rPr lang="en-US" dirty="0"/>
              <a:t> six sprints au total.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b="1" dirty="0"/>
              <a:t>Release 1</a:t>
            </a:r>
            <a:r>
              <a:rPr lang="en-US" dirty="0"/>
              <a:t>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détection</a:t>
            </a:r>
            <a:r>
              <a:rPr lang="en-US" dirty="0"/>
              <a:t>, </a:t>
            </a:r>
            <a:r>
              <a:rPr lang="en-US" dirty="0" err="1"/>
              <a:t>comprend</a:t>
            </a:r>
            <a:r>
              <a:rPr lang="en-US" dirty="0"/>
              <a:t> trois sprints : </a:t>
            </a:r>
            <a:r>
              <a:rPr lang="en-US" dirty="0" err="1"/>
              <a:t>l’acquisition</a:t>
            </a:r>
            <a:r>
              <a:rPr lang="en-US" dirty="0"/>
              <a:t> réseau, le pipeline de données, et la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b="1" dirty="0"/>
              <a:t>Release 2</a:t>
            </a:r>
            <a:r>
              <a:rPr lang="en-US" dirty="0"/>
              <a:t>, </a:t>
            </a:r>
            <a:r>
              <a:rPr lang="en-US" dirty="0" err="1"/>
              <a:t>consacrée</a:t>
            </a:r>
            <a:r>
              <a:rPr lang="en-US" dirty="0"/>
              <a:t> à la </a:t>
            </a:r>
            <a:r>
              <a:rPr lang="en-US" dirty="0" err="1"/>
              <a:t>prévention</a:t>
            </a:r>
            <a:r>
              <a:rPr lang="en-US" dirty="0"/>
              <a:t> et à la </a:t>
            </a:r>
            <a:r>
              <a:rPr lang="en-US" dirty="0" err="1"/>
              <a:t>réponse</a:t>
            </a:r>
            <a:r>
              <a:rPr lang="en-US" dirty="0"/>
              <a:t>, </a:t>
            </a:r>
            <a:r>
              <a:rPr lang="en-US" dirty="0" err="1"/>
              <a:t>comprend</a:t>
            </a:r>
            <a:r>
              <a:rPr lang="en-US" dirty="0"/>
              <a:t> trois </a:t>
            </a:r>
            <a:r>
              <a:rPr lang="en-US" dirty="0" err="1"/>
              <a:t>autres</a:t>
            </a:r>
            <a:r>
              <a:rPr lang="en-US" dirty="0"/>
              <a:t> sprints : </a:t>
            </a:r>
            <a:r>
              <a:rPr lang="en-US" dirty="0" err="1"/>
              <a:t>l’anticipation</a:t>
            </a:r>
            <a:r>
              <a:rPr lang="en-US" dirty="0"/>
              <a:t> par le </a:t>
            </a:r>
            <a:r>
              <a:rPr lang="en-US" dirty="0" err="1"/>
              <a:t>renseignement</a:t>
            </a:r>
            <a:r>
              <a:rPr lang="en-US" dirty="0"/>
              <a:t>, la mitigation du </a:t>
            </a:r>
            <a:r>
              <a:rPr lang="en-US" dirty="0" err="1"/>
              <a:t>risque</a:t>
            </a:r>
            <a:r>
              <a:rPr lang="en-US" dirty="0"/>
              <a:t> </a:t>
            </a:r>
            <a:r>
              <a:rPr lang="en-US" dirty="0" err="1"/>
              <a:t>humain</a:t>
            </a:r>
            <a:r>
              <a:rPr lang="en-US" dirty="0"/>
              <a:t>, et </a:t>
            </a:r>
            <a:r>
              <a:rPr lang="en-US" dirty="0" err="1"/>
              <a:t>l’orchestration</a:t>
            </a:r>
            <a:r>
              <a:rPr lang="en-US" dirty="0"/>
              <a:t> SOAR.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Commençons</a:t>
            </a:r>
            <a:r>
              <a:rPr lang="en-US" dirty="0"/>
              <a:t> par la Release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664870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Le premier sprint met </a:t>
            </a:r>
            <a:r>
              <a:rPr lang="en-US" err="1"/>
              <a:t>en</a:t>
            </a:r>
            <a:r>
              <a:rPr lang="en-US"/>
              <a:t> place la capture du </a:t>
            </a:r>
            <a:r>
              <a:rPr lang="en-US" err="1"/>
              <a:t>trafic</a:t>
            </a:r>
            <a:r>
              <a:rPr lang="en-US"/>
              <a:t> réseau.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Avant </a:t>
            </a:r>
            <a:r>
              <a:rPr lang="en-US" err="1"/>
              <a:t>d’aller</a:t>
            </a:r>
            <a:r>
              <a:rPr lang="en-US"/>
              <a:t> plus loin, un mot sur </a:t>
            </a:r>
            <a:r>
              <a:rPr lang="en-US" err="1"/>
              <a:t>l’outil</a:t>
            </a:r>
            <a:r>
              <a:rPr lang="en-US"/>
              <a:t> central de </a:t>
            </a:r>
            <a:r>
              <a:rPr lang="en-US" err="1"/>
              <a:t>ce</a:t>
            </a:r>
            <a:r>
              <a:rPr lang="en-US"/>
              <a:t> sprint : </a:t>
            </a:r>
            <a:r>
              <a:rPr lang="en-US" b="1"/>
              <a:t>Suricata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un </a:t>
            </a:r>
            <a:r>
              <a:rPr lang="en-US" err="1"/>
              <a:t>moteur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d’intrusion</a:t>
            </a:r>
            <a:r>
              <a:rPr lang="en-US"/>
              <a:t> open-source, très </a:t>
            </a:r>
            <a:r>
              <a:rPr lang="en-US" err="1"/>
              <a:t>utilisé</a:t>
            </a:r>
            <a:r>
              <a:rPr lang="en-US"/>
              <a:t> dans </a:t>
            </a:r>
            <a:r>
              <a:rPr lang="en-US" err="1"/>
              <a:t>l’industrie</a:t>
            </a:r>
            <a:r>
              <a:rPr lang="en-US"/>
              <a:t>. Il </a:t>
            </a:r>
            <a:r>
              <a:rPr lang="en-US" err="1"/>
              <a:t>analyse</a:t>
            </a:r>
            <a:r>
              <a:rPr lang="en-US"/>
              <a:t> le </a:t>
            </a:r>
            <a:r>
              <a:rPr lang="en-US" err="1"/>
              <a:t>trafic</a:t>
            </a:r>
            <a:r>
              <a:rPr lang="en-US"/>
              <a:t> réseau </a:t>
            </a:r>
            <a:r>
              <a:rPr lang="en-US" err="1"/>
              <a:t>en</a:t>
            </a:r>
            <a:r>
              <a:rPr lang="en-US"/>
              <a:t> temps </a:t>
            </a:r>
            <a:r>
              <a:rPr lang="en-US" err="1"/>
              <a:t>réel</a:t>
            </a:r>
            <a:r>
              <a:rPr lang="en-US"/>
              <a:t>, et le compare à des </a:t>
            </a:r>
            <a:r>
              <a:rPr lang="en-US" err="1"/>
              <a:t>milliers</a:t>
            </a:r>
            <a:r>
              <a:rPr lang="en-US"/>
              <a:t> de </a:t>
            </a:r>
            <a:r>
              <a:rPr lang="en-US" err="1"/>
              <a:t>règles</a:t>
            </a:r>
            <a:r>
              <a:rPr lang="en-US"/>
              <a:t> de signatures, pour </a:t>
            </a:r>
            <a:r>
              <a:rPr lang="en-US" err="1"/>
              <a:t>repérer</a:t>
            </a:r>
            <a:r>
              <a:rPr lang="en-US"/>
              <a:t> des </a:t>
            </a:r>
            <a:r>
              <a:rPr lang="en-US" err="1"/>
              <a:t>attaques</a:t>
            </a:r>
            <a:r>
              <a:rPr lang="en-US"/>
              <a:t> déjà </a:t>
            </a:r>
            <a:r>
              <a:rPr lang="en-US" err="1"/>
              <a:t>connues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Dans NG-IDPS,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lui</a:t>
            </a:r>
            <a:r>
              <a:rPr lang="en-US"/>
              <a:t> qui </a:t>
            </a:r>
            <a:r>
              <a:rPr lang="en-US" err="1"/>
              <a:t>joue</a:t>
            </a:r>
            <a:r>
              <a:rPr lang="en-US"/>
              <a:t> le </a:t>
            </a:r>
            <a:r>
              <a:rPr lang="en-US" err="1"/>
              <a:t>rôle</a:t>
            </a:r>
            <a:r>
              <a:rPr lang="en-US"/>
              <a:t> de première </a:t>
            </a:r>
            <a:r>
              <a:rPr lang="en-US" err="1"/>
              <a:t>ligne</a:t>
            </a:r>
            <a:r>
              <a:rPr lang="en-US"/>
              <a:t> de </a:t>
            </a:r>
            <a:r>
              <a:rPr lang="en-US" err="1"/>
              <a:t>défense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Il </a:t>
            </a:r>
            <a:r>
              <a:rPr lang="en-US" err="1"/>
              <a:t>fonctionne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mode </a:t>
            </a:r>
            <a:r>
              <a:rPr lang="en-US" b="1"/>
              <a:t>promiscuous</a:t>
            </a:r>
            <a:r>
              <a:rPr lang="en-US"/>
              <a:t> : il capture tout le </a:t>
            </a:r>
            <a:r>
              <a:rPr lang="en-US" err="1"/>
              <a:t>trafic</a:t>
            </a:r>
            <a:r>
              <a:rPr lang="en-US"/>
              <a:t> qui passe sur le segment réseau, sans exception.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Pour </a:t>
            </a:r>
            <a:r>
              <a:rPr lang="en-US" err="1"/>
              <a:t>éliminer</a:t>
            </a:r>
            <a:r>
              <a:rPr lang="en-US"/>
              <a:t> toute </a:t>
            </a:r>
            <a:r>
              <a:rPr lang="en-US" err="1"/>
              <a:t>latence</a:t>
            </a:r>
            <a:r>
              <a:rPr lang="en-US"/>
              <a:t> à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niveau</a:t>
            </a:r>
            <a:r>
              <a:rPr lang="en-US"/>
              <a:t>, </a:t>
            </a:r>
            <a:r>
              <a:rPr lang="en-US" err="1"/>
              <a:t>j’utilise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capture </a:t>
            </a:r>
            <a:r>
              <a:rPr lang="en-US" b="1"/>
              <a:t>zero-copy</a:t>
            </a:r>
            <a:r>
              <a:rPr lang="en-US"/>
              <a:t>, via AF_PACKET. Le </a:t>
            </a:r>
            <a:r>
              <a:rPr lang="en-US" err="1"/>
              <a:t>paquet</a:t>
            </a:r>
            <a:r>
              <a:rPr lang="en-US"/>
              <a:t> est </a:t>
            </a:r>
            <a:r>
              <a:rPr lang="en-US" err="1"/>
              <a:t>lu</a:t>
            </a:r>
            <a:r>
              <a:rPr lang="en-US"/>
              <a:t> </a:t>
            </a:r>
            <a:r>
              <a:rPr lang="en-US" err="1"/>
              <a:t>directement</a:t>
            </a:r>
            <a:r>
              <a:rPr lang="en-US"/>
              <a:t>, sans </a:t>
            </a:r>
            <a:r>
              <a:rPr lang="en-US" err="1"/>
              <a:t>copie</a:t>
            </a:r>
            <a:r>
              <a:rPr lang="en-US"/>
              <a:t> </a:t>
            </a:r>
            <a:r>
              <a:rPr lang="en-US" err="1"/>
              <a:t>intermédiaire</a:t>
            </a:r>
            <a:r>
              <a:rPr lang="en-US"/>
              <a:t> inutile.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sortie est </a:t>
            </a:r>
            <a:r>
              <a:rPr lang="en-US" err="1"/>
              <a:t>structurée</a:t>
            </a:r>
            <a:r>
              <a:rPr lang="en-US"/>
              <a:t> :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événement</a:t>
            </a:r>
            <a:r>
              <a:rPr lang="en-US"/>
              <a:t> est </a:t>
            </a:r>
            <a:r>
              <a:rPr lang="en-US" err="1"/>
              <a:t>transformé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JSON </a:t>
            </a:r>
            <a:r>
              <a:rPr lang="en-US" err="1"/>
              <a:t>normalisé</a:t>
            </a:r>
            <a:r>
              <a:rPr lang="en-US"/>
              <a:t>, le </a:t>
            </a:r>
            <a:r>
              <a:rPr lang="en-US" err="1"/>
              <a:t>fameux</a:t>
            </a:r>
            <a:r>
              <a:rPr lang="en-US"/>
              <a:t> </a:t>
            </a:r>
            <a:r>
              <a:rPr lang="en-US" sz="1200" kern="120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eve.json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 point important </a:t>
            </a:r>
            <a:r>
              <a:rPr lang="en-US" err="1"/>
              <a:t>ici</a:t>
            </a:r>
            <a:r>
              <a:rPr lang="en-US"/>
              <a:t> : Suricata ne </a:t>
            </a:r>
            <a:r>
              <a:rPr lang="en-US" err="1"/>
              <a:t>bloque</a:t>
            </a:r>
            <a:r>
              <a:rPr lang="en-US"/>
              <a:t> jamais </a:t>
            </a:r>
            <a:r>
              <a:rPr lang="en-US" err="1"/>
              <a:t>directement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connexion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Il se </a:t>
            </a:r>
            <a:r>
              <a:rPr lang="en-US" err="1"/>
              <a:t>contente</a:t>
            </a:r>
            <a:r>
              <a:rPr lang="en-US"/>
              <a:t> de </a:t>
            </a:r>
            <a:r>
              <a:rPr lang="en-US" err="1"/>
              <a:t>publier</a:t>
            </a:r>
            <a:r>
              <a:rPr lang="en-US"/>
              <a:t> </a:t>
            </a:r>
            <a:r>
              <a:rPr lang="en-US" err="1"/>
              <a:t>ses</a:t>
            </a:r>
            <a:r>
              <a:rPr lang="en-US"/>
              <a:t> </a:t>
            </a:r>
            <a:r>
              <a:rPr lang="en-US" err="1"/>
              <a:t>alertes</a:t>
            </a:r>
            <a:r>
              <a:rPr lang="en-US"/>
              <a:t> sur un topic Kafka </a:t>
            </a:r>
            <a:r>
              <a:rPr lang="en-US" err="1"/>
              <a:t>dédié</a:t>
            </a:r>
            <a:r>
              <a:rPr lang="en-US"/>
              <a:t>. </a:t>
            </a:r>
            <a:r>
              <a:rPr lang="en-US" err="1"/>
              <a:t>C’est</a:t>
            </a:r>
            <a:r>
              <a:rPr lang="en-US"/>
              <a:t> le </a:t>
            </a:r>
            <a:r>
              <a:rPr lang="en-US" err="1"/>
              <a:t>moteur</a:t>
            </a:r>
            <a:r>
              <a:rPr lang="en-US"/>
              <a:t> 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/>
              <a:t> qui </a:t>
            </a:r>
            <a:r>
              <a:rPr lang="en-US" err="1"/>
              <a:t>consomme</a:t>
            </a:r>
            <a:r>
              <a:rPr lang="en-US"/>
              <a:t> ensuite </a:t>
            </a:r>
            <a:r>
              <a:rPr lang="en-US" err="1"/>
              <a:t>ces</a:t>
            </a:r>
            <a:r>
              <a:rPr lang="en-US"/>
              <a:t> </a:t>
            </a:r>
            <a:r>
              <a:rPr lang="en-US" err="1"/>
              <a:t>événements</a:t>
            </a:r>
            <a:r>
              <a:rPr lang="en-US"/>
              <a:t>, et qui </a:t>
            </a:r>
            <a:r>
              <a:rPr lang="en-US" err="1"/>
              <a:t>décide</a:t>
            </a:r>
            <a:r>
              <a:rPr lang="en-US"/>
              <a:t> de la </a:t>
            </a:r>
            <a:r>
              <a:rPr lang="en-US" err="1"/>
              <a:t>remédiation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Cette </a:t>
            </a:r>
            <a:r>
              <a:rPr lang="en-US" err="1"/>
              <a:t>séparation</a:t>
            </a:r>
            <a:r>
              <a:rPr lang="en-US"/>
              <a:t> des </a:t>
            </a:r>
            <a:r>
              <a:rPr lang="en-US" err="1"/>
              <a:t>responsabilités</a:t>
            </a:r>
            <a:r>
              <a:rPr lang="en-US"/>
              <a:t> </a:t>
            </a:r>
            <a:r>
              <a:rPr lang="en-US" err="1"/>
              <a:t>garantit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chose </a:t>
            </a:r>
            <a:r>
              <a:rPr lang="en-US" err="1"/>
              <a:t>essentielle</a:t>
            </a:r>
            <a:r>
              <a:rPr lang="en-US"/>
              <a:t> : la capture continue, </a:t>
            </a:r>
            <a:r>
              <a:rPr lang="en-US" err="1"/>
              <a:t>même</a:t>
            </a:r>
            <a:r>
              <a:rPr lang="en-US"/>
              <a:t> pendant </a:t>
            </a:r>
            <a:r>
              <a:rPr lang="en-US" err="1"/>
              <a:t>une</a:t>
            </a:r>
            <a:r>
              <a:rPr lang="en-US"/>
              <a:t> action de </a:t>
            </a:r>
            <a:r>
              <a:rPr lang="en-US" err="1"/>
              <a:t>réponse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7864349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Le deuxième sprint </a:t>
            </a:r>
            <a:r>
              <a:rPr lang="en-US" err="1"/>
              <a:t>construit</a:t>
            </a:r>
            <a:r>
              <a:rPr lang="en-US"/>
              <a:t> le pipeline qui </a:t>
            </a:r>
            <a:r>
              <a:rPr lang="en-US" err="1"/>
              <a:t>traite</a:t>
            </a:r>
            <a:r>
              <a:rPr lang="en-US"/>
              <a:t> les </a:t>
            </a:r>
            <a:r>
              <a:rPr lang="en-US" err="1"/>
              <a:t>événements</a:t>
            </a:r>
            <a:r>
              <a:rPr lang="en-US"/>
              <a:t> </a:t>
            </a:r>
            <a:r>
              <a:rPr lang="en-US" err="1"/>
              <a:t>capturés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conçu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pipeline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b="1"/>
              <a:t>double chemin</a:t>
            </a:r>
            <a:r>
              <a:rPr lang="en-US"/>
              <a:t>, pour </a:t>
            </a:r>
            <a:r>
              <a:rPr lang="en-US" err="1"/>
              <a:t>répondre</a:t>
            </a:r>
            <a:r>
              <a:rPr lang="en-US"/>
              <a:t> à deux </a:t>
            </a:r>
            <a:r>
              <a:rPr lang="en-US" err="1"/>
              <a:t>besoins</a:t>
            </a:r>
            <a:r>
              <a:rPr lang="en-US"/>
              <a:t> très </a:t>
            </a:r>
            <a:r>
              <a:rPr lang="en-US" err="1"/>
              <a:t>différents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 chemin,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voie</a:t>
            </a:r>
            <a:r>
              <a:rPr lang="en-US" b="1"/>
              <a:t> </a:t>
            </a:r>
            <a:r>
              <a:rPr lang="en-US" b="1" err="1"/>
              <a:t>rapide</a:t>
            </a:r>
            <a:r>
              <a:rPr lang="en-US"/>
              <a:t>. Pour </a:t>
            </a:r>
            <a:r>
              <a:rPr lang="en-US" err="1"/>
              <a:t>chaque</a:t>
            </a:r>
            <a:r>
              <a:rPr lang="en-US"/>
              <a:t> flux réseau, seize </a:t>
            </a:r>
            <a:r>
              <a:rPr lang="en-US" err="1"/>
              <a:t>caractéristiques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extraites</a:t>
            </a:r>
            <a:r>
              <a:rPr lang="en-US"/>
              <a:t>, </a:t>
            </a:r>
            <a:r>
              <a:rPr lang="en-US" err="1"/>
              <a:t>puis</a:t>
            </a:r>
            <a:r>
              <a:rPr lang="en-US"/>
              <a:t> </a:t>
            </a:r>
            <a:r>
              <a:rPr lang="en-US" err="1"/>
              <a:t>publiées</a:t>
            </a:r>
            <a:r>
              <a:rPr lang="en-US"/>
              <a:t> sur Kafka. Elles </a:t>
            </a:r>
            <a:r>
              <a:rPr lang="en-US" err="1"/>
              <a:t>alimentent</a:t>
            </a:r>
            <a:r>
              <a:rPr lang="en-US"/>
              <a:t> </a:t>
            </a:r>
            <a:r>
              <a:rPr lang="en-US" err="1"/>
              <a:t>directement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LSTM-VAE, qui </a:t>
            </a:r>
            <a:r>
              <a:rPr lang="en-US" err="1"/>
              <a:t>répond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deux à quatre </a:t>
            </a:r>
            <a:r>
              <a:rPr lang="en-US" err="1"/>
              <a:t>millisecondes</a:t>
            </a:r>
            <a:r>
              <a:rPr lang="en-US"/>
              <a:t>. La </a:t>
            </a:r>
            <a:r>
              <a:rPr lang="en-US" err="1"/>
              <a:t>décision</a:t>
            </a:r>
            <a:r>
              <a:rPr lang="en-US"/>
              <a:t> du SOAR arrive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quinze </a:t>
            </a:r>
            <a:r>
              <a:rPr lang="en-US" err="1"/>
              <a:t>millisecondes</a:t>
            </a:r>
            <a:r>
              <a:rPr lang="en-US"/>
              <a:t>, de bout </a:t>
            </a:r>
            <a:r>
              <a:rPr lang="en-US" err="1"/>
              <a:t>en</a:t>
            </a:r>
            <a:r>
              <a:rPr lang="en-US"/>
              <a:t> bout.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deuxième chemin, </a:t>
            </a:r>
            <a:r>
              <a:rPr lang="en-US" err="1"/>
              <a:t>c’est</a:t>
            </a:r>
            <a:r>
              <a:rPr lang="en-US"/>
              <a:t> la </a:t>
            </a:r>
            <a:r>
              <a:rPr lang="en-US" b="1" err="1"/>
              <a:t>voie</a:t>
            </a:r>
            <a:r>
              <a:rPr lang="en-US" b="1"/>
              <a:t> </a:t>
            </a:r>
            <a:r>
              <a:rPr lang="en-US" b="1" err="1"/>
              <a:t>froide</a:t>
            </a:r>
            <a:r>
              <a:rPr lang="en-US"/>
              <a:t>.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événement</a:t>
            </a:r>
            <a:r>
              <a:rPr lang="en-US"/>
              <a:t> est </a:t>
            </a:r>
            <a:r>
              <a:rPr lang="en-US" err="1"/>
              <a:t>aussi</a:t>
            </a:r>
            <a:r>
              <a:rPr lang="en-US"/>
              <a:t> </a:t>
            </a:r>
            <a:r>
              <a:rPr lang="en-US" err="1"/>
              <a:t>envoyé</a:t>
            </a:r>
            <a:r>
              <a:rPr lang="en-US"/>
              <a:t>, via </a:t>
            </a:r>
            <a:r>
              <a:rPr lang="en-US" err="1"/>
              <a:t>Filebeat</a:t>
            </a:r>
            <a:r>
              <a:rPr lang="en-US"/>
              <a:t> et Logstash, vers Elasticsearch. </a:t>
            </a:r>
            <a:r>
              <a:rPr lang="en-US" err="1"/>
              <a:t>Là</a:t>
            </a:r>
            <a:r>
              <a:rPr lang="en-US"/>
              <a:t>, il est </a:t>
            </a:r>
            <a:r>
              <a:rPr lang="en-US" err="1"/>
              <a:t>enrichi</a:t>
            </a:r>
            <a:r>
              <a:rPr lang="en-US"/>
              <a:t> — par </a:t>
            </a:r>
            <a:r>
              <a:rPr lang="en-US" err="1"/>
              <a:t>exemple</a:t>
            </a:r>
            <a:r>
              <a:rPr lang="en-US"/>
              <a:t> avec la </a:t>
            </a:r>
            <a:r>
              <a:rPr lang="en-US" err="1"/>
              <a:t>géolocalisation</a:t>
            </a:r>
            <a:r>
              <a:rPr lang="en-US"/>
              <a:t> IP — et </a:t>
            </a:r>
            <a:r>
              <a:rPr lang="en-US" err="1"/>
              <a:t>indexé</a:t>
            </a:r>
            <a:r>
              <a:rPr lang="en-US"/>
              <a:t> pour </a:t>
            </a:r>
            <a:r>
              <a:rPr lang="en-US" err="1"/>
              <a:t>l’audit</a:t>
            </a:r>
            <a:r>
              <a:rPr lang="en-US"/>
              <a:t> </a:t>
            </a:r>
            <a:r>
              <a:rPr lang="en-US" err="1"/>
              <a:t>forensique</a:t>
            </a:r>
            <a:r>
              <a:rPr lang="en-US"/>
              <a:t>, et pour la supervision via Kibana. Cette </a:t>
            </a:r>
            <a:r>
              <a:rPr lang="en-US" err="1"/>
              <a:t>voie</a:t>
            </a:r>
            <a:r>
              <a:rPr lang="en-US"/>
              <a:t> </a:t>
            </a:r>
            <a:r>
              <a:rPr lang="en-US" err="1"/>
              <a:t>n’a</a:t>
            </a:r>
            <a:r>
              <a:rPr lang="en-US"/>
              <a:t> </a:t>
            </a:r>
            <a:r>
              <a:rPr lang="en-US" err="1"/>
              <a:t>aucune</a:t>
            </a:r>
            <a:r>
              <a:rPr lang="en-US"/>
              <a:t> </a:t>
            </a:r>
            <a:r>
              <a:rPr lang="en-US" err="1"/>
              <a:t>contrainte</a:t>
            </a:r>
            <a:r>
              <a:rPr lang="en-US"/>
              <a:t> de </a:t>
            </a:r>
            <a:r>
              <a:rPr lang="en-US" err="1"/>
              <a:t>latence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Autrement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 : la </a:t>
            </a:r>
            <a:r>
              <a:rPr lang="en-US" err="1"/>
              <a:t>voie</a:t>
            </a:r>
            <a:r>
              <a:rPr lang="en-US"/>
              <a:t> </a:t>
            </a:r>
            <a:r>
              <a:rPr lang="en-US" err="1"/>
              <a:t>rapide</a:t>
            </a:r>
            <a:r>
              <a:rPr lang="en-US"/>
              <a:t> </a:t>
            </a:r>
            <a:r>
              <a:rPr lang="en-US" err="1"/>
              <a:t>sert</a:t>
            </a:r>
            <a:r>
              <a:rPr lang="en-US"/>
              <a:t> à </a:t>
            </a:r>
            <a:r>
              <a:rPr lang="en-US" err="1"/>
              <a:t>décider</a:t>
            </a:r>
            <a:r>
              <a:rPr lang="en-US"/>
              <a:t>, et la </a:t>
            </a:r>
            <a:r>
              <a:rPr lang="en-US" err="1"/>
              <a:t>voie</a:t>
            </a:r>
            <a:r>
              <a:rPr lang="en-US"/>
              <a:t> </a:t>
            </a:r>
            <a:r>
              <a:rPr lang="en-US" err="1"/>
              <a:t>froide</a:t>
            </a:r>
            <a:r>
              <a:rPr lang="en-US"/>
              <a:t> </a:t>
            </a:r>
            <a:r>
              <a:rPr lang="en-US" err="1"/>
              <a:t>sert</a:t>
            </a:r>
            <a:r>
              <a:rPr lang="en-US"/>
              <a:t> à </a:t>
            </a:r>
            <a:r>
              <a:rPr lang="en-US" err="1"/>
              <a:t>comprendre</a:t>
            </a:r>
            <a:r>
              <a:rPr lang="en-US"/>
              <a:t> et à tracer.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voie</a:t>
            </a:r>
            <a:r>
              <a:rPr lang="en-US"/>
              <a:t> </a:t>
            </a:r>
            <a:r>
              <a:rPr lang="en-US" err="1"/>
              <a:t>rapide</a:t>
            </a:r>
            <a:r>
              <a:rPr lang="en-US"/>
              <a:t> qui </a:t>
            </a:r>
            <a:r>
              <a:rPr lang="en-US" err="1"/>
              <a:t>alimente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je </a:t>
            </a:r>
            <a:r>
              <a:rPr lang="en-US" err="1"/>
              <a:t>vais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</a:t>
            </a:r>
            <a:r>
              <a:rPr lang="en-US" err="1"/>
              <a:t>détailler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2832190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Le </a:t>
            </a:r>
            <a:r>
              <a:rPr lang="en-US" err="1"/>
              <a:t>troisième</a:t>
            </a:r>
            <a:r>
              <a:rPr lang="en-US"/>
              <a:t> sprint </a:t>
            </a:r>
            <a:r>
              <a:rPr lang="en-US" err="1"/>
              <a:t>introduit</a:t>
            </a:r>
            <a:r>
              <a:rPr lang="en-US"/>
              <a:t> le </a:t>
            </a:r>
            <a:r>
              <a:rPr lang="en-US" err="1"/>
              <a:t>cœur</a:t>
            </a:r>
            <a:r>
              <a:rPr lang="en-US"/>
              <a:t> de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 : un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b="1"/>
              <a:t>LSTM-VAE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Pour bien </a:t>
            </a:r>
            <a:r>
              <a:rPr lang="en-US" err="1"/>
              <a:t>comprendre</a:t>
            </a:r>
            <a:r>
              <a:rPr lang="en-US"/>
              <a:t>, </a:t>
            </a:r>
            <a:r>
              <a:rPr lang="en-US" err="1"/>
              <a:t>prenons</a:t>
            </a:r>
            <a:r>
              <a:rPr lang="en-US"/>
              <a:t> les deux parties du nom </a:t>
            </a:r>
            <a:r>
              <a:rPr lang="en-US" err="1"/>
              <a:t>séparément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b="1"/>
              <a:t>LSTM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réseau de </a:t>
            </a:r>
            <a:r>
              <a:rPr lang="en-US" err="1"/>
              <a:t>neurones</a:t>
            </a:r>
            <a:r>
              <a:rPr lang="en-US"/>
              <a:t> capable de </a:t>
            </a:r>
            <a:r>
              <a:rPr lang="en-US" err="1"/>
              <a:t>retenir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mémoire</a:t>
            </a:r>
            <a:r>
              <a:rPr lang="en-US"/>
              <a:t> à court et long </a:t>
            </a:r>
            <a:r>
              <a:rPr lang="en-US" err="1"/>
              <a:t>terme</a:t>
            </a:r>
            <a:r>
              <a:rPr lang="en-US"/>
              <a:t>. Il capture la </a:t>
            </a:r>
            <a:r>
              <a:rPr lang="en-US" err="1"/>
              <a:t>dynamique</a:t>
            </a:r>
            <a:r>
              <a:rPr lang="en-US"/>
              <a:t> </a:t>
            </a:r>
            <a:r>
              <a:rPr lang="en-US" err="1"/>
              <a:t>séquentielle</a:t>
            </a:r>
            <a:r>
              <a:rPr lang="en-US"/>
              <a:t> du </a:t>
            </a:r>
            <a:r>
              <a:rPr lang="en-US" err="1"/>
              <a:t>trafic</a:t>
            </a:r>
            <a:r>
              <a:rPr lang="en-US"/>
              <a:t> — </a:t>
            </a:r>
            <a:r>
              <a:rPr lang="en-US" err="1"/>
              <a:t>c’est</a:t>
            </a:r>
            <a:r>
              <a:rPr lang="en-US"/>
              <a:t>-à-dire comment le </a:t>
            </a:r>
            <a:r>
              <a:rPr lang="en-US" err="1"/>
              <a:t>comportement</a:t>
            </a:r>
            <a:r>
              <a:rPr lang="en-US"/>
              <a:t> </a:t>
            </a:r>
            <a:r>
              <a:rPr lang="en-US" err="1"/>
              <a:t>évolue</a:t>
            </a:r>
            <a:r>
              <a:rPr lang="en-US"/>
              <a:t> dans le temps, pas </a:t>
            </a:r>
            <a:r>
              <a:rPr lang="en-US" err="1"/>
              <a:t>juste</a:t>
            </a:r>
            <a:r>
              <a:rPr lang="en-US"/>
              <a:t> un </a:t>
            </a:r>
            <a:r>
              <a:rPr lang="en-US" err="1"/>
              <a:t>instantané</a:t>
            </a:r>
            <a:r>
              <a:rPr lang="en-US"/>
              <a:t> </a:t>
            </a:r>
            <a:r>
              <a:rPr lang="en-US" err="1"/>
              <a:t>isolé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b="1"/>
              <a:t>VAE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</a:t>
            </a:r>
            <a:r>
              <a:rPr lang="en-US" err="1"/>
              <a:t>autoencodeur</a:t>
            </a:r>
            <a:r>
              <a:rPr lang="en-US"/>
              <a:t> </a:t>
            </a:r>
            <a:r>
              <a:rPr lang="en-US" err="1"/>
              <a:t>variationnel</a:t>
            </a:r>
            <a:r>
              <a:rPr lang="en-US"/>
              <a:t>. Son </a:t>
            </a:r>
            <a:r>
              <a:rPr lang="en-US" err="1"/>
              <a:t>rôle</a:t>
            </a:r>
            <a:r>
              <a:rPr lang="en-US"/>
              <a:t> est </a:t>
            </a:r>
            <a:r>
              <a:rPr lang="en-US" err="1"/>
              <a:t>d’apprendre</a:t>
            </a:r>
            <a:r>
              <a:rPr lang="en-US"/>
              <a:t> à </a:t>
            </a:r>
            <a:r>
              <a:rPr lang="en-US" err="1"/>
              <a:t>reconstruire</a:t>
            </a:r>
            <a:r>
              <a:rPr lang="en-US"/>
              <a:t> le </a:t>
            </a:r>
            <a:r>
              <a:rPr lang="en-US" err="1"/>
              <a:t>trafic</a:t>
            </a:r>
            <a:r>
              <a:rPr lang="en-US"/>
              <a:t> normal, à </a:t>
            </a:r>
            <a:r>
              <a:rPr lang="en-US" err="1"/>
              <a:t>partir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</a:t>
            </a:r>
            <a:r>
              <a:rPr lang="en-US" err="1"/>
              <a:t>représentation</a:t>
            </a:r>
            <a:r>
              <a:rPr lang="en-US"/>
              <a:t> </a:t>
            </a:r>
            <a:r>
              <a:rPr lang="en-US" err="1"/>
              <a:t>compressée</a:t>
            </a:r>
            <a:r>
              <a:rPr lang="en-US"/>
              <a:t>. Une </a:t>
            </a:r>
            <a:r>
              <a:rPr lang="en-US" err="1"/>
              <a:t>régularisation</a:t>
            </a:r>
            <a:r>
              <a:rPr lang="en-US"/>
              <a:t>, </a:t>
            </a:r>
            <a:r>
              <a:rPr lang="en-US" err="1"/>
              <a:t>appelée</a:t>
            </a:r>
            <a:r>
              <a:rPr lang="en-US"/>
              <a:t> le </a:t>
            </a:r>
            <a:r>
              <a:rPr lang="en-US" err="1"/>
              <a:t>terme</a:t>
            </a:r>
            <a:r>
              <a:rPr lang="en-US"/>
              <a:t> KL, force le </a:t>
            </a:r>
            <a:r>
              <a:rPr lang="en-US" err="1"/>
              <a:t>modèle</a:t>
            </a:r>
            <a:r>
              <a:rPr lang="en-US"/>
              <a:t> à </a:t>
            </a:r>
            <a:r>
              <a:rPr lang="en-US" err="1"/>
              <a:t>apprendre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frontière</a:t>
            </a:r>
            <a:r>
              <a:rPr lang="en-US"/>
              <a:t> de </a:t>
            </a:r>
            <a:r>
              <a:rPr lang="en-US" err="1"/>
              <a:t>normalité</a:t>
            </a:r>
            <a:r>
              <a:rPr lang="en-US"/>
              <a:t> </a:t>
            </a:r>
            <a:r>
              <a:rPr lang="en-US" err="1"/>
              <a:t>généralisable</a:t>
            </a:r>
            <a:r>
              <a:rPr lang="en-US"/>
              <a:t>, et pas </a:t>
            </a:r>
            <a:r>
              <a:rPr lang="en-US" err="1"/>
              <a:t>seulement</a:t>
            </a:r>
            <a:r>
              <a:rPr lang="en-US"/>
              <a:t> à </a:t>
            </a:r>
            <a:r>
              <a:rPr lang="en-US" err="1"/>
              <a:t>mémoriser</a:t>
            </a:r>
            <a:r>
              <a:rPr lang="en-US"/>
              <a:t> les </a:t>
            </a:r>
            <a:r>
              <a:rPr lang="en-US" err="1"/>
              <a:t>exemples</a:t>
            </a:r>
            <a:r>
              <a:rPr lang="en-US"/>
              <a:t> </a:t>
            </a:r>
            <a:r>
              <a:rPr lang="en-US" err="1"/>
              <a:t>vus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</a:t>
            </a:r>
            <a:r>
              <a:rPr lang="en-US" err="1"/>
              <a:t>principe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est simple : le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essaie</a:t>
            </a:r>
            <a:r>
              <a:rPr lang="en-US"/>
              <a:t> de </a:t>
            </a:r>
            <a:r>
              <a:rPr lang="en-US" err="1"/>
              <a:t>reconstruire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séquence</a:t>
            </a:r>
            <a:r>
              <a:rPr lang="en-US"/>
              <a:t> de </a:t>
            </a:r>
            <a:r>
              <a:rPr lang="en-US" err="1"/>
              <a:t>trafic</a:t>
            </a:r>
            <a:r>
              <a:rPr lang="en-US"/>
              <a:t>. </a:t>
            </a:r>
            <a:r>
              <a:rPr lang="en-US" err="1"/>
              <a:t>S’il</a:t>
            </a:r>
            <a:r>
              <a:rPr lang="en-US"/>
              <a:t> y arrive bien, </a:t>
            </a:r>
            <a:r>
              <a:rPr lang="en-US" err="1"/>
              <a:t>c’est</a:t>
            </a:r>
            <a:r>
              <a:rPr lang="en-US"/>
              <a:t> du </a:t>
            </a:r>
            <a:r>
              <a:rPr lang="en-US" err="1"/>
              <a:t>comportement</a:t>
            </a:r>
            <a:r>
              <a:rPr lang="en-US"/>
              <a:t> normal. Mais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l’erreur</a:t>
            </a:r>
            <a:r>
              <a:rPr lang="en-US"/>
              <a:t> de reconstruction — </a:t>
            </a:r>
            <a:r>
              <a:rPr lang="en-US" err="1"/>
              <a:t>mesurée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MSE — </a:t>
            </a:r>
            <a:r>
              <a:rPr lang="en-US" err="1"/>
              <a:t>devient</a:t>
            </a:r>
            <a:r>
              <a:rPr lang="en-US"/>
              <a:t> </a:t>
            </a:r>
            <a:r>
              <a:rPr lang="en-US" err="1"/>
              <a:t>élevée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le </a:t>
            </a:r>
            <a:r>
              <a:rPr lang="en-US" err="1"/>
              <a:t>signe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</a:t>
            </a:r>
            <a:r>
              <a:rPr lang="en-US" err="1"/>
              <a:t>anomalie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Encore </a:t>
            </a:r>
            <a:r>
              <a:rPr lang="en-US" err="1"/>
              <a:t>fallait</a:t>
            </a:r>
            <a:r>
              <a:rPr lang="en-US"/>
              <a:t>-il </a:t>
            </a:r>
            <a:r>
              <a:rPr lang="en-US" err="1"/>
              <a:t>choisir</a:t>
            </a:r>
            <a:r>
              <a:rPr lang="en-US"/>
              <a:t> les </a:t>
            </a:r>
            <a:r>
              <a:rPr lang="en-US" err="1"/>
              <a:t>bonnes</a:t>
            </a:r>
            <a:r>
              <a:rPr lang="en-US"/>
              <a:t> </a:t>
            </a:r>
            <a:r>
              <a:rPr lang="en-US" err="1"/>
              <a:t>caractéristiques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entrée du </a:t>
            </a:r>
            <a:r>
              <a:rPr lang="en-US" err="1"/>
              <a:t>modèle</a:t>
            </a:r>
            <a:r>
              <a:rPr lang="en-US"/>
              <a:t> —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l’objet</a:t>
            </a:r>
            <a:r>
              <a:rPr lang="en-US"/>
              <a:t> de </a:t>
            </a:r>
            <a:r>
              <a:rPr lang="en-US" err="1"/>
              <a:t>l’étape</a:t>
            </a:r>
            <a:r>
              <a:rPr lang="en-US"/>
              <a:t> </a:t>
            </a:r>
            <a:r>
              <a:rPr lang="en-US" err="1"/>
              <a:t>suivante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8663232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Pour </a:t>
            </a:r>
            <a:r>
              <a:rPr lang="en-US" err="1"/>
              <a:t>que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fonctionne</a:t>
            </a:r>
            <a:r>
              <a:rPr lang="en-US"/>
              <a:t> bien, encore </a:t>
            </a:r>
            <a:r>
              <a:rPr lang="en-US" err="1"/>
              <a:t>fallait</a:t>
            </a:r>
            <a:r>
              <a:rPr lang="en-US"/>
              <a:t>-il </a:t>
            </a:r>
            <a:r>
              <a:rPr lang="en-US" err="1"/>
              <a:t>choisir</a:t>
            </a:r>
            <a:r>
              <a:rPr lang="en-US"/>
              <a:t> les </a:t>
            </a:r>
            <a:r>
              <a:rPr lang="en-US" err="1"/>
              <a:t>bonnes</a:t>
            </a:r>
            <a:r>
              <a:rPr lang="en-US"/>
              <a:t> </a:t>
            </a:r>
            <a:r>
              <a:rPr lang="en-US" err="1"/>
              <a:t>caractéristiques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entrée.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utilisé</a:t>
            </a:r>
            <a:r>
              <a:rPr lang="en-US"/>
              <a:t> le </a:t>
            </a:r>
            <a:r>
              <a:rPr lang="en-US" b="1"/>
              <a:t>score ANOVA</a:t>
            </a:r>
            <a:r>
              <a:rPr lang="en-US"/>
              <a:t>. Il </a:t>
            </a:r>
            <a:r>
              <a:rPr lang="en-US" err="1"/>
              <a:t>mesure</a:t>
            </a:r>
            <a:r>
              <a:rPr lang="en-US"/>
              <a:t> la </a:t>
            </a:r>
            <a:r>
              <a:rPr lang="en-US" err="1"/>
              <a:t>capacité</a:t>
            </a:r>
            <a:r>
              <a:rPr lang="en-US"/>
              <a:t> de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caractéristique</a:t>
            </a:r>
            <a:r>
              <a:rPr lang="en-US"/>
              <a:t> à </a:t>
            </a:r>
            <a:r>
              <a:rPr lang="en-US" err="1"/>
              <a:t>distinguer</a:t>
            </a:r>
            <a:r>
              <a:rPr lang="en-US"/>
              <a:t>, </a:t>
            </a:r>
            <a:r>
              <a:rPr lang="en-US" err="1"/>
              <a:t>statistiquement</a:t>
            </a:r>
            <a:r>
              <a:rPr lang="en-US"/>
              <a:t>, le </a:t>
            </a:r>
            <a:r>
              <a:rPr lang="en-US" err="1"/>
              <a:t>trafic</a:t>
            </a:r>
            <a:r>
              <a:rPr lang="en-US"/>
              <a:t> </a:t>
            </a:r>
            <a:r>
              <a:rPr lang="en-US" err="1"/>
              <a:t>bénin</a:t>
            </a:r>
            <a:r>
              <a:rPr lang="en-US"/>
              <a:t> du </a:t>
            </a:r>
            <a:r>
              <a:rPr lang="en-US" err="1"/>
              <a:t>trafic</a:t>
            </a:r>
            <a:r>
              <a:rPr lang="en-US"/>
              <a:t> </a:t>
            </a:r>
            <a:r>
              <a:rPr lang="en-US" err="1"/>
              <a:t>malveillant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pipeline suit trois étapes.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D’abord</a:t>
            </a:r>
            <a:r>
              <a:rPr lang="en-US"/>
              <a:t>, le </a:t>
            </a:r>
            <a:r>
              <a:rPr lang="en-US" b="1" err="1"/>
              <a:t>nettoyage</a:t>
            </a:r>
            <a:r>
              <a:rPr lang="en-US"/>
              <a:t> : les </a:t>
            </a:r>
            <a:r>
              <a:rPr lang="en-US" err="1"/>
              <a:t>valeurs</a:t>
            </a:r>
            <a:r>
              <a:rPr lang="en-US"/>
              <a:t> </a:t>
            </a:r>
            <a:r>
              <a:rPr lang="en-US" err="1"/>
              <a:t>aberrantes</a:t>
            </a:r>
            <a:r>
              <a:rPr lang="en-US"/>
              <a:t>, </a:t>
            </a:r>
            <a:r>
              <a:rPr lang="en-US" err="1"/>
              <a:t>NaN</a:t>
            </a:r>
            <a:r>
              <a:rPr lang="en-US"/>
              <a:t>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infinies</a:t>
            </a:r>
            <a:r>
              <a:rPr lang="en-US"/>
              <a:t>,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écartées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Ensuite, la </a:t>
            </a:r>
            <a:r>
              <a:rPr lang="en-US" b="1" err="1"/>
              <a:t>sélection</a:t>
            </a:r>
            <a:r>
              <a:rPr lang="en-US" b="1"/>
              <a:t> </a:t>
            </a:r>
            <a:r>
              <a:rPr lang="en-US" b="1" err="1"/>
              <a:t>équilibrée</a:t>
            </a:r>
            <a:r>
              <a:rPr lang="en-US"/>
              <a:t> : seize </a:t>
            </a:r>
            <a:r>
              <a:rPr lang="en-US" err="1"/>
              <a:t>caractéristiques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retenues</a:t>
            </a:r>
            <a:r>
              <a:rPr lang="en-US"/>
              <a:t>, </a:t>
            </a:r>
            <a:r>
              <a:rPr lang="en-US" err="1"/>
              <a:t>en</a:t>
            </a:r>
            <a:r>
              <a:rPr lang="en-US"/>
              <a:t> tenant compte de </a:t>
            </a:r>
            <a:r>
              <a:rPr lang="en-US" err="1"/>
              <a:t>chaque</a:t>
            </a:r>
            <a:r>
              <a:rPr lang="en-US"/>
              <a:t> type </a:t>
            </a:r>
            <a:r>
              <a:rPr lang="en-US" err="1"/>
              <a:t>d’attaque</a:t>
            </a:r>
            <a:r>
              <a:rPr lang="en-US"/>
              <a:t>, pour </a:t>
            </a:r>
            <a:r>
              <a:rPr lang="en-US" err="1"/>
              <a:t>éviter</a:t>
            </a:r>
            <a:r>
              <a:rPr lang="en-US"/>
              <a:t> </a:t>
            </a:r>
            <a:r>
              <a:rPr lang="en-US" err="1"/>
              <a:t>qu’une</a:t>
            </a:r>
            <a:r>
              <a:rPr lang="en-US"/>
              <a:t> </a:t>
            </a:r>
            <a:r>
              <a:rPr lang="en-US" err="1"/>
              <a:t>seule</a:t>
            </a:r>
            <a:r>
              <a:rPr lang="en-US"/>
              <a:t> </a:t>
            </a:r>
            <a:r>
              <a:rPr lang="en-US" err="1"/>
              <a:t>catégorie</a:t>
            </a:r>
            <a:r>
              <a:rPr lang="en-US"/>
              <a:t> domine le choix.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enfin</a:t>
            </a:r>
            <a:r>
              <a:rPr lang="en-US"/>
              <a:t>, la </a:t>
            </a:r>
            <a:r>
              <a:rPr lang="en-US" b="1" err="1"/>
              <a:t>normalisation</a:t>
            </a:r>
            <a:r>
              <a:rPr lang="en-US" b="1"/>
              <a:t> </a:t>
            </a:r>
            <a:r>
              <a:rPr lang="en-US" b="1" err="1"/>
              <a:t>MinMax</a:t>
            </a:r>
            <a:r>
              <a:rPr lang="en-US"/>
              <a:t> : </a:t>
            </a:r>
            <a:r>
              <a:rPr lang="en-US" err="1"/>
              <a:t>toutes</a:t>
            </a:r>
            <a:r>
              <a:rPr lang="en-US"/>
              <a:t> les </a:t>
            </a:r>
            <a:r>
              <a:rPr lang="en-US" err="1"/>
              <a:t>valeurs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</a:t>
            </a:r>
            <a:r>
              <a:rPr lang="en-US" err="1"/>
              <a:t>ramenées</a:t>
            </a:r>
            <a:r>
              <a:rPr lang="en-US"/>
              <a:t> sur un </a:t>
            </a:r>
            <a:r>
              <a:rPr lang="en-US" err="1"/>
              <a:t>intervalle</a:t>
            </a:r>
            <a:r>
              <a:rPr lang="en-US"/>
              <a:t> </a:t>
            </a:r>
            <a:r>
              <a:rPr lang="en-US" err="1"/>
              <a:t>commun</a:t>
            </a:r>
            <a:r>
              <a:rPr lang="en-US"/>
              <a:t>, entre 0 et 1, pour </a:t>
            </a:r>
            <a:r>
              <a:rPr lang="en-US" err="1"/>
              <a:t>que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traite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caractéristique</a:t>
            </a:r>
            <a:r>
              <a:rPr lang="en-US"/>
              <a:t> sur un pied </a:t>
            </a:r>
            <a:r>
              <a:rPr lang="en-US" err="1"/>
              <a:t>d’égalité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Une </a:t>
            </a:r>
            <a:r>
              <a:rPr lang="en-US" err="1"/>
              <a:t>fois</a:t>
            </a:r>
            <a:r>
              <a:rPr lang="en-US"/>
              <a:t> </a:t>
            </a:r>
            <a:r>
              <a:rPr lang="en-US" err="1"/>
              <a:t>ces</a:t>
            </a:r>
            <a:r>
              <a:rPr lang="en-US"/>
              <a:t> </a:t>
            </a:r>
            <a:r>
              <a:rPr lang="en-US" err="1"/>
              <a:t>caractéristiques</a:t>
            </a:r>
            <a:r>
              <a:rPr lang="en-US"/>
              <a:t> </a:t>
            </a:r>
            <a:r>
              <a:rPr lang="en-US" err="1"/>
              <a:t>choisies</a:t>
            </a:r>
            <a:r>
              <a:rPr lang="en-US"/>
              <a:t>, </a:t>
            </a:r>
            <a:r>
              <a:rPr lang="en-US" err="1"/>
              <a:t>restait</a:t>
            </a:r>
            <a:r>
              <a:rPr lang="en-US"/>
              <a:t> à </a:t>
            </a:r>
            <a:r>
              <a:rPr lang="en-US" err="1"/>
              <a:t>déterminer</a:t>
            </a:r>
            <a:r>
              <a:rPr lang="en-US"/>
              <a:t> à </a:t>
            </a:r>
            <a:r>
              <a:rPr lang="en-US" err="1"/>
              <a:t>partir</a:t>
            </a:r>
            <a:r>
              <a:rPr lang="en-US"/>
              <a:t> de </a:t>
            </a:r>
            <a:r>
              <a:rPr lang="en-US" err="1"/>
              <a:t>quel</a:t>
            </a:r>
            <a:r>
              <a:rPr lang="en-US"/>
              <a:t> </a:t>
            </a:r>
            <a:r>
              <a:rPr lang="en-US" err="1"/>
              <a:t>niveau</a:t>
            </a:r>
            <a:r>
              <a:rPr lang="en-US"/>
              <a:t> </a:t>
            </a:r>
            <a:r>
              <a:rPr lang="en-US" err="1"/>
              <a:t>d’erreur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séquence</a:t>
            </a:r>
            <a:r>
              <a:rPr lang="en-US"/>
              <a:t> </a:t>
            </a:r>
            <a:r>
              <a:rPr lang="en-US" err="1"/>
              <a:t>devient</a:t>
            </a:r>
            <a:r>
              <a:rPr lang="en-US"/>
              <a:t> </a:t>
            </a:r>
            <a:r>
              <a:rPr lang="en-US" err="1"/>
              <a:t>réellement</a:t>
            </a:r>
            <a:r>
              <a:rPr lang="en-US"/>
              <a:t> </a:t>
            </a:r>
            <a:r>
              <a:rPr lang="en-US" err="1"/>
              <a:t>anormale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213405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Après </a:t>
            </a:r>
            <a:r>
              <a:rPr lang="en-US" err="1"/>
              <a:t>avoir</a:t>
            </a:r>
            <a:r>
              <a:rPr lang="en-US"/>
              <a:t> </a:t>
            </a:r>
            <a:r>
              <a:rPr lang="en-US" err="1"/>
              <a:t>entraîné</a:t>
            </a:r>
            <a:r>
              <a:rPr lang="en-US"/>
              <a:t> le </a:t>
            </a:r>
            <a:r>
              <a:rPr lang="en-US" err="1"/>
              <a:t>modèle</a:t>
            </a:r>
            <a:r>
              <a:rPr lang="en-US"/>
              <a:t> LSTM-VAE </a:t>
            </a:r>
            <a:r>
              <a:rPr lang="en-US" err="1"/>
              <a:t>exclusivement</a:t>
            </a:r>
            <a:r>
              <a:rPr lang="en-US"/>
              <a:t> sur du </a:t>
            </a:r>
            <a:r>
              <a:rPr lang="en-US" err="1"/>
              <a:t>trafic</a:t>
            </a:r>
            <a:r>
              <a:rPr lang="en-US"/>
              <a:t> </a:t>
            </a:r>
            <a:r>
              <a:rPr lang="en-US" err="1"/>
              <a:t>bénin</a:t>
            </a:r>
            <a:r>
              <a:rPr lang="en-US"/>
              <a:t>, il </a:t>
            </a:r>
            <a:r>
              <a:rPr lang="en-US" err="1"/>
              <a:t>fallait</a:t>
            </a:r>
            <a:r>
              <a:rPr lang="en-US"/>
              <a:t> </a:t>
            </a:r>
            <a:r>
              <a:rPr lang="en-US" err="1"/>
              <a:t>répondre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question </a:t>
            </a:r>
            <a:r>
              <a:rPr lang="en-US" err="1"/>
              <a:t>clé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À </a:t>
            </a:r>
            <a:r>
              <a:rPr lang="en-US" err="1"/>
              <a:t>partir</a:t>
            </a:r>
            <a:r>
              <a:rPr lang="en-US"/>
              <a:t> de quelle </a:t>
            </a:r>
            <a:r>
              <a:rPr lang="en-US" err="1"/>
              <a:t>erreur</a:t>
            </a:r>
            <a:r>
              <a:rPr lang="en-US"/>
              <a:t> de reconstruction </a:t>
            </a:r>
            <a:r>
              <a:rPr lang="en-US" err="1"/>
              <a:t>considère</a:t>
            </a:r>
            <a:r>
              <a:rPr lang="en-US"/>
              <a:t>-t-on </a:t>
            </a:r>
            <a:r>
              <a:rPr lang="en-US" err="1"/>
              <a:t>qu’un</a:t>
            </a:r>
            <a:r>
              <a:rPr lang="en-US"/>
              <a:t> </a:t>
            </a:r>
            <a:r>
              <a:rPr lang="en-US" err="1"/>
              <a:t>trafic</a:t>
            </a:r>
            <a:r>
              <a:rPr lang="en-US"/>
              <a:t> est anormal ?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tout </a:t>
            </a:r>
            <a:r>
              <a:rPr lang="en-US" err="1"/>
              <a:t>l’enjeu</a:t>
            </a:r>
            <a:r>
              <a:rPr lang="en-US"/>
              <a:t> de la calibration du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b="1"/>
              <a:t>tau</a:t>
            </a:r>
            <a:r>
              <a:rPr lang="en-US"/>
              <a:t>. On </a:t>
            </a:r>
            <a:r>
              <a:rPr lang="en-US" err="1"/>
              <a:t>mesure</a:t>
            </a:r>
            <a:r>
              <a:rPr lang="en-US"/>
              <a:t> </a:t>
            </a:r>
            <a:r>
              <a:rPr lang="en-US" err="1"/>
              <a:t>l’erreur</a:t>
            </a:r>
            <a:r>
              <a:rPr lang="en-US"/>
              <a:t> de reconstruction — le MSE — sur le </a:t>
            </a:r>
            <a:r>
              <a:rPr lang="en-US" err="1"/>
              <a:t>trafic</a:t>
            </a:r>
            <a:r>
              <a:rPr lang="en-US"/>
              <a:t> </a:t>
            </a:r>
            <a:r>
              <a:rPr lang="en-US" err="1"/>
              <a:t>bénin</a:t>
            </a:r>
            <a:r>
              <a:rPr lang="en-US"/>
              <a:t> de validation. Ce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err="1"/>
              <a:t>devient</a:t>
            </a:r>
            <a:r>
              <a:rPr lang="en-US"/>
              <a:t> le point de bascule entre un </a:t>
            </a:r>
            <a:r>
              <a:rPr lang="en-US" err="1"/>
              <a:t>comportement</a:t>
            </a:r>
            <a:r>
              <a:rPr lang="en-US"/>
              <a:t> normal, et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anomalie</a:t>
            </a:r>
            <a:r>
              <a:rPr lang="en-US"/>
              <a:t> à signaler.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comparé</a:t>
            </a:r>
            <a:r>
              <a:rPr lang="en-US"/>
              <a:t> quatre points de </a:t>
            </a:r>
            <a:r>
              <a:rPr lang="en-US" err="1"/>
              <a:t>fonctionnement</a:t>
            </a:r>
            <a:r>
              <a:rPr lang="en-US"/>
              <a:t> </a:t>
            </a:r>
            <a:r>
              <a:rPr lang="en-US" err="1"/>
              <a:t>candidats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premier,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l’optimum</a:t>
            </a:r>
            <a:r>
              <a:rPr lang="en-US"/>
              <a:t> du score F1, à tau </a:t>
            </a:r>
            <a:r>
              <a:rPr lang="en-US" err="1"/>
              <a:t>égal</a:t>
            </a:r>
            <a:r>
              <a:rPr lang="en-US"/>
              <a:t> 37,77. Sur le papier, </a:t>
            </a:r>
            <a:r>
              <a:rPr lang="en-US" err="1"/>
              <a:t>c’est</a:t>
            </a:r>
            <a:r>
              <a:rPr lang="en-US"/>
              <a:t> le choix </a:t>
            </a:r>
            <a:r>
              <a:rPr lang="en-US" err="1"/>
              <a:t>qu’un</a:t>
            </a:r>
            <a:r>
              <a:rPr lang="en-US"/>
              <a:t> </a:t>
            </a:r>
            <a:r>
              <a:rPr lang="en-US" err="1"/>
              <a:t>critère</a:t>
            </a:r>
            <a:r>
              <a:rPr lang="en-US"/>
              <a:t> </a:t>
            </a:r>
            <a:r>
              <a:rPr lang="en-US" err="1"/>
              <a:t>purement</a:t>
            </a:r>
            <a:r>
              <a:rPr lang="en-US"/>
              <a:t> </a:t>
            </a:r>
            <a:r>
              <a:rPr lang="en-US" err="1"/>
              <a:t>statistique</a:t>
            </a:r>
            <a:r>
              <a:rPr lang="en-US"/>
              <a:t> </a:t>
            </a:r>
            <a:r>
              <a:rPr lang="en-US" err="1"/>
              <a:t>aurait</a:t>
            </a:r>
            <a:r>
              <a:rPr lang="en-US"/>
              <a:t> </a:t>
            </a:r>
            <a:r>
              <a:rPr lang="en-US" err="1"/>
              <a:t>recommandé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premier lieu.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Mais </a:t>
            </a:r>
            <a:r>
              <a:rPr lang="en-US" err="1"/>
              <a:t>en</a:t>
            </a:r>
            <a:r>
              <a:rPr lang="en-US"/>
              <a:t> pratique,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seuil</a:t>
            </a:r>
            <a:r>
              <a:rPr lang="en-US"/>
              <a:t> est écarté : il </a:t>
            </a:r>
            <a:r>
              <a:rPr lang="en-US" err="1"/>
              <a:t>produit</a:t>
            </a:r>
            <a:r>
              <a:rPr lang="en-US"/>
              <a:t> un </a:t>
            </a:r>
            <a:r>
              <a:rPr lang="en-US" err="1"/>
              <a:t>taux</a:t>
            </a:r>
            <a:r>
              <a:rPr lang="en-US"/>
              <a:t> de faux </a:t>
            </a:r>
            <a:r>
              <a:rPr lang="en-US" err="1"/>
              <a:t>positifs</a:t>
            </a:r>
            <a:r>
              <a:rPr lang="en-US"/>
              <a:t> beaucoup trop </a:t>
            </a:r>
            <a:r>
              <a:rPr lang="en-US" err="1"/>
              <a:t>élevé</a:t>
            </a:r>
            <a:r>
              <a:rPr lang="en-US"/>
              <a:t>. À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niveau</a:t>
            </a:r>
            <a:r>
              <a:rPr lang="en-US"/>
              <a:t>, le </a:t>
            </a:r>
            <a:r>
              <a:rPr lang="en-US" err="1"/>
              <a:t>système</a:t>
            </a:r>
            <a:r>
              <a:rPr lang="en-US"/>
              <a:t> </a:t>
            </a:r>
            <a:r>
              <a:rPr lang="en-US" err="1"/>
              <a:t>génère</a:t>
            </a:r>
            <a:r>
              <a:rPr lang="en-US"/>
              <a:t> </a:t>
            </a:r>
            <a:r>
              <a:rPr lang="en-US" err="1"/>
              <a:t>tellement</a:t>
            </a:r>
            <a:r>
              <a:rPr lang="en-US"/>
              <a:t> de </a:t>
            </a:r>
            <a:r>
              <a:rPr lang="en-US" err="1"/>
              <a:t>fausses</a:t>
            </a:r>
            <a:r>
              <a:rPr lang="en-US"/>
              <a:t> </a:t>
            </a:r>
            <a:r>
              <a:rPr lang="en-US" err="1"/>
              <a:t>alertes</a:t>
            </a:r>
            <a:r>
              <a:rPr lang="en-US"/>
              <a:t>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devient</a:t>
            </a:r>
            <a:r>
              <a:rPr lang="en-US"/>
              <a:t> </a:t>
            </a:r>
            <a:r>
              <a:rPr lang="en-US" err="1"/>
              <a:t>inexploitable</a:t>
            </a:r>
            <a:r>
              <a:rPr lang="en-US"/>
              <a:t> pour un </a:t>
            </a:r>
            <a:r>
              <a:rPr lang="en-US" err="1"/>
              <a:t>administrateur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donc</a:t>
            </a:r>
            <a:r>
              <a:rPr lang="en-US"/>
              <a:t> </a:t>
            </a:r>
            <a:r>
              <a:rPr lang="en-US" err="1"/>
              <a:t>testé</a:t>
            </a:r>
            <a:r>
              <a:rPr lang="en-US"/>
              <a:t> trois </a:t>
            </a:r>
            <a:r>
              <a:rPr lang="en-US" err="1"/>
              <a:t>seuils</a:t>
            </a:r>
            <a:r>
              <a:rPr lang="en-US"/>
              <a:t> </a:t>
            </a:r>
            <a:r>
              <a:rPr lang="en-US" err="1"/>
              <a:t>alternatifs</a:t>
            </a:r>
            <a:r>
              <a:rPr lang="en-US"/>
              <a:t>, </a:t>
            </a:r>
            <a:r>
              <a:rPr lang="en-US" err="1"/>
              <a:t>basés</a:t>
            </a:r>
            <a:r>
              <a:rPr lang="en-US"/>
              <a:t> sur </a:t>
            </a:r>
            <a:r>
              <a:rPr lang="en-US" err="1"/>
              <a:t>l’écart</a:t>
            </a:r>
            <a:r>
              <a:rPr lang="en-US"/>
              <a:t>-type de la distribution : mu plus 1,5 sigma à 68,12, mu plus 2 sigma à 77,95, et mu plus 3 sigma à 97,62 — des </a:t>
            </a:r>
            <a:r>
              <a:rPr lang="en-US" err="1"/>
              <a:t>seuils</a:t>
            </a:r>
            <a:r>
              <a:rPr lang="en-US"/>
              <a:t> plus </a:t>
            </a:r>
            <a:r>
              <a:rPr lang="en-US" err="1"/>
              <a:t>élevés</a:t>
            </a:r>
            <a:r>
              <a:rPr lang="en-US"/>
              <a:t>, </a:t>
            </a:r>
            <a:r>
              <a:rPr lang="en-US" err="1"/>
              <a:t>donc</a:t>
            </a:r>
            <a:r>
              <a:rPr lang="en-US"/>
              <a:t> plus </a:t>
            </a:r>
            <a:r>
              <a:rPr lang="en-US" err="1"/>
              <a:t>stricts</a:t>
            </a:r>
            <a:r>
              <a:rPr lang="en-US"/>
              <a:t>, </a:t>
            </a:r>
            <a:r>
              <a:rPr lang="en-US" err="1"/>
              <a:t>pensés</a:t>
            </a:r>
            <a:r>
              <a:rPr lang="en-US"/>
              <a:t> pour </a:t>
            </a:r>
            <a:r>
              <a:rPr lang="en-US" err="1"/>
              <a:t>réduire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taux</a:t>
            </a:r>
            <a:r>
              <a:rPr lang="en-US"/>
              <a:t> de </a:t>
            </a:r>
            <a:r>
              <a:rPr lang="en-US" err="1"/>
              <a:t>fausses</a:t>
            </a:r>
            <a:r>
              <a:rPr lang="en-US"/>
              <a:t> </a:t>
            </a:r>
            <a:r>
              <a:rPr lang="en-US" err="1"/>
              <a:t>alertes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Pour </a:t>
            </a:r>
            <a:r>
              <a:rPr lang="en-US" err="1"/>
              <a:t>arbitrer</a:t>
            </a:r>
            <a:r>
              <a:rPr lang="en-US"/>
              <a:t> entre </a:t>
            </a:r>
            <a:r>
              <a:rPr lang="en-US" err="1"/>
              <a:t>ces</a:t>
            </a:r>
            <a:r>
              <a:rPr lang="en-US"/>
              <a:t> trois </a:t>
            </a:r>
            <a:r>
              <a:rPr lang="en-US" err="1"/>
              <a:t>candidats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regardé</a:t>
            </a:r>
            <a:r>
              <a:rPr lang="en-US"/>
              <a:t> comment chacun se </a:t>
            </a:r>
            <a:r>
              <a:rPr lang="en-US" err="1"/>
              <a:t>comporte</a:t>
            </a:r>
            <a:r>
              <a:rPr lang="en-US"/>
              <a:t>, non pas </a:t>
            </a:r>
            <a:r>
              <a:rPr lang="en-US" err="1"/>
              <a:t>globalement</a:t>
            </a:r>
            <a:r>
              <a:rPr lang="en-US"/>
              <a:t>,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b="1" err="1"/>
              <a:t>attaque</a:t>
            </a:r>
            <a:r>
              <a:rPr lang="en-US" b="1"/>
              <a:t> par </a:t>
            </a:r>
            <a:r>
              <a:rPr lang="en-US" b="1" err="1"/>
              <a:t>attaque</a:t>
            </a:r>
            <a:r>
              <a:rPr lang="en-US"/>
              <a:t> —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montre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graphique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On </a:t>
            </a:r>
            <a:r>
              <a:rPr lang="en-US" err="1"/>
              <a:t>voit</a:t>
            </a:r>
            <a:r>
              <a:rPr lang="en-US"/>
              <a:t> </a:t>
            </a:r>
            <a:r>
              <a:rPr lang="en-US" err="1"/>
              <a:t>ici</a:t>
            </a:r>
            <a:r>
              <a:rPr lang="en-US"/>
              <a:t> le rappel </a:t>
            </a:r>
            <a:r>
              <a:rPr lang="en-US" err="1"/>
              <a:t>obtenu</a:t>
            </a:r>
            <a:r>
              <a:rPr lang="en-US"/>
              <a:t>, pour </a:t>
            </a:r>
            <a:r>
              <a:rPr lang="en-US" err="1"/>
              <a:t>chaque</a:t>
            </a:r>
            <a:r>
              <a:rPr lang="en-US"/>
              <a:t> type </a:t>
            </a:r>
            <a:r>
              <a:rPr lang="en-US" err="1"/>
              <a:t>d’attaque</a:t>
            </a:r>
            <a:r>
              <a:rPr lang="en-US"/>
              <a:t>, </a:t>
            </a:r>
            <a:r>
              <a:rPr lang="en-US" err="1"/>
              <a:t>selon</a:t>
            </a:r>
            <a:r>
              <a:rPr lang="en-US"/>
              <a:t> le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err="1"/>
              <a:t>choisi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Sur le FTP-</a:t>
            </a:r>
            <a:r>
              <a:rPr lang="en-US" err="1"/>
              <a:t>Patator</a:t>
            </a:r>
            <a:r>
              <a:rPr lang="en-US"/>
              <a:t>, le </a:t>
            </a:r>
            <a:r>
              <a:rPr lang="en-US" err="1"/>
              <a:t>seuil</a:t>
            </a:r>
            <a:r>
              <a:rPr lang="en-US"/>
              <a:t> le plus bas — mu plus 1,5 sigma — </a:t>
            </a:r>
            <a:r>
              <a:rPr lang="en-US" err="1"/>
              <a:t>détecte</a:t>
            </a:r>
            <a:r>
              <a:rPr lang="en-US"/>
              <a:t> 98 % des </a:t>
            </a:r>
            <a:r>
              <a:rPr lang="en-US" err="1"/>
              <a:t>attaques</a:t>
            </a:r>
            <a:r>
              <a:rPr lang="en-US"/>
              <a:t>. </a:t>
            </a:r>
            <a:r>
              <a:rPr lang="en-US" err="1"/>
              <a:t>Dès</a:t>
            </a:r>
            <a:r>
              <a:rPr lang="en-US"/>
              <a:t> </a:t>
            </a:r>
            <a:r>
              <a:rPr lang="en-US" err="1"/>
              <a:t>qu’on</a:t>
            </a:r>
            <a:r>
              <a:rPr lang="en-US"/>
              <a:t> </a:t>
            </a:r>
            <a:r>
              <a:rPr lang="en-US" err="1"/>
              <a:t>durcit</a:t>
            </a:r>
            <a:r>
              <a:rPr lang="en-US"/>
              <a:t> le </a:t>
            </a:r>
            <a:r>
              <a:rPr lang="en-US" err="1"/>
              <a:t>seuil</a:t>
            </a:r>
            <a:r>
              <a:rPr lang="en-US"/>
              <a:t>, </a:t>
            </a:r>
            <a:r>
              <a:rPr lang="en-US" err="1"/>
              <a:t>ce</a:t>
            </a:r>
            <a:r>
              <a:rPr lang="en-US"/>
              <a:t> rappel chute : 91,6 % à 2 sigma, et </a:t>
            </a:r>
            <a:r>
              <a:rPr lang="en-US" err="1"/>
              <a:t>seulement</a:t>
            </a:r>
            <a:r>
              <a:rPr lang="en-US"/>
              <a:t> 29,2 % à 3 sigma.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phénomène</a:t>
            </a:r>
            <a:r>
              <a:rPr lang="en-US"/>
              <a:t> se </a:t>
            </a:r>
            <a:r>
              <a:rPr lang="en-US" err="1"/>
              <a:t>répète</a:t>
            </a:r>
            <a:r>
              <a:rPr lang="en-US"/>
              <a:t> sur </a:t>
            </a:r>
            <a:r>
              <a:rPr lang="en-US" err="1"/>
              <a:t>l’infiltration</a:t>
            </a:r>
            <a:r>
              <a:rPr lang="en-US"/>
              <a:t> : 55,6 % de rappel au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err="1"/>
              <a:t>retenu</a:t>
            </a:r>
            <a:r>
              <a:rPr lang="en-US"/>
              <a:t>, </a:t>
            </a:r>
            <a:r>
              <a:rPr lang="en-US" err="1"/>
              <a:t>contre</a:t>
            </a:r>
            <a:r>
              <a:rPr lang="en-US"/>
              <a:t> </a:t>
            </a:r>
            <a:r>
              <a:rPr lang="en-US" err="1"/>
              <a:t>seulement</a:t>
            </a:r>
            <a:r>
              <a:rPr lang="en-US"/>
              <a:t> 22,2 % au </a:t>
            </a:r>
            <a:r>
              <a:rPr lang="en-US" err="1"/>
              <a:t>seuil</a:t>
            </a:r>
            <a:r>
              <a:rPr lang="en-US"/>
              <a:t> le plus strict.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c’est</a:t>
            </a:r>
            <a:r>
              <a:rPr lang="en-US"/>
              <a:t> encore plus </a:t>
            </a:r>
            <a:r>
              <a:rPr lang="en-US" err="1"/>
              <a:t>marqué</a:t>
            </a:r>
            <a:r>
              <a:rPr lang="en-US"/>
              <a:t> sur le SSH-</a:t>
            </a:r>
            <a:r>
              <a:rPr lang="en-US" err="1"/>
              <a:t>Patator</a:t>
            </a:r>
            <a:r>
              <a:rPr lang="en-US"/>
              <a:t> : 6,2 % de rappel au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err="1"/>
              <a:t>retenu</a:t>
            </a:r>
            <a:r>
              <a:rPr lang="en-US"/>
              <a:t> — déjà </a:t>
            </a:r>
            <a:r>
              <a:rPr lang="en-US" err="1"/>
              <a:t>faible</a:t>
            </a:r>
            <a:r>
              <a:rPr lang="en-US"/>
              <a:t> — </a:t>
            </a:r>
            <a:r>
              <a:rPr lang="en-US" err="1"/>
              <a:t>mais</a:t>
            </a:r>
            <a:r>
              <a:rPr lang="en-US"/>
              <a:t> il </a:t>
            </a:r>
            <a:r>
              <a:rPr lang="en-US" err="1"/>
              <a:t>tombe</a:t>
            </a:r>
            <a:r>
              <a:rPr lang="en-US"/>
              <a:t> </a:t>
            </a:r>
            <a:r>
              <a:rPr lang="en-US" err="1"/>
              <a:t>quasiment</a:t>
            </a:r>
            <a:r>
              <a:rPr lang="en-US"/>
              <a:t> à </a:t>
            </a:r>
            <a:r>
              <a:rPr lang="en-US" err="1"/>
              <a:t>zéro</a:t>
            </a:r>
            <a:r>
              <a:rPr lang="en-US"/>
              <a:t> </a:t>
            </a:r>
            <a:r>
              <a:rPr lang="en-US" err="1"/>
              <a:t>dès</a:t>
            </a:r>
            <a:r>
              <a:rPr lang="en-US"/>
              <a:t> </a:t>
            </a:r>
            <a:r>
              <a:rPr lang="en-US" err="1"/>
              <a:t>qu’on</a:t>
            </a:r>
            <a:r>
              <a:rPr lang="en-US"/>
              <a:t> </a:t>
            </a:r>
            <a:r>
              <a:rPr lang="en-US" err="1"/>
              <a:t>durcit</a:t>
            </a:r>
            <a:r>
              <a:rPr lang="en-US"/>
              <a:t> </a:t>
            </a:r>
            <a:r>
              <a:rPr lang="en-US" err="1"/>
              <a:t>davantage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graphique</a:t>
            </a:r>
            <a:r>
              <a:rPr lang="en-US"/>
              <a:t> montre </a:t>
            </a:r>
            <a:r>
              <a:rPr lang="en-US" err="1"/>
              <a:t>donc</a:t>
            </a:r>
            <a:r>
              <a:rPr lang="en-US"/>
              <a:t> </a:t>
            </a:r>
            <a:r>
              <a:rPr lang="en-US" err="1"/>
              <a:t>l’arbitrage</a:t>
            </a:r>
            <a:r>
              <a:rPr lang="en-US"/>
              <a:t> central de </a:t>
            </a:r>
            <a:r>
              <a:rPr lang="en-US" err="1"/>
              <a:t>ce</a:t>
            </a:r>
            <a:r>
              <a:rPr lang="en-US"/>
              <a:t> sprint : plus on </a:t>
            </a:r>
            <a:r>
              <a:rPr lang="en-US" err="1"/>
              <a:t>durcit</a:t>
            </a:r>
            <a:r>
              <a:rPr lang="en-US"/>
              <a:t> le </a:t>
            </a:r>
            <a:r>
              <a:rPr lang="en-US" err="1"/>
              <a:t>seuil</a:t>
            </a:r>
            <a:r>
              <a:rPr lang="en-US"/>
              <a:t> pour </a:t>
            </a:r>
            <a:r>
              <a:rPr lang="en-US" err="1"/>
              <a:t>réduire</a:t>
            </a:r>
            <a:r>
              <a:rPr lang="en-US"/>
              <a:t> les faux </a:t>
            </a:r>
            <a:r>
              <a:rPr lang="en-US" err="1"/>
              <a:t>positifs</a:t>
            </a:r>
            <a:r>
              <a:rPr lang="en-US"/>
              <a:t>, plus on </a:t>
            </a:r>
            <a:r>
              <a:rPr lang="en-US" err="1"/>
              <a:t>perd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capacité</a:t>
            </a:r>
            <a:r>
              <a:rPr lang="en-US"/>
              <a:t> à </a:t>
            </a:r>
            <a:r>
              <a:rPr lang="en-US" err="1"/>
              <a:t>détecter</a:t>
            </a:r>
            <a:r>
              <a:rPr lang="en-US"/>
              <a:t> </a:t>
            </a:r>
            <a:r>
              <a:rPr lang="en-US" err="1"/>
              <a:t>certaines</a:t>
            </a:r>
            <a:r>
              <a:rPr lang="en-US"/>
              <a:t> </a:t>
            </a:r>
            <a:r>
              <a:rPr lang="en-US" err="1"/>
              <a:t>attaques</a:t>
            </a:r>
            <a:r>
              <a:rPr lang="en-US"/>
              <a:t> — </a:t>
            </a:r>
            <a:r>
              <a:rPr lang="en-US" err="1"/>
              <a:t>en</a:t>
            </a:r>
            <a:r>
              <a:rPr lang="en-US"/>
              <a:t> particulier les plus </a:t>
            </a:r>
            <a:r>
              <a:rPr lang="en-US" err="1"/>
              <a:t>discrètes</a:t>
            </a:r>
            <a:r>
              <a:rPr lang="en-US"/>
              <a:t>, </a:t>
            </a:r>
            <a:r>
              <a:rPr lang="en-US" err="1"/>
              <a:t>comme</a:t>
            </a:r>
            <a:r>
              <a:rPr lang="en-US"/>
              <a:t> le SSH-</a:t>
            </a:r>
            <a:r>
              <a:rPr lang="en-US" err="1"/>
              <a:t>Patator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cet</a:t>
            </a:r>
            <a:r>
              <a:rPr lang="en-US"/>
              <a:t> arbitrage qui a </a:t>
            </a:r>
            <a:r>
              <a:rPr lang="en-US" err="1"/>
              <a:t>guidé</a:t>
            </a:r>
            <a:r>
              <a:rPr lang="en-US"/>
              <a:t> </a:t>
            </a:r>
            <a:r>
              <a:rPr lang="en-US" err="1"/>
              <a:t>mon</a:t>
            </a:r>
            <a:r>
              <a:rPr lang="en-US"/>
              <a:t> choix final : le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b="1"/>
              <a:t>mu plus 1,5 sigma</a:t>
            </a:r>
            <a:r>
              <a:rPr lang="en-US"/>
              <a:t>, soit </a:t>
            </a:r>
            <a:r>
              <a:rPr lang="en-US" b="1"/>
              <a:t>tau </a:t>
            </a:r>
            <a:r>
              <a:rPr lang="en-US" b="1" err="1"/>
              <a:t>égal</a:t>
            </a:r>
            <a:r>
              <a:rPr lang="en-US" b="1"/>
              <a:t> 68,12</a:t>
            </a:r>
            <a:r>
              <a:rPr lang="en-US"/>
              <a:t>. Il </a:t>
            </a:r>
            <a:r>
              <a:rPr lang="en-US" err="1"/>
              <a:t>offre</a:t>
            </a:r>
            <a:r>
              <a:rPr lang="en-US"/>
              <a:t> le </a:t>
            </a:r>
            <a:r>
              <a:rPr lang="en-US" err="1"/>
              <a:t>meilleur</a:t>
            </a:r>
            <a:r>
              <a:rPr lang="en-US"/>
              <a:t> </a:t>
            </a:r>
            <a:r>
              <a:rPr lang="en-US" err="1"/>
              <a:t>compromis</a:t>
            </a:r>
            <a:r>
              <a:rPr lang="en-US"/>
              <a:t> entre un </a:t>
            </a:r>
            <a:r>
              <a:rPr lang="en-US" err="1"/>
              <a:t>taux</a:t>
            </a:r>
            <a:r>
              <a:rPr lang="en-US"/>
              <a:t> de faux </a:t>
            </a:r>
            <a:r>
              <a:rPr lang="en-US" err="1"/>
              <a:t>positifs</a:t>
            </a:r>
            <a:r>
              <a:rPr lang="en-US"/>
              <a:t> </a:t>
            </a:r>
            <a:r>
              <a:rPr lang="en-US" err="1"/>
              <a:t>maîtrisé</a:t>
            </a:r>
            <a:r>
              <a:rPr lang="en-US"/>
              <a:t>, et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capacité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qui </a:t>
            </a:r>
            <a:r>
              <a:rPr lang="en-US" err="1"/>
              <a:t>reste</a:t>
            </a:r>
            <a:r>
              <a:rPr lang="en-US"/>
              <a:t> la </a:t>
            </a:r>
            <a:r>
              <a:rPr lang="en-US" err="1"/>
              <a:t>meilleure</a:t>
            </a:r>
            <a:r>
              <a:rPr lang="en-US"/>
              <a:t> sur </a:t>
            </a:r>
            <a:r>
              <a:rPr lang="en-US" err="1"/>
              <a:t>chaque</a:t>
            </a:r>
            <a:r>
              <a:rPr lang="en-US"/>
              <a:t> type </a:t>
            </a:r>
            <a:r>
              <a:rPr lang="en-US" err="1"/>
              <a:t>d’attaque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82507976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 </a:t>
            </a:r>
            <a:r>
              <a:rPr lang="en-US" err="1"/>
              <a:t>seuil</a:t>
            </a:r>
            <a:r>
              <a:rPr lang="en-US"/>
              <a:t> </a:t>
            </a:r>
            <a:r>
              <a:rPr lang="en-US" err="1"/>
              <a:t>étant</a:t>
            </a:r>
            <a:r>
              <a:rPr lang="en-US"/>
              <a:t> </a:t>
            </a:r>
            <a:r>
              <a:rPr lang="en-US" err="1"/>
              <a:t>fixé</a:t>
            </a:r>
            <a:r>
              <a:rPr lang="en-US"/>
              <a:t>, </a:t>
            </a:r>
            <a:r>
              <a:rPr lang="en-US" err="1"/>
              <a:t>restait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question : est-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choix </a:t>
            </a:r>
            <a:r>
              <a:rPr lang="en-US" err="1"/>
              <a:t>d’architecture</a:t>
            </a:r>
            <a:r>
              <a:rPr lang="en-US"/>
              <a:t> — le LSTM-VAE — se </a:t>
            </a:r>
            <a:r>
              <a:rPr lang="en-US" err="1"/>
              <a:t>justifie</a:t>
            </a:r>
            <a:r>
              <a:rPr lang="en-US"/>
              <a:t> </a:t>
            </a:r>
            <a:r>
              <a:rPr lang="en-US" err="1"/>
              <a:t>vraiment</a:t>
            </a:r>
            <a:r>
              <a:rPr lang="en-US"/>
              <a:t> ?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comparé</a:t>
            </a:r>
            <a:r>
              <a:rPr lang="en-US"/>
              <a:t> </a:t>
            </a:r>
            <a:r>
              <a:rPr lang="en-US" err="1"/>
              <a:t>mon</a:t>
            </a:r>
            <a:r>
              <a:rPr lang="en-US"/>
              <a:t> </a:t>
            </a:r>
            <a:r>
              <a:rPr lang="en-US" err="1"/>
              <a:t>modèle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approche</a:t>
            </a:r>
            <a:r>
              <a:rPr lang="en-US"/>
              <a:t> alternative, très </a:t>
            </a:r>
            <a:r>
              <a:rPr lang="en-US" err="1"/>
              <a:t>utilisée</a:t>
            </a:r>
            <a:r>
              <a:rPr lang="en-US"/>
              <a:t> pour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d’anomalies</a:t>
            </a:r>
            <a:r>
              <a:rPr lang="en-US"/>
              <a:t> : </a:t>
            </a:r>
            <a:r>
              <a:rPr lang="en-US" b="1"/>
              <a:t>Isolation Forest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Pour </a:t>
            </a:r>
            <a:r>
              <a:rPr lang="en-US" err="1"/>
              <a:t>que</a:t>
            </a:r>
            <a:r>
              <a:rPr lang="en-US"/>
              <a:t> la </a:t>
            </a:r>
            <a:r>
              <a:rPr lang="en-US" err="1"/>
              <a:t>comparaison</a:t>
            </a:r>
            <a:r>
              <a:rPr lang="en-US"/>
              <a:t> soit </a:t>
            </a:r>
            <a:r>
              <a:rPr lang="en-US" err="1"/>
              <a:t>honnête</a:t>
            </a:r>
            <a:r>
              <a:rPr lang="en-US"/>
              <a:t>, les deux </a:t>
            </a:r>
            <a:r>
              <a:rPr lang="en-US" err="1"/>
              <a:t>modèles</a:t>
            </a:r>
            <a:r>
              <a:rPr lang="en-US"/>
              <a:t> </a:t>
            </a:r>
            <a:r>
              <a:rPr lang="en-US" err="1"/>
              <a:t>ont</a:t>
            </a:r>
            <a:r>
              <a:rPr lang="en-US"/>
              <a:t> </a:t>
            </a:r>
            <a:r>
              <a:rPr lang="en-US" err="1"/>
              <a:t>été</a:t>
            </a:r>
            <a:r>
              <a:rPr lang="en-US"/>
              <a:t> </a:t>
            </a:r>
            <a:r>
              <a:rPr lang="en-US" err="1"/>
              <a:t>entraînés</a:t>
            </a:r>
            <a:r>
              <a:rPr lang="en-US"/>
              <a:t> et </a:t>
            </a:r>
            <a:r>
              <a:rPr lang="en-US" err="1"/>
              <a:t>évalués</a:t>
            </a:r>
            <a:r>
              <a:rPr lang="en-US"/>
              <a:t> dans des conditions </a:t>
            </a:r>
            <a:r>
              <a:rPr lang="en-US" err="1"/>
              <a:t>strictement</a:t>
            </a:r>
            <a:r>
              <a:rPr lang="en-US"/>
              <a:t> </a:t>
            </a:r>
            <a:r>
              <a:rPr lang="en-US" err="1"/>
              <a:t>identiques</a:t>
            </a:r>
            <a:r>
              <a:rPr lang="en-US"/>
              <a:t> — </a:t>
            </a:r>
            <a:r>
              <a:rPr lang="en-US" err="1"/>
              <a:t>mêmes</a:t>
            </a:r>
            <a:r>
              <a:rPr lang="en-US"/>
              <a:t> seize </a:t>
            </a:r>
            <a:r>
              <a:rPr lang="en-US" err="1"/>
              <a:t>caractéristiques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jeu de données,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méthodologie</a:t>
            </a:r>
            <a:r>
              <a:rPr lang="en-US"/>
              <a:t> de </a:t>
            </a:r>
            <a:r>
              <a:rPr lang="en-US" err="1"/>
              <a:t>seuil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Les </a:t>
            </a:r>
            <a:r>
              <a:rPr lang="en-US" err="1"/>
              <a:t>résultats</a:t>
            </a:r>
            <a:r>
              <a:rPr lang="en-US"/>
              <a:t> </a:t>
            </a:r>
            <a:r>
              <a:rPr lang="en-US" err="1"/>
              <a:t>sont</a:t>
            </a:r>
            <a:r>
              <a:rPr lang="en-US"/>
              <a:t> nets.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rappel global est </a:t>
            </a:r>
            <a:r>
              <a:rPr lang="en-US" err="1"/>
              <a:t>proche</a:t>
            </a:r>
            <a:r>
              <a:rPr lang="en-US"/>
              <a:t> : 52,19 % pour le LSTM-VAE, </a:t>
            </a:r>
            <a:r>
              <a:rPr lang="en-US" err="1"/>
              <a:t>contre</a:t>
            </a:r>
            <a:r>
              <a:rPr lang="en-US"/>
              <a:t> 50,95 % pour Isolation Forest.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Mais la </a:t>
            </a:r>
            <a:r>
              <a:rPr lang="en-US" err="1"/>
              <a:t>vraie</a:t>
            </a:r>
            <a:r>
              <a:rPr lang="en-US"/>
              <a:t> </a:t>
            </a:r>
            <a:r>
              <a:rPr lang="en-US" err="1"/>
              <a:t>différence</a:t>
            </a:r>
            <a:r>
              <a:rPr lang="en-US"/>
              <a:t> </a:t>
            </a:r>
            <a:r>
              <a:rPr lang="en-US" err="1"/>
              <a:t>apparaît</a:t>
            </a:r>
            <a:r>
              <a:rPr lang="en-US"/>
              <a:t> sur le </a:t>
            </a:r>
            <a:r>
              <a:rPr lang="en-US" err="1"/>
              <a:t>taux</a:t>
            </a:r>
            <a:r>
              <a:rPr lang="en-US"/>
              <a:t> de faux </a:t>
            </a:r>
            <a:r>
              <a:rPr lang="en-US" err="1"/>
              <a:t>positifs</a:t>
            </a:r>
            <a:r>
              <a:rPr lang="en-US"/>
              <a:t> : </a:t>
            </a:r>
            <a:r>
              <a:rPr lang="en-US" b="1"/>
              <a:t>9,23 %</a:t>
            </a:r>
            <a:r>
              <a:rPr lang="en-US"/>
              <a:t> pour le LSTM-VAE, </a:t>
            </a:r>
            <a:r>
              <a:rPr lang="en-US" err="1"/>
              <a:t>contre</a:t>
            </a:r>
            <a:r>
              <a:rPr lang="en-US"/>
              <a:t> </a:t>
            </a:r>
            <a:r>
              <a:rPr lang="en-US" b="1"/>
              <a:t>57,36 %</a:t>
            </a:r>
            <a:r>
              <a:rPr lang="en-US"/>
              <a:t> pour Isolation Forest. </a:t>
            </a:r>
            <a:r>
              <a:rPr lang="en-US" err="1"/>
              <a:t>C’est</a:t>
            </a:r>
            <a:r>
              <a:rPr lang="en-US"/>
              <a:t> plus de six </a:t>
            </a:r>
            <a:r>
              <a:rPr lang="en-US" err="1"/>
              <a:t>fois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</a:t>
            </a:r>
            <a:r>
              <a:rPr lang="en-US" err="1"/>
              <a:t>fausses</a:t>
            </a:r>
            <a:r>
              <a:rPr lang="en-US"/>
              <a:t> </a:t>
            </a:r>
            <a:r>
              <a:rPr lang="en-US" err="1"/>
              <a:t>alertes</a:t>
            </a:r>
            <a:r>
              <a:rPr lang="en-US"/>
              <a:t>, pour un rappel </a:t>
            </a:r>
            <a:r>
              <a:rPr lang="en-US" err="1"/>
              <a:t>quasiment</a:t>
            </a:r>
            <a:r>
              <a:rPr lang="en-US"/>
              <a:t> </a:t>
            </a:r>
            <a:r>
              <a:rPr lang="en-US" err="1"/>
              <a:t>identique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Cela se </a:t>
            </a:r>
            <a:r>
              <a:rPr lang="en-US" err="1"/>
              <a:t>traduit</a:t>
            </a:r>
            <a:r>
              <a:rPr lang="en-US"/>
              <a:t> </a:t>
            </a:r>
            <a:r>
              <a:rPr lang="en-US" err="1"/>
              <a:t>directement</a:t>
            </a:r>
            <a:r>
              <a:rPr lang="en-US"/>
              <a:t> sur la </a:t>
            </a:r>
            <a:r>
              <a:rPr lang="en-US" err="1"/>
              <a:t>précision</a:t>
            </a:r>
            <a:r>
              <a:rPr lang="en-US"/>
              <a:t> : 87,41 % pour le LSTM-VAE, </a:t>
            </a:r>
            <a:r>
              <a:rPr lang="en-US" err="1"/>
              <a:t>contre</a:t>
            </a:r>
            <a:r>
              <a:rPr lang="en-US"/>
              <a:t> </a:t>
            </a:r>
            <a:r>
              <a:rPr lang="en-US" err="1"/>
              <a:t>seulement</a:t>
            </a:r>
            <a:r>
              <a:rPr lang="en-US"/>
              <a:t> 52,17 % pour Isolation Forest.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L’écart</a:t>
            </a:r>
            <a:r>
              <a:rPr lang="en-US"/>
              <a:t> est encore plus </a:t>
            </a:r>
            <a:r>
              <a:rPr lang="en-US" err="1"/>
              <a:t>spectaculaire</a:t>
            </a:r>
            <a:r>
              <a:rPr lang="en-US"/>
              <a:t> sur </a:t>
            </a:r>
            <a:r>
              <a:rPr lang="en-US" err="1"/>
              <a:t>certaines</a:t>
            </a:r>
            <a:r>
              <a:rPr lang="en-US"/>
              <a:t> </a:t>
            </a:r>
            <a:r>
              <a:rPr lang="en-US" err="1"/>
              <a:t>attaques</a:t>
            </a:r>
            <a:r>
              <a:rPr lang="en-US"/>
              <a:t> </a:t>
            </a:r>
            <a:r>
              <a:rPr lang="en-US" err="1"/>
              <a:t>spécifiques</a:t>
            </a:r>
            <a:r>
              <a:rPr lang="en-US"/>
              <a:t>. Sur le brute-force FTP-</a:t>
            </a:r>
            <a:r>
              <a:rPr lang="en-US" err="1"/>
              <a:t>Patator</a:t>
            </a:r>
            <a:r>
              <a:rPr lang="en-US"/>
              <a:t> : 98,01 % de rappel pour le LSTM-VAE, </a:t>
            </a:r>
            <a:r>
              <a:rPr lang="en-US" err="1"/>
              <a:t>contre</a:t>
            </a:r>
            <a:r>
              <a:rPr lang="en-US"/>
              <a:t> </a:t>
            </a:r>
            <a:r>
              <a:rPr lang="en-US" err="1"/>
              <a:t>seulement</a:t>
            </a:r>
            <a:r>
              <a:rPr lang="en-US"/>
              <a:t> 0,23 % pour Isolation Forest —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modèle</a:t>
            </a:r>
            <a:r>
              <a:rPr lang="en-US"/>
              <a:t>, sans </a:t>
            </a:r>
            <a:r>
              <a:rPr lang="en-US" err="1"/>
              <a:t>mémoire</a:t>
            </a:r>
            <a:r>
              <a:rPr lang="en-US"/>
              <a:t> </a:t>
            </a:r>
            <a:r>
              <a:rPr lang="en-US" err="1"/>
              <a:t>temporelle</a:t>
            </a:r>
            <a:r>
              <a:rPr lang="en-US"/>
              <a:t>, est </a:t>
            </a:r>
            <a:r>
              <a:rPr lang="en-US" err="1"/>
              <a:t>quasiment</a:t>
            </a:r>
            <a:r>
              <a:rPr lang="en-US"/>
              <a:t> </a:t>
            </a:r>
            <a:r>
              <a:rPr lang="en-US" err="1"/>
              <a:t>aveugle</a:t>
            </a:r>
            <a:r>
              <a:rPr lang="en-US"/>
              <a:t> à </a:t>
            </a:r>
            <a:r>
              <a:rPr lang="en-US" err="1"/>
              <a:t>ce</a:t>
            </a:r>
            <a:r>
              <a:rPr lang="en-US"/>
              <a:t> type </a:t>
            </a:r>
            <a:r>
              <a:rPr lang="en-US" err="1"/>
              <a:t>d’attaque</a:t>
            </a:r>
            <a:r>
              <a:rPr lang="en-US"/>
              <a:t> </a:t>
            </a:r>
            <a:r>
              <a:rPr lang="en-US" err="1"/>
              <a:t>séquentielle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Mais le </a:t>
            </a:r>
            <a:r>
              <a:rPr lang="en-US" err="1"/>
              <a:t>résultat</a:t>
            </a:r>
            <a:r>
              <a:rPr lang="en-US"/>
              <a:t> le plus important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celui</a:t>
            </a:r>
            <a:r>
              <a:rPr lang="en-US"/>
              <a:t> </a:t>
            </a:r>
            <a:r>
              <a:rPr lang="en-US" err="1"/>
              <a:t>obtenu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b="1"/>
              <a:t>conditions </a:t>
            </a:r>
            <a:r>
              <a:rPr lang="en-US" b="1" err="1"/>
              <a:t>réelles</a:t>
            </a:r>
            <a:r>
              <a:rPr lang="en-US"/>
              <a:t>. </a:t>
            </a:r>
            <a:r>
              <a:rPr lang="en-US" err="1"/>
              <a:t>J’ai</a:t>
            </a:r>
            <a:r>
              <a:rPr lang="en-US"/>
              <a:t> </a:t>
            </a:r>
            <a:r>
              <a:rPr lang="en-US" err="1"/>
              <a:t>rejoué</a:t>
            </a:r>
            <a:r>
              <a:rPr lang="en-US"/>
              <a:t>, </a:t>
            </a:r>
            <a:r>
              <a:rPr lang="en-US" err="1"/>
              <a:t>chronologiquement</a:t>
            </a:r>
            <a:r>
              <a:rPr lang="en-US"/>
              <a:t>, 46 960 flux sur la </a:t>
            </a:r>
            <a:r>
              <a:rPr lang="en-US" err="1"/>
              <a:t>chaîne</a:t>
            </a:r>
            <a:r>
              <a:rPr lang="en-US"/>
              <a:t> </a:t>
            </a:r>
            <a:r>
              <a:rPr lang="en-US" err="1"/>
              <a:t>complète</a:t>
            </a:r>
            <a:r>
              <a:rPr lang="en-US"/>
              <a:t> à quatre </a:t>
            </a:r>
            <a:r>
              <a:rPr lang="en-US" err="1"/>
              <a:t>nœuds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Résultat</a:t>
            </a:r>
            <a:r>
              <a:rPr lang="en-US"/>
              <a:t> : les six </a:t>
            </a:r>
            <a:r>
              <a:rPr lang="en-US" err="1"/>
              <a:t>attaques</a:t>
            </a:r>
            <a:r>
              <a:rPr lang="en-US"/>
              <a:t> </a:t>
            </a:r>
            <a:r>
              <a:rPr lang="en-US" err="1"/>
              <a:t>testées</a:t>
            </a:r>
            <a:r>
              <a:rPr lang="en-US"/>
              <a:t> </a:t>
            </a:r>
            <a:r>
              <a:rPr lang="en-US" err="1"/>
              <a:t>ont</a:t>
            </a:r>
            <a:r>
              <a:rPr lang="en-US"/>
              <a:t> </a:t>
            </a:r>
            <a:r>
              <a:rPr lang="en-US" err="1"/>
              <a:t>été</a:t>
            </a:r>
            <a:r>
              <a:rPr lang="en-US"/>
              <a:t> </a:t>
            </a:r>
            <a:r>
              <a:rPr lang="en-US" err="1"/>
              <a:t>détectées</a:t>
            </a:r>
            <a:r>
              <a:rPr lang="en-US"/>
              <a:t> à 100 % des </a:t>
            </a:r>
            <a:r>
              <a:rPr lang="en-US" err="1"/>
              <a:t>fenêtres</a:t>
            </a:r>
            <a:r>
              <a:rPr lang="en-US"/>
              <a:t> — </a:t>
            </a:r>
            <a:r>
              <a:rPr lang="en-US" err="1"/>
              <a:t>dont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attaque</a:t>
            </a:r>
            <a:r>
              <a:rPr lang="en-US"/>
              <a:t> de brute-force SSH par Hydra, un </a:t>
            </a:r>
            <a:r>
              <a:rPr lang="en-US" err="1"/>
              <a:t>véritable</a:t>
            </a:r>
            <a:r>
              <a:rPr lang="en-US"/>
              <a:t> angle mort pour Suricata seul, </a:t>
            </a:r>
            <a:r>
              <a:rPr lang="en-US" err="1"/>
              <a:t>mais</a:t>
            </a:r>
            <a:r>
              <a:rPr lang="en-US"/>
              <a:t> </a:t>
            </a:r>
            <a:r>
              <a:rPr lang="en-US" err="1"/>
              <a:t>comblé</a:t>
            </a:r>
            <a:r>
              <a:rPr lang="en-US"/>
              <a:t> grâce à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comportementale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le </a:t>
            </a:r>
            <a:r>
              <a:rPr lang="en-US" err="1"/>
              <a:t>taux</a:t>
            </a:r>
            <a:r>
              <a:rPr lang="en-US"/>
              <a:t> de faux </a:t>
            </a:r>
            <a:r>
              <a:rPr lang="en-US" err="1"/>
              <a:t>positifs</a:t>
            </a:r>
            <a:r>
              <a:rPr lang="en-US"/>
              <a:t> </a:t>
            </a:r>
            <a:r>
              <a:rPr lang="en-US" err="1"/>
              <a:t>réel</a:t>
            </a:r>
            <a:r>
              <a:rPr lang="en-US"/>
              <a:t> est tombé à </a:t>
            </a:r>
            <a:r>
              <a:rPr lang="en-US" err="1"/>
              <a:t>seulement</a:t>
            </a:r>
            <a:r>
              <a:rPr lang="en-US"/>
              <a:t> </a:t>
            </a:r>
            <a:r>
              <a:rPr lang="en-US" b="1"/>
              <a:t>0,18 %</a:t>
            </a:r>
            <a:r>
              <a:rPr lang="en-US"/>
              <a:t>, </a:t>
            </a:r>
            <a:r>
              <a:rPr lang="en-US" err="1"/>
              <a:t>contre</a:t>
            </a:r>
            <a:r>
              <a:rPr lang="en-US"/>
              <a:t> 9,23 %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évaluation</a:t>
            </a:r>
            <a:r>
              <a:rPr lang="en-US"/>
              <a:t> hors </a:t>
            </a:r>
            <a:r>
              <a:rPr lang="en-US" err="1"/>
              <a:t>ligne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Ceci </a:t>
            </a:r>
            <a:r>
              <a:rPr lang="en-US" err="1"/>
              <a:t>clôt</a:t>
            </a:r>
            <a:r>
              <a:rPr lang="en-US"/>
              <a:t> la Release 1, </a:t>
            </a:r>
            <a:r>
              <a:rPr lang="en-US" err="1"/>
              <a:t>consacrée</a:t>
            </a:r>
            <a:r>
              <a:rPr lang="en-US"/>
              <a:t> à la </a:t>
            </a:r>
            <a:r>
              <a:rPr lang="en-US" err="1"/>
              <a:t>détection</a:t>
            </a:r>
            <a:r>
              <a:rPr lang="en-US"/>
              <a:t>. Passons </a:t>
            </a:r>
            <a:r>
              <a:rPr lang="en-US" err="1"/>
              <a:t>maintenant</a:t>
            </a:r>
            <a:r>
              <a:rPr lang="en-US"/>
              <a:t> à la Release 2 : la </a:t>
            </a:r>
            <a:r>
              <a:rPr lang="en-US" err="1"/>
              <a:t>prévention</a:t>
            </a:r>
            <a:r>
              <a:rPr lang="en-US"/>
              <a:t> et la </a:t>
            </a:r>
            <a:r>
              <a:rPr lang="en-US" err="1"/>
              <a:t>réponse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3658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err="1"/>
              <a:t>Voici</a:t>
            </a:r>
            <a:r>
              <a:rPr lang="en-US"/>
              <a:t> les trois sprints qui </a:t>
            </a:r>
            <a:r>
              <a:rPr lang="en-US" err="1"/>
              <a:t>transforment</a:t>
            </a:r>
            <a:r>
              <a:rPr lang="en-US"/>
              <a:t>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action : renseignement, </a:t>
            </a:r>
            <a:r>
              <a:rPr lang="en-US" err="1"/>
              <a:t>sensibilisation</a:t>
            </a:r>
            <a:r>
              <a:rPr lang="en-US"/>
              <a:t>, et orchestration.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98690074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Le </a:t>
            </a:r>
            <a:r>
              <a:rPr lang="en-US" err="1"/>
              <a:t>quatrième</a:t>
            </a:r>
            <a:r>
              <a:rPr lang="en-US"/>
              <a:t> sprint </a:t>
            </a:r>
            <a:r>
              <a:rPr lang="en-US" err="1"/>
              <a:t>introduit</a:t>
            </a:r>
            <a:r>
              <a:rPr lang="en-US"/>
              <a:t> </a:t>
            </a:r>
            <a:r>
              <a:rPr lang="en-US" err="1"/>
              <a:t>l’</a:t>
            </a:r>
            <a:r>
              <a:rPr lang="en-US" b="1" err="1"/>
              <a:t>agent</a:t>
            </a:r>
            <a:r>
              <a:rPr lang="en-US" b="1"/>
              <a:t> CTI</a:t>
            </a:r>
            <a:r>
              <a:rPr lang="en-US"/>
              <a:t> — pour Cyber Threat Intelligence.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Son </a:t>
            </a:r>
            <a:r>
              <a:rPr lang="en-US" err="1"/>
              <a:t>rôle</a:t>
            </a:r>
            <a:r>
              <a:rPr lang="en-US"/>
              <a:t> est </a:t>
            </a:r>
            <a:r>
              <a:rPr lang="en-US" err="1"/>
              <a:t>d’automatiser</a:t>
            </a:r>
            <a:r>
              <a:rPr lang="en-US"/>
              <a:t> la </a:t>
            </a:r>
            <a:r>
              <a:rPr lang="en-US" err="1"/>
              <a:t>veille</a:t>
            </a:r>
            <a:r>
              <a:rPr lang="en-US"/>
              <a:t> OSINT, </a:t>
            </a:r>
            <a:r>
              <a:rPr lang="en-US" err="1"/>
              <a:t>c’est</a:t>
            </a:r>
            <a:r>
              <a:rPr lang="en-US"/>
              <a:t>-à-dire la surveillance continue des sources ouvertes qui </a:t>
            </a:r>
            <a:r>
              <a:rPr lang="en-US" err="1"/>
              <a:t>publient</a:t>
            </a:r>
            <a:r>
              <a:rPr lang="en-US"/>
              <a:t> de </a:t>
            </a:r>
            <a:r>
              <a:rPr lang="en-US" err="1"/>
              <a:t>nouvelles</a:t>
            </a:r>
            <a:r>
              <a:rPr lang="en-US"/>
              <a:t> menaces.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Chaque</a:t>
            </a:r>
            <a:r>
              <a:rPr lang="en-US"/>
              <a:t> article est </a:t>
            </a:r>
            <a:r>
              <a:rPr lang="en-US" err="1"/>
              <a:t>trié</a:t>
            </a:r>
            <a:r>
              <a:rPr lang="en-US"/>
              <a:t> par un LLM local, via </a:t>
            </a:r>
            <a:r>
              <a:rPr lang="en-US" err="1"/>
              <a:t>Ollama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Mais </a:t>
            </a:r>
            <a:r>
              <a:rPr lang="en-US" err="1"/>
              <a:t>ce</a:t>
            </a:r>
            <a:r>
              <a:rPr lang="en-US"/>
              <a:t> tri ne se fait pas au </a:t>
            </a:r>
            <a:r>
              <a:rPr lang="en-US" err="1"/>
              <a:t>hasard</a:t>
            </a:r>
            <a:r>
              <a:rPr lang="en-US"/>
              <a:t> : le LLM </a:t>
            </a:r>
            <a:r>
              <a:rPr lang="en-US" err="1"/>
              <a:t>confronte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article à deux bases de </a:t>
            </a:r>
            <a:r>
              <a:rPr lang="en-US" err="1"/>
              <a:t>référence</a:t>
            </a:r>
            <a:r>
              <a:rPr lang="en-US"/>
              <a:t>. </a:t>
            </a:r>
            <a:r>
              <a:rPr lang="en-US" err="1"/>
              <a:t>D’abord</a:t>
            </a:r>
            <a:r>
              <a:rPr lang="en-US"/>
              <a:t>, </a:t>
            </a:r>
            <a:r>
              <a:rPr lang="en-US" err="1"/>
              <a:t>l’historique</a:t>
            </a:r>
            <a:r>
              <a:rPr lang="en-US"/>
              <a:t> des menaces déjà </a:t>
            </a:r>
            <a:r>
              <a:rPr lang="en-US" err="1"/>
              <a:t>traitées</a:t>
            </a:r>
            <a:r>
              <a:rPr lang="en-US"/>
              <a:t> — pour </a:t>
            </a:r>
            <a:r>
              <a:rPr lang="en-US" err="1"/>
              <a:t>éviter</a:t>
            </a:r>
            <a:r>
              <a:rPr lang="en-US"/>
              <a:t> de </a:t>
            </a:r>
            <a:r>
              <a:rPr lang="en-US" err="1"/>
              <a:t>refaire</a:t>
            </a:r>
            <a:r>
              <a:rPr lang="en-US"/>
              <a:t> un travail déjà fait. Ensuite, près de </a:t>
            </a:r>
            <a:r>
              <a:rPr lang="en-US" b="1"/>
              <a:t>49 000 </a:t>
            </a:r>
            <a:r>
              <a:rPr lang="en-US" b="1" err="1"/>
              <a:t>règles</a:t>
            </a:r>
            <a:r>
              <a:rPr lang="en-US" b="1"/>
              <a:t> Suricata </a:t>
            </a:r>
            <a:r>
              <a:rPr lang="en-US" b="1" err="1"/>
              <a:t>existantes</a:t>
            </a:r>
            <a:r>
              <a:rPr lang="en-US"/>
              <a:t> — pour </a:t>
            </a:r>
            <a:r>
              <a:rPr lang="en-US" err="1"/>
              <a:t>vérifier</a:t>
            </a:r>
            <a:r>
              <a:rPr lang="en-US"/>
              <a:t> </a:t>
            </a:r>
            <a:r>
              <a:rPr lang="en-US" err="1"/>
              <a:t>si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</a:t>
            </a:r>
            <a:r>
              <a:rPr lang="en-US" err="1"/>
              <a:t>couvre</a:t>
            </a:r>
            <a:r>
              <a:rPr lang="en-US"/>
              <a:t> déjà </a:t>
            </a:r>
            <a:r>
              <a:rPr lang="en-US" err="1"/>
              <a:t>cette</a:t>
            </a:r>
            <a:r>
              <a:rPr lang="en-US"/>
              <a:t> menace.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À </a:t>
            </a:r>
            <a:r>
              <a:rPr lang="en-US" err="1"/>
              <a:t>l’issue</a:t>
            </a:r>
            <a:r>
              <a:rPr lang="en-US"/>
              <a:t> de </a:t>
            </a:r>
            <a:r>
              <a:rPr lang="en-US" err="1"/>
              <a:t>ce</a:t>
            </a:r>
            <a:r>
              <a:rPr lang="en-US"/>
              <a:t> tri, le </a:t>
            </a:r>
            <a:r>
              <a:rPr lang="en-US" err="1"/>
              <a:t>système</a:t>
            </a:r>
            <a:r>
              <a:rPr lang="en-US"/>
              <a:t> propose soit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 candidate, soit un </a:t>
            </a:r>
            <a:r>
              <a:rPr lang="en-US" err="1"/>
              <a:t>contenu</a:t>
            </a:r>
            <a:r>
              <a:rPr lang="en-US"/>
              <a:t> de </a:t>
            </a:r>
            <a:r>
              <a:rPr lang="en-US" err="1"/>
              <a:t>sensibilisation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Voyons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détail</a:t>
            </a:r>
            <a:r>
              <a:rPr lang="en-US"/>
              <a:t> comment </a:t>
            </a:r>
            <a:r>
              <a:rPr lang="en-US" err="1"/>
              <a:t>s’opère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tri.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9732505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 triage,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j’appelle</a:t>
            </a:r>
            <a:r>
              <a:rPr lang="en-US"/>
              <a:t> Dual-RAG, </a:t>
            </a:r>
            <a:r>
              <a:rPr lang="en-US" err="1"/>
              <a:t>aboutit</a:t>
            </a:r>
            <a:r>
              <a:rPr lang="en-US"/>
              <a:t> à </a:t>
            </a:r>
            <a:r>
              <a:rPr lang="en-US" err="1"/>
              <a:t>l’une</a:t>
            </a:r>
            <a:r>
              <a:rPr lang="en-US"/>
              <a:t> de quatre issues possibles.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Première issue :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/>
              <a:t>menace technique</a:t>
            </a:r>
            <a:r>
              <a:rPr lang="en-US"/>
              <a:t>, qui </a:t>
            </a:r>
            <a:r>
              <a:rPr lang="en-US" err="1"/>
              <a:t>nécessite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de </a:t>
            </a:r>
            <a:r>
              <a:rPr lang="en-US" err="1"/>
              <a:t>détection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Deuxième issue : un </a:t>
            </a:r>
            <a:r>
              <a:rPr lang="en-US" err="1"/>
              <a:t>contenu</a:t>
            </a:r>
            <a:r>
              <a:rPr lang="en-US"/>
              <a:t> de </a:t>
            </a:r>
            <a:r>
              <a:rPr lang="en-US" b="1" err="1"/>
              <a:t>sensibilisation</a:t>
            </a:r>
            <a:r>
              <a:rPr lang="en-US"/>
              <a:t>, </a:t>
            </a:r>
            <a:r>
              <a:rPr lang="en-US" err="1"/>
              <a:t>destiné</a:t>
            </a:r>
            <a:r>
              <a:rPr lang="en-US"/>
              <a:t> aux </a:t>
            </a:r>
            <a:r>
              <a:rPr lang="en-US" err="1"/>
              <a:t>utilisateurs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Troisième</a:t>
            </a:r>
            <a:r>
              <a:rPr lang="en-US"/>
              <a:t> issue : du </a:t>
            </a:r>
            <a:r>
              <a:rPr lang="en-US" b="1"/>
              <a:t>bruit</a:t>
            </a:r>
            <a:r>
              <a:rPr lang="en-US"/>
              <a:t>, à </a:t>
            </a:r>
            <a:r>
              <a:rPr lang="en-US" err="1"/>
              <a:t>rejeter</a:t>
            </a:r>
            <a:r>
              <a:rPr lang="en-US"/>
              <a:t> — un article non pertinent.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quatrième</a:t>
            </a:r>
            <a:r>
              <a:rPr lang="en-US"/>
              <a:t> issue : un </a:t>
            </a:r>
            <a:r>
              <a:rPr lang="en-US" b="1" err="1"/>
              <a:t>contenu</a:t>
            </a:r>
            <a:r>
              <a:rPr lang="en-US" b="1"/>
              <a:t> déjà </a:t>
            </a:r>
            <a:r>
              <a:rPr lang="en-US" b="1" err="1"/>
              <a:t>connu</a:t>
            </a:r>
            <a:r>
              <a:rPr lang="en-US"/>
              <a:t>, déjà </a:t>
            </a:r>
            <a:r>
              <a:rPr lang="en-US" err="1"/>
              <a:t>traité</a:t>
            </a:r>
            <a:r>
              <a:rPr lang="en-US"/>
              <a:t> </a:t>
            </a:r>
            <a:r>
              <a:rPr lang="en-US" err="1"/>
              <a:t>précédemment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Deux </a:t>
            </a:r>
            <a:r>
              <a:rPr lang="en-US" err="1"/>
              <a:t>mécanismes</a:t>
            </a:r>
            <a:r>
              <a:rPr lang="en-US"/>
              <a:t> </a:t>
            </a:r>
            <a:r>
              <a:rPr lang="en-US" err="1"/>
              <a:t>rendent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triage </a:t>
            </a:r>
            <a:r>
              <a:rPr lang="en-US" err="1"/>
              <a:t>efficace</a:t>
            </a:r>
            <a:r>
              <a:rPr lang="en-US"/>
              <a:t>. </a:t>
            </a:r>
            <a:r>
              <a:rPr lang="en-US" err="1"/>
              <a:t>D’abord</a:t>
            </a:r>
            <a:r>
              <a:rPr lang="en-US"/>
              <a:t>, la </a:t>
            </a:r>
            <a:r>
              <a:rPr lang="en-US" err="1"/>
              <a:t>déduplication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amont</a:t>
            </a:r>
            <a:r>
              <a:rPr lang="en-US"/>
              <a:t> : </a:t>
            </a:r>
            <a:r>
              <a:rPr lang="en-US" err="1"/>
              <a:t>elle</a:t>
            </a:r>
            <a:r>
              <a:rPr lang="en-US"/>
              <a:t> </a:t>
            </a:r>
            <a:r>
              <a:rPr lang="en-US" err="1"/>
              <a:t>évite</a:t>
            </a:r>
            <a:r>
              <a:rPr lang="en-US"/>
              <a:t> tout </a:t>
            </a:r>
            <a:r>
              <a:rPr lang="en-US" err="1"/>
              <a:t>appel</a:t>
            </a:r>
            <a:r>
              <a:rPr lang="en-US"/>
              <a:t> inutile au LLM sur du </a:t>
            </a:r>
            <a:r>
              <a:rPr lang="en-US" err="1"/>
              <a:t>contenu</a:t>
            </a:r>
            <a:r>
              <a:rPr lang="en-US"/>
              <a:t> déjà </a:t>
            </a:r>
            <a:r>
              <a:rPr lang="en-US" err="1"/>
              <a:t>traité</a:t>
            </a:r>
            <a:r>
              <a:rPr lang="en-US"/>
              <a:t>. Ensuite, la distinction technique/</a:t>
            </a:r>
            <a:r>
              <a:rPr lang="en-US" err="1"/>
              <a:t>sensibilisation</a:t>
            </a:r>
            <a:r>
              <a:rPr lang="en-US"/>
              <a:t>, qui </a:t>
            </a:r>
            <a:r>
              <a:rPr lang="en-US" err="1"/>
              <a:t>oriente</a:t>
            </a:r>
            <a:r>
              <a:rPr lang="en-US"/>
              <a:t> </a:t>
            </a:r>
            <a:r>
              <a:rPr lang="en-US" err="1"/>
              <a:t>directement</a:t>
            </a:r>
            <a:r>
              <a:rPr lang="en-US"/>
              <a:t> </a:t>
            </a:r>
            <a:r>
              <a:rPr lang="en-US" err="1"/>
              <a:t>chaque</a:t>
            </a:r>
            <a:r>
              <a:rPr lang="en-US"/>
              <a:t> menace vers </a:t>
            </a:r>
            <a:r>
              <a:rPr lang="en-US" err="1"/>
              <a:t>l’action</a:t>
            </a:r>
            <a:r>
              <a:rPr lang="en-US"/>
              <a:t> </a:t>
            </a:r>
            <a:r>
              <a:rPr lang="en-US" err="1"/>
              <a:t>adaptée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Suivons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 le chemin </a:t>
            </a:r>
            <a:r>
              <a:rPr lang="en-US" err="1"/>
              <a:t>d’une</a:t>
            </a:r>
            <a:r>
              <a:rPr lang="en-US"/>
              <a:t> menace technique, </a:t>
            </a:r>
            <a:r>
              <a:rPr lang="en-US" err="1"/>
              <a:t>jusqu’à</a:t>
            </a:r>
            <a:r>
              <a:rPr lang="en-US"/>
              <a:t> son </a:t>
            </a:r>
            <a:r>
              <a:rPr lang="en-US" err="1"/>
              <a:t>déploiement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14259634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Une </a:t>
            </a:r>
            <a:r>
              <a:rPr lang="en-US" err="1"/>
              <a:t>fois</a:t>
            </a:r>
            <a:r>
              <a:rPr lang="en-US"/>
              <a:t> </a:t>
            </a:r>
            <a:r>
              <a:rPr lang="en-US" err="1"/>
              <a:t>classée</a:t>
            </a:r>
            <a:r>
              <a:rPr lang="en-US"/>
              <a:t> </a:t>
            </a:r>
            <a:r>
              <a:rPr lang="en-US" err="1"/>
              <a:t>comme</a:t>
            </a:r>
            <a:r>
              <a:rPr lang="en-US"/>
              <a:t> </a:t>
            </a:r>
            <a:r>
              <a:rPr lang="en-US" b="1"/>
              <a:t>menace technique</a:t>
            </a:r>
            <a:r>
              <a:rPr lang="en-US"/>
              <a:t>, la </a:t>
            </a:r>
            <a:r>
              <a:rPr lang="en-US" err="1"/>
              <a:t>règle</a:t>
            </a:r>
            <a:r>
              <a:rPr lang="en-US"/>
              <a:t> suit un cycle de validation strict, avant toute action sur </a:t>
            </a:r>
            <a:r>
              <a:rPr lang="en-US" err="1"/>
              <a:t>l’infrastructure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D’abord</a:t>
            </a:r>
            <a:r>
              <a:rPr lang="en-US"/>
              <a:t>, la </a:t>
            </a:r>
            <a:r>
              <a:rPr lang="en-US" b="1" err="1"/>
              <a:t>génération</a:t>
            </a:r>
            <a:r>
              <a:rPr lang="en-US"/>
              <a:t> de la </a:t>
            </a:r>
            <a:r>
              <a:rPr lang="en-US" err="1"/>
              <a:t>règle</a:t>
            </a:r>
            <a:r>
              <a:rPr lang="en-US"/>
              <a:t>, </a:t>
            </a:r>
            <a:r>
              <a:rPr lang="en-US" err="1"/>
              <a:t>puis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b="1" err="1"/>
              <a:t>persistance</a:t>
            </a:r>
            <a:r>
              <a:rPr lang="en-US"/>
              <a:t> — </a:t>
            </a:r>
            <a:r>
              <a:rPr lang="en-US" err="1"/>
              <a:t>elle</a:t>
            </a:r>
            <a:r>
              <a:rPr lang="en-US"/>
              <a:t> est </a:t>
            </a:r>
            <a:r>
              <a:rPr lang="en-US" err="1"/>
              <a:t>stockée</a:t>
            </a:r>
            <a:r>
              <a:rPr lang="en-US"/>
              <a:t> avec un </a:t>
            </a:r>
            <a:r>
              <a:rPr lang="en-US" err="1"/>
              <a:t>statut</a:t>
            </a:r>
            <a:r>
              <a:rPr lang="en-US"/>
              <a:t> “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attente</a:t>
            </a:r>
            <a:r>
              <a:rPr lang="en-US"/>
              <a:t>”.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Ensuite </a:t>
            </a:r>
            <a:r>
              <a:rPr lang="en-US" err="1"/>
              <a:t>vient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étape </a:t>
            </a:r>
            <a:r>
              <a:rPr lang="en-US" err="1"/>
              <a:t>essentielle</a:t>
            </a:r>
            <a:r>
              <a:rPr lang="en-US"/>
              <a:t> : le </a:t>
            </a:r>
            <a:r>
              <a:rPr lang="en-US" b="1"/>
              <a:t>test </a:t>
            </a:r>
            <a:r>
              <a:rPr lang="en-US" b="1" err="1"/>
              <a:t>syntaxique</a:t>
            </a:r>
            <a:r>
              <a:rPr lang="en-US" b="1"/>
              <a:t> à </a:t>
            </a:r>
            <a:r>
              <a:rPr lang="en-US" b="1" err="1"/>
              <a:t>blanc</a:t>
            </a:r>
            <a:r>
              <a:rPr lang="en-US"/>
              <a:t>. La </a:t>
            </a:r>
            <a:r>
              <a:rPr lang="en-US" err="1"/>
              <a:t>règle</a:t>
            </a:r>
            <a:r>
              <a:rPr lang="en-US"/>
              <a:t> est </a:t>
            </a:r>
            <a:r>
              <a:rPr lang="en-US" err="1"/>
              <a:t>testée</a:t>
            </a:r>
            <a:r>
              <a:rPr lang="en-US"/>
              <a:t>, sans </a:t>
            </a:r>
            <a:r>
              <a:rPr lang="en-US" err="1"/>
              <a:t>être</a:t>
            </a:r>
            <a:r>
              <a:rPr lang="en-US"/>
              <a:t> </a:t>
            </a:r>
            <a:r>
              <a:rPr lang="en-US" err="1"/>
              <a:t>réellement</a:t>
            </a:r>
            <a:r>
              <a:rPr lang="en-US"/>
              <a:t> </a:t>
            </a:r>
            <a:r>
              <a:rPr lang="en-US" err="1"/>
              <a:t>déployée</a:t>
            </a:r>
            <a:r>
              <a:rPr lang="en-US"/>
              <a:t>, pour </a:t>
            </a:r>
            <a:r>
              <a:rPr lang="en-US" err="1"/>
              <a:t>vérifier</a:t>
            </a:r>
            <a:r>
              <a:rPr lang="en-US"/>
              <a:t> </a:t>
            </a:r>
            <a:r>
              <a:rPr lang="en-US" err="1"/>
              <a:t>qu’elle</a:t>
            </a:r>
            <a:r>
              <a:rPr lang="en-US"/>
              <a:t> est </a:t>
            </a:r>
            <a:r>
              <a:rPr lang="en-US" err="1"/>
              <a:t>valide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n’est</a:t>
            </a:r>
            <a:r>
              <a:rPr lang="en-US"/>
              <a:t> </a:t>
            </a:r>
            <a:r>
              <a:rPr lang="en-US" err="1"/>
              <a:t>qu’après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test </a:t>
            </a:r>
            <a:r>
              <a:rPr lang="en-US" err="1"/>
              <a:t>qu’elle</a:t>
            </a:r>
            <a:r>
              <a:rPr lang="en-US"/>
              <a:t> est </a:t>
            </a:r>
            <a:r>
              <a:rPr lang="en-US" b="1" err="1"/>
              <a:t>déployée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point mérite d’être </a:t>
            </a:r>
            <a:r>
              <a:rPr lang="en-US" err="1"/>
              <a:t>souligné</a:t>
            </a:r>
            <a:r>
              <a:rPr lang="en-US"/>
              <a:t> : </a:t>
            </a:r>
            <a:r>
              <a:rPr lang="en-US" err="1"/>
              <a:t>aucune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</a:t>
            </a:r>
            <a:r>
              <a:rPr lang="en-US" err="1"/>
              <a:t>n’est</a:t>
            </a:r>
            <a:r>
              <a:rPr lang="en-US"/>
              <a:t> jamais </a:t>
            </a:r>
            <a:r>
              <a:rPr lang="en-US" err="1"/>
              <a:t>injectée</a:t>
            </a:r>
            <a:r>
              <a:rPr lang="en-US"/>
              <a:t> dans </a:t>
            </a:r>
            <a:r>
              <a:rPr lang="en-US" err="1"/>
              <a:t>l’infrastructure</a:t>
            </a:r>
            <a:r>
              <a:rPr lang="en-US"/>
              <a:t> sans passer par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vérification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L’autre</a:t>
            </a:r>
            <a:r>
              <a:rPr lang="en-US"/>
              <a:t> issue possible, la </a:t>
            </a:r>
            <a:r>
              <a:rPr lang="en-US" err="1"/>
              <a:t>sensibilisation</a:t>
            </a:r>
            <a:r>
              <a:rPr lang="en-US"/>
              <a:t>, </a:t>
            </a:r>
            <a:r>
              <a:rPr lang="en-US" err="1"/>
              <a:t>déclenche</a:t>
            </a:r>
            <a:r>
              <a:rPr lang="en-US"/>
              <a:t> un processus </a:t>
            </a:r>
            <a:r>
              <a:rPr lang="en-US" err="1"/>
              <a:t>différent</a:t>
            </a:r>
            <a:r>
              <a:rPr lang="en-US"/>
              <a:t>, </a:t>
            </a:r>
            <a:r>
              <a:rPr lang="en-US" err="1"/>
              <a:t>que</a:t>
            </a:r>
            <a:r>
              <a:rPr lang="en-US"/>
              <a:t> </a:t>
            </a:r>
            <a:r>
              <a:rPr lang="en-US" err="1"/>
              <a:t>voici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19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91192427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Le </a:t>
            </a:r>
            <a:r>
              <a:rPr lang="en-US" err="1"/>
              <a:t>cinquième</a:t>
            </a:r>
            <a:r>
              <a:rPr lang="en-US"/>
              <a:t> sprint </a:t>
            </a:r>
            <a:r>
              <a:rPr lang="en-US" err="1"/>
              <a:t>s’attaque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réalité</a:t>
            </a:r>
            <a:r>
              <a:rPr lang="en-US"/>
              <a:t> trop </a:t>
            </a:r>
            <a:r>
              <a:rPr lang="en-US" err="1"/>
              <a:t>souvent</a:t>
            </a:r>
            <a:r>
              <a:rPr lang="en-US"/>
              <a:t> </a:t>
            </a:r>
            <a:r>
              <a:rPr lang="en-US" err="1"/>
              <a:t>négligée</a:t>
            </a:r>
            <a:r>
              <a:rPr lang="en-US"/>
              <a:t> : le </a:t>
            </a:r>
            <a:r>
              <a:rPr lang="en-US" b="1" err="1"/>
              <a:t>facteur</a:t>
            </a:r>
            <a:r>
              <a:rPr lang="en-US" b="1"/>
              <a:t> </a:t>
            </a:r>
            <a:r>
              <a:rPr lang="en-US" b="1" err="1"/>
              <a:t>humain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 article </a:t>
            </a:r>
            <a:r>
              <a:rPr lang="en-US" err="1"/>
              <a:t>classé</a:t>
            </a:r>
            <a:r>
              <a:rPr lang="en-US"/>
              <a:t> </a:t>
            </a:r>
            <a:r>
              <a:rPr lang="en-US" b="1" err="1"/>
              <a:t>sensibilisation</a:t>
            </a:r>
            <a:r>
              <a:rPr lang="en-US"/>
              <a:t> </a:t>
            </a:r>
            <a:r>
              <a:rPr lang="en-US" err="1"/>
              <a:t>déclenche</a:t>
            </a:r>
            <a:r>
              <a:rPr lang="en-US"/>
              <a:t>, sur </a:t>
            </a:r>
            <a:r>
              <a:rPr lang="en-US" err="1"/>
              <a:t>décision</a:t>
            </a:r>
            <a:r>
              <a:rPr lang="en-US"/>
              <a:t> de </a:t>
            </a:r>
            <a:r>
              <a:rPr lang="en-US" err="1"/>
              <a:t>l’administrateur</a:t>
            </a:r>
            <a:r>
              <a:rPr lang="en-US"/>
              <a:t>, la </a:t>
            </a:r>
            <a:r>
              <a:rPr lang="en-US" err="1"/>
              <a:t>génération</a:t>
            </a:r>
            <a:r>
              <a:rPr lang="en-US"/>
              <a:t> d’un </a:t>
            </a:r>
            <a:r>
              <a:rPr lang="en-US" err="1"/>
              <a:t>parcours</a:t>
            </a:r>
            <a:r>
              <a:rPr lang="en-US"/>
              <a:t> de formation </a:t>
            </a:r>
            <a:r>
              <a:rPr lang="en-US" err="1"/>
              <a:t>personnalisé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parcours</a:t>
            </a:r>
            <a:r>
              <a:rPr lang="en-US"/>
              <a:t> est ensuite </a:t>
            </a:r>
            <a:r>
              <a:rPr lang="en-US" err="1"/>
              <a:t>diffusé</a:t>
            </a:r>
            <a:r>
              <a:rPr lang="en-US"/>
              <a:t> de façon </a:t>
            </a:r>
            <a:r>
              <a:rPr lang="en-US" err="1"/>
              <a:t>ciblée</a:t>
            </a:r>
            <a:r>
              <a:rPr lang="en-US"/>
              <a:t>, et le </a:t>
            </a:r>
            <a:r>
              <a:rPr lang="en-US" err="1"/>
              <a:t>système</a:t>
            </a:r>
            <a:r>
              <a:rPr lang="en-US"/>
              <a:t> assure un </a:t>
            </a:r>
            <a:r>
              <a:rPr lang="en-US" err="1"/>
              <a:t>suivi</a:t>
            </a:r>
            <a:r>
              <a:rPr lang="en-US"/>
              <a:t> de </a:t>
            </a:r>
            <a:r>
              <a:rPr lang="en-US" err="1"/>
              <a:t>conformité</a:t>
            </a:r>
            <a:r>
              <a:rPr lang="en-US"/>
              <a:t> : qui a </a:t>
            </a:r>
            <a:r>
              <a:rPr lang="en-US" err="1"/>
              <a:t>suivi</a:t>
            </a:r>
            <a:r>
              <a:rPr lang="en-US"/>
              <a:t> la formation, et qui ne </a:t>
            </a:r>
            <a:r>
              <a:rPr lang="en-US" err="1"/>
              <a:t>l’a</a:t>
            </a:r>
            <a:r>
              <a:rPr lang="en-US"/>
              <a:t> pas encore fait.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La </a:t>
            </a:r>
            <a:r>
              <a:rPr lang="en-US" err="1"/>
              <a:t>génération</a:t>
            </a:r>
            <a:r>
              <a:rPr lang="en-US"/>
              <a:t> de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s’appuie</a:t>
            </a:r>
            <a:r>
              <a:rPr lang="en-US"/>
              <a:t> sur un </a:t>
            </a:r>
            <a:r>
              <a:rPr lang="en-US" err="1"/>
              <a:t>mécanisme</a:t>
            </a:r>
            <a:r>
              <a:rPr lang="en-US"/>
              <a:t> de </a:t>
            </a:r>
            <a:r>
              <a:rPr lang="en-US" err="1"/>
              <a:t>résilience</a:t>
            </a:r>
            <a:r>
              <a:rPr lang="en-US"/>
              <a:t> </a:t>
            </a:r>
            <a:r>
              <a:rPr lang="en-US" err="1"/>
              <a:t>que</a:t>
            </a:r>
            <a:r>
              <a:rPr lang="en-US"/>
              <a:t> je </a:t>
            </a:r>
            <a:r>
              <a:rPr lang="en-US" err="1"/>
              <a:t>détaille</a:t>
            </a:r>
            <a:r>
              <a:rPr lang="en-US"/>
              <a:t> </a:t>
            </a:r>
            <a:r>
              <a:rPr lang="en-US" err="1"/>
              <a:t>maintenant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289292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Pour </a:t>
            </a:r>
            <a:r>
              <a:rPr lang="en-US" err="1"/>
              <a:t>générer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pédagogique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mis </a:t>
            </a:r>
            <a:r>
              <a:rPr lang="en-US" err="1"/>
              <a:t>en</a:t>
            </a:r>
            <a:r>
              <a:rPr lang="en-US"/>
              <a:t> place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/>
              <a:t>cascade à trois </a:t>
            </a:r>
            <a:r>
              <a:rPr lang="en-US" b="1" err="1"/>
              <a:t>paliers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Le premier </a:t>
            </a:r>
            <a:r>
              <a:rPr lang="en-US" err="1"/>
              <a:t>palier</a:t>
            </a:r>
            <a:r>
              <a:rPr lang="en-US"/>
              <a:t>, </a:t>
            </a:r>
            <a:r>
              <a:rPr lang="en-US" err="1"/>
              <a:t>c’est</a:t>
            </a:r>
            <a:r>
              <a:rPr lang="en-US"/>
              <a:t> un </a:t>
            </a:r>
            <a:r>
              <a:rPr lang="en-US" err="1"/>
              <a:t>fournisseur</a:t>
            </a:r>
            <a:r>
              <a:rPr lang="en-US"/>
              <a:t> cloud </a:t>
            </a:r>
            <a:r>
              <a:rPr lang="en-US" err="1"/>
              <a:t>primaire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Si </a:t>
            </a:r>
            <a:r>
              <a:rPr lang="en-US" err="1"/>
              <a:t>ce</a:t>
            </a:r>
            <a:r>
              <a:rPr lang="en-US"/>
              <a:t> premier </a:t>
            </a:r>
            <a:r>
              <a:rPr lang="en-US" err="1"/>
              <a:t>fournisseur</a:t>
            </a:r>
            <a:r>
              <a:rPr lang="en-US"/>
              <a:t> est </a:t>
            </a:r>
            <a:r>
              <a:rPr lang="en-US" err="1"/>
              <a:t>indisponible</a:t>
            </a:r>
            <a:r>
              <a:rPr lang="en-US"/>
              <a:t>, le </a:t>
            </a:r>
            <a:r>
              <a:rPr lang="en-US" err="1"/>
              <a:t>système</a:t>
            </a:r>
            <a:r>
              <a:rPr lang="en-US"/>
              <a:t> bascule </a:t>
            </a:r>
            <a:r>
              <a:rPr lang="en-US" err="1"/>
              <a:t>automatiquement</a:t>
            </a:r>
            <a:r>
              <a:rPr lang="en-US"/>
              <a:t> vers un deuxième </a:t>
            </a:r>
            <a:r>
              <a:rPr lang="en-US" err="1"/>
              <a:t>fournisseur</a:t>
            </a:r>
            <a:r>
              <a:rPr lang="en-US"/>
              <a:t> cloud, </a:t>
            </a:r>
            <a:r>
              <a:rPr lang="en-US" err="1"/>
              <a:t>en</a:t>
            </a:r>
            <a:r>
              <a:rPr lang="en-US"/>
              <a:t> secours.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si</a:t>
            </a:r>
            <a:r>
              <a:rPr lang="en-US"/>
              <a:t> les deux </a:t>
            </a:r>
            <a:r>
              <a:rPr lang="en-US" err="1"/>
              <a:t>fournisseurs</a:t>
            </a:r>
            <a:r>
              <a:rPr lang="en-US"/>
              <a:t> cloud </a:t>
            </a:r>
            <a:r>
              <a:rPr lang="en-US" err="1"/>
              <a:t>tombent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panne, le </a:t>
            </a:r>
            <a:r>
              <a:rPr lang="en-US" err="1"/>
              <a:t>système</a:t>
            </a:r>
            <a:r>
              <a:rPr lang="en-US"/>
              <a:t> bascule vers un </a:t>
            </a:r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palier</a:t>
            </a:r>
            <a:r>
              <a:rPr lang="en-US"/>
              <a:t> : </a:t>
            </a:r>
            <a:r>
              <a:rPr lang="en-US" b="1"/>
              <a:t>Llama 3.2, </a:t>
            </a:r>
            <a:r>
              <a:rPr lang="en-US" b="1" err="1"/>
              <a:t>exécuté</a:t>
            </a:r>
            <a:r>
              <a:rPr lang="en-US" b="1"/>
              <a:t> </a:t>
            </a:r>
            <a:r>
              <a:rPr lang="en-US" b="1" err="1"/>
              <a:t>en</a:t>
            </a:r>
            <a:r>
              <a:rPr lang="en-US" b="1"/>
              <a:t> local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</a:t>
            </a:r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palier</a:t>
            </a:r>
            <a:r>
              <a:rPr lang="en-US"/>
              <a:t> ne </a:t>
            </a:r>
            <a:r>
              <a:rPr lang="en-US" err="1"/>
              <a:t>dépend</a:t>
            </a:r>
            <a:r>
              <a:rPr lang="en-US"/>
              <a:t> </a:t>
            </a:r>
            <a:r>
              <a:rPr lang="en-US" err="1"/>
              <a:t>d’aucun</a:t>
            </a:r>
            <a:r>
              <a:rPr lang="en-US"/>
              <a:t> </a:t>
            </a:r>
            <a:r>
              <a:rPr lang="en-US" err="1"/>
              <a:t>accès</a:t>
            </a:r>
            <a:r>
              <a:rPr lang="en-US"/>
              <a:t> réseau externe. </a:t>
            </a: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garantie</a:t>
            </a:r>
            <a:r>
              <a:rPr lang="en-US"/>
              <a:t> de </a:t>
            </a:r>
            <a:r>
              <a:rPr lang="en-US" err="1"/>
              <a:t>disponibilité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cas</a:t>
            </a:r>
            <a:r>
              <a:rPr lang="en-US"/>
              <a:t> de panne </a:t>
            </a:r>
            <a:r>
              <a:rPr lang="en-US" err="1"/>
              <a:t>totale</a:t>
            </a:r>
            <a:r>
              <a:rPr lang="en-US"/>
              <a:t> des deux </a:t>
            </a:r>
            <a:r>
              <a:rPr lang="en-US" err="1"/>
              <a:t>fournisseurs</a:t>
            </a:r>
            <a:r>
              <a:rPr lang="en-US"/>
              <a:t> cloud.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Une </a:t>
            </a:r>
            <a:r>
              <a:rPr lang="en-US" err="1"/>
              <a:t>fois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</a:t>
            </a:r>
            <a:r>
              <a:rPr lang="en-US" err="1"/>
              <a:t>contenu</a:t>
            </a:r>
            <a:r>
              <a:rPr lang="en-US"/>
              <a:t> </a:t>
            </a:r>
            <a:r>
              <a:rPr lang="en-US" err="1"/>
              <a:t>généré</a:t>
            </a:r>
            <a:r>
              <a:rPr lang="en-US"/>
              <a:t>, encore faut-il </a:t>
            </a:r>
            <a:r>
              <a:rPr lang="en-US" err="1"/>
              <a:t>garantir</a:t>
            </a:r>
            <a:r>
              <a:rPr lang="en-US"/>
              <a:t>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atteint</a:t>
            </a:r>
            <a:r>
              <a:rPr lang="en-US"/>
              <a:t> la bonne </a:t>
            </a:r>
            <a:r>
              <a:rPr lang="en-US" err="1"/>
              <a:t>personne</a:t>
            </a:r>
            <a:r>
              <a:rPr lang="en-US"/>
              <a:t> — et </a:t>
            </a:r>
            <a:r>
              <a:rPr lang="en-US" err="1"/>
              <a:t>seulement</a:t>
            </a:r>
            <a:r>
              <a:rPr lang="en-US"/>
              <a:t> </a:t>
            </a:r>
            <a:r>
              <a:rPr lang="en-US" err="1"/>
              <a:t>elle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66144650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err="1"/>
              <a:t>L’accès</a:t>
            </a:r>
            <a:r>
              <a:rPr lang="en-US"/>
              <a:t> au module de formation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strictement</a:t>
            </a:r>
            <a:r>
              <a:rPr lang="en-US"/>
              <a:t> </a:t>
            </a:r>
            <a:r>
              <a:rPr lang="en-US" err="1"/>
              <a:t>contrôlé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Toute tentative de </a:t>
            </a:r>
            <a:r>
              <a:rPr lang="en-US" err="1"/>
              <a:t>connexion</a:t>
            </a:r>
            <a:r>
              <a:rPr lang="en-US"/>
              <a:t> avec un </a:t>
            </a:r>
            <a:r>
              <a:rPr lang="en-US" err="1"/>
              <a:t>identifiant</a:t>
            </a:r>
            <a:r>
              <a:rPr lang="en-US"/>
              <a:t> inconnu est </a:t>
            </a:r>
            <a:r>
              <a:rPr lang="en-US" b="1" err="1"/>
              <a:t>rejetée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</a:t>
            </a:r>
            <a:r>
              <a:rPr lang="en-US" err="1"/>
              <a:t>même</a:t>
            </a:r>
            <a:r>
              <a:rPr lang="en-US"/>
              <a:t> un </a:t>
            </a:r>
            <a:r>
              <a:rPr lang="en-US" err="1"/>
              <a:t>employé</a:t>
            </a:r>
            <a:r>
              <a:rPr lang="en-US"/>
              <a:t> </a:t>
            </a:r>
            <a:r>
              <a:rPr lang="en-US" err="1"/>
              <a:t>disposant</a:t>
            </a:r>
            <a:r>
              <a:rPr lang="en-US"/>
              <a:t> d’un </a:t>
            </a:r>
            <a:r>
              <a:rPr lang="en-US" err="1"/>
              <a:t>identifiant</a:t>
            </a:r>
            <a:r>
              <a:rPr lang="en-US"/>
              <a:t> </a:t>
            </a:r>
            <a:r>
              <a:rPr lang="en-US" err="1"/>
              <a:t>valide</a:t>
            </a:r>
            <a:r>
              <a:rPr lang="en-US"/>
              <a:t>, </a:t>
            </a:r>
            <a:r>
              <a:rPr lang="en-US" err="1"/>
              <a:t>mais</a:t>
            </a:r>
            <a:r>
              <a:rPr lang="en-US"/>
              <a:t> qui </a:t>
            </a:r>
            <a:r>
              <a:rPr lang="en-US" err="1"/>
              <a:t>n’est</a:t>
            </a:r>
            <a:r>
              <a:rPr lang="en-US"/>
              <a:t> pas </a:t>
            </a:r>
            <a:r>
              <a:rPr lang="en-US" err="1"/>
              <a:t>ciblé</a:t>
            </a:r>
            <a:r>
              <a:rPr lang="en-US"/>
              <a:t> par la </a:t>
            </a:r>
            <a:r>
              <a:rPr lang="en-US" err="1"/>
              <a:t>campagne</a:t>
            </a:r>
            <a:r>
              <a:rPr lang="en-US"/>
              <a:t>, ne </a:t>
            </a:r>
            <a:r>
              <a:rPr lang="en-US" err="1"/>
              <a:t>peut</a:t>
            </a:r>
            <a:r>
              <a:rPr lang="en-US"/>
              <a:t> pas </a:t>
            </a:r>
            <a:r>
              <a:rPr lang="en-US" err="1"/>
              <a:t>accéder</a:t>
            </a:r>
            <a:r>
              <a:rPr lang="en-US"/>
              <a:t> au module.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Seul le </a:t>
            </a:r>
            <a:r>
              <a:rPr lang="en-US" err="1"/>
              <a:t>périmètre</a:t>
            </a:r>
            <a:r>
              <a:rPr lang="en-US"/>
              <a:t> de diffusion </a:t>
            </a:r>
            <a:r>
              <a:rPr lang="en-US" err="1"/>
              <a:t>choisi</a:t>
            </a:r>
            <a:r>
              <a:rPr lang="en-US"/>
              <a:t> par </a:t>
            </a:r>
            <a:r>
              <a:rPr lang="en-US" err="1"/>
              <a:t>l’administrateur</a:t>
            </a:r>
            <a:r>
              <a:rPr lang="en-US"/>
              <a:t> est </a:t>
            </a:r>
            <a:r>
              <a:rPr lang="en-US" err="1"/>
              <a:t>autorisé</a:t>
            </a:r>
            <a:r>
              <a:rPr lang="en-US"/>
              <a:t> à le </a:t>
            </a:r>
            <a:r>
              <a:rPr lang="en-US" err="1"/>
              <a:t>déverrouiller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Passons </a:t>
            </a:r>
            <a:r>
              <a:rPr lang="en-US" err="1"/>
              <a:t>maintenant</a:t>
            </a:r>
            <a:r>
              <a:rPr lang="en-US"/>
              <a:t> au dernier sprint, </a:t>
            </a:r>
            <a:r>
              <a:rPr lang="en-US" err="1"/>
              <a:t>celui</a:t>
            </a:r>
            <a:r>
              <a:rPr lang="en-US"/>
              <a:t> qui </a:t>
            </a:r>
            <a:r>
              <a:rPr lang="en-US" err="1"/>
              <a:t>orchestre</a:t>
            </a:r>
            <a:r>
              <a:rPr lang="en-US"/>
              <a:t> </a:t>
            </a:r>
            <a:r>
              <a:rPr lang="en-US" err="1"/>
              <a:t>l’ensemble</a:t>
            </a:r>
            <a:r>
              <a:rPr lang="en-US"/>
              <a:t> de la </a:t>
            </a:r>
            <a:r>
              <a:rPr lang="en-US" err="1"/>
              <a:t>réponse</a:t>
            </a:r>
            <a:r>
              <a:rPr lang="en-US"/>
              <a:t>.</a:t>
            </a:r>
          </a:p>
          <a:p>
            <a:br>
              <a:rPr lang="en-US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400720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Le </a:t>
            </a:r>
            <a:r>
              <a:rPr lang="en-US" err="1"/>
              <a:t>sixième</a:t>
            </a:r>
            <a:r>
              <a:rPr lang="en-US"/>
              <a:t> et dernier sprint </a:t>
            </a:r>
            <a:r>
              <a:rPr lang="en-US" err="1"/>
              <a:t>clôt</a:t>
            </a:r>
            <a:r>
              <a:rPr lang="en-US"/>
              <a:t> la </a:t>
            </a:r>
            <a:r>
              <a:rPr lang="en-US" err="1"/>
              <a:t>chaîne</a:t>
            </a:r>
            <a:r>
              <a:rPr lang="en-US"/>
              <a:t> avec </a:t>
            </a:r>
            <a:r>
              <a:rPr lang="en-US" err="1"/>
              <a:t>l’</a:t>
            </a:r>
            <a:r>
              <a:rPr lang="en-US" b="1" err="1"/>
              <a:t>orchestration</a:t>
            </a:r>
            <a:r>
              <a:rPr lang="en-US" b="1"/>
              <a:t> SOAR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sprint distingue deux </a:t>
            </a:r>
            <a:r>
              <a:rPr lang="en-US" err="1"/>
              <a:t>moteurs</a:t>
            </a:r>
            <a:r>
              <a:rPr lang="en-US"/>
              <a:t> de </a:t>
            </a:r>
            <a:r>
              <a:rPr lang="en-US" err="1"/>
              <a:t>remédiation</a:t>
            </a:r>
            <a:r>
              <a:rPr lang="en-US"/>
              <a:t>, qui </a:t>
            </a:r>
            <a:r>
              <a:rPr lang="en-US" err="1"/>
              <a:t>n’ont</a:t>
            </a:r>
            <a:r>
              <a:rPr lang="en-US"/>
              <a:t> pas le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rôle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/>
              <a:t> </a:t>
            </a:r>
            <a:r>
              <a:rPr lang="en-US" err="1"/>
              <a:t>corrèle</a:t>
            </a:r>
            <a:r>
              <a:rPr lang="en-US"/>
              <a:t> les </a:t>
            </a:r>
            <a:r>
              <a:rPr lang="en-US" err="1"/>
              <a:t>alertes</a:t>
            </a:r>
            <a:r>
              <a:rPr lang="en-US"/>
              <a:t>, et </a:t>
            </a:r>
            <a:r>
              <a:rPr lang="en-US" err="1"/>
              <a:t>décide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b="1" err="1"/>
              <a:t>autonomie</a:t>
            </a:r>
            <a:r>
              <a:rPr lang="en-US" b="1"/>
              <a:t> </a:t>
            </a:r>
            <a:r>
              <a:rPr lang="en-US" b="1" err="1"/>
              <a:t>complète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agent_soar.py</a:t>
            </a:r>
            <a:r>
              <a:rPr lang="en-US"/>
              <a:t>, </a:t>
            </a:r>
            <a:r>
              <a:rPr lang="en-US" err="1"/>
              <a:t>lui</a:t>
            </a:r>
            <a:r>
              <a:rPr lang="en-US"/>
              <a:t>, </a:t>
            </a:r>
            <a:r>
              <a:rPr lang="en-US" err="1"/>
              <a:t>n’exécute</a:t>
            </a:r>
            <a:r>
              <a:rPr lang="en-US"/>
              <a:t> </a:t>
            </a:r>
            <a:r>
              <a:rPr lang="en-US" b="1" err="1"/>
              <a:t>que</a:t>
            </a:r>
            <a:r>
              <a:rPr lang="en-US" b="1"/>
              <a:t> sur </a:t>
            </a:r>
            <a:r>
              <a:rPr lang="en-US" b="1" err="1"/>
              <a:t>ordre</a:t>
            </a:r>
            <a:r>
              <a:rPr lang="en-US" b="1"/>
              <a:t> </a:t>
            </a:r>
            <a:r>
              <a:rPr lang="en-US" b="1" err="1"/>
              <a:t>explicite</a:t>
            </a:r>
            <a:r>
              <a:rPr lang="en-US"/>
              <a:t> — </a:t>
            </a:r>
            <a:r>
              <a:rPr lang="en-US" err="1"/>
              <a:t>qu’il</a:t>
            </a:r>
            <a:r>
              <a:rPr lang="en-US"/>
              <a:t> </a:t>
            </a:r>
            <a:r>
              <a:rPr lang="en-US" err="1"/>
              <a:t>vienne</a:t>
            </a:r>
            <a:r>
              <a:rPr lang="en-US"/>
              <a:t> d’un </a:t>
            </a:r>
            <a:r>
              <a:rPr lang="en-US" err="1"/>
              <a:t>administrateur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du mode auto-</a:t>
            </a:r>
            <a:r>
              <a:rPr lang="en-US" err="1"/>
              <a:t>pilote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Voyons</a:t>
            </a:r>
            <a:r>
              <a:rPr lang="en-US"/>
              <a:t> </a:t>
            </a:r>
            <a:r>
              <a:rPr lang="en-US" err="1"/>
              <a:t>d’abord</a:t>
            </a:r>
            <a:r>
              <a:rPr lang="en-US"/>
              <a:t> comment </a:t>
            </a:r>
            <a:r>
              <a:rPr 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soar.py</a:t>
            </a:r>
            <a:r>
              <a:rPr lang="en-US"/>
              <a:t> </a:t>
            </a:r>
            <a:r>
              <a:rPr lang="en-US" err="1"/>
              <a:t>prend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décision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9261448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Avant toute action, </a:t>
            </a:r>
            <a:r>
              <a:rPr lang="en-US" err="1"/>
              <a:t>chaque</a:t>
            </a:r>
            <a:r>
              <a:rPr lang="en-US"/>
              <a:t> </a:t>
            </a:r>
            <a:r>
              <a:rPr lang="en-US" err="1"/>
              <a:t>alerte</a:t>
            </a:r>
            <a:r>
              <a:rPr lang="en-US"/>
              <a:t> est </a:t>
            </a:r>
            <a:r>
              <a:rPr lang="en-US" err="1"/>
              <a:t>confrontée</a:t>
            </a:r>
            <a:r>
              <a:rPr lang="en-US"/>
              <a:t> à </a:t>
            </a:r>
            <a:r>
              <a:rPr lang="en-US" err="1"/>
              <a:t>une</a:t>
            </a:r>
            <a:r>
              <a:rPr lang="en-US"/>
              <a:t> politique </a:t>
            </a:r>
            <a:r>
              <a:rPr lang="en-US" b="1"/>
              <a:t>Zero Trust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Elle passe ensuite par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b="1" err="1"/>
              <a:t>fenêtre</a:t>
            </a:r>
            <a:r>
              <a:rPr lang="en-US" b="1"/>
              <a:t> de </a:t>
            </a:r>
            <a:r>
              <a:rPr lang="en-US" b="1" err="1"/>
              <a:t>corrélation</a:t>
            </a:r>
            <a:r>
              <a:rPr lang="en-US" b="1"/>
              <a:t> de </a:t>
            </a:r>
            <a:r>
              <a:rPr lang="en-US" b="1" err="1"/>
              <a:t>trente</a:t>
            </a:r>
            <a:r>
              <a:rPr lang="en-US" b="1"/>
              <a:t> </a:t>
            </a:r>
            <a:r>
              <a:rPr lang="en-US" b="1" err="1"/>
              <a:t>secondes</a:t>
            </a:r>
            <a:r>
              <a:rPr lang="en-US"/>
              <a:t>, entre les deux sources de </a:t>
            </a:r>
            <a:r>
              <a:rPr lang="en-US" err="1"/>
              <a:t>détection</a:t>
            </a:r>
            <a:r>
              <a:rPr lang="en-US"/>
              <a:t> — Suricata, et le </a:t>
            </a:r>
            <a:r>
              <a:rPr lang="en-US" err="1"/>
              <a:t>modèle</a:t>
            </a:r>
            <a:r>
              <a:rPr lang="en-US"/>
              <a:t> </a:t>
            </a:r>
            <a:r>
              <a:rPr lang="en-US" err="1"/>
              <a:t>comportemental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C’est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corrélation</a:t>
            </a:r>
            <a:r>
              <a:rPr lang="en-US"/>
              <a:t> — et non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alerte</a:t>
            </a:r>
            <a:r>
              <a:rPr lang="en-US"/>
              <a:t> </a:t>
            </a:r>
            <a:r>
              <a:rPr lang="en-US" err="1"/>
              <a:t>isolée</a:t>
            </a:r>
            <a:r>
              <a:rPr lang="en-US"/>
              <a:t> — qui </a:t>
            </a:r>
            <a:r>
              <a:rPr lang="en-US" err="1"/>
              <a:t>déclenche</a:t>
            </a:r>
            <a:r>
              <a:rPr lang="en-US"/>
              <a:t> un </a:t>
            </a:r>
            <a:r>
              <a:rPr lang="en-US" err="1"/>
              <a:t>blocage</a:t>
            </a:r>
            <a:r>
              <a:rPr lang="en-US"/>
              <a:t> </a:t>
            </a:r>
            <a:r>
              <a:rPr lang="en-US" err="1"/>
              <a:t>autonome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Autrement</a:t>
            </a:r>
            <a:r>
              <a:rPr lang="en-US"/>
              <a:t> </a:t>
            </a:r>
            <a:r>
              <a:rPr lang="en-US" err="1"/>
              <a:t>dit</a:t>
            </a:r>
            <a:r>
              <a:rPr lang="en-US"/>
              <a:t> : le </a:t>
            </a:r>
            <a:r>
              <a:rPr lang="en-US" err="1"/>
              <a:t>système</a:t>
            </a:r>
            <a:r>
              <a:rPr lang="en-US"/>
              <a:t> ne </a:t>
            </a:r>
            <a:r>
              <a:rPr lang="en-US" err="1"/>
              <a:t>réagit</a:t>
            </a:r>
            <a:r>
              <a:rPr lang="en-US"/>
              <a:t> jamais sur un seul signal </a:t>
            </a:r>
            <a:r>
              <a:rPr lang="en-US" err="1"/>
              <a:t>faible</a:t>
            </a:r>
            <a:r>
              <a:rPr lang="en-US"/>
              <a:t>. Il attend </a:t>
            </a:r>
            <a:r>
              <a:rPr lang="en-US" err="1"/>
              <a:t>une</a:t>
            </a:r>
            <a:r>
              <a:rPr lang="en-US"/>
              <a:t> convergence entre </a:t>
            </a:r>
            <a:r>
              <a:rPr lang="en-US" err="1"/>
              <a:t>plusieurs</a:t>
            </a:r>
            <a:r>
              <a:rPr lang="en-US"/>
              <a:t> sources, avant </a:t>
            </a:r>
            <a:r>
              <a:rPr lang="en-US" err="1"/>
              <a:t>d’agir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Cette </a:t>
            </a:r>
            <a:r>
              <a:rPr lang="en-US" err="1"/>
              <a:t>décision</a:t>
            </a:r>
            <a:r>
              <a:rPr lang="en-US"/>
              <a:t> est ensuite </a:t>
            </a:r>
            <a:r>
              <a:rPr lang="en-US" err="1"/>
              <a:t>transmise</a:t>
            </a:r>
            <a:r>
              <a:rPr lang="en-US"/>
              <a:t> à un second </a:t>
            </a:r>
            <a:r>
              <a:rPr lang="en-US" err="1"/>
              <a:t>moteur</a:t>
            </a:r>
            <a:r>
              <a:rPr lang="en-US"/>
              <a:t>, </a:t>
            </a:r>
            <a:r>
              <a:rPr lang="en-US" err="1"/>
              <a:t>dont</a:t>
            </a:r>
            <a:r>
              <a:rPr lang="en-US"/>
              <a:t> le </a:t>
            </a:r>
            <a:r>
              <a:rPr lang="en-US" err="1"/>
              <a:t>rôle</a:t>
            </a:r>
            <a:r>
              <a:rPr lang="en-US"/>
              <a:t> est bien distinct.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601124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/>
              <a:t>Ce sprint </a:t>
            </a:r>
            <a:r>
              <a:rPr lang="en-US" err="1"/>
              <a:t>sépare</a:t>
            </a:r>
            <a:r>
              <a:rPr lang="en-US"/>
              <a:t> </a:t>
            </a:r>
            <a:r>
              <a:rPr lang="en-US" err="1"/>
              <a:t>clairement</a:t>
            </a:r>
            <a:r>
              <a:rPr lang="en-US"/>
              <a:t> deux </a:t>
            </a:r>
            <a:r>
              <a:rPr lang="en-US" err="1"/>
              <a:t>responsabilités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D’un </a:t>
            </a:r>
            <a:r>
              <a:rPr lang="en-US" err="1"/>
              <a:t>côté</a:t>
            </a:r>
            <a:r>
              <a:rPr lang="en-US"/>
              <a:t>, la </a:t>
            </a:r>
            <a:r>
              <a:rPr lang="en-US" b="1" err="1"/>
              <a:t>corrélation</a:t>
            </a:r>
            <a:r>
              <a:rPr lang="en-US" b="1"/>
              <a:t> et la </a:t>
            </a:r>
            <a:r>
              <a:rPr lang="en-US" b="1" err="1"/>
              <a:t>décision</a:t>
            </a:r>
            <a:r>
              <a:rPr lang="en-US" b="1"/>
              <a:t> </a:t>
            </a:r>
            <a:r>
              <a:rPr lang="en-US" b="1" err="1"/>
              <a:t>autonome</a:t>
            </a:r>
            <a:r>
              <a:rPr lang="en-US"/>
              <a:t>, </a:t>
            </a:r>
            <a:r>
              <a:rPr lang="en-US" err="1"/>
              <a:t>hébergées</a:t>
            </a:r>
            <a:r>
              <a:rPr lang="en-US"/>
              <a:t> sur VM-ML.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De </a:t>
            </a:r>
            <a:r>
              <a:rPr lang="en-US" err="1"/>
              <a:t>l’autre</a:t>
            </a:r>
            <a:r>
              <a:rPr lang="en-US"/>
              <a:t>, </a:t>
            </a:r>
            <a:r>
              <a:rPr lang="en-US" err="1"/>
              <a:t>l’</a:t>
            </a:r>
            <a:r>
              <a:rPr lang="en-US" b="1" err="1"/>
              <a:t>exécution</a:t>
            </a:r>
            <a:r>
              <a:rPr lang="en-US"/>
              <a:t>, qui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toujours</a:t>
            </a:r>
            <a:r>
              <a:rPr lang="en-US"/>
              <a:t> </a:t>
            </a:r>
            <a:r>
              <a:rPr lang="en-US" err="1"/>
              <a:t>supervisée</a:t>
            </a:r>
            <a:r>
              <a:rPr lang="en-US"/>
              <a:t>, et </a:t>
            </a:r>
            <a:r>
              <a:rPr lang="en-US" err="1"/>
              <a:t>confiée</a:t>
            </a:r>
            <a:r>
              <a:rPr lang="en-US"/>
              <a:t> à VM-Response — </a:t>
            </a:r>
            <a:r>
              <a:rPr lang="en-US" err="1"/>
              <a:t>qu’elle</a:t>
            </a:r>
            <a:r>
              <a:rPr lang="en-US"/>
              <a:t> soit </a:t>
            </a:r>
            <a:r>
              <a:rPr lang="en-US" err="1"/>
              <a:t>déclenchée</a:t>
            </a:r>
            <a:r>
              <a:rPr lang="en-US"/>
              <a:t> par un </a:t>
            </a:r>
            <a:r>
              <a:rPr lang="en-US" err="1"/>
              <a:t>administrateur</a:t>
            </a:r>
            <a:r>
              <a:rPr lang="en-US"/>
              <a:t>, </a:t>
            </a:r>
            <a:r>
              <a:rPr lang="en-US" err="1"/>
              <a:t>ou</a:t>
            </a:r>
            <a:r>
              <a:rPr lang="en-US"/>
              <a:t> par le mode auto-</a:t>
            </a:r>
            <a:r>
              <a:rPr lang="en-US" err="1"/>
              <a:t>pilote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Pourquoi</a:t>
            </a:r>
            <a:r>
              <a:rPr lang="en-US"/>
              <a:t> </a:t>
            </a:r>
            <a:r>
              <a:rPr lang="en-US" err="1"/>
              <a:t>cette</a:t>
            </a:r>
            <a:r>
              <a:rPr lang="en-US"/>
              <a:t> </a:t>
            </a:r>
            <a:r>
              <a:rPr lang="en-US" err="1"/>
              <a:t>séparation</a:t>
            </a:r>
            <a:r>
              <a:rPr lang="en-US"/>
              <a:t> ? Parce </a:t>
            </a:r>
            <a:r>
              <a:rPr lang="en-US" err="1"/>
              <a:t>qu’elle</a:t>
            </a:r>
            <a:r>
              <a:rPr lang="en-US"/>
              <a:t> </a:t>
            </a:r>
            <a:r>
              <a:rPr lang="en-US" err="1"/>
              <a:t>garantit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chose </a:t>
            </a:r>
            <a:r>
              <a:rPr lang="en-US" err="1"/>
              <a:t>essentielle</a:t>
            </a:r>
            <a:r>
              <a:rPr lang="en-US"/>
              <a:t> : un </a:t>
            </a:r>
            <a:r>
              <a:rPr lang="en-US" err="1"/>
              <a:t>humain</a:t>
            </a:r>
            <a:r>
              <a:rPr lang="en-US"/>
              <a:t> — </a:t>
            </a:r>
            <a:r>
              <a:rPr lang="en-US" err="1"/>
              <a:t>ou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règle</a:t>
            </a:r>
            <a:r>
              <a:rPr lang="en-US"/>
              <a:t> </a:t>
            </a:r>
            <a:r>
              <a:rPr lang="en-US" err="1"/>
              <a:t>explicite</a:t>
            </a:r>
            <a:r>
              <a:rPr lang="en-US"/>
              <a:t> du mode auto-</a:t>
            </a:r>
            <a:r>
              <a:rPr lang="en-US" err="1"/>
              <a:t>pilote</a:t>
            </a:r>
            <a:r>
              <a:rPr lang="en-US"/>
              <a:t> — </a:t>
            </a:r>
            <a:r>
              <a:rPr lang="en-US" err="1"/>
              <a:t>reste</a:t>
            </a:r>
            <a:r>
              <a:rPr lang="en-US"/>
              <a:t> </a:t>
            </a:r>
            <a:r>
              <a:rPr lang="en-US" err="1"/>
              <a:t>toujours</a:t>
            </a:r>
            <a:r>
              <a:rPr lang="en-US"/>
              <a:t> le seul point </a:t>
            </a:r>
            <a:r>
              <a:rPr lang="en-US" err="1"/>
              <a:t>d’origine</a:t>
            </a:r>
            <a:r>
              <a:rPr lang="en-US"/>
              <a:t> </a:t>
            </a:r>
            <a:r>
              <a:rPr lang="en-US" err="1"/>
              <a:t>d’une</a:t>
            </a:r>
            <a:r>
              <a:rPr lang="en-US"/>
              <a:t> action sur </a:t>
            </a:r>
            <a:r>
              <a:rPr lang="en-US" err="1"/>
              <a:t>l’infrastructure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lorsque</a:t>
            </a:r>
            <a:r>
              <a:rPr lang="en-US"/>
              <a:t> la </a:t>
            </a:r>
            <a:r>
              <a:rPr lang="en-US" err="1"/>
              <a:t>détection</a:t>
            </a:r>
            <a:r>
              <a:rPr lang="en-US"/>
              <a:t> </a:t>
            </a:r>
            <a:r>
              <a:rPr lang="en-US" err="1"/>
              <a:t>elle-même</a:t>
            </a:r>
            <a:r>
              <a:rPr lang="en-US"/>
              <a:t> est </a:t>
            </a:r>
            <a:r>
              <a:rPr lang="en-US" err="1"/>
              <a:t>entièrement</a:t>
            </a:r>
            <a:r>
              <a:rPr lang="en-US"/>
              <a:t> </a:t>
            </a:r>
            <a:r>
              <a:rPr lang="en-US" err="1"/>
              <a:t>automatisée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 err="1"/>
              <a:t>Terminons</a:t>
            </a:r>
            <a:r>
              <a:rPr lang="en-US"/>
              <a:t> </a:t>
            </a:r>
            <a:r>
              <a:rPr lang="en-US" err="1"/>
              <a:t>ce</a:t>
            </a:r>
            <a:r>
              <a:rPr lang="en-US"/>
              <a:t> sprint par les </a:t>
            </a:r>
            <a:r>
              <a:rPr lang="en-US" err="1"/>
              <a:t>mécanismes</a:t>
            </a:r>
            <a:r>
              <a:rPr lang="en-US"/>
              <a:t> qui </a:t>
            </a:r>
            <a:r>
              <a:rPr lang="en-US" err="1"/>
              <a:t>assurent</a:t>
            </a:r>
            <a:r>
              <a:rPr lang="en-US"/>
              <a:t> </a:t>
            </a:r>
            <a:r>
              <a:rPr lang="en-US" err="1"/>
              <a:t>sa</a:t>
            </a:r>
            <a:r>
              <a:rPr lang="en-US"/>
              <a:t> </a:t>
            </a:r>
            <a:r>
              <a:rPr lang="en-US" err="1"/>
              <a:t>résilience</a:t>
            </a:r>
            <a:r>
              <a:rPr lang="en-US"/>
              <a:t> </a:t>
            </a:r>
            <a:r>
              <a:rPr lang="en-US" err="1"/>
              <a:t>opérationnelle</a:t>
            </a:r>
            <a:r>
              <a:rPr lang="en-US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25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43059715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Pour alimenter le mode auto-</a:t>
            </a:r>
            <a:r>
              <a:rPr lang="en-US" err="1"/>
              <a:t>pilote</a:t>
            </a:r>
            <a:r>
              <a:rPr lang="en-US"/>
              <a:t>, </a:t>
            </a:r>
            <a:r>
              <a:rPr lang="en-US" err="1"/>
              <a:t>j’ai</a:t>
            </a:r>
            <a:r>
              <a:rPr lang="en-US"/>
              <a:t> mis </a:t>
            </a:r>
            <a:r>
              <a:rPr lang="en-US" err="1"/>
              <a:t>en</a:t>
            </a:r>
            <a:r>
              <a:rPr lang="en-US"/>
              <a:t> place un </a:t>
            </a:r>
            <a:r>
              <a:rPr lang="en-US" b="1"/>
              <a:t>score composite</a:t>
            </a:r>
            <a:r>
              <a:rPr lang="en-US"/>
              <a:t>, qui </a:t>
            </a:r>
            <a:r>
              <a:rPr lang="en-US" err="1"/>
              <a:t>pondère</a:t>
            </a:r>
            <a:r>
              <a:rPr lang="en-US"/>
              <a:t> les trois sources de </a:t>
            </a:r>
            <a:r>
              <a:rPr lang="en-US" err="1"/>
              <a:t>détection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 score </a:t>
            </a:r>
            <a:r>
              <a:rPr lang="en-US" err="1"/>
              <a:t>garantit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</a:t>
            </a:r>
            <a:r>
              <a:rPr lang="en-US" err="1"/>
              <a:t>réponse</a:t>
            </a:r>
            <a:r>
              <a:rPr lang="en-US"/>
              <a:t> sans </a:t>
            </a:r>
            <a:r>
              <a:rPr lang="en-US" err="1"/>
              <a:t>délai</a:t>
            </a:r>
            <a:r>
              <a:rPr lang="en-US"/>
              <a:t>, </a:t>
            </a:r>
            <a:r>
              <a:rPr lang="en-US" err="1"/>
              <a:t>même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l’absence</a:t>
            </a:r>
            <a:r>
              <a:rPr lang="en-US"/>
              <a:t> </a:t>
            </a:r>
            <a:r>
              <a:rPr lang="en-US" err="1"/>
              <a:t>totale</a:t>
            </a:r>
            <a:r>
              <a:rPr lang="en-US"/>
              <a:t> de supervision humaine.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Trois </a:t>
            </a:r>
            <a:r>
              <a:rPr lang="en-US" err="1"/>
              <a:t>mécanismes</a:t>
            </a:r>
            <a:r>
              <a:rPr lang="en-US"/>
              <a:t> </a:t>
            </a:r>
            <a:r>
              <a:rPr lang="en-US" err="1"/>
              <a:t>renforcent</a:t>
            </a:r>
            <a:r>
              <a:rPr lang="en-US"/>
              <a:t> la </a:t>
            </a:r>
            <a:r>
              <a:rPr lang="en-US" err="1"/>
              <a:t>résilience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 </a:t>
            </a:r>
            <a:r>
              <a:rPr lang="en-US" b="1"/>
              <a:t>watchdog</a:t>
            </a:r>
            <a:r>
              <a:rPr lang="en-US"/>
              <a:t>, qui </a:t>
            </a:r>
            <a:r>
              <a:rPr lang="en-US" err="1"/>
              <a:t>détecte</a:t>
            </a:r>
            <a:r>
              <a:rPr lang="en-US"/>
              <a:t> </a:t>
            </a:r>
            <a:r>
              <a:rPr lang="en-US" err="1"/>
              <a:t>une</a:t>
            </a:r>
            <a:r>
              <a:rPr lang="en-US"/>
              <a:t> panne de </a:t>
            </a:r>
            <a:r>
              <a:rPr lang="en-US" err="1"/>
              <a:t>nœud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</a:t>
            </a:r>
            <a:r>
              <a:rPr lang="en-US" err="1"/>
              <a:t>moins</a:t>
            </a:r>
            <a:r>
              <a:rPr lang="en-US"/>
              <a:t> de quinze </a:t>
            </a:r>
            <a:r>
              <a:rPr lang="en-US" err="1"/>
              <a:t>secondes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Une </a:t>
            </a:r>
            <a:r>
              <a:rPr lang="en-US" b="1"/>
              <a:t>reconnexion Kafka </a:t>
            </a:r>
            <a:r>
              <a:rPr lang="en-US" b="1" err="1"/>
              <a:t>automatique</a:t>
            </a:r>
            <a:r>
              <a:rPr lang="en-US"/>
              <a:t>, qui </a:t>
            </a:r>
            <a:r>
              <a:rPr lang="en-US" err="1"/>
              <a:t>retente</a:t>
            </a:r>
            <a:r>
              <a:rPr lang="en-US"/>
              <a:t> la </a:t>
            </a:r>
            <a:r>
              <a:rPr lang="en-US" err="1"/>
              <a:t>connexion</a:t>
            </a:r>
            <a:r>
              <a:rPr lang="en-US"/>
              <a:t> </a:t>
            </a:r>
            <a:r>
              <a:rPr lang="en-US" err="1"/>
              <a:t>toutes</a:t>
            </a:r>
            <a:r>
              <a:rPr lang="en-US"/>
              <a:t> les cinq </a:t>
            </a:r>
            <a:r>
              <a:rPr lang="en-US" err="1"/>
              <a:t>secondes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Et un </a:t>
            </a:r>
            <a:r>
              <a:rPr lang="en-US" b="1" err="1"/>
              <a:t>bouclier</a:t>
            </a:r>
            <a:r>
              <a:rPr lang="en-US" b="1"/>
              <a:t> anti-DDoS</a:t>
            </a:r>
            <a:r>
              <a:rPr lang="en-US"/>
              <a:t>, </a:t>
            </a:r>
            <a:r>
              <a:rPr lang="en-US" err="1"/>
              <a:t>basé</a:t>
            </a:r>
            <a:r>
              <a:rPr lang="en-US"/>
              <a:t> sur des SYN cookies et </a:t>
            </a:r>
            <a:r>
              <a:rPr lang="en-US" err="1"/>
              <a:t>une</a:t>
            </a:r>
            <a:r>
              <a:rPr lang="en-US"/>
              <a:t> limitation de </a:t>
            </a:r>
            <a:r>
              <a:rPr lang="en-US" err="1"/>
              <a:t>débit</a:t>
            </a:r>
            <a:r>
              <a:rPr lang="en-US"/>
              <a:t>.</a:t>
            </a:r>
            <a:br>
              <a:rPr lang="en-US"/>
            </a:br>
            <a:r>
              <a:rPr lang="en-US"/>
              <a:t>—</a:t>
            </a:r>
            <a:br>
              <a:rPr lang="en-US"/>
            </a:br>
            <a:r>
              <a:rPr lang="en-US"/>
              <a:t>Ceci </a:t>
            </a:r>
            <a:r>
              <a:rPr lang="en-US" err="1"/>
              <a:t>achève</a:t>
            </a:r>
            <a:r>
              <a:rPr lang="en-US"/>
              <a:t> la </a:t>
            </a:r>
            <a:r>
              <a:rPr lang="en-US" err="1"/>
              <a:t>présentation</a:t>
            </a:r>
            <a:r>
              <a:rPr lang="en-US"/>
              <a:t> des six sprints. Je passe </a:t>
            </a:r>
            <a:r>
              <a:rPr lang="en-US" err="1"/>
              <a:t>maintenant</a:t>
            </a:r>
            <a:r>
              <a:rPr lang="en-US"/>
              <a:t> au </a:t>
            </a:r>
            <a:r>
              <a:rPr lang="en-US" err="1"/>
              <a:t>déploiement</a:t>
            </a:r>
            <a:r>
              <a:rPr lang="en-US"/>
              <a:t> et à la </a:t>
            </a:r>
            <a:r>
              <a:rPr lang="en-US" err="1"/>
              <a:t>réalisation</a:t>
            </a:r>
            <a:r>
              <a:rPr lang="en-US"/>
              <a:t> du </a:t>
            </a:r>
            <a:r>
              <a:rPr lang="en-US" err="1"/>
              <a:t>système</a:t>
            </a:r>
            <a:r>
              <a:rPr lang="en-US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26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414839845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Nous </a:t>
            </a:r>
            <a:r>
              <a:rPr lang="en-US" dirty="0" err="1"/>
              <a:t>avons</a:t>
            </a:r>
            <a:r>
              <a:rPr lang="en-US" dirty="0"/>
              <a:t> vu comment </a:t>
            </a:r>
            <a:r>
              <a:rPr lang="en-US" dirty="0" err="1"/>
              <a:t>chaque</a:t>
            </a:r>
            <a:r>
              <a:rPr lang="en-US" dirty="0"/>
              <a:t> sprint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pensé</a:t>
            </a:r>
            <a:r>
              <a:rPr lang="en-US" dirty="0"/>
              <a:t> et </a:t>
            </a:r>
            <a:r>
              <a:rPr lang="en-US" dirty="0" err="1"/>
              <a:t>construit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Mais tout </a:t>
            </a:r>
            <a:r>
              <a:rPr lang="en-US" dirty="0" err="1"/>
              <a:t>cela</a:t>
            </a:r>
            <a:r>
              <a:rPr lang="en-US" dirty="0"/>
              <a:t> ne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de la conception tant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concrètement</a:t>
            </a:r>
            <a:r>
              <a:rPr lang="en-US" dirty="0"/>
              <a:t> </a:t>
            </a:r>
            <a:r>
              <a:rPr lang="en-US" dirty="0" err="1"/>
              <a:t>déployé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Dans </a:t>
            </a:r>
            <a:r>
              <a:rPr lang="en-US" dirty="0" err="1"/>
              <a:t>cette</a:t>
            </a:r>
            <a:r>
              <a:rPr lang="en-US" dirty="0"/>
              <a:t> section, je </a:t>
            </a:r>
            <a:r>
              <a:rPr lang="en-US" dirty="0" err="1"/>
              <a:t>vais</a:t>
            </a:r>
            <a:r>
              <a:rPr lang="en-US" dirty="0"/>
              <a:t> vous </a:t>
            </a:r>
            <a:r>
              <a:rPr lang="en-US" dirty="0" err="1"/>
              <a:t>montrer</a:t>
            </a:r>
            <a:r>
              <a:rPr lang="en-US" dirty="0"/>
              <a:t> comment </a:t>
            </a:r>
            <a:r>
              <a:rPr lang="en-US" dirty="0" err="1"/>
              <a:t>ce</a:t>
            </a:r>
            <a:r>
              <a:rPr lang="en-US" dirty="0"/>
              <a:t> plan est </a:t>
            </a:r>
            <a:r>
              <a:rPr lang="en-US" dirty="0" err="1"/>
              <a:t>devenu</a:t>
            </a:r>
            <a:r>
              <a:rPr lang="en-US" dirty="0"/>
              <a:t> </a:t>
            </a:r>
            <a:r>
              <a:rPr lang="en-US" dirty="0" err="1"/>
              <a:t>réalité</a:t>
            </a:r>
            <a:r>
              <a:rPr lang="en-US" dirty="0"/>
              <a:t>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27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519174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d’abord</a:t>
            </a:r>
            <a:r>
              <a:rPr lang="en-US" dirty="0"/>
              <a:t> </a:t>
            </a:r>
            <a:r>
              <a:rPr lang="en-US" dirty="0" err="1"/>
              <a:t>l’environnement</a:t>
            </a:r>
            <a:r>
              <a:rPr lang="en-US" dirty="0"/>
              <a:t> </a:t>
            </a:r>
            <a:r>
              <a:rPr lang="en-US" dirty="0" err="1"/>
              <a:t>logiciel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</a:t>
            </a:r>
            <a:r>
              <a:rPr lang="en-US" dirty="0" err="1"/>
              <a:t>j’ai</a:t>
            </a:r>
            <a:r>
              <a:rPr lang="en-US" dirty="0"/>
              <a:t> </a:t>
            </a:r>
            <a:r>
              <a:rPr lang="en-US" dirty="0" err="1"/>
              <a:t>utilisé</a:t>
            </a:r>
            <a:r>
              <a:rPr lang="en-US" dirty="0"/>
              <a:t> pour </a:t>
            </a:r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système</a:t>
            </a:r>
            <a:r>
              <a:rPr lang="en-US" dirty="0"/>
              <a:t>, </a:t>
            </a:r>
            <a:r>
              <a:rPr lang="en-US" dirty="0" err="1"/>
              <a:t>puis</a:t>
            </a:r>
            <a:r>
              <a:rPr lang="en-US" dirty="0"/>
              <a:t> </a:t>
            </a:r>
            <a:r>
              <a:rPr lang="en-US" dirty="0" err="1"/>
              <a:t>l’architecture</a:t>
            </a:r>
            <a:r>
              <a:rPr lang="en-US" dirty="0"/>
              <a:t> </a:t>
            </a:r>
            <a:r>
              <a:rPr lang="en-US" dirty="0" err="1"/>
              <a:t>globale</a:t>
            </a:r>
            <a:r>
              <a:rPr lang="en-US" dirty="0"/>
              <a:t> qui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résulte</a:t>
            </a:r>
            <a:r>
              <a:rPr lang="en-US" dirty="0"/>
              <a:t> sur le terrain.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28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43310995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NG-IDPS repose </a:t>
            </a:r>
            <a:r>
              <a:rPr lang="en-US" dirty="0" err="1"/>
              <a:t>entièrement</a:t>
            </a:r>
            <a:r>
              <a:rPr lang="en-US" dirty="0"/>
              <a:t> sur des </a:t>
            </a:r>
            <a:r>
              <a:rPr lang="en-US" dirty="0" err="1"/>
              <a:t>outils</a:t>
            </a:r>
            <a:r>
              <a:rPr lang="en-US" dirty="0"/>
              <a:t> </a:t>
            </a:r>
            <a:r>
              <a:rPr lang="en-US" b="1" dirty="0"/>
              <a:t>open-source</a:t>
            </a:r>
            <a:r>
              <a:rPr lang="en-US" dirty="0"/>
              <a:t>, </a:t>
            </a:r>
            <a:r>
              <a:rPr lang="en-US" dirty="0" err="1"/>
              <a:t>reconnus</a:t>
            </a:r>
            <a:r>
              <a:rPr lang="en-US" dirty="0"/>
              <a:t> et </a:t>
            </a:r>
            <a:r>
              <a:rPr lang="en-US" dirty="0" err="1"/>
              <a:t>éprouvés</a:t>
            </a:r>
            <a:r>
              <a:rPr lang="en-US" dirty="0"/>
              <a:t> dans </a:t>
            </a:r>
            <a:r>
              <a:rPr lang="en-US" dirty="0" err="1"/>
              <a:t>l’industrie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la capture réseau : </a:t>
            </a:r>
            <a:r>
              <a:rPr lang="en-US" b="1" dirty="0"/>
              <a:t>Suricata</a:t>
            </a:r>
            <a:r>
              <a:rPr lang="en-US" dirty="0"/>
              <a:t> et </a:t>
            </a:r>
            <a:r>
              <a:rPr lang="en-US" b="1" dirty="0" err="1"/>
              <a:t>Scapy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la </a:t>
            </a:r>
            <a:r>
              <a:rPr lang="en-US" dirty="0" err="1"/>
              <a:t>messagerie</a:t>
            </a:r>
            <a:r>
              <a:rPr lang="en-US" dirty="0"/>
              <a:t> entre les </a:t>
            </a:r>
            <a:r>
              <a:rPr lang="en-US" dirty="0" err="1"/>
              <a:t>composants</a:t>
            </a:r>
            <a:r>
              <a:rPr lang="en-US" dirty="0"/>
              <a:t> : </a:t>
            </a:r>
            <a:r>
              <a:rPr lang="en-US" b="1" dirty="0"/>
              <a:t>Kafka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le </a:t>
            </a:r>
            <a:r>
              <a:rPr lang="en-US" dirty="0" err="1"/>
              <a:t>modèle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 : </a:t>
            </a:r>
            <a:r>
              <a:rPr lang="en-US" b="1" dirty="0" err="1"/>
              <a:t>PyTorch</a:t>
            </a:r>
            <a:r>
              <a:rPr lang="en-US" dirty="0"/>
              <a:t>, qui </a:t>
            </a:r>
            <a:r>
              <a:rPr lang="en-US" dirty="0" err="1"/>
              <a:t>m’a</a:t>
            </a:r>
            <a:r>
              <a:rPr lang="en-US" dirty="0"/>
              <a:t> </a:t>
            </a:r>
            <a:r>
              <a:rPr lang="en-US" dirty="0" err="1"/>
              <a:t>permis</a:t>
            </a:r>
            <a:r>
              <a:rPr lang="en-US" dirty="0"/>
              <a:t> </a:t>
            </a:r>
            <a:r>
              <a:rPr lang="en-US" dirty="0" err="1"/>
              <a:t>d’entraîner</a:t>
            </a:r>
            <a:r>
              <a:rPr lang="en-US" dirty="0"/>
              <a:t> et de </a:t>
            </a:r>
            <a:r>
              <a:rPr lang="en-US" dirty="0" err="1"/>
              <a:t>déployer</a:t>
            </a:r>
            <a:r>
              <a:rPr lang="en-US" dirty="0"/>
              <a:t> le LSTM-VAE.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Pour </a:t>
            </a:r>
            <a:r>
              <a:rPr lang="en-US" dirty="0" err="1"/>
              <a:t>l’intelligence</a:t>
            </a:r>
            <a:r>
              <a:rPr lang="en-US" dirty="0"/>
              <a:t> locale : </a:t>
            </a:r>
            <a:r>
              <a:rPr lang="en-US" b="1" dirty="0" err="1"/>
              <a:t>Ollama</a:t>
            </a:r>
            <a:r>
              <a:rPr lang="en-US" dirty="0"/>
              <a:t>, avec le </a:t>
            </a:r>
            <a:r>
              <a:rPr lang="en-US" dirty="0" err="1"/>
              <a:t>modèle</a:t>
            </a:r>
            <a:r>
              <a:rPr lang="en-US" dirty="0"/>
              <a:t> </a:t>
            </a:r>
            <a:r>
              <a:rPr lang="en-US" b="1" dirty="0"/>
              <a:t>Llama 3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Côté backend : </a:t>
            </a:r>
            <a:r>
              <a:rPr lang="en-US" b="1" dirty="0"/>
              <a:t>Node.js</a:t>
            </a:r>
            <a:r>
              <a:rPr lang="en-US" dirty="0"/>
              <a:t> et </a:t>
            </a:r>
            <a:r>
              <a:rPr lang="en-US" b="1" dirty="0"/>
              <a:t>Express</a:t>
            </a:r>
            <a:r>
              <a:rPr lang="en-US" dirty="0"/>
              <a:t>, qui </a:t>
            </a:r>
            <a:r>
              <a:rPr lang="en-US" dirty="0" err="1"/>
              <a:t>orchestrent</a:t>
            </a:r>
            <a:r>
              <a:rPr lang="en-US" dirty="0"/>
              <a:t> </a:t>
            </a:r>
            <a:r>
              <a:rPr lang="en-US" dirty="0" err="1"/>
              <a:t>l’ensemble</a:t>
            </a:r>
            <a:r>
              <a:rPr lang="en-US" dirty="0"/>
              <a:t> du </a:t>
            </a:r>
            <a:r>
              <a:rPr lang="en-US" dirty="0" err="1"/>
              <a:t>système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pour le tableau de bord : </a:t>
            </a:r>
            <a:r>
              <a:rPr lang="en-US" b="1" dirty="0"/>
              <a:t>Next.js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 choix </a:t>
            </a:r>
            <a:r>
              <a:rPr lang="en-US" dirty="0" err="1"/>
              <a:t>d’outils</a:t>
            </a:r>
            <a:r>
              <a:rPr lang="en-US" dirty="0"/>
              <a:t> open-source </a:t>
            </a:r>
            <a:r>
              <a:rPr lang="en-US" dirty="0" err="1"/>
              <a:t>n’est</a:t>
            </a:r>
            <a:r>
              <a:rPr lang="en-US" dirty="0"/>
              <a:t> pas </a:t>
            </a:r>
            <a:r>
              <a:rPr lang="en-US" dirty="0" err="1"/>
              <a:t>anodin</a:t>
            </a:r>
            <a:r>
              <a:rPr lang="en-US" dirty="0"/>
              <a:t> : il </a:t>
            </a:r>
            <a:r>
              <a:rPr lang="en-US" dirty="0" err="1"/>
              <a:t>répond</a:t>
            </a:r>
            <a:r>
              <a:rPr lang="en-US" dirty="0"/>
              <a:t> </a:t>
            </a:r>
            <a:r>
              <a:rPr lang="en-US" dirty="0" err="1"/>
              <a:t>directement</a:t>
            </a:r>
            <a:r>
              <a:rPr lang="en-US" dirty="0"/>
              <a:t> à </a:t>
            </a:r>
            <a:r>
              <a:rPr lang="en-US" dirty="0" err="1"/>
              <a:t>l’un</a:t>
            </a:r>
            <a:r>
              <a:rPr lang="en-US" dirty="0"/>
              <a:t> des cinq </a:t>
            </a:r>
            <a:r>
              <a:rPr lang="en-US" dirty="0" err="1"/>
              <a:t>défis</a:t>
            </a:r>
            <a:r>
              <a:rPr lang="en-US" dirty="0"/>
              <a:t> </a:t>
            </a:r>
            <a:r>
              <a:rPr lang="en-US" dirty="0" err="1"/>
              <a:t>identifiés</a:t>
            </a:r>
            <a:r>
              <a:rPr lang="en-US" dirty="0"/>
              <a:t> au début — </a:t>
            </a:r>
            <a:r>
              <a:rPr lang="en-US" dirty="0" err="1"/>
              <a:t>l’accessibilité</a:t>
            </a:r>
            <a:r>
              <a:rPr lang="en-US" dirty="0"/>
              <a:t>, sans </a:t>
            </a:r>
            <a:r>
              <a:rPr lang="en-US" dirty="0" err="1"/>
              <a:t>dépendance</a:t>
            </a:r>
            <a:r>
              <a:rPr lang="en-US" dirty="0"/>
              <a:t> à un </a:t>
            </a:r>
            <a:r>
              <a:rPr lang="en-US" dirty="0" err="1"/>
              <a:t>éditeur</a:t>
            </a:r>
            <a:r>
              <a:rPr lang="en-US" dirty="0"/>
              <a:t> commercial.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29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17188827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/>
              <a:t>Cet </a:t>
            </a:r>
            <a:r>
              <a:rPr lang="en-US" dirty="0" err="1"/>
              <a:t>environnement</a:t>
            </a:r>
            <a:r>
              <a:rPr lang="en-US" dirty="0"/>
              <a:t> se </a:t>
            </a:r>
            <a:r>
              <a:rPr lang="en-US" dirty="0" err="1"/>
              <a:t>déploie</a:t>
            </a:r>
            <a:r>
              <a:rPr lang="en-US" dirty="0"/>
              <a:t> sur </a:t>
            </a:r>
            <a:r>
              <a:rPr lang="en-US" b="1" dirty="0"/>
              <a:t>quatre </a:t>
            </a:r>
            <a:r>
              <a:rPr lang="en-US" b="1" dirty="0" err="1"/>
              <a:t>nœuds</a:t>
            </a:r>
            <a:r>
              <a:rPr lang="en-US" b="1" dirty="0"/>
              <a:t> </a:t>
            </a:r>
            <a:r>
              <a:rPr lang="en-US" b="1" dirty="0" err="1"/>
              <a:t>spécialisés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VM-Edge</a:t>
            </a:r>
            <a:r>
              <a:rPr lang="en-US" dirty="0"/>
              <a:t> capture le </a:t>
            </a:r>
            <a:r>
              <a:rPr lang="en-US" dirty="0" err="1"/>
              <a:t>trafic</a:t>
            </a:r>
            <a:r>
              <a:rPr lang="en-US" dirty="0"/>
              <a:t>, grâce à Suricata.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VM-ML</a:t>
            </a:r>
            <a:r>
              <a:rPr lang="en-US" dirty="0"/>
              <a:t> </a:t>
            </a:r>
            <a:r>
              <a:rPr lang="en-US" dirty="0" err="1"/>
              <a:t>héberge</a:t>
            </a:r>
            <a:r>
              <a:rPr lang="en-US" dirty="0"/>
              <a:t> le broker Kafka,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moteur</a:t>
            </a:r>
            <a:r>
              <a:rPr lang="en-US" dirty="0"/>
              <a:t> de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b="1" dirty="0"/>
              <a:t>VM-Response</a:t>
            </a:r>
            <a:r>
              <a:rPr lang="en-US" dirty="0"/>
              <a:t> </a:t>
            </a:r>
            <a:r>
              <a:rPr lang="en-US" dirty="0" err="1"/>
              <a:t>exécute</a:t>
            </a:r>
            <a:r>
              <a:rPr lang="en-US" dirty="0"/>
              <a:t> les agents </a:t>
            </a:r>
            <a:r>
              <a:rPr lang="en-US" dirty="0" err="1"/>
              <a:t>d’intelligence</a:t>
            </a:r>
            <a:r>
              <a:rPr lang="en-US" dirty="0"/>
              <a:t> </a:t>
            </a:r>
            <a:r>
              <a:rPr lang="en-US" dirty="0" err="1"/>
              <a:t>artificielle</a:t>
            </a:r>
            <a:r>
              <a:rPr lang="en-US" dirty="0"/>
              <a:t>, et la </a:t>
            </a:r>
            <a:r>
              <a:rPr lang="en-US" dirty="0" err="1"/>
              <a:t>remédiation</a:t>
            </a:r>
            <a:r>
              <a:rPr lang="en-US" dirty="0"/>
              <a:t> sur le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</a:t>
            </a:r>
            <a:r>
              <a:rPr lang="en-US" dirty="0" err="1"/>
              <a:t>l’</a:t>
            </a:r>
            <a:r>
              <a:rPr lang="en-US" b="1" dirty="0" err="1"/>
              <a:t>hôte</a:t>
            </a:r>
            <a:r>
              <a:rPr lang="en-US" dirty="0"/>
              <a:t> </a:t>
            </a:r>
            <a:r>
              <a:rPr lang="en-US" dirty="0" err="1"/>
              <a:t>héberge</a:t>
            </a:r>
            <a:r>
              <a:rPr lang="en-US" dirty="0"/>
              <a:t> le backend, le tableau de bord, </a:t>
            </a:r>
            <a:r>
              <a:rPr lang="en-US" dirty="0" err="1"/>
              <a:t>ainsi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le </a:t>
            </a:r>
            <a:r>
              <a:rPr lang="en-US" dirty="0" err="1"/>
              <a:t>modèle</a:t>
            </a:r>
            <a:r>
              <a:rPr lang="en-US" dirty="0"/>
              <a:t> LLM local.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Chaque</a:t>
            </a:r>
            <a:r>
              <a:rPr lang="en-US" dirty="0"/>
              <a:t> flux de données </a:t>
            </a:r>
            <a:r>
              <a:rPr lang="en-US" dirty="0" err="1"/>
              <a:t>transite</a:t>
            </a:r>
            <a:r>
              <a:rPr lang="en-US" dirty="0"/>
              <a:t> par des </a:t>
            </a:r>
            <a:r>
              <a:rPr lang="en-US" dirty="0" err="1"/>
              <a:t>canaux</a:t>
            </a:r>
            <a:r>
              <a:rPr lang="en-US" dirty="0"/>
              <a:t> bien </a:t>
            </a:r>
            <a:r>
              <a:rPr lang="en-US" dirty="0" err="1"/>
              <a:t>définis</a:t>
            </a:r>
            <a:r>
              <a:rPr lang="en-US" dirty="0"/>
              <a:t> : </a:t>
            </a:r>
            <a:r>
              <a:rPr lang="en-US" b="1" dirty="0"/>
              <a:t>Kafka</a:t>
            </a:r>
            <a:r>
              <a:rPr lang="en-US" dirty="0"/>
              <a:t> pour les données, et </a:t>
            </a:r>
            <a:r>
              <a:rPr lang="en-US" b="1" dirty="0"/>
              <a:t>Socket.IO</a:t>
            </a:r>
            <a:r>
              <a:rPr lang="en-US" dirty="0"/>
              <a:t> pour les </a:t>
            </a:r>
            <a:r>
              <a:rPr lang="en-US" dirty="0" err="1"/>
              <a:t>commandes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Cette architecture a </a:t>
            </a:r>
            <a:r>
              <a:rPr lang="en-US" dirty="0" err="1"/>
              <a:t>été</a:t>
            </a:r>
            <a:r>
              <a:rPr lang="en-US" dirty="0"/>
              <a:t> mise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œuvre</a:t>
            </a:r>
            <a:r>
              <a:rPr lang="en-US" dirty="0"/>
              <a:t> </a:t>
            </a:r>
            <a:r>
              <a:rPr lang="en-US" dirty="0" err="1"/>
              <a:t>progressivement</a:t>
            </a:r>
            <a:r>
              <a:rPr lang="en-US" dirty="0"/>
              <a:t>, sprint après sprint, </a:t>
            </a:r>
            <a:r>
              <a:rPr lang="en-US" dirty="0" err="1"/>
              <a:t>exactement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je </a:t>
            </a:r>
            <a:r>
              <a:rPr lang="en-US" dirty="0" err="1"/>
              <a:t>viens</a:t>
            </a:r>
            <a:r>
              <a:rPr lang="en-US" dirty="0"/>
              <a:t> de vous le </a:t>
            </a:r>
            <a:r>
              <a:rPr lang="en-US" dirty="0" err="1"/>
              <a:t>présenter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Passons </a:t>
            </a:r>
            <a:r>
              <a:rPr lang="en-US" dirty="0" err="1"/>
              <a:t>maintenant</a:t>
            </a:r>
            <a:r>
              <a:rPr lang="en-US" dirty="0"/>
              <a:t> à </a:t>
            </a:r>
            <a:r>
              <a:rPr lang="en-US" dirty="0" err="1"/>
              <a:t>notre</a:t>
            </a:r>
            <a:r>
              <a:rPr lang="en-US" dirty="0"/>
              <a:t> dernier section la conclusion et les perspectives de </a:t>
            </a:r>
            <a:r>
              <a:rPr lang="en-US" dirty="0" err="1"/>
              <a:t>notre</a:t>
            </a:r>
            <a:r>
              <a:rPr lang="en-US" dirty="0"/>
              <a:t>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30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50743451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Passons </a:t>
            </a:r>
            <a:r>
              <a:rPr lang="en-US" dirty="0" err="1"/>
              <a:t>maintenant</a:t>
            </a:r>
            <a:r>
              <a:rPr lang="en-US" dirty="0"/>
              <a:t> à </a:t>
            </a:r>
            <a:r>
              <a:rPr lang="en-US" dirty="0" err="1"/>
              <a:t>notre</a:t>
            </a:r>
            <a:r>
              <a:rPr lang="en-US" dirty="0"/>
              <a:t> dernier section la conclusion et les perspectives de </a:t>
            </a:r>
            <a:r>
              <a:rPr lang="en-US" dirty="0" err="1"/>
              <a:t>notre</a:t>
            </a:r>
            <a:r>
              <a:rPr lang="en-US" dirty="0"/>
              <a:t> travail.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31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06762007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Pour </a:t>
            </a:r>
            <a:r>
              <a:rPr lang="en-US" dirty="0" err="1"/>
              <a:t>conclure</a:t>
            </a:r>
            <a:r>
              <a:rPr lang="en-US" dirty="0"/>
              <a:t>, NG-IDPS </a:t>
            </a:r>
            <a:r>
              <a:rPr lang="en-US" dirty="0" err="1"/>
              <a:t>démontre</a:t>
            </a:r>
            <a:r>
              <a:rPr lang="en-US" dirty="0"/>
              <a:t> </a:t>
            </a:r>
            <a:r>
              <a:rPr lang="en-US" dirty="0" err="1"/>
              <a:t>qu’une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</a:t>
            </a:r>
            <a:r>
              <a:rPr lang="en-US" dirty="0" err="1"/>
              <a:t>complète</a:t>
            </a:r>
            <a:r>
              <a:rPr lang="en-US" dirty="0"/>
              <a:t>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fonctionner</a:t>
            </a:r>
            <a:r>
              <a:rPr lang="en-US" dirty="0"/>
              <a:t> de façon </a:t>
            </a:r>
            <a:r>
              <a:rPr lang="en-US" dirty="0" err="1"/>
              <a:t>autonome</a:t>
            </a:r>
            <a:r>
              <a:rPr lang="en-US" dirty="0"/>
              <a:t>, et </a:t>
            </a:r>
            <a:r>
              <a:rPr lang="en-US" dirty="0" err="1"/>
              <a:t>supervisable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Détection</a:t>
            </a:r>
            <a:r>
              <a:rPr lang="en-US" dirty="0"/>
              <a:t> par signatures, </a:t>
            </a:r>
            <a:r>
              <a:rPr lang="en-US" dirty="0" err="1"/>
              <a:t>détection</a:t>
            </a:r>
            <a:r>
              <a:rPr lang="en-US" dirty="0"/>
              <a:t> </a:t>
            </a:r>
            <a:r>
              <a:rPr lang="en-US" dirty="0" err="1"/>
              <a:t>comportementale</a:t>
            </a:r>
            <a:r>
              <a:rPr lang="en-US" dirty="0"/>
              <a:t>, </a:t>
            </a:r>
            <a:r>
              <a:rPr lang="en-US" dirty="0" err="1"/>
              <a:t>renseignement</a:t>
            </a:r>
            <a:r>
              <a:rPr lang="en-US" dirty="0"/>
              <a:t>, </a:t>
            </a:r>
            <a:r>
              <a:rPr lang="en-US" dirty="0" err="1"/>
              <a:t>réponse</a:t>
            </a:r>
            <a:r>
              <a:rPr lang="en-US" dirty="0"/>
              <a:t> </a:t>
            </a:r>
            <a:r>
              <a:rPr lang="en-US" dirty="0" err="1"/>
              <a:t>orchestrée</a:t>
            </a:r>
            <a:r>
              <a:rPr lang="en-US" dirty="0"/>
              <a:t>, et supervision SOC — </a:t>
            </a:r>
            <a:r>
              <a:rPr lang="en-US" dirty="0" err="1"/>
              <a:t>tous</a:t>
            </a:r>
            <a:r>
              <a:rPr lang="en-US" dirty="0"/>
              <a:t>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éléments</a:t>
            </a:r>
            <a:r>
              <a:rPr lang="en-US" dirty="0"/>
              <a:t> </a:t>
            </a:r>
            <a:r>
              <a:rPr lang="en-US" dirty="0" err="1"/>
              <a:t>travaillent</a:t>
            </a:r>
            <a:r>
              <a:rPr lang="en-US" dirty="0"/>
              <a:t> ensemble.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surtout,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chaîne</a:t>
            </a:r>
            <a:r>
              <a:rPr lang="en-US" dirty="0"/>
              <a:t> repose </a:t>
            </a:r>
            <a:r>
              <a:rPr lang="en-US" dirty="0" err="1"/>
              <a:t>uniquement</a:t>
            </a:r>
            <a:r>
              <a:rPr lang="en-US" dirty="0"/>
              <a:t> sur des </a:t>
            </a:r>
            <a:r>
              <a:rPr lang="en-US" dirty="0" err="1"/>
              <a:t>composants</a:t>
            </a:r>
            <a:r>
              <a:rPr lang="en-US" dirty="0"/>
              <a:t> </a:t>
            </a:r>
            <a:r>
              <a:rPr lang="en-US" dirty="0" err="1"/>
              <a:t>libres</a:t>
            </a:r>
            <a:r>
              <a:rPr lang="en-US" dirty="0"/>
              <a:t>, et des </a:t>
            </a:r>
            <a:r>
              <a:rPr lang="en-US" dirty="0" err="1"/>
              <a:t>modèles</a:t>
            </a:r>
            <a:r>
              <a:rPr lang="en-US" dirty="0"/>
              <a:t> de </a:t>
            </a:r>
            <a:r>
              <a:rPr lang="en-US" dirty="0" err="1"/>
              <a:t>langage</a:t>
            </a:r>
            <a:r>
              <a:rPr lang="en-US" dirty="0"/>
              <a:t> auto-</a:t>
            </a:r>
            <a:r>
              <a:rPr lang="en-US" dirty="0" err="1"/>
              <a:t>hébergés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Cela </a:t>
            </a:r>
            <a:r>
              <a:rPr lang="en-US" dirty="0" err="1"/>
              <a:t>offre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base </a:t>
            </a:r>
            <a:r>
              <a:rPr lang="en-US" dirty="0" err="1"/>
              <a:t>crédible</a:t>
            </a:r>
            <a:r>
              <a:rPr lang="en-US" dirty="0"/>
              <a:t> de </a:t>
            </a:r>
            <a:r>
              <a:rPr lang="en-US" dirty="0" err="1"/>
              <a:t>cyberdéfense</a:t>
            </a:r>
            <a:r>
              <a:rPr lang="en-US" dirty="0"/>
              <a:t> proactive, pour les </a:t>
            </a:r>
            <a:r>
              <a:rPr lang="en-US" dirty="0" err="1"/>
              <a:t>organisations</a:t>
            </a:r>
            <a:r>
              <a:rPr lang="en-US" dirty="0"/>
              <a:t> qui </a:t>
            </a:r>
            <a:r>
              <a:rPr lang="en-US" dirty="0" err="1"/>
              <a:t>n’ont</a:t>
            </a:r>
            <a:r>
              <a:rPr lang="en-US" dirty="0"/>
              <a:t> pas les moyens d’un SOC permanent — </a:t>
            </a:r>
            <a:r>
              <a:rPr lang="en-US" dirty="0" err="1"/>
              <a:t>exactement</a:t>
            </a:r>
            <a:r>
              <a:rPr lang="en-US" dirty="0"/>
              <a:t> le constat de </a:t>
            </a:r>
            <a:r>
              <a:rPr lang="en-US" dirty="0" err="1"/>
              <a:t>départ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32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131402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 travail </a:t>
            </a:r>
            <a:r>
              <a:rPr lang="en-US" dirty="0" err="1"/>
              <a:t>ouvre</a:t>
            </a:r>
            <a:r>
              <a:rPr lang="en-US" dirty="0"/>
              <a:t> </a:t>
            </a:r>
            <a:r>
              <a:rPr lang="en-US" dirty="0" err="1"/>
              <a:t>plusieurs</a:t>
            </a:r>
            <a:r>
              <a:rPr lang="en-US" dirty="0"/>
              <a:t> </a:t>
            </a:r>
            <a:r>
              <a:rPr lang="en-US" dirty="0" err="1"/>
              <a:t>pistes</a:t>
            </a:r>
            <a:r>
              <a:rPr lang="en-US" dirty="0"/>
              <a:t> pour faire </a:t>
            </a:r>
            <a:r>
              <a:rPr lang="en-US" dirty="0" err="1"/>
              <a:t>évoluer</a:t>
            </a:r>
            <a:r>
              <a:rPr lang="en-US" dirty="0"/>
              <a:t> NG-IDPS vers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échelle</a:t>
            </a:r>
            <a:r>
              <a:rPr lang="en-US" dirty="0"/>
              <a:t> supérieure.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première, </a:t>
            </a:r>
            <a:r>
              <a:rPr lang="en-US" dirty="0" err="1"/>
              <a:t>c’est</a:t>
            </a:r>
            <a:r>
              <a:rPr lang="en-US" dirty="0"/>
              <a:t> la </a:t>
            </a:r>
            <a:r>
              <a:rPr lang="en-US" b="1" dirty="0" err="1"/>
              <a:t>conteneurisation</a:t>
            </a:r>
            <a:r>
              <a:rPr lang="en-US" dirty="0"/>
              <a:t>, avec Docker et Kubernetes.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Aujourd’hui</a:t>
            </a:r>
            <a:r>
              <a:rPr lang="en-US" dirty="0"/>
              <a:t>, le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tourne</a:t>
            </a:r>
            <a:r>
              <a:rPr lang="en-US" dirty="0"/>
              <a:t> sur quatre machines </a:t>
            </a:r>
            <a:r>
              <a:rPr lang="en-US" dirty="0" err="1"/>
              <a:t>virtuelles</a:t>
            </a:r>
            <a:r>
              <a:rPr lang="en-US" dirty="0"/>
              <a:t> fixes. Avec Kubernetes, </a:t>
            </a:r>
            <a:r>
              <a:rPr lang="en-US" dirty="0" err="1"/>
              <a:t>chaque</a:t>
            </a:r>
            <a:r>
              <a:rPr lang="en-US" dirty="0"/>
              <a:t> </a:t>
            </a:r>
            <a:r>
              <a:rPr lang="en-US" dirty="0" err="1"/>
              <a:t>composant</a:t>
            </a:r>
            <a:r>
              <a:rPr lang="en-US" dirty="0"/>
              <a:t> </a:t>
            </a:r>
            <a:r>
              <a:rPr lang="en-US" dirty="0" err="1"/>
              <a:t>deviendrait</a:t>
            </a:r>
            <a:r>
              <a:rPr lang="en-US" dirty="0"/>
              <a:t> un </a:t>
            </a:r>
            <a:r>
              <a:rPr lang="en-US" dirty="0" err="1"/>
              <a:t>conteneur</a:t>
            </a:r>
            <a:r>
              <a:rPr lang="en-US" dirty="0"/>
              <a:t> </a:t>
            </a:r>
            <a:r>
              <a:rPr lang="en-US" dirty="0" err="1"/>
              <a:t>indépendant</a:t>
            </a:r>
            <a:r>
              <a:rPr lang="en-US" dirty="0"/>
              <a:t>, capable de se </a:t>
            </a:r>
            <a:r>
              <a:rPr lang="en-US" dirty="0" err="1"/>
              <a:t>répliquer</a:t>
            </a:r>
            <a:r>
              <a:rPr lang="en-US" dirty="0"/>
              <a:t> </a:t>
            </a:r>
            <a:r>
              <a:rPr lang="en-US" dirty="0" err="1"/>
              <a:t>automatiquement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cas</a:t>
            </a:r>
            <a:r>
              <a:rPr lang="en-US" dirty="0"/>
              <a:t> de forte charge — par </a:t>
            </a:r>
            <a:r>
              <a:rPr lang="en-US" dirty="0" err="1"/>
              <a:t>exemple</a:t>
            </a:r>
            <a:r>
              <a:rPr lang="en-US" dirty="0"/>
              <a:t>, lancer </a:t>
            </a:r>
            <a:r>
              <a:rPr lang="en-US" dirty="0" err="1"/>
              <a:t>plusieurs</a:t>
            </a:r>
            <a:r>
              <a:rPr lang="en-US" dirty="0"/>
              <a:t> instances du </a:t>
            </a:r>
            <a:r>
              <a:rPr lang="en-US" dirty="0" err="1"/>
              <a:t>modèle</a:t>
            </a:r>
            <a:r>
              <a:rPr lang="en-US" dirty="0"/>
              <a:t> LSTM-VAE </a:t>
            </a:r>
            <a:r>
              <a:rPr lang="en-US" dirty="0" err="1"/>
              <a:t>si</a:t>
            </a:r>
            <a:r>
              <a:rPr lang="en-US" dirty="0"/>
              <a:t> le volume de </a:t>
            </a:r>
            <a:r>
              <a:rPr lang="en-US" dirty="0" err="1"/>
              <a:t>trafic</a:t>
            </a:r>
            <a:r>
              <a:rPr lang="en-US" dirty="0"/>
              <a:t> </a:t>
            </a:r>
            <a:r>
              <a:rPr lang="en-US" dirty="0" err="1"/>
              <a:t>augmente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appelle</a:t>
            </a:r>
            <a:r>
              <a:rPr lang="en-US" dirty="0"/>
              <a:t> </a:t>
            </a:r>
            <a:r>
              <a:rPr lang="en-US" dirty="0" err="1"/>
              <a:t>l’auto</a:t>
            </a:r>
            <a:r>
              <a:rPr lang="en-US" dirty="0"/>
              <a:t>-scaling.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La deuxième,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intégration</a:t>
            </a:r>
            <a:r>
              <a:rPr lang="en-US" b="1" dirty="0"/>
              <a:t> XDR</a:t>
            </a:r>
            <a:r>
              <a:rPr lang="en-US" dirty="0"/>
              <a:t> — pour Extended Detection and Response.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—</a:t>
            </a:r>
            <a:br>
              <a:rPr lang="en-US" dirty="0"/>
            </a:br>
            <a:r>
              <a:rPr lang="en-US" dirty="0" err="1"/>
              <a:t>L’idée</a:t>
            </a:r>
            <a:r>
              <a:rPr lang="en-US" dirty="0"/>
              <a:t> est de ne plus se limiter à la couche réseau. NG-IDPS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corréler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 avec </a:t>
            </a:r>
            <a:r>
              <a:rPr lang="en-US" dirty="0" err="1"/>
              <a:t>d’autres</a:t>
            </a:r>
            <a:r>
              <a:rPr lang="en-US" dirty="0"/>
              <a:t> sources — les </a:t>
            </a:r>
            <a:r>
              <a:rPr lang="en-US" dirty="0" err="1"/>
              <a:t>postes</a:t>
            </a:r>
            <a:r>
              <a:rPr lang="en-US" dirty="0"/>
              <a:t> de travail, les emails, le cloud — pour </a:t>
            </a:r>
            <a:r>
              <a:rPr lang="en-US" dirty="0" err="1"/>
              <a:t>avoir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vision </a:t>
            </a:r>
            <a:r>
              <a:rPr lang="en-US" dirty="0" err="1"/>
              <a:t>complète</a:t>
            </a:r>
            <a:r>
              <a:rPr lang="en-US" dirty="0"/>
              <a:t>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attaque</a:t>
            </a:r>
            <a:r>
              <a:rPr lang="en-US" dirty="0"/>
              <a:t>, pas </a:t>
            </a:r>
            <a:r>
              <a:rPr lang="en-US" dirty="0" err="1"/>
              <a:t>seulement</a:t>
            </a:r>
            <a:r>
              <a:rPr lang="en-US" dirty="0"/>
              <a:t> son passage sur le réseau.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La </a:t>
            </a:r>
            <a:r>
              <a:rPr lang="en-US" dirty="0" err="1"/>
              <a:t>troisième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interopérabilité</a:t>
            </a:r>
            <a:r>
              <a:rPr lang="en-US" b="1" dirty="0"/>
              <a:t> SOAR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Beaucoup </a:t>
            </a:r>
            <a:r>
              <a:rPr lang="en-US" dirty="0" err="1"/>
              <a:t>d’entreprises</a:t>
            </a:r>
            <a:r>
              <a:rPr lang="en-US" dirty="0"/>
              <a:t> </a:t>
            </a:r>
            <a:r>
              <a:rPr lang="en-US" dirty="0" err="1"/>
              <a:t>utilisent</a:t>
            </a:r>
            <a:r>
              <a:rPr lang="en-US" dirty="0"/>
              <a:t> déjà des </a:t>
            </a:r>
            <a:r>
              <a:rPr lang="en-US" dirty="0" err="1"/>
              <a:t>plateformes</a:t>
            </a:r>
            <a:r>
              <a:rPr lang="en-US" dirty="0"/>
              <a:t> </a:t>
            </a:r>
            <a:r>
              <a:rPr lang="en-US" dirty="0" err="1"/>
              <a:t>d’orchestration</a:t>
            </a:r>
            <a:r>
              <a:rPr lang="en-US" dirty="0"/>
              <a:t> </a:t>
            </a:r>
            <a:r>
              <a:rPr lang="en-US" dirty="0" err="1"/>
              <a:t>comme</a:t>
            </a:r>
            <a:r>
              <a:rPr lang="en-US" dirty="0"/>
              <a:t> Splunk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QRadar</a:t>
            </a:r>
            <a:r>
              <a:rPr lang="en-US" dirty="0"/>
              <a:t>. </a:t>
            </a:r>
            <a:r>
              <a:rPr lang="en-US" dirty="0" err="1"/>
              <a:t>L’objectif</a:t>
            </a:r>
            <a:r>
              <a:rPr lang="en-US" dirty="0"/>
              <a:t> </a:t>
            </a:r>
            <a:r>
              <a:rPr lang="en-US" dirty="0" err="1"/>
              <a:t>serait</a:t>
            </a:r>
            <a:r>
              <a:rPr lang="en-US" dirty="0"/>
              <a:t> de </a:t>
            </a:r>
            <a:r>
              <a:rPr lang="en-US" dirty="0" err="1"/>
              <a:t>permettre</a:t>
            </a:r>
            <a:r>
              <a:rPr lang="en-US" dirty="0"/>
              <a:t> à NG-IDPS de </a:t>
            </a:r>
            <a:r>
              <a:rPr lang="en-US" dirty="0" err="1"/>
              <a:t>s’intégrer</a:t>
            </a:r>
            <a:r>
              <a:rPr lang="en-US" dirty="0"/>
              <a:t> à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outils</a:t>
            </a:r>
            <a:r>
              <a:rPr lang="en-US" dirty="0"/>
              <a:t> </a:t>
            </a:r>
            <a:r>
              <a:rPr lang="en-US" dirty="0" err="1"/>
              <a:t>existants</a:t>
            </a:r>
            <a:r>
              <a:rPr lang="en-US" dirty="0"/>
              <a:t> — soit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leur</a:t>
            </a:r>
            <a:r>
              <a:rPr lang="en-US" dirty="0"/>
              <a:t> </a:t>
            </a:r>
            <a:r>
              <a:rPr lang="en-US" dirty="0" err="1"/>
              <a:t>envoyant</a:t>
            </a:r>
            <a:r>
              <a:rPr lang="en-US" dirty="0"/>
              <a:t> </a:t>
            </a:r>
            <a:r>
              <a:rPr lang="en-US" dirty="0" err="1"/>
              <a:t>ses</a:t>
            </a:r>
            <a:r>
              <a:rPr lang="en-US" dirty="0"/>
              <a:t> </a:t>
            </a:r>
            <a:r>
              <a:rPr lang="en-US" dirty="0" err="1"/>
              <a:t>alertes</a:t>
            </a:r>
            <a:r>
              <a:rPr lang="en-US" dirty="0"/>
              <a:t>, soit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recevant</a:t>
            </a:r>
            <a:r>
              <a:rPr lang="en-US" dirty="0"/>
              <a:t> </a:t>
            </a:r>
            <a:r>
              <a:rPr lang="en-US" dirty="0" err="1"/>
              <a:t>leurs</a:t>
            </a:r>
            <a:r>
              <a:rPr lang="en-US" dirty="0"/>
              <a:t> instructions — </a:t>
            </a:r>
            <a:r>
              <a:rPr lang="en-US" dirty="0" err="1"/>
              <a:t>plutôt</a:t>
            </a:r>
            <a:r>
              <a:rPr lang="en-US" dirty="0"/>
              <a:t> </a:t>
            </a:r>
            <a:r>
              <a:rPr lang="en-US" dirty="0" err="1"/>
              <a:t>que</a:t>
            </a:r>
            <a:r>
              <a:rPr lang="en-US" dirty="0"/>
              <a:t> de </a:t>
            </a:r>
            <a:r>
              <a:rPr lang="en-US" dirty="0" err="1"/>
              <a:t>rester</a:t>
            </a:r>
            <a:r>
              <a:rPr lang="en-US" dirty="0"/>
              <a:t> un </a:t>
            </a:r>
            <a:r>
              <a:rPr lang="en-US" dirty="0" err="1"/>
              <a:t>système</a:t>
            </a:r>
            <a:r>
              <a:rPr lang="en-US" dirty="0"/>
              <a:t> </a:t>
            </a:r>
            <a:r>
              <a:rPr lang="en-US" dirty="0" err="1"/>
              <a:t>isolé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la </a:t>
            </a:r>
            <a:r>
              <a:rPr lang="en-US" dirty="0" err="1"/>
              <a:t>quatrième</a:t>
            </a:r>
            <a:r>
              <a:rPr lang="en-US" dirty="0"/>
              <a:t>,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l’</a:t>
            </a:r>
            <a:r>
              <a:rPr lang="en-US" b="1" dirty="0" err="1"/>
              <a:t>évolution</a:t>
            </a:r>
            <a:r>
              <a:rPr lang="en-US" b="1" dirty="0"/>
              <a:t> vers des </a:t>
            </a:r>
            <a:r>
              <a:rPr lang="en-US" b="1" dirty="0" err="1"/>
              <a:t>modèles</a:t>
            </a:r>
            <a:r>
              <a:rPr lang="en-US" b="1" dirty="0"/>
              <a:t> de </a:t>
            </a:r>
            <a:r>
              <a:rPr lang="en-US" b="1" dirty="0" err="1"/>
              <a:t>langage</a:t>
            </a:r>
            <a:r>
              <a:rPr lang="en-US" b="1" dirty="0"/>
              <a:t> plus </a:t>
            </a:r>
            <a:r>
              <a:rPr lang="en-US" b="1" dirty="0" err="1"/>
              <a:t>puissants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Le choix de Llama 3 a </a:t>
            </a:r>
            <a:r>
              <a:rPr lang="en-US" dirty="0" err="1"/>
              <a:t>été</a:t>
            </a:r>
            <a:r>
              <a:rPr lang="en-US" dirty="0"/>
              <a:t> </a:t>
            </a:r>
            <a:r>
              <a:rPr lang="en-US" dirty="0" err="1"/>
              <a:t>guidé</a:t>
            </a:r>
            <a:r>
              <a:rPr lang="en-US" dirty="0"/>
              <a:t> par les </a:t>
            </a:r>
            <a:r>
              <a:rPr lang="en-US" dirty="0" err="1"/>
              <a:t>ressources</a:t>
            </a:r>
            <a:r>
              <a:rPr lang="en-US" dirty="0"/>
              <a:t> </a:t>
            </a:r>
            <a:r>
              <a:rPr lang="en-US" dirty="0" err="1"/>
              <a:t>matérielles</a:t>
            </a:r>
            <a:r>
              <a:rPr lang="en-US" dirty="0"/>
              <a:t> </a:t>
            </a:r>
            <a:r>
              <a:rPr lang="en-US" dirty="0" err="1"/>
              <a:t>disponibles</a:t>
            </a:r>
            <a:r>
              <a:rPr lang="en-US" dirty="0"/>
              <a:t> pour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 Avec plus de puissance de </a:t>
            </a:r>
            <a:r>
              <a:rPr lang="en-US" dirty="0" err="1"/>
              <a:t>calcul</a:t>
            </a:r>
            <a:r>
              <a:rPr lang="en-US" dirty="0"/>
              <a:t>, on </a:t>
            </a:r>
            <a:r>
              <a:rPr lang="en-US" dirty="0" err="1"/>
              <a:t>pourrait</a:t>
            </a:r>
            <a:r>
              <a:rPr lang="en-US" dirty="0"/>
              <a:t> </a:t>
            </a:r>
            <a:r>
              <a:rPr lang="en-US" dirty="0" err="1"/>
              <a:t>utiliser</a:t>
            </a:r>
            <a:r>
              <a:rPr lang="en-US" dirty="0"/>
              <a:t> des </a:t>
            </a:r>
            <a:r>
              <a:rPr lang="en-US" dirty="0" err="1"/>
              <a:t>modèles</a:t>
            </a:r>
            <a:r>
              <a:rPr lang="en-US" dirty="0"/>
              <a:t> plus performants, </a:t>
            </a:r>
            <a:r>
              <a:rPr lang="en-US" dirty="0" err="1"/>
              <a:t>capables</a:t>
            </a:r>
            <a:r>
              <a:rPr lang="en-US" dirty="0"/>
              <a:t> de </a:t>
            </a:r>
            <a:r>
              <a:rPr lang="en-US" dirty="0" err="1"/>
              <a:t>produire</a:t>
            </a:r>
            <a:r>
              <a:rPr lang="en-US" dirty="0"/>
              <a:t> des diagnostics encore plus fins, </a:t>
            </a:r>
            <a:r>
              <a:rPr lang="en-US" dirty="0" err="1"/>
              <a:t>ou</a:t>
            </a:r>
            <a:r>
              <a:rPr lang="en-US" dirty="0"/>
              <a:t> de </a:t>
            </a:r>
            <a:r>
              <a:rPr lang="en-US" dirty="0" err="1"/>
              <a:t>traiter</a:t>
            </a:r>
            <a:r>
              <a:rPr lang="en-US" dirty="0"/>
              <a:t> </a:t>
            </a:r>
            <a:r>
              <a:rPr lang="en-US" dirty="0" err="1"/>
              <a:t>davantage</a:t>
            </a:r>
            <a:r>
              <a:rPr lang="en-US" dirty="0"/>
              <a:t> de </a:t>
            </a:r>
            <a:r>
              <a:rPr lang="en-US" dirty="0" err="1"/>
              <a:t>langues</a:t>
            </a:r>
            <a:r>
              <a:rPr lang="en-US" dirty="0"/>
              <a:t> et de types </a:t>
            </a:r>
            <a:r>
              <a:rPr lang="en-US" dirty="0" err="1"/>
              <a:t>d’incidents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33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70005651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Voilà pour la </a:t>
            </a:r>
            <a:r>
              <a:rPr lang="en-US" dirty="0" err="1"/>
              <a:t>présentation</a:t>
            </a:r>
            <a:r>
              <a:rPr lang="en-US" dirty="0"/>
              <a:t> de </a:t>
            </a:r>
            <a:r>
              <a:rPr lang="en-US" dirty="0" err="1"/>
              <a:t>ce</a:t>
            </a:r>
            <a:r>
              <a:rPr lang="en-US" dirty="0"/>
              <a:t> travail.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Six </a:t>
            </a:r>
            <a:r>
              <a:rPr lang="en-US" dirty="0" err="1"/>
              <a:t>mois</a:t>
            </a:r>
            <a:r>
              <a:rPr lang="en-US" dirty="0"/>
              <a:t> de recherche, de </a:t>
            </a:r>
            <a:r>
              <a:rPr lang="en-US" dirty="0" err="1"/>
              <a:t>développement</a:t>
            </a:r>
            <a:r>
              <a:rPr lang="en-US" dirty="0"/>
              <a:t>, et </a:t>
            </a:r>
            <a:r>
              <a:rPr lang="en-US" dirty="0" err="1"/>
              <a:t>d’itérations</a:t>
            </a:r>
            <a:r>
              <a:rPr lang="en-US" dirty="0"/>
              <a:t>, pour </a:t>
            </a:r>
            <a:r>
              <a:rPr lang="en-US" dirty="0" err="1"/>
              <a:t>construire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plateforme</a:t>
            </a:r>
            <a:r>
              <a:rPr lang="en-US" dirty="0"/>
              <a:t> qui, je </a:t>
            </a:r>
            <a:r>
              <a:rPr lang="en-US" dirty="0" err="1"/>
              <a:t>l’espère</a:t>
            </a:r>
            <a:r>
              <a:rPr lang="en-US" dirty="0"/>
              <a:t>, </a:t>
            </a:r>
            <a:r>
              <a:rPr lang="en-US" dirty="0" err="1"/>
              <a:t>apporte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réponse</a:t>
            </a:r>
            <a:r>
              <a:rPr lang="en-US" dirty="0"/>
              <a:t> concrète au </a:t>
            </a:r>
            <a:r>
              <a:rPr lang="en-US" dirty="0" err="1"/>
              <a:t>problème</a:t>
            </a:r>
            <a:r>
              <a:rPr lang="en-US" dirty="0"/>
              <a:t> </a:t>
            </a:r>
            <a:r>
              <a:rPr lang="en-US" dirty="0" err="1"/>
              <a:t>posé</a:t>
            </a:r>
            <a:r>
              <a:rPr lang="en-US" dirty="0"/>
              <a:t> au début de </a:t>
            </a:r>
            <a:r>
              <a:rPr lang="en-US" dirty="0" err="1"/>
              <a:t>cette</a:t>
            </a:r>
            <a:r>
              <a:rPr lang="en-US" dirty="0"/>
              <a:t> </a:t>
            </a:r>
            <a:r>
              <a:rPr lang="en-US" dirty="0" err="1"/>
              <a:t>présentation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Je </a:t>
            </a:r>
            <a:r>
              <a:rPr lang="en-US" dirty="0" err="1"/>
              <a:t>tiens</a:t>
            </a:r>
            <a:r>
              <a:rPr lang="en-US" dirty="0"/>
              <a:t> à </a:t>
            </a:r>
            <a:r>
              <a:rPr lang="en-US" dirty="0" err="1"/>
              <a:t>remercier</a:t>
            </a:r>
            <a:r>
              <a:rPr lang="en-US" dirty="0"/>
              <a:t> à nouveau Monsieur Hamdi </a:t>
            </a:r>
            <a:r>
              <a:rPr lang="en-US" dirty="0" err="1"/>
              <a:t>Aloulou</a:t>
            </a:r>
            <a:r>
              <a:rPr lang="en-US" dirty="0"/>
              <a:t>, pour son </a:t>
            </a:r>
            <a:r>
              <a:rPr lang="en-US" dirty="0" err="1"/>
              <a:t>encadrement</a:t>
            </a:r>
            <a:r>
              <a:rPr lang="en-US" dirty="0"/>
              <a:t> tout au long de </a:t>
            </a:r>
            <a:r>
              <a:rPr lang="en-US" dirty="0" err="1"/>
              <a:t>ce</a:t>
            </a:r>
            <a:r>
              <a:rPr lang="en-US" dirty="0"/>
              <a:t> </a:t>
            </a:r>
            <a:r>
              <a:rPr lang="en-US" dirty="0" err="1"/>
              <a:t>projet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Et je vous </a:t>
            </a:r>
            <a:r>
              <a:rPr lang="en-US" dirty="0" err="1"/>
              <a:t>remercie</a:t>
            </a:r>
            <a:r>
              <a:rPr lang="en-US" dirty="0"/>
              <a:t>, Messieurs les </a:t>
            </a:r>
            <a:r>
              <a:rPr lang="en-US" dirty="0" err="1"/>
              <a:t>membres</a:t>
            </a:r>
            <a:r>
              <a:rPr lang="en-US" dirty="0"/>
              <a:t> du jury, pour </a:t>
            </a:r>
            <a:r>
              <a:rPr lang="en-US" dirty="0" err="1"/>
              <a:t>votre</a:t>
            </a:r>
            <a:r>
              <a:rPr lang="en-US" dirty="0"/>
              <a:t> attention.</a:t>
            </a:r>
            <a:br>
              <a:rPr lang="en-US" dirty="0"/>
            </a:br>
            <a:r>
              <a:rPr lang="en-US" dirty="0"/>
              <a:t>—</a:t>
            </a:r>
            <a:br>
              <a:rPr lang="en-US" dirty="0"/>
            </a:br>
            <a:r>
              <a:rPr lang="en-US" dirty="0"/>
              <a:t>Je suis </a:t>
            </a:r>
            <a:r>
              <a:rPr lang="en-US" dirty="0" err="1"/>
              <a:t>maintenant</a:t>
            </a:r>
            <a:r>
              <a:rPr lang="en-US" dirty="0"/>
              <a:t> à </a:t>
            </a:r>
            <a:r>
              <a:rPr lang="en-US" dirty="0" err="1"/>
              <a:t>votre</a:t>
            </a:r>
            <a:r>
              <a:rPr lang="en-US" dirty="0"/>
              <a:t> disposition pour </a:t>
            </a:r>
            <a:r>
              <a:rPr lang="en-US" dirty="0" err="1"/>
              <a:t>répondre</a:t>
            </a:r>
            <a:r>
              <a:rPr lang="en-US" dirty="0"/>
              <a:t> à </a:t>
            </a:r>
            <a:r>
              <a:rPr lang="en-US" dirty="0" err="1"/>
              <a:t>vos</a:t>
            </a:r>
            <a:r>
              <a:rPr lang="en-US" dirty="0"/>
              <a:t>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416125-8C64-4F60-9C47-92B1855ADCC6}" type="slidenum">
              <a:rPr lang="fr-TN" smtClean="0"/>
              <a:t>34</a:t>
            </a:fld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2388799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sv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2.svg"/><Relationship Id="rId4" Type="http://schemas.openxmlformats.org/officeDocument/2006/relationships/image" Target="../media/image4.svg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sv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AE9CA437-38B7-E56F-F11B-521B19A9132E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4D7C700C-D747-AD56-403A-63ED46A66F3A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" name="Freeform 2"/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/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/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9601906" y="7649588"/>
            <a:ext cx="7601459" cy="18309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Président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Walid </a:t>
            </a:r>
            <a:r>
              <a:rPr lang="en-US" sz="2760" b="1" u="none" strike="noStrike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Hassairi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 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Rapporteur: 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Tarek M. Hamdani</a:t>
            </a:r>
          </a:p>
          <a:p>
            <a:pPr algn="ctr">
              <a:lnSpc>
                <a:spcPct val="150000"/>
              </a:lnSpc>
              <a:spcBef>
                <a:spcPct val="0"/>
              </a:spcBef>
            </a:pPr>
            <a:r>
              <a:rPr lang="en-US" sz="2760" b="1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r>
              <a:rPr lang="en-US" sz="2760" b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: 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25730" y="7968136"/>
            <a:ext cx="5715000" cy="1193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4B961C-F7CE-0AED-6873-B89DE8E52681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/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0687CFB5-5A1D-B465-AC8F-BD86BEB17E83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BB81C65F-3BF5-F09E-DB58-CE221D560A9A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A5BBFCBE-DE03-4891-476E-D97F12333D1D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8" name="Group 35">
            <a:extLst>
              <a:ext uri="{FF2B5EF4-FFF2-40B4-BE49-F238E27FC236}">
                <a16:creationId xmlns:a16="http://schemas.microsoft.com/office/drawing/2014/main" id="{057DA8C9-9613-7640-03E5-966BFDF7A573}"/>
              </a:ext>
            </a:extLst>
          </p:cNvPr>
          <p:cNvGrpSpPr/>
          <p:nvPr/>
        </p:nvGrpSpPr>
        <p:grpSpPr>
          <a:xfrm>
            <a:off x="-6791911" y="5405937"/>
            <a:ext cx="5179224" cy="3425824"/>
            <a:chOff x="1293392" y="5531853"/>
            <a:chExt cx="5179224" cy="3425824"/>
          </a:xfrm>
        </p:grpSpPr>
        <p:sp>
          <p:nvSpPr>
            <p:cNvPr id="10" name="TextBox 3">
              <a:extLst>
                <a:ext uri="{FF2B5EF4-FFF2-40B4-BE49-F238E27FC236}">
                  <a16:creationId xmlns:a16="http://schemas.microsoft.com/office/drawing/2014/main" id="{2FED3554-3F1B-2250-62B6-D23BA2D73922}"/>
                </a:ext>
              </a:extLst>
            </p:cNvPr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13" name="TextBox 17">
              <a:extLst>
                <a:ext uri="{FF2B5EF4-FFF2-40B4-BE49-F238E27FC236}">
                  <a16:creationId xmlns:a16="http://schemas.microsoft.com/office/drawing/2014/main" id="{FF388A8B-C31A-C5AF-A8F2-066682EE7904}"/>
                </a:ext>
              </a:extLst>
            </p:cNvPr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</p:grpSp>
      <p:sp>
        <p:nvSpPr>
          <p:cNvPr id="17" name="TextBox 10">
            <a:extLst>
              <a:ext uri="{FF2B5EF4-FFF2-40B4-BE49-F238E27FC236}">
                <a16:creationId xmlns:a16="http://schemas.microsoft.com/office/drawing/2014/main" id="{769AEC90-52CF-E932-7B71-12D4B9756DC6}"/>
              </a:ext>
            </a:extLst>
          </p:cNvPr>
          <p:cNvSpPr txBox="1"/>
          <p:nvPr/>
        </p:nvSpPr>
        <p:spPr>
          <a:xfrm>
            <a:off x="-14690735" y="584826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86328" y="21841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347664" y="201302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2859756" y="3024740"/>
            <a:ext cx="2634396" cy="2634396"/>
          </a:xfrm>
          <a:custGeom>
            <a:avLst/>
            <a:gdLst/>
            <a:ahLst/>
            <a:cxnLst/>
            <a:rect l="l" t="t" r="r" b="b"/>
            <a:pathLst>
              <a:path w="2634396" h="2634396">
                <a:moveTo>
                  <a:pt x="0" y="0"/>
                </a:moveTo>
                <a:lnTo>
                  <a:pt x="2634396" y="0"/>
                </a:lnTo>
                <a:lnTo>
                  <a:pt x="2634396" y="2634396"/>
                </a:lnTo>
                <a:lnTo>
                  <a:pt x="0" y="26343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8" name="Freeform 8"/>
          <p:cNvSpPr/>
          <p:nvPr/>
        </p:nvSpPr>
        <p:spPr>
          <a:xfrm rot="-10800000">
            <a:off x="10570228" y="2853590"/>
            <a:ext cx="2585260" cy="2585260"/>
          </a:xfrm>
          <a:custGeom>
            <a:avLst/>
            <a:gdLst/>
            <a:ahLst/>
            <a:cxnLst/>
            <a:rect l="l" t="t" r="r" b="b"/>
            <a:pathLst>
              <a:path w="2585260" h="2585260">
                <a:moveTo>
                  <a:pt x="0" y="0"/>
                </a:moveTo>
                <a:lnTo>
                  <a:pt x="2585260" y="0"/>
                </a:lnTo>
                <a:lnTo>
                  <a:pt x="2585260" y="2585260"/>
                </a:lnTo>
                <a:lnTo>
                  <a:pt x="0" y="258526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grpSp>
        <p:nvGrpSpPr>
          <p:cNvPr id="14" name="Group 14"/>
          <p:cNvGrpSpPr/>
          <p:nvPr/>
        </p:nvGrpSpPr>
        <p:grpSpPr>
          <a:xfrm>
            <a:off x="5040652" y="3958966"/>
            <a:ext cx="3158953" cy="1393464"/>
            <a:chOff x="0" y="0"/>
            <a:chExt cx="4211938" cy="185795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85725"/>
              <a:ext cx="4211938" cy="6953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Introduction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1013" y="1521403"/>
              <a:ext cx="2794000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583988" y="3663207"/>
            <a:ext cx="3701993" cy="1571328"/>
            <a:chOff x="0" y="-85725"/>
            <a:chExt cx="4935991" cy="2095103"/>
          </a:xfrm>
        </p:grpSpPr>
        <p:sp>
          <p:nvSpPr>
            <p:cNvPr id="19" name="TextBox 19"/>
            <p:cNvSpPr txBox="1"/>
            <p:nvPr/>
          </p:nvSpPr>
          <p:spPr>
            <a:xfrm>
              <a:off x="0" y="-85725"/>
              <a:ext cx="4935991" cy="20951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Méthodologie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déroulement </a:t>
              </a:r>
            </a:p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fr-FR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des sprints</a:t>
              </a:r>
              <a:endPara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780034"/>
              <a:ext cx="3395923" cy="3365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919"/>
                </a:lnSpc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84735" y="911743"/>
            <a:ext cx="71279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 dirty="0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Plan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2C4F8A4-42EA-6796-EE38-742A219F73EA}"/>
              </a:ext>
            </a:extLst>
          </p:cNvPr>
          <p:cNvGrpSpPr/>
          <p:nvPr/>
        </p:nvGrpSpPr>
        <p:grpSpPr>
          <a:xfrm>
            <a:off x="10088397" y="5405937"/>
            <a:ext cx="5443916" cy="3913080"/>
            <a:chOff x="1028700" y="5531853"/>
            <a:chExt cx="5443916" cy="3913080"/>
          </a:xfrm>
        </p:grpSpPr>
        <p:sp>
          <p:nvSpPr>
            <p:cNvPr id="3" name="TextBox 3"/>
            <p:cNvSpPr txBox="1"/>
            <p:nvPr/>
          </p:nvSpPr>
          <p:spPr>
            <a:xfrm>
              <a:off x="1293392" y="5531853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4</a:t>
              </a:r>
            </a:p>
          </p:txBody>
        </p:sp>
        <p:sp>
          <p:nvSpPr>
            <p:cNvPr id="7" name="Freeform 7"/>
            <p:cNvSpPr/>
            <p:nvPr/>
          </p:nvSpPr>
          <p:spPr>
            <a:xfrm rot="10800000">
              <a:off x="1028700" y="6372417"/>
              <a:ext cx="3072516" cy="3072516"/>
            </a:xfrm>
            <a:custGeom>
              <a:avLst/>
              <a:gdLst/>
              <a:ahLst/>
              <a:cxnLst/>
              <a:rect l="l" t="t" r="r" b="b"/>
              <a:pathLst>
                <a:path w="3072516" h="3072516">
                  <a:moveTo>
                    <a:pt x="0" y="0"/>
                  </a:moveTo>
                  <a:lnTo>
                    <a:pt x="3072516" y="0"/>
                  </a:lnTo>
                  <a:lnTo>
                    <a:pt x="3072516" y="3072516"/>
                  </a:lnTo>
                  <a:lnTo>
                    <a:pt x="0" y="30725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101216" y="7658260"/>
              <a:ext cx="2371400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Conclusion et Perspectives</a:t>
              </a:r>
            </a:p>
          </p:txBody>
        </p:sp>
        <p:sp>
          <p:nvSpPr>
            <p:cNvPr id="25" name="Freeform 25"/>
            <p:cNvSpPr/>
            <p:nvPr/>
          </p:nvSpPr>
          <p:spPr>
            <a:xfrm>
              <a:off x="4859802" y="689626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8B2DFD3-6949-FDA2-B802-1D49BCA7A1C2}"/>
              </a:ext>
            </a:extLst>
          </p:cNvPr>
          <p:cNvGrpSpPr/>
          <p:nvPr/>
        </p:nvGrpSpPr>
        <p:grpSpPr>
          <a:xfrm>
            <a:off x="2454265" y="5848268"/>
            <a:ext cx="5550389" cy="3474960"/>
            <a:chOff x="12523367" y="2168784"/>
            <a:chExt cx="5550389" cy="3474960"/>
          </a:xfrm>
        </p:grpSpPr>
        <p:sp>
          <p:nvSpPr>
            <p:cNvPr id="10" name="TextBox 10"/>
            <p:cNvSpPr txBox="1"/>
            <p:nvPr/>
          </p:nvSpPr>
          <p:spPr>
            <a:xfrm>
              <a:off x="12523367" y="2168784"/>
              <a:ext cx="2543132" cy="34258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8000"/>
                </a:lnSpc>
                <a:spcBef>
                  <a:spcPct val="0"/>
                </a:spcBef>
              </a:pPr>
              <a:r>
                <a:rPr lang="en-US" sz="20000" b="1">
                  <a:solidFill>
                    <a:srgbClr val="6C63FF"/>
                  </a:solidFill>
                  <a:latin typeface="Bricolage Grotesque Bold"/>
                  <a:ea typeface="Bricolage Grotesque Bold"/>
                  <a:cs typeface="Bricolage Grotesque Bold"/>
                  <a:sym typeface="Bricolage Grotesque Bold"/>
                </a:rPr>
                <a:t>3</a:t>
              </a:r>
            </a:p>
          </p:txBody>
        </p:sp>
        <p:sp>
          <p:nvSpPr>
            <p:cNvPr id="12" name="Freeform 12"/>
            <p:cNvSpPr/>
            <p:nvPr/>
          </p:nvSpPr>
          <p:spPr>
            <a:xfrm rot="-10800000">
              <a:off x="12696795" y="3009348"/>
              <a:ext cx="2634396" cy="2634396"/>
            </a:xfrm>
            <a:custGeom>
              <a:avLst/>
              <a:gdLst/>
              <a:ahLst/>
              <a:cxnLst/>
              <a:rect l="l" t="t" r="r" b="b"/>
              <a:pathLst>
                <a:path w="2634396" h="2634396">
                  <a:moveTo>
                    <a:pt x="0" y="0"/>
                  </a:moveTo>
                  <a:lnTo>
                    <a:pt x="2634396" y="0"/>
                  </a:lnTo>
                  <a:lnTo>
                    <a:pt x="2634396" y="2634396"/>
                  </a:lnTo>
                  <a:lnTo>
                    <a:pt x="0" y="26343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092294" y="3857849"/>
              <a:ext cx="2981462" cy="10327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Déploiement</a:t>
              </a:r>
              <a:r>
                <a:rPr lang="en-US" sz="30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 et </a:t>
              </a:r>
              <a:r>
                <a:rPr lang="en-US" sz="3000" b="1" err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réalisation</a:t>
              </a:r>
              <a:endParaRPr lang="en-US" sz="30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endParaRPr>
            </a:p>
          </p:txBody>
        </p:sp>
        <p:sp>
          <p:nvSpPr>
            <p:cNvPr id="26" name="Freeform 26"/>
            <p:cNvSpPr/>
            <p:nvPr/>
          </p:nvSpPr>
          <p:spPr>
            <a:xfrm>
              <a:off x="16207473" y="3009347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0"/>
                  </a:moveTo>
                  <a:lnTo>
                    <a:pt x="762000" y="0"/>
                  </a:lnTo>
                  <a:lnTo>
                    <a:pt x="762000" y="762000"/>
                  </a:lnTo>
                  <a:lnTo>
                    <a:pt x="0" y="762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fr-TN"/>
            </a:p>
          </p:txBody>
        </p:sp>
      </p:grpSp>
      <p:sp>
        <p:nvSpPr>
          <p:cNvPr id="27" name="Freeform 27"/>
          <p:cNvSpPr/>
          <p:nvPr/>
        </p:nvSpPr>
        <p:spPr>
          <a:xfrm>
            <a:off x="14046075" y="2811744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0" name="Freeform 30"/>
          <p:cNvSpPr/>
          <p:nvPr/>
        </p:nvSpPr>
        <p:spPr>
          <a:xfrm>
            <a:off x="6239129" y="302474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0" y="0"/>
                </a:moveTo>
                <a:lnTo>
                  <a:pt x="762000" y="0"/>
                </a:lnTo>
                <a:lnTo>
                  <a:pt x="762000" y="762000"/>
                </a:lnTo>
                <a:lnTo>
                  <a:pt x="0" y="7620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1" name="Freeform 2">
            <a:extLst>
              <a:ext uri="{FF2B5EF4-FFF2-40B4-BE49-F238E27FC236}">
                <a16:creationId xmlns:a16="http://schemas.microsoft.com/office/drawing/2014/main" id="{27322D33-A55F-65AC-7F8F-BBBAB70046BD}"/>
              </a:ext>
            </a:extLst>
          </p:cNvPr>
          <p:cNvSpPr/>
          <p:nvPr/>
        </p:nvSpPr>
        <p:spPr>
          <a:xfrm>
            <a:off x="-3276600" y="343213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2" name="Freeform 3">
            <a:extLst>
              <a:ext uri="{FF2B5EF4-FFF2-40B4-BE49-F238E27FC236}">
                <a16:creationId xmlns:a16="http://schemas.microsoft.com/office/drawing/2014/main" id="{6D83E0AB-E97B-1E66-0FEA-7183122481A4}"/>
              </a:ext>
            </a:extLst>
          </p:cNvPr>
          <p:cNvSpPr/>
          <p:nvPr/>
        </p:nvSpPr>
        <p:spPr>
          <a:xfrm>
            <a:off x="19536343" y="0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3C666-69F1-B975-907E-ADFD7D4F2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EB7E10-4B46-4462-8358-48026B91586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A04570A9-F31B-43CE-F2FF-7FA944EE3677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01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AF88712-4B95-0771-E190-43BAC07A9CA0}"/>
              </a:ext>
            </a:extLst>
          </p:cNvPr>
          <p:cNvSpPr txBox="1"/>
          <p:nvPr/>
        </p:nvSpPr>
        <p:spPr>
          <a:xfrm>
            <a:off x="1047750" y="3838575"/>
            <a:ext cx="11430000" cy="10900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A65C2FD-6780-BADA-F771-2FC009B28FD5}"/>
              </a:ext>
            </a:extLst>
          </p:cNvPr>
          <p:cNvSpPr txBox="1"/>
          <p:nvPr/>
        </p:nvSpPr>
        <p:spPr>
          <a:xfrm>
            <a:off x="1052830" y="5708471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Problématique </a:t>
            </a: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Étude de l'Existant </a:t>
            </a:r>
          </a:p>
          <a:p>
            <a:pPr marL="518160" lvl="1" indent="-259080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positionnement de la solution NG-IDPS</a:t>
            </a:r>
            <a:endParaRPr lang="en-US" sz="240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ADD1EA1-6690-2A81-B28D-C17BDCFBC9AE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01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7364897-2B66-FDC2-FDD0-33C44D7E23B9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BA331637-84A5-BC98-C952-76515A501E5B}"/>
              </a:ext>
            </a:extLst>
          </p:cNvPr>
          <p:cNvCxnSpPr>
            <a:cxnSpLocks/>
          </p:cNvCxnSpPr>
          <p:nvPr/>
        </p:nvCxnSpPr>
        <p:spPr>
          <a:xfrm>
            <a:off x="1066800" y="5143500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" name="Image 34">
            <a:extLst>
              <a:ext uri="{FF2B5EF4-FFF2-40B4-BE49-F238E27FC236}">
                <a16:creationId xmlns:a16="http://schemas.microsoft.com/office/drawing/2014/main" id="{F3F49777-961F-DA3D-41D6-FDEA8519BF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266700"/>
            <a:ext cx="11824800" cy="78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7267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799829" y="750555"/>
            <a:ext cx="4688341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Problématique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601200" y="2284257"/>
            <a:ext cx="7176760" cy="1339504"/>
            <a:chOff x="0" y="-295101"/>
            <a:chExt cx="9569012" cy="178600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-295101"/>
              <a:ext cx="1219200" cy="1514301"/>
              <a:chOff x="0" y="-57150"/>
              <a:chExt cx="236113" cy="293263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FF6584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0" y="-57150"/>
                <a:ext cx="236113" cy="29326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0" name="TextBox 20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Latence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833245" y="553212"/>
              <a:ext cx="7735767" cy="93769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ct val="118000"/>
                </a:lnSpc>
              </a:pP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Produire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décision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dans un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délai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compatible avec </a:t>
              </a:r>
            </a:p>
            <a:p>
              <a:pPr>
                <a:lnSpc>
                  <a:spcPct val="118000"/>
                </a:lnSpc>
              </a:pP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une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détection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 quasi temps </a:t>
              </a:r>
              <a:r>
                <a:rPr lang="en-US" sz="2000" err="1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réel</a:t>
              </a:r>
              <a:r>
                <a:rPr lang="en-US" sz="200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.</a:t>
              </a:r>
              <a:endParaRPr lang="en-US" sz="20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601200" y="3920512"/>
            <a:ext cx="7176759" cy="1141125"/>
            <a:chOff x="0" y="-147551"/>
            <a:chExt cx="9569011" cy="1521500"/>
          </a:xfrm>
        </p:grpSpPr>
        <p:grpSp>
          <p:nvGrpSpPr>
            <p:cNvPr id="23" name="Group 23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CC6499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26" name="TextBox 26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Faux Positifs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33245" y="553212"/>
              <a:ext cx="7735766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Calibrer la détection comportementale pour limiter </a:t>
              </a:r>
            </a:p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les fausses alertes sans perdre en sensibilité.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9601200" y="5363142"/>
            <a:ext cx="7076171" cy="1141125"/>
            <a:chOff x="0" y="-147551"/>
            <a:chExt cx="9434894" cy="1521500"/>
          </a:xfrm>
        </p:grpSpPr>
        <p:grpSp>
          <p:nvGrpSpPr>
            <p:cNvPr id="29" name="Group 29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9964CC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Comportements inconnus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33245" y="553212"/>
              <a:ext cx="760164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Compléter la détection par signatures par une approche comportementale non supervisée.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9607718" y="6915653"/>
            <a:ext cx="7283209" cy="1141125"/>
            <a:chOff x="0" y="-147551"/>
            <a:chExt cx="9710944" cy="152150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6C63FF"/>
              </a:solidFill>
            </p:spPr>
            <p:txBody>
              <a:bodyPr/>
              <a:lstStyle/>
              <a:p>
                <a:endParaRPr lang="fr-TN"/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38" name="TextBox 38"/>
            <p:cNvSpPr txBox="1"/>
            <p:nvPr/>
          </p:nvSpPr>
          <p:spPr>
            <a:xfrm>
              <a:off x="1833245" y="-45212"/>
              <a:ext cx="6251121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Accessibilité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Concevoir une architecture open-source et auto-hébergée, sans dépendance à un éditeur.</a:t>
              </a:r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9532781" y="2655760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01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532781" y="418135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02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532781" y="5623982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03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539299" y="7176494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04</a:t>
            </a:r>
          </a:p>
        </p:txBody>
      </p:sp>
      <p:grpSp>
        <p:nvGrpSpPr>
          <p:cNvPr id="48" name="Group 34">
            <a:extLst>
              <a:ext uri="{FF2B5EF4-FFF2-40B4-BE49-F238E27FC236}">
                <a16:creationId xmlns:a16="http://schemas.microsoft.com/office/drawing/2014/main" id="{FBEA7B57-8320-8F0C-1660-81044F7119FB}"/>
              </a:ext>
            </a:extLst>
          </p:cNvPr>
          <p:cNvGrpSpPr/>
          <p:nvPr/>
        </p:nvGrpSpPr>
        <p:grpSpPr>
          <a:xfrm>
            <a:off x="9601200" y="8345996"/>
            <a:ext cx="7283208" cy="1141125"/>
            <a:chOff x="0" y="-147551"/>
            <a:chExt cx="9710944" cy="1521500"/>
          </a:xfrm>
        </p:grpSpPr>
        <p:grpSp>
          <p:nvGrpSpPr>
            <p:cNvPr id="49" name="Group 35">
              <a:extLst>
                <a:ext uri="{FF2B5EF4-FFF2-40B4-BE49-F238E27FC236}">
                  <a16:creationId xmlns:a16="http://schemas.microsoft.com/office/drawing/2014/main" id="{A8FD82A8-BEF3-3734-30B4-BA89D5C4E1CD}"/>
                </a:ext>
              </a:extLst>
            </p:cNvPr>
            <p:cNvGrpSpPr/>
            <p:nvPr/>
          </p:nvGrpSpPr>
          <p:grpSpPr>
            <a:xfrm>
              <a:off x="0" y="-147551"/>
              <a:ext cx="1219200" cy="1366751"/>
              <a:chOff x="0" y="-28575"/>
              <a:chExt cx="236113" cy="264688"/>
            </a:xfrm>
          </p:grpSpPr>
          <p:sp>
            <p:nvSpPr>
              <p:cNvPr id="52" name="Freeform 36">
                <a:extLst>
                  <a:ext uri="{FF2B5EF4-FFF2-40B4-BE49-F238E27FC236}">
                    <a16:creationId xmlns:a16="http://schemas.microsoft.com/office/drawing/2014/main" id="{939E23F2-F045-5E1A-D29E-05F1DC924471}"/>
                  </a:ext>
                </a:extLst>
              </p:cNvPr>
              <p:cNvSpPr/>
              <p:nvPr/>
            </p:nvSpPr>
            <p:spPr>
              <a:xfrm>
                <a:off x="0" y="0"/>
                <a:ext cx="236113" cy="236113"/>
              </a:xfrm>
              <a:custGeom>
                <a:avLst/>
                <a:gdLst/>
                <a:ahLst/>
                <a:cxnLst/>
                <a:rect l="l" t="t" r="r" b="b"/>
                <a:pathLst>
                  <a:path w="236113" h="236113">
                    <a:moveTo>
                      <a:pt x="118057" y="0"/>
                    </a:moveTo>
                    <a:lnTo>
                      <a:pt x="118057" y="0"/>
                    </a:lnTo>
                    <a:cubicBezTo>
                      <a:pt x="183258" y="0"/>
                      <a:pt x="236113" y="52856"/>
                      <a:pt x="236113" y="118057"/>
                    </a:cubicBezTo>
                    <a:lnTo>
                      <a:pt x="236113" y="118057"/>
                    </a:lnTo>
                    <a:cubicBezTo>
                      <a:pt x="236113" y="183258"/>
                      <a:pt x="183258" y="236113"/>
                      <a:pt x="118057" y="236113"/>
                    </a:cubicBezTo>
                    <a:lnTo>
                      <a:pt x="118057" y="236113"/>
                    </a:lnTo>
                    <a:cubicBezTo>
                      <a:pt x="52856" y="236113"/>
                      <a:pt x="0" y="183258"/>
                      <a:pt x="0" y="118057"/>
                    </a:cubicBezTo>
                    <a:lnTo>
                      <a:pt x="0" y="118057"/>
                    </a:lnTo>
                    <a:cubicBezTo>
                      <a:pt x="0" y="52856"/>
                      <a:pt x="52856" y="0"/>
                      <a:pt x="118057" y="0"/>
                    </a:cubicBez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fr-TN">
                  <a:solidFill>
                    <a:srgbClr val="7030A0"/>
                  </a:solidFill>
                </a:endParaRPr>
              </a:p>
            </p:txBody>
          </p:sp>
          <p:sp>
            <p:nvSpPr>
              <p:cNvPr id="53" name="TextBox 37">
                <a:extLst>
                  <a:ext uri="{FF2B5EF4-FFF2-40B4-BE49-F238E27FC236}">
                    <a16:creationId xmlns:a16="http://schemas.microsoft.com/office/drawing/2014/main" id="{EEFE8A51-8E4D-447A-9E1C-331CCF8DF8F0}"/>
                  </a:ext>
                </a:extLst>
              </p:cNvPr>
              <p:cNvSpPr txBox="1"/>
              <p:nvPr/>
            </p:nvSpPr>
            <p:spPr>
              <a:xfrm>
                <a:off x="0" y="-28575"/>
                <a:ext cx="236113" cy="26468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519"/>
                  </a:lnSpc>
                </a:pPr>
                <a:endParaRPr/>
              </a:p>
            </p:txBody>
          </p:sp>
        </p:grpSp>
        <p:sp>
          <p:nvSpPr>
            <p:cNvPr id="50" name="TextBox 38">
              <a:extLst>
                <a:ext uri="{FF2B5EF4-FFF2-40B4-BE49-F238E27FC236}">
                  <a16:creationId xmlns:a16="http://schemas.microsoft.com/office/drawing/2014/main" id="{0EE0831C-527F-869A-6C83-8C8382E2DE4E}"/>
                </a:ext>
              </a:extLst>
            </p:cNvPr>
            <p:cNvSpPr txBox="1"/>
            <p:nvPr/>
          </p:nvSpPr>
          <p:spPr>
            <a:xfrm>
              <a:off x="1833245" y="-45212"/>
              <a:ext cx="6251120" cy="5566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>
                  <a:solidFill>
                    <a:srgbClr val="1A1A2E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Continuité de la réponse</a:t>
              </a:r>
            </a:p>
          </p:txBody>
        </p:sp>
        <p:sp>
          <p:nvSpPr>
            <p:cNvPr id="51" name="TextBox 39">
              <a:extLst>
                <a:ext uri="{FF2B5EF4-FFF2-40B4-BE49-F238E27FC236}">
                  <a16:creationId xmlns:a16="http://schemas.microsoft.com/office/drawing/2014/main" id="{C53DE424-5C81-6CBF-4F36-F8FC4B7066B2}"/>
                </a:ext>
              </a:extLst>
            </p:cNvPr>
            <p:cNvSpPr txBox="1"/>
            <p:nvPr/>
          </p:nvSpPr>
          <p:spPr>
            <a:xfrm>
              <a:off x="1833245" y="553212"/>
              <a:ext cx="7877699" cy="8207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fr-FR" sz="2000">
                  <a:solidFill>
                    <a:srgbClr val="1A1A2E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Automatiser la mitigation 24/7 tout en gardant traçabilité, audit et moindre privilège.</a:t>
              </a:r>
            </a:p>
          </p:txBody>
        </p:sp>
      </p:grpSp>
      <p:sp>
        <p:nvSpPr>
          <p:cNvPr id="54" name="TextBox 47">
            <a:extLst>
              <a:ext uri="{FF2B5EF4-FFF2-40B4-BE49-F238E27FC236}">
                <a16:creationId xmlns:a16="http://schemas.microsoft.com/office/drawing/2014/main" id="{6E07FB1E-7096-0453-C1BB-BE00F0FE16BD}"/>
              </a:ext>
            </a:extLst>
          </p:cNvPr>
          <p:cNvSpPr txBox="1"/>
          <p:nvPr/>
        </p:nvSpPr>
        <p:spPr>
          <a:xfrm>
            <a:off x="9532781" y="8606837"/>
            <a:ext cx="1031684" cy="547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 b="1">
                <a:solidFill>
                  <a:srgbClr val="F0F7FE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05</a:t>
            </a:r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1F0AC385-F4E4-6115-80B9-62DFE224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4546" r="9607" b="8710"/>
          <a:stretch>
            <a:fillRect/>
          </a:stretch>
        </p:blipFill>
        <p:spPr>
          <a:xfrm>
            <a:off x="1938838" y="2962783"/>
            <a:ext cx="5908275" cy="5951076"/>
          </a:xfrm>
          <a:prstGeom prst="rect">
            <a:avLst/>
          </a:prstGeom>
        </p:spPr>
      </p:pic>
      <p:sp>
        <p:nvSpPr>
          <p:cNvPr id="4" name="Freeform 7">
            <a:extLst>
              <a:ext uri="{FF2B5EF4-FFF2-40B4-BE49-F238E27FC236}">
                <a16:creationId xmlns:a16="http://schemas.microsoft.com/office/drawing/2014/main" id="{83692EE3-17A4-EF1D-BCA5-46B0C6C39B9E}"/>
              </a:ext>
            </a:extLst>
          </p:cNvPr>
          <p:cNvSpPr>
            <a:spLocks/>
          </p:cNvSpPr>
          <p:nvPr/>
        </p:nvSpPr>
        <p:spPr>
          <a:xfrm>
            <a:off x="-393602" y="9487121"/>
            <a:ext cx="393602" cy="931106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294175" y="921251"/>
            <a:ext cx="6206067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Étude de </a:t>
            </a:r>
            <a:r>
              <a:rPr lang="en-US" sz="4717" b="1" err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l’existant</a:t>
            </a:r>
            <a:endParaRPr lang="en-US" sz="4717" b="1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566C17D7-C103-5A89-89DC-8B86C4A41BAB}"/>
              </a:ext>
            </a:extLst>
          </p:cNvPr>
          <p:cNvSpPr txBox="1"/>
          <p:nvPr/>
        </p:nvSpPr>
        <p:spPr>
          <a:xfrm>
            <a:off x="18716354" y="532939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E6395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Notre solution — NG-IDPS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7077F5-6C57-E7AC-0CA2-F970F739FE6A}"/>
              </a:ext>
            </a:extLst>
          </p:cNvPr>
          <p:cNvSpPr txBox="1"/>
          <p:nvPr/>
        </p:nvSpPr>
        <p:spPr>
          <a:xfrm>
            <a:off x="634933" y="5283996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4E1E62-D5E7-31F8-F438-F8A3C3AF6098}"/>
              </a:ext>
            </a:extLst>
          </p:cNvPr>
          <p:cNvSpPr txBox="1"/>
          <p:nvPr/>
        </p:nvSpPr>
        <p:spPr>
          <a:xfrm>
            <a:off x="681252" y="6368884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AF103C7E-9A1C-64D6-C4DA-C5C9F9C11A95}"/>
              </a:ext>
            </a:extLst>
          </p:cNvPr>
          <p:cNvSpPr>
            <a:spLocks/>
          </p:cNvSpPr>
          <p:nvPr/>
        </p:nvSpPr>
        <p:spPr>
          <a:xfrm>
            <a:off x="616028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FAE5135-755F-E0B0-61BA-8480B6F524A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1" t="9926" r="31392" b="24139"/>
          <a:stretch>
            <a:fillRect/>
          </a:stretch>
        </p:blipFill>
        <p:spPr>
          <a:xfrm>
            <a:off x="3875233" y="3027202"/>
            <a:ext cx="1604989" cy="1526945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6CDE2212-D62A-66DD-2320-4EADDB6448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53" b="20158"/>
          <a:stretch>
            <a:fillRect/>
          </a:stretch>
        </p:blipFill>
        <p:spPr>
          <a:xfrm>
            <a:off x="993954" y="3027202"/>
            <a:ext cx="2639103" cy="153051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E30191A-356B-C9D5-9C42-3763898F50FD}"/>
              </a:ext>
            </a:extLst>
          </p:cNvPr>
          <p:cNvCxnSpPr>
            <a:cxnSpLocks/>
          </p:cNvCxnSpPr>
          <p:nvPr/>
        </p:nvCxnSpPr>
        <p:spPr>
          <a:xfrm>
            <a:off x="634933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5365AE76-1C90-C129-AA74-0C794C9B53F4}"/>
              </a:ext>
            </a:extLst>
          </p:cNvPr>
          <p:cNvSpPr txBox="1"/>
          <p:nvPr/>
        </p:nvSpPr>
        <p:spPr>
          <a:xfrm>
            <a:off x="903435" y="5373121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par signatures et analyse de protocole, légère et éprouvée</a:t>
            </a:r>
            <a:endParaRPr 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588C8F7-9B54-FE9E-B891-DC0E4F4FDFF6}"/>
              </a:ext>
            </a:extLst>
          </p:cNvPr>
          <p:cNvSpPr txBox="1"/>
          <p:nvPr/>
        </p:nvSpPr>
        <p:spPr>
          <a:xfrm>
            <a:off x="928835" y="6589428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Aucun comportemental natif, aucune orchestration intégrée</a:t>
            </a:r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7434241-C51A-ECC3-CDD2-FA999725A9FB}"/>
              </a:ext>
            </a:extLst>
          </p:cNvPr>
          <p:cNvSpPr txBox="1"/>
          <p:nvPr/>
        </p:nvSpPr>
        <p:spPr>
          <a:xfrm>
            <a:off x="6552785" y="5283590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BC776A0-0D2A-258C-79DB-93556FE98495}"/>
              </a:ext>
            </a:extLst>
          </p:cNvPr>
          <p:cNvSpPr txBox="1"/>
          <p:nvPr/>
        </p:nvSpPr>
        <p:spPr>
          <a:xfrm>
            <a:off x="6663509" y="6395040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Freeform 7">
            <a:extLst>
              <a:ext uri="{FF2B5EF4-FFF2-40B4-BE49-F238E27FC236}">
                <a16:creationId xmlns:a16="http://schemas.microsoft.com/office/drawing/2014/main" id="{9AA99E48-F83C-E015-8EDF-E9EB36AF412F}"/>
              </a:ext>
            </a:extLst>
          </p:cNvPr>
          <p:cNvSpPr>
            <a:spLocks/>
          </p:cNvSpPr>
          <p:nvPr/>
        </p:nvSpPr>
        <p:spPr>
          <a:xfrm>
            <a:off x="6558135" y="2676468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2B38CDA-DAF5-1B2F-3349-46B3A50EDBEF}"/>
              </a:ext>
            </a:extLst>
          </p:cNvPr>
          <p:cNvCxnSpPr>
            <a:cxnSpLocks/>
          </p:cNvCxnSpPr>
          <p:nvPr/>
        </p:nvCxnSpPr>
        <p:spPr>
          <a:xfrm>
            <a:off x="6577040" y="4737726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DF81C4D4-E360-E441-A7D9-435DABD6D221}"/>
              </a:ext>
            </a:extLst>
          </p:cNvPr>
          <p:cNvSpPr txBox="1"/>
          <p:nvPr/>
        </p:nvSpPr>
        <p:spPr>
          <a:xfrm>
            <a:off x="6821287" y="5372715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Corrélation et orchestration SOAR matures</a:t>
            </a:r>
            <a:endParaRPr lang="en-US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E50C998-7DE2-3BEC-6517-4C3FB7D8E72A}"/>
              </a:ext>
            </a:extLst>
          </p:cNvPr>
          <p:cNvSpPr txBox="1"/>
          <p:nvPr/>
        </p:nvSpPr>
        <p:spPr>
          <a:xfrm>
            <a:off x="6911092" y="6615584"/>
            <a:ext cx="48187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Coût de licence élevé, dépendance cloud ou éditeur</a:t>
            </a:r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5BC651-C497-5E31-A061-AA91B3A266AA}"/>
              </a:ext>
            </a:extLst>
          </p:cNvPr>
          <p:cNvSpPr txBox="1"/>
          <p:nvPr/>
        </p:nvSpPr>
        <p:spPr>
          <a:xfrm>
            <a:off x="12494892" y="5256932"/>
            <a:ext cx="359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79CA944-52C7-C06D-0809-D0479211FBB7}"/>
              </a:ext>
            </a:extLst>
          </p:cNvPr>
          <p:cNvSpPr txBox="1"/>
          <p:nvPr/>
        </p:nvSpPr>
        <p:spPr>
          <a:xfrm>
            <a:off x="12605616" y="6368382"/>
            <a:ext cx="35902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endParaRPr 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Freeform 7">
            <a:extLst>
              <a:ext uri="{FF2B5EF4-FFF2-40B4-BE49-F238E27FC236}">
                <a16:creationId xmlns:a16="http://schemas.microsoft.com/office/drawing/2014/main" id="{A8630360-BF84-B9C2-B836-CD02912446F9}"/>
              </a:ext>
            </a:extLst>
          </p:cNvPr>
          <p:cNvSpPr>
            <a:spLocks/>
          </p:cNvSpPr>
          <p:nvPr/>
        </p:nvSpPr>
        <p:spPr>
          <a:xfrm>
            <a:off x="12500242" y="2649810"/>
            <a:ext cx="5171730" cy="5298489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3A4FD4-500E-6354-4FBA-3DBC56694EB9}"/>
              </a:ext>
            </a:extLst>
          </p:cNvPr>
          <p:cNvCxnSpPr>
            <a:cxnSpLocks/>
          </p:cNvCxnSpPr>
          <p:nvPr/>
        </p:nvCxnSpPr>
        <p:spPr>
          <a:xfrm>
            <a:off x="12519147" y="4711068"/>
            <a:ext cx="5112675" cy="0"/>
          </a:xfrm>
          <a:prstGeom prst="line">
            <a:avLst/>
          </a:prstGeom>
          <a:ln w="57150">
            <a:solidFill>
              <a:srgbClr val="D6CAE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BA33D799-5923-1BF4-BA2B-159DCFE00BD0}"/>
              </a:ext>
            </a:extLst>
          </p:cNvPr>
          <p:cNvSpPr txBox="1"/>
          <p:nvPr/>
        </p:nvSpPr>
        <p:spPr>
          <a:xfrm>
            <a:off x="12763394" y="5346057"/>
            <a:ext cx="48441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 Détection comportementale par IA avancée performante</a:t>
            </a:r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A3B7C8-D88D-75C8-F540-9569A1B53DA4}"/>
              </a:ext>
            </a:extLst>
          </p:cNvPr>
          <p:cNvSpPr txBox="1"/>
          <p:nvPr/>
        </p:nvSpPr>
        <p:spPr>
          <a:xfrm>
            <a:off x="12853199" y="6512726"/>
            <a:ext cx="481877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Modèle fermé, non auto-</a:t>
            </a:r>
            <a:r>
              <a:rPr lang="fr-FR" sz="2400" err="1">
                <a:latin typeface="Times New Roman" panose="02020603050405020304" pitchFamily="18" charset="0"/>
                <a:cs typeface="Times New Roman" panose="02020603050405020304" pitchFamily="18" charset="0"/>
              </a:rPr>
              <a:t>hébergeable</a:t>
            </a:r>
            <a:r>
              <a:rPr lang="fr-FR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réponse automatique vendue séparément (RESPOND)</a:t>
            </a:r>
            <a:endParaRPr lang="en-US"/>
          </a:p>
        </p:txBody>
      </p:sp>
      <p:grpSp>
        <p:nvGrpSpPr>
          <p:cNvPr id="72" name="Group 71">
            <a:extLst>
              <a:ext uri="{FF2B5EF4-FFF2-40B4-BE49-F238E27FC236}">
                <a16:creationId xmlns:a16="http://schemas.microsoft.com/office/drawing/2014/main" id="{5C9C63EE-FB04-2E72-F185-B40EC57688F8}"/>
              </a:ext>
            </a:extLst>
          </p:cNvPr>
          <p:cNvGrpSpPr/>
          <p:nvPr/>
        </p:nvGrpSpPr>
        <p:grpSpPr>
          <a:xfrm>
            <a:off x="6623359" y="3243526"/>
            <a:ext cx="4898416" cy="1107996"/>
            <a:chOff x="6623359" y="3192682"/>
            <a:chExt cx="4898416" cy="1107996"/>
          </a:xfrm>
        </p:grpSpPr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B16AC589-3BC2-E13B-016C-2969EA40131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97" t="36258" r="12717" b="34622"/>
            <a:stretch>
              <a:fillRect/>
            </a:stretch>
          </p:blipFill>
          <p:spPr>
            <a:xfrm>
              <a:off x="6623359" y="3266342"/>
              <a:ext cx="2322502" cy="798610"/>
            </a:xfrm>
            <a:prstGeom prst="rect">
              <a:avLst/>
            </a:prstGeom>
          </p:spPr>
        </p:pic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F74291FA-14F2-342C-00B9-1F66E44F7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147" t="33148" r="15653" b="35282"/>
            <a:stretch>
              <a:fillRect/>
            </a:stretch>
          </p:blipFill>
          <p:spPr>
            <a:xfrm>
              <a:off x="9548006" y="3480217"/>
              <a:ext cx="1973769" cy="652839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B6D1786-B478-0D3C-3519-F34E80403B78}"/>
                </a:ext>
              </a:extLst>
            </p:cNvPr>
            <p:cNvSpPr txBox="1"/>
            <p:nvPr/>
          </p:nvSpPr>
          <p:spPr>
            <a:xfrm>
              <a:off x="8974437" y="3192682"/>
              <a:ext cx="511679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6600">
                  <a:solidFill>
                    <a:srgbClr val="D6CAEE"/>
                  </a:solidFill>
                </a:rPr>
                <a:t>/</a:t>
              </a:r>
              <a:endParaRPr lang="en-US" sz="6600">
                <a:solidFill>
                  <a:srgbClr val="D6CAEE"/>
                </a:solidFill>
              </a:endParaRPr>
            </a:p>
          </p:txBody>
        </p:sp>
      </p:grpSp>
      <p:pic>
        <p:nvPicPr>
          <p:cNvPr id="71" name="Picture 70">
            <a:extLst>
              <a:ext uri="{FF2B5EF4-FFF2-40B4-BE49-F238E27FC236}">
                <a16:creationId xmlns:a16="http://schemas.microsoft.com/office/drawing/2014/main" id="{7A719345-F8F4-2A88-33AB-633588FF44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669" y="3522489"/>
            <a:ext cx="4714875" cy="5500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5137514" y="1068142"/>
            <a:ext cx="8012972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en-US" sz="4717" b="1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Notre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303325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05712" y="1377087"/>
            <a:ext cx="46796" cy="950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854C2670-60FC-8749-D517-220D1D07B373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Freeform 7"/>
          <p:cNvSpPr/>
          <p:nvPr/>
        </p:nvSpPr>
        <p:spPr>
          <a:xfrm>
            <a:off x="1747175" y="2576434"/>
            <a:ext cx="4671648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19691" y="2786438"/>
            <a:ext cx="28950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 </a:t>
            </a: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hybride</a:t>
            </a:r>
            <a:endParaRPr lang="en-US" sz="2600" b="1" spc="167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019691" y="3174626"/>
            <a:ext cx="4126615" cy="12623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(signatures) + LSTM-VAE (comportemental non supervisé) pour couvrir les menaces connues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les 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zero-day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.</a:t>
            </a:r>
          </a:p>
        </p:txBody>
      </p:sp>
      <p:sp>
        <p:nvSpPr>
          <p:cNvPr id="25" name="Freeform 7">
            <a:extLst>
              <a:ext uri="{FF2B5EF4-FFF2-40B4-BE49-F238E27FC236}">
                <a16:creationId xmlns:a16="http://schemas.microsoft.com/office/drawing/2014/main" id="{5447A711-0D89-8AF9-FED8-B72D6EB15638}"/>
              </a:ext>
            </a:extLst>
          </p:cNvPr>
          <p:cNvSpPr/>
          <p:nvPr/>
        </p:nvSpPr>
        <p:spPr>
          <a:xfrm>
            <a:off x="1747175" y="6664338"/>
            <a:ext cx="4551189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Box 10">
            <a:extLst>
              <a:ext uri="{FF2B5EF4-FFF2-40B4-BE49-F238E27FC236}">
                <a16:creationId xmlns:a16="http://schemas.microsoft.com/office/drawing/2014/main" id="{DDCDD000-547B-6F2A-941C-9E4E46B3FCFB}"/>
              </a:ext>
            </a:extLst>
          </p:cNvPr>
          <p:cNvSpPr txBox="1"/>
          <p:nvPr/>
        </p:nvSpPr>
        <p:spPr>
          <a:xfrm>
            <a:off x="2174221" y="6869051"/>
            <a:ext cx="329832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SOAR multi-</a:t>
            </a: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paliers</a:t>
            </a:r>
            <a:endParaRPr lang="en-US" sz="2600" b="1" spc="167">
              <a:solidFill>
                <a:srgbClr val="101A30"/>
              </a:solidFill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29" name="TextBox 15">
            <a:extLst>
              <a:ext uri="{FF2B5EF4-FFF2-40B4-BE49-F238E27FC236}">
                <a16:creationId xmlns:a16="http://schemas.microsoft.com/office/drawing/2014/main" id="{88B538CF-BE48-2744-9FF1-9B068975514D}"/>
              </a:ext>
            </a:extLst>
          </p:cNvPr>
          <p:cNvSpPr txBox="1"/>
          <p:nvPr/>
        </p:nvSpPr>
        <p:spPr>
          <a:xfrm>
            <a:off x="2174221" y="7306805"/>
            <a:ext cx="3677939" cy="12589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1817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Corrélation, score composite </a:t>
            </a:r>
          </a:p>
          <a:p>
            <a:pPr algn="l">
              <a:lnSpc>
                <a:spcPts val="2544"/>
              </a:lnSpc>
            </a:pPr>
            <a:r>
              <a:rPr lang="fr-FR" sz="1817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de menace et blocage iptables autonome, avec supervision humaine possible.</a:t>
            </a:r>
          </a:p>
        </p:txBody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7A8EC5AA-ACDE-9347-A4DD-0EEEFD4E7058}"/>
              </a:ext>
            </a:extLst>
          </p:cNvPr>
          <p:cNvSpPr/>
          <p:nvPr/>
        </p:nvSpPr>
        <p:spPr>
          <a:xfrm>
            <a:off x="11727773" y="2576434"/>
            <a:ext cx="463847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10">
            <a:extLst>
              <a:ext uri="{FF2B5EF4-FFF2-40B4-BE49-F238E27FC236}">
                <a16:creationId xmlns:a16="http://schemas.microsoft.com/office/drawing/2014/main" id="{CBD61239-7148-CA8E-D03B-C508A294EDF8}"/>
              </a:ext>
            </a:extLst>
          </p:cNvPr>
          <p:cNvSpPr txBox="1"/>
          <p:nvPr/>
        </p:nvSpPr>
        <p:spPr>
          <a:xfrm>
            <a:off x="12012319" y="2851274"/>
            <a:ext cx="4069379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err="1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Analyse</a:t>
            </a: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cognitive locale</a:t>
            </a:r>
          </a:p>
        </p:txBody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4B9CEB1C-8AC2-82BC-3E43-B519C665C06C}"/>
              </a:ext>
            </a:extLst>
          </p:cNvPr>
          <p:cNvSpPr txBox="1"/>
          <p:nvPr/>
        </p:nvSpPr>
        <p:spPr>
          <a:xfrm>
            <a:off x="12020340" y="333765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Un LLM (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Ollama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/ Llama 3) génère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un diagnostic structuré en 7 champs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sans dépendance cloud obligatoire.</a:t>
            </a:r>
          </a:p>
        </p:txBody>
      </p:sp>
      <p:sp>
        <p:nvSpPr>
          <p:cNvPr id="37" name="Freeform 7">
            <a:extLst>
              <a:ext uri="{FF2B5EF4-FFF2-40B4-BE49-F238E27FC236}">
                <a16:creationId xmlns:a16="http://schemas.microsoft.com/office/drawing/2014/main" id="{8C1B675B-2D18-70A7-A0AE-98DB1F57F35D}"/>
              </a:ext>
            </a:extLst>
          </p:cNvPr>
          <p:cNvSpPr/>
          <p:nvPr/>
        </p:nvSpPr>
        <p:spPr>
          <a:xfrm>
            <a:off x="11641099" y="6822570"/>
            <a:ext cx="4900333" cy="2073488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10">
            <a:extLst>
              <a:ext uri="{FF2B5EF4-FFF2-40B4-BE49-F238E27FC236}">
                <a16:creationId xmlns:a16="http://schemas.microsoft.com/office/drawing/2014/main" id="{E33BECD6-9586-EFFD-62EB-11B2F5D73D6E}"/>
              </a:ext>
            </a:extLst>
          </p:cNvPr>
          <p:cNvSpPr txBox="1"/>
          <p:nvPr/>
        </p:nvSpPr>
        <p:spPr>
          <a:xfrm>
            <a:off x="11875251" y="7029351"/>
            <a:ext cx="463847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Renseignement </a:t>
            </a:r>
            <a:r>
              <a:rPr lang="en-US" sz="1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&amp;</a:t>
            </a:r>
            <a:r>
              <a:rPr lang="en-US" sz="2600" b="1" spc="167">
                <a:solidFill>
                  <a:srgbClr val="101A30"/>
                </a:solidFill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formation</a:t>
            </a:r>
          </a:p>
        </p:txBody>
      </p:sp>
      <p:sp>
        <p:nvSpPr>
          <p:cNvPr id="41" name="TextBox 15">
            <a:extLst>
              <a:ext uri="{FF2B5EF4-FFF2-40B4-BE49-F238E27FC236}">
                <a16:creationId xmlns:a16="http://schemas.microsoft.com/office/drawing/2014/main" id="{9A3412E0-6026-1EAC-8F23-211D5864CF7C}"/>
              </a:ext>
            </a:extLst>
          </p:cNvPr>
          <p:cNvSpPr txBox="1"/>
          <p:nvPr/>
        </p:nvSpPr>
        <p:spPr>
          <a:xfrm>
            <a:off x="12103470" y="7468131"/>
            <a:ext cx="4126615" cy="9362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Veille CTI, règles </a:t>
            </a:r>
            <a:r>
              <a:rPr lang="fr-FR" sz="2000" err="1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Suricata</a:t>
            </a: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 candidates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et parcours de sensibilisation ciblés </a:t>
            </a:r>
          </a:p>
          <a:p>
            <a:pPr algn="l">
              <a:lnSpc>
                <a:spcPts val="2544"/>
              </a:lnSpc>
            </a:pPr>
            <a:r>
              <a:rPr lang="fr-FR" sz="2000">
                <a:solidFill>
                  <a:srgbClr val="6B7A99"/>
                </a:solidFill>
                <a:latin typeface="Times New Roman" panose="02020603050405020304" pitchFamily="18" charset="0"/>
                <a:ea typeface="DejaVu Sans Light"/>
                <a:cs typeface="Times New Roman" panose="02020603050405020304" pitchFamily="18" charset="0"/>
                <a:sym typeface="DejaVu Sans Light"/>
              </a:rPr>
              <a:t>pour le facteur humain.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75555A-6E4E-8A76-028C-AB06725F7F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7467130" y="2959698"/>
            <a:ext cx="3353739" cy="43676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1B51532-0872-ED17-CC31-F350D44D8994}"/>
              </a:ext>
            </a:extLst>
          </p:cNvPr>
          <p:cNvSpPr txBox="1"/>
          <p:nvPr/>
        </p:nvSpPr>
        <p:spPr>
          <a:xfrm>
            <a:off x="7728991" y="7162529"/>
            <a:ext cx="283001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5000" b="1">
                <a:solidFill>
                  <a:srgbClr val="E639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9579B4-808D-14C0-37C8-0DA2B1707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602BE063-6CB5-8D76-E021-9D8BFDA206EF}"/>
              </a:ext>
            </a:extLst>
          </p:cNvPr>
          <p:cNvSpPr txBox="1"/>
          <p:nvPr/>
        </p:nvSpPr>
        <p:spPr>
          <a:xfrm>
            <a:off x="6076655" y="1098579"/>
            <a:ext cx="7356640" cy="7766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04"/>
              </a:lnSpc>
              <a:spcBef>
                <a:spcPct val="0"/>
              </a:spcBef>
            </a:pPr>
            <a:r>
              <a:rPr lang="fr-FR" sz="4717" b="1">
                <a:solidFill>
                  <a:srgbClr val="1C1F5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Les besoins de notre </a:t>
            </a:r>
            <a:r>
              <a:rPr lang="en-US" sz="4717" b="1">
                <a:solidFill>
                  <a:srgbClr val="1C1F54"/>
                </a:solidFill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solution</a:t>
            </a:r>
            <a:endParaRPr lang="en-US" sz="4717" b="1">
              <a:solidFill>
                <a:srgbClr val="1C1F54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A9A2F6A-48AE-CAED-3298-12CEDCAF12E1}"/>
              </a:ext>
            </a:extLst>
          </p:cNvPr>
          <p:cNvSpPr txBox="1"/>
          <p:nvPr/>
        </p:nvSpPr>
        <p:spPr>
          <a:xfrm>
            <a:off x="1303325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6699629-249E-87E3-EFF4-5ED9002C6264}"/>
              </a:ext>
            </a:extLst>
          </p:cNvPr>
          <p:cNvSpPr txBox="1"/>
          <p:nvPr/>
        </p:nvSpPr>
        <p:spPr>
          <a:xfrm>
            <a:off x="3105712" y="1377087"/>
            <a:ext cx="46796" cy="109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39"/>
              </a:lnSpc>
            </a:pPr>
            <a:r>
              <a:rPr lang="en-US" sz="600">
                <a:solidFill>
                  <a:srgbClr val="6B7A99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 </a:t>
            </a:r>
          </a:p>
        </p:txBody>
      </p:sp>
      <p:sp>
        <p:nvSpPr>
          <p:cNvPr id="21" name="TextBox 6">
            <a:extLst>
              <a:ext uri="{FF2B5EF4-FFF2-40B4-BE49-F238E27FC236}">
                <a16:creationId xmlns:a16="http://schemas.microsoft.com/office/drawing/2014/main" id="{A23BE537-0046-BE08-5E94-3A9C1D105D5D}"/>
              </a:ext>
            </a:extLst>
          </p:cNvPr>
          <p:cNvSpPr txBox="1"/>
          <p:nvPr/>
        </p:nvSpPr>
        <p:spPr>
          <a:xfrm>
            <a:off x="-1012222" y="-2247058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gradFill>
                  <a:gsLst>
                    <a:gs pos="0">
                      <a:srgbClr val="FFFFFF">
                        <a:alpha val="7000"/>
                      </a:srgbClr>
                    </a:gs>
                    <a:gs pos="100000">
                      <a:srgbClr val="FFFFFF">
                        <a:alpha val="7000"/>
                      </a:srgbClr>
                    </a:gs>
                  </a:gsLst>
                  <a:lin ang="16200000"/>
                </a:gra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5A068DD-79CE-D909-F955-DC7BC6726724}"/>
              </a:ext>
            </a:extLst>
          </p:cNvPr>
          <p:cNvGrpSpPr/>
          <p:nvPr/>
        </p:nvGrpSpPr>
        <p:grpSpPr>
          <a:xfrm>
            <a:off x="4170341" y="3359345"/>
            <a:ext cx="3353739" cy="5064605"/>
            <a:chOff x="7467130" y="2959698"/>
            <a:chExt cx="3353739" cy="506460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AF9BA3C-8BB3-8E95-BDC9-8EE30817AE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744" t="5676" r="29335" b="16981"/>
            <a:stretch>
              <a:fillRect/>
            </a:stretch>
          </p:blipFill>
          <p:spPr>
            <a:xfrm>
              <a:off x="7467130" y="2959698"/>
              <a:ext cx="3353739" cy="4367604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1C0C79-4DA4-3D83-6015-C18C7924DF4D}"/>
                </a:ext>
              </a:extLst>
            </p:cNvPr>
            <p:cNvSpPr txBox="1"/>
            <p:nvPr/>
          </p:nvSpPr>
          <p:spPr>
            <a:xfrm>
              <a:off x="7728991" y="7162529"/>
              <a:ext cx="2830016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fr-FR" sz="5000" b="1">
                  <a:solidFill>
                    <a:srgbClr val="E6395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NG-IDPS</a:t>
              </a:r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4209119-0673-ECC9-DEB6-262066BC80A4}"/>
              </a:ext>
            </a:extLst>
          </p:cNvPr>
          <p:cNvSpPr/>
          <p:nvPr/>
        </p:nvSpPr>
        <p:spPr>
          <a:xfrm>
            <a:off x="9741120" y="4874294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470260F1-7E31-7FAF-CF22-D38592B6C0C9}"/>
              </a:ext>
            </a:extLst>
          </p:cNvPr>
          <p:cNvSpPr txBox="1"/>
          <p:nvPr/>
        </p:nvSpPr>
        <p:spPr>
          <a:xfrm>
            <a:off x="9941704" y="5161220"/>
            <a:ext cx="5544904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544"/>
              </a:lnSpc>
            </a:pP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Détection</a:t>
            </a: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et correlation </a:t>
            </a: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autonome</a:t>
            </a:r>
            <a:endParaRPr lang="en-US" sz="2600" b="1" spc="167" dirty="0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3" name="Freeform 7">
            <a:extLst>
              <a:ext uri="{FF2B5EF4-FFF2-40B4-BE49-F238E27FC236}">
                <a16:creationId xmlns:a16="http://schemas.microsoft.com/office/drawing/2014/main" id="{72F51F86-E885-AC39-859C-6992C5252D30}"/>
              </a:ext>
            </a:extLst>
          </p:cNvPr>
          <p:cNvSpPr/>
          <p:nvPr/>
        </p:nvSpPr>
        <p:spPr>
          <a:xfrm>
            <a:off x="9741120" y="7098609"/>
            <a:ext cx="5775969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DB794B12-F7B5-E4E7-A605-4B848C683865}"/>
              </a:ext>
            </a:extLst>
          </p:cNvPr>
          <p:cNvSpPr txBox="1"/>
          <p:nvPr/>
        </p:nvSpPr>
        <p:spPr>
          <a:xfrm>
            <a:off x="9941704" y="7385535"/>
            <a:ext cx="5494557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44"/>
              </a:lnSpc>
            </a:pP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Sensibilisation</a:t>
            </a: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du </a:t>
            </a: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facteur</a:t>
            </a: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 </a:t>
            </a: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humain</a:t>
            </a:r>
            <a:endParaRPr lang="en-US" sz="2600" b="1" spc="167" dirty="0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84647E15-281C-5D37-5F78-691A867B1073}"/>
              </a:ext>
            </a:extLst>
          </p:cNvPr>
          <p:cNvSpPr/>
          <p:nvPr/>
        </p:nvSpPr>
        <p:spPr>
          <a:xfrm>
            <a:off x="9741122" y="3778103"/>
            <a:ext cx="5775966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63A228A6-08C5-4723-156A-87F1730B44FA}"/>
              </a:ext>
            </a:extLst>
          </p:cNvPr>
          <p:cNvSpPr txBox="1"/>
          <p:nvPr/>
        </p:nvSpPr>
        <p:spPr>
          <a:xfrm>
            <a:off x="9921839" y="4065029"/>
            <a:ext cx="554490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Supervision et pilotage</a:t>
            </a:r>
          </a:p>
        </p:txBody>
      </p:sp>
      <p:sp>
        <p:nvSpPr>
          <p:cNvPr id="19" name="Freeform 7">
            <a:extLst>
              <a:ext uri="{FF2B5EF4-FFF2-40B4-BE49-F238E27FC236}">
                <a16:creationId xmlns:a16="http://schemas.microsoft.com/office/drawing/2014/main" id="{C9EF4436-2077-A98A-A60D-0641ADB6EA3C}"/>
              </a:ext>
            </a:extLst>
          </p:cNvPr>
          <p:cNvSpPr/>
          <p:nvPr/>
        </p:nvSpPr>
        <p:spPr>
          <a:xfrm>
            <a:off x="9741123" y="6002418"/>
            <a:ext cx="5775968" cy="894454"/>
          </a:xfrm>
          <a:custGeom>
            <a:avLst/>
            <a:gdLst/>
            <a:ahLst/>
            <a:cxnLst/>
            <a:rect l="l" t="t" r="r" b="b"/>
            <a:pathLst>
              <a:path w="5143406" h="1532864">
                <a:moveTo>
                  <a:pt x="0" y="0"/>
                </a:moveTo>
                <a:lnTo>
                  <a:pt x="5143406" y="0"/>
                </a:lnTo>
                <a:lnTo>
                  <a:pt x="5143406" y="1532865"/>
                </a:lnTo>
                <a:lnTo>
                  <a:pt x="0" y="1532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67" t="-188" r="-67" b="-414"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22" name="TextBox 10">
            <a:extLst>
              <a:ext uri="{FF2B5EF4-FFF2-40B4-BE49-F238E27FC236}">
                <a16:creationId xmlns:a16="http://schemas.microsoft.com/office/drawing/2014/main" id="{F10F3CEC-1492-0064-C290-BE07E43F3F2A}"/>
              </a:ext>
            </a:extLst>
          </p:cNvPr>
          <p:cNvSpPr txBox="1"/>
          <p:nvPr/>
        </p:nvSpPr>
        <p:spPr>
          <a:xfrm>
            <a:off x="9972184" y="6273378"/>
            <a:ext cx="5444212" cy="3206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544"/>
              </a:lnSpc>
            </a:pPr>
            <a:r>
              <a:rPr lang="en-US" sz="2600" b="1" spc="167" dirty="0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Diagnostic et </a:t>
            </a:r>
            <a:r>
              <a:rPr lang="en-US" sz="2600" b="1" spc="167" dirty="0" err="1">
                <a:latin typeface="Times New Roman" panose="02020603050405020304" pitchFamily="18" charset="0"/>
                <a:ea typeface="Liberation Sans Bold"/>
                <a:cs typeface="Times New Roman" panose="02020603050405020304" pitchFamily="18" charset="0"/>
                <a:sym typeface="Liberation Sans Bold"/>
              </a:rPr>
              <a:t>renseignement</a:t>
            </a:r>
            <a:endParaRPr lang="en-US" sz="2600" b="1" spc="167" dirty="0">
              <a:latin typeface="Times New Roman" panose="02020603050405020304" pitchFamily="18" charset="0"/>
              <a:ea typeface="Liberation Sans Bold"/>
              <a:cs typeface="Times New Roman" panose="02020603050405020304" pitchFamily="18" charset="0"/>
              <a:sym typeface="Liberation Sans 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B3CF10B-DED0-3C3C-D0B1-B96240618F77}"/>
              </a:ext>
            </a:extLst>
          </p:cNvPr>
          <p:cNvSpPr txBox="1"/>
          <p:nvPr/>
        </p:nvSpPr>
        <p:spPr>
          <a:xfrm>
            <a:off x="4867972" y="2028671"/>
            <a:ext cx="977400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Pour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remplir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ce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rôle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, NG-IDPS doit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répondre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à quatre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besoins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fonctionnels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err="1">
                <a:latin typeface="Times New Roman" panose="02020603050405020304" pitchFamily="18" charset="0"/>
                <a:cs typeface="Times New Roman" panose="02020603050405020304" pitchFamily="18" charset="0"/>
              </a:rPr>
              <a:t>essentiels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35312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DE0255-3DC3-6E28-0976-93B092F575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6EF8BD8-F48E-A7D3-81AF-3E8C929335D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0FDCEDF-461D-2BA7-E317-3CE4DE08663B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02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1B97E42-2203-271B-3CE8-BB0827CBBF51}"/>
              </a:ext>
            </a:extLst>
          </p:cNvPr>
          <p:cNvSpPr txBox="1"/>
          <p:nvPr/>
        </p:nvSpPr>
        <p:spPr>
          <a:xfrm>
            <a:off x="1047750" y="3838575"/>
            <a:ext cx="11430000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Méthodologie</a:t>
            </a:r>
          </a:p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déroulement </a:t>
            </a:r>
          </a:p>
          <a:p>
            <a:pPr algn="l">
              <a:lnSpc>
                <a:spcPts val="8496"/>
              </a:lnSpc>
            </a:pPr>
            <a:r>
              <a:rPr lang="fr-FR" sz="8850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des sprints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1C56E2-7C9D-6A7B-1B8A-39300C2B5C44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02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4DC2023-1C23-C2CE-53D4-979C9B0085C6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630AD2F1-EDFA-04BF-580A-5E4E964D1296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114F63EB-D790-FA81-1133-6448C38A3C5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81C253D7-3C26-EA07-02BB-7263071F673F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3E6BB09C-576B-855F-821F-6C620378E4EB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15" name="Image 23">
            <a:extLst>
              <a:ext uri="{FF2B5EF4-FFF2-40B4-BE49-F238E27FC236}">
                <a16:creationId xmlns:a16="http://schemas.microsoft.com/office/drawing/2014/main" id="{06EC385D-07F5-C187-12EA-C4BDBC4DC5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1523" y="-776584"/>
            <a:ext cx="14551058" cy="8184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76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173825-2598-E56D-1621-21A18B97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207B56-C5F6-F894-4BF4-F1B5A4EA921E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81E550A-9CBC-4039-AFB1-D774510DE2A9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1EA87FC-84AE-0861-C502-4FF8AB0E0164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A3E8D997-310B-F352-3AE3-4D7014253B56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12B9AB1-D415-00B3-3906-2137D03AEA0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03B0D725-D91D-ED99-7CBB-4DD110A59A0E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7539454-2658-3D03-D1F4-D4FB2DF9D01D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04B895E-EAC9-EC27-C2F4-9670D58E960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872B1515-FC48-5490-EBFB-B643584C34B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28981A87-18B0-DE10-ADA5-331101CBA5A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21D6690-0322-2FE1-CE70-1B91DC5B719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  <p:pic>
        <p:nvPicPr>
          <p:cNvPr id="25" name="Image 24">
            <a:extLst>
              <a:ext uri="{FF2B5EF4-FFF2-40B4-BE49-F238E27FC236}">
                <a16:creationId xmlns:a16="http://schemas.microsoft.com/office/drawing/2014/main" id="{A3AC46AD-2177-2D9E-7E6B-68AACA3EE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0088" y="-2340992"/>
            <a:ext cx="19567266" cy="1100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2062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120B5-255A-A8F5-2578-270675504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8144067-C231-1216-1EE3-A9D048358E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95F7BC1-1843-57FF-E789-23316F6B684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238D6950-3561-03DC-5657-802F48F2D64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96" t="4944" r="7595" b="4942"/>
          <a:stretch>
            <a:fillRect/>
          </a:stretch>
        </p:blipFill>
        <p:spPr>
          <a:xfrm>
            <a:off x="3810000" y="1028700"/>
            <a:ext cx="5105400" cy="8229600"/>
          </a:xfrm>
          <a:prstGeom prst="roundRect">
            <a:avLst>
              <a:gd name="adj" fmla="val 3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grpSp>
        <p:nvGrpSpPr>
          <p:cNvPr id="50" name="Group 49">
            <a:extLst>
              <a:ext uri="{FF2B5EF4-FFF2-40B4-BE49-F238E27FC236}">
                <a16:creationId xmlns:a16="http://schemas.microsoft.com/office/drawing/2014/main" id="{6A88C735-2D64-D2FC-6149-442EADA3D913}"/>
              </a:ext>
            </a:extLst>
          </p:cNvPr>
          <p:cNvGrpSpPr/>
          <p:nvPr/>
        </p:nvGrpSpPr>
        <p:grpSpPr>
          <a:xfrm>
            <a:off x="9913990" y="1036320"/>
            <a:ext cx="7467600" cy="3649980"/>
            <a:chOff x="9913990" y="1036320"/>
            <a:chExt cx="7467600" cy="3649980"/>
          </a:xfrm>
        </p:grpSpPr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CBF93DD6-1896-05D3-A1E1-1FFD9103E656}"/>
                </a:ext>
              </a:extLst>
            </p:cNvPr>
            <p:cNvSpPr/>
            <p:nvPr/>
          </p:nvSpPr>
          <p:spPr>
            <a:xfrm>
              <a:off x="9913990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0AB2FBD-2497-AD24-0D87-277272A6596D}"/>
                </a:ext>
              </a:extLst>
            </p:cNvPr>
            <p:cNvSpPr txBox="1"/>
            <p:nvPr/>
          </p:nvSpPr>
          <p:spPr>
            <a:xfrm>
              <a:off x="10213837" y="1272540"/>
              <a:ext cx="3433953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Acquisition réseau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CA4AED12-A76C-2889-096D-F6147B93A632}"/>
                </a:ext>
              </a:extLst>
            </p:cNvPr>
            <p:cNvSpPr txBox="1"/>
            <p:nvPr/>
          </p:nvSpPr>
          <p:spPr>
            <a:xfrm>
              <a:off x="10066390" y="2093535"/>
              <a:ext cx="70745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 promiscuous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capture de tout le </a:t>
              </a:r>
              <a:r>
                <a:rPr lang="en-US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trafic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du segment réseau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4CF6727-A218-CB2F-B577-FC24FCAA185C}"/>
                </a:ext>
              </a:extLst>
            </p:cNvPr>
            <p:cNvSpPr txBox="1"/>
            <p:nvPr/>
          </p:nvSpPr>
          <p:spPr>
            <a:xfrm>
              <a:off x="10066390" y="2532607"/>
              <a:ext cx="6412909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Zero-copy Linux (AF_PACKET / DPDK)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élimination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latence d'acquisition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32FEB10-FD4B-76E1-C23A-AFE42AB631CA}"/>
                </a:ext>
              </a:extLst>
            </p:cNvPr>
            <p:cNvSpPr txBox="1"/>
            <p:nvPr/>
          </p:nvSpPr>
          <p:spPr>
            <a:xfrm>
              <a:off x="10066389" y="3350805"/>
              <a:ext cx="664637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Sortie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structurée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événements JSON normalisés (</a:t>
              </a:r>
              <a:r>
                <a:rPr lang="fr-FR" sz="200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eve.json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BDDCF6B-CA54-10DA-381D-EFF94F635D71}"/>
                </a:ext>
              </a:extLst>
            </p:cNvPr>
            <p:cNvSpPr txBox="1"/>
            <p:nvPr/>
          </p:nvSpPr>
          <p:spPr>
            <a:xfrm>
              <a:off x="10066389" y="3989962"/>
              <a:ext cx="673934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Fonctionnement</a:t>
              </a:r>
              <a:r>
                <a:rPr lang="en-US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IDS </a:t>
              </a:r>
              <a:r>
                <a:rPr lang="en-US" sz="2000" b="1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passif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aucune interférence sur le flux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B7E8253-0CCA-0904-AF72-CE3C1257EB85}"/>
              </a:ext>
            </a:extLst>
          </p:cNvPr>
          <p:cNvGrpSpPr/>
          <p:nvPr/>
        </p:nvGrpSpPr>
        <p:grpSpPr>
          <a:xfrm>
            <a:off x="9913990" y="5383440"/>
            <a:ext cx="7467600" cy="3867240"/>
            <a:chOff x="9913990" y="1036320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820E97E1-9BE7-C0C8-2883-47A0688D72CF}"/>
                </a:ext>
              </a:extLst>
            </p:cNvPr>
            <p:cNvSpPr/>
            <p:nvPr/>
          </p:nvSpPr>
          <p:spPr>
            <a:xfrm>
              <a:off x="9913990" y="1036320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34054FAD-721A-0D29-7C80-D4B0B1D5DEDC}"/>
                </a:ext>
              </a:extLst>
            </p:cNvPr>
            <p:cNvSpPr txBox="1"/>
            <p:nvPr/>
          </p:nvSpPr>
          <p:spPr>
            <a:xfrm>
              <a:off x="10213837" y="1272540"/>
              <a:ext cx="529888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32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Délégation à la couche SOAR</a:t>
              </a:r>
              <a:endPara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69079C2-E597-5E72-E472-20369986B4B5}"/>
                </a:ext>
              </a:extLst>
            </p:cNvPr>
            <p:cNvSpPr txBox="1"/>
            <p:nvPr/>
          </p:nvSpPr>
          <p:spPr>
            <a:xfrm>
              <a:off x="10066389" y="1991365"/>
              <a:ext cx="603902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Suricata ne bloque pas directement</a:t>
              </a:r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: séparation des </a:t>
              </a:r>
            </a:p>
            <a:p>
              <a:r>
                <a:rPr lang="en-US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responsabilités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35A69E6-E9C1-7152-E613-46AF04778FB1}"/>
                </a:ext>
              </a:extLst>
            </p:cNvPr>
            <p:cNvSpPr txBox="1"/>
            <p:nvPr/>
          </p:nvSpPr>
          <p:spPr>
            <a:xfrm>
              <a:off x="10066389" y="2772381"/>
              <a:ext cx="5764720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Les alertes sont publiées sur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un topic Kafka dédié</a:t>
              </a:r>
              <a:endParaRPr lang="en-US" sz="20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CDFBD4-4C84-F5CB-91A7-146EB5355D2F}"/>
                </a:ext>
              </a:extLst>
            </p:cNvPr>
            <p:cNvSpPr txBox="1"/>
            <p:nvPr/>
          </p:nvSpPr>
          <p:spPr>
            <a:xfrm>
              <a:off x="10110507" y="3245621"/>
              <a:ext cx="6274988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Le moteur </a:t>
              </a:r>
              <a:r>
                <a:rPr lang="fr-FR" sz="2000" b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soar.py </a:t>
              </a: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consomme les événements et décide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la remédiation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2EAFB160-AA55-A1AD-5183-9572C4252BE2}"/>
                </a:ext>
              </a:extLst>
            </p:cNvPr>
            <p:cNvSpPr txBox="1"/>
            <p:nvPr/>
          </p:nvSpPr>
          <p:spPr>
            <a:xfrm>
              <a:off x="10066389" y="3989962"/>
              <a:ext cx="645561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Garantit la continuité de la capture même en cas d'action </a:t>
              </a:r>
            </a:p>
            <a:p>
              <a:r>
                <a:rPr lang="fr-FR" sz="200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 réponse</a:t>
              </a: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0A5D44E1-8280-DD8D-EA14-F0A038AC4D79}"/>
              </a:ext>
            </a:extLst>
          </p:cNvPr>
          <p:cNvSpPr txBox="1"/>
          <p:nvPr/>
        </p:nvSpPr>
        <p:spPr>
          <a:xfrm rot="16200000">
            <a:off x="-2339010" y="4610359"/>
            <a:ext cx="67455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98118-CBEF-E7F8-7A73-1634F85EB99F}"/>
              </a:ext>
            </a:extLst>
          </p:cNvPr>
          <p:cNvSpPr txBox="1"/>
          <p:nvPr/>
        </p:nvSpPr>
        <p:spPr>
          <a:xfrm rot="16200000">
            <a:off x="-825607" y="5535749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86835-BF8A-A1F5-FABD-204CCDD8E8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73274B2-7515-479B-5ABE-DD2BD7181E97}"/>
              </a:ext>
            </a:extLst>
          </p:cNvPr>
          <p:cNvGrpSpPr/>
          <p:nvPr/>
        </p:nvGrpSpPr>
        <p:grpSpPr>
          <a:xfrm rot="16200000">
            <a:off x="-10281386" y="723901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5AFA990B-C172-A93D-AEA5-207D99C04C4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34B604F-3374-1953-4762-FBCE331AF3D2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14" name="Oval 2">
                <a:extLst>
                  <a:ext uri="{FF2B5EF4-FFF2-40B4-BE49-F238E27FC236}">
                    <a16:creationId xmlns:a16="http://schemas.microsoft.com/office/drawing/2014/main" id="{577E39F8-7C7B-B8CE-C46B-9205AB59F062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5" name="TextBox 4">
                <a:extLst>
                  <a:ext uri="{FF2B5EF4-FFF2-40B4-BE49-F238E27FC236}">
                    <a16:creationId xmlns:a16="http://schemas.microsoft.com/office/drawing/2014/main" id="{634381CF-12CB-DD40-37C3-CBA4C912558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80F278E-FC8D-5C5B-F374-0CF90169258B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4" name="Oval 7">
                <a:extLst>
                  <a:ext uri="{FF2B5EF4-FFF2-40B4-BE49-F238E27FC236}">
                    <a16:creationId xmlns:a16="http://schemas.microsoft.com/office/drawing/2014/main" id="{7559C696-82DF-750A-7FC9-B43AA3E7FC9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4B7E943-2DBB-1757-9845-74C017227A5D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43BDFCF-4738-7AF2-A678-277CDD6FB6A3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FB4D5B9C-542A-1916-0824-AE439A9050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1C129F1-417E-BA2B-2BB9-F9F386738B6F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116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32019-10C4-758B-A179-654081A45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7540AF32-0EEB-D685-9A60-F71E965C9E92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D8AF6BD-AB5D-DBD5-5ED8-820A7FA32DCA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8059F966-99C8-5128-1172-947919806544}"/>
              </a:ext>
            </a:extLst>
          </p:cNvPr>
          <p:cNvGrpSpPr/>
          <p:nvPr/>
        </p:nvGrpSpPr>
        <p:grpSpPr>
          <a:xfrm>
            <a:off x="10646643" y="2003080"/>
            <a:ext cx="6929549" cy="2686981"/>
            <a:chOff x="10028048" y="6922468"/>
            <a:chExt cx="6929549" cy="3005302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C6995DB8-8AED-4783-4B51-5B04B4CA8267}"/>
                </a:ext>
              </a:extLst>
            </p:cNvPr>
            <p:cNvSpPr/>
            <p:nvPr/>
          </p:nvSpPr>
          <p:spPr>
            <a:xfrm>
              <a:off x="10028048" y="6922468"/>
              <a:ext cx="6906103" cy="3005302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D51AB49-CE86-69E7-95F6-BBFBF3B78523}"/>
                </a:ext>
              </a:extLst>
            </p:cNvPr>
            <p:cNvSpPr txBox="1"/>
            <p:nvPr/>
          </p:nvSpPr>
          <p:spPr>
            <a:xfrm>
              <a:off x="10051494" y="7403800"/>
              <a:ext cx="6906103" cy="203100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rapide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(Kafka) : 16 caractéristiques extraites par flux → topic Kafka → inférence LSTM-VAE (2–4 ms) → décision SOAR immédiate, latence bout-en-bout &lt; 15 ms.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8" name="TextBox 4">
            <a:extLst>
              <a:ext uri="{FF2B5EF4-FFF2-40B4-BE49-F238E27FC236}">
                <a16:creationId xmlns:a16="http://schemas.microsoft.com/office/drawing/2014/main" id="{9F44D0C3-B96D-4B0E-4856-3745B9E2EF03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7AE466-AB22-8AD3-ED7A-2CC83DC05566}"/>
              </a:ext>
            </a:extLst>
          </p:cNvPr>
          <p:cNvSpPr txBox="1"/>
          <p:nvPr/>
        </p:nvSpPr>
        <p:spPr>
          <a:xfrm rot="16200000">
            <a:off x="-3011774" y="3580667"/>
            <a:ext cx="88049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1C58D1-2724-4393-692E-CBCAB934863E}"/>
              </a:ext>
            </a:extLst>
          </p:cNvPr>
          <p:cNvSpPr txBox="1"/>
          <p:nvPr/>
        </p:nvSpPr>
        <p:spPr>
          <a:xfrm rot="16200000">
            <a:off x="-913500" y="4981916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150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150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0296CB1-0548-C692-783C-54CC6BE85B4E}"/>
              </a:ext>
            </a:extLst>
          </p:cNvPr>
          <p:cNvSpPr txBox="1"/>
          <p:nvPr/>
        </p:nvSpPr>
        <p:spPr>
          <a:xfrm>
            <a:off x="3848164" y="760065"/>
            <a:ext cx="5897768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Pipeline de données (double chemin)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13F8B7-2A71-2382-C1AB-7A2311A67A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" t="2552" r="3222" b="2419"/>
          <a:stretch>
            <a:fillRect/>
          </a:stretch>
        </p:blipFill>
        <p:spPr>
          <a:xfrm>
            <a:off x="3733800" y="1638300"/>
            <a:ext cx="6031150" cy="7086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90EB01D5-A5A1-D8CC-74AA-E5DE020B1880}"/>
              </a:ext>
            </a:extLst>
          </p:cNvPr>
          <p:cNvGrpSpPr/>
          <p:nvPr/>
        </p:nvGrpSpPr>
        <p:grpSpPr>
          <a:xfrm>
            <a:off x="10623197" y="5352120"/>
            <a:ext cx="6907364" cy="2897760"/>
            <a:chOff x="10028048" y="6922468"/>
            <a:chExt cx="6907364" cy="3241051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1BFF57B3-9FD4-72A8-E440-5EBB92B5E51A}"/>
                </a:ext>
              </a:extLst>
            </p:cNvPr>
            <p:cNvSpPr/>
            <p:nvPr/>
          </p:nvSpPr>
          <p:spPr>
            <a:xfrm>
              <a:off x="10028048" y="6922468"/>
              <a:ext cx="6906103" cy="3175757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553C4B-22C9-4917-859E-96345FDF7721}"/>
                </a:ext>
              </a:extLst>
            </p:cNvPr>
            <p:cNvSpPr txBox="1"/>
            <p:nvPr/>
          </p:nvSpPr>
          <p:spPr>
            <a:xfrm>
              <a:off x="10029309" y="7168648"/>
              <a:ext cx="6906103" cy="299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b="1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Voie froide 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— Rétrospective : achemine chaque événement via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Filebeat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et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Logstash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vers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Elasticsearch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où il est enrichi (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GeoIP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indexé pour l’audit forensique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la supervision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Kibana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, sans contrainte de latence.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7667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FA320-BEDF-D5FA-EB01-9D0AF34A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A9A73D0-58B2-0DB4-6F46-08609051DA1A}"/>
              </a:ext>
            </a:extLst>
          </p:cNvPr>
          <p:cNvGrpSpPr/>
          <p:nvPr/>
        </p:nvGrpSpPr>
        <p:grpSpPr>
          <a:xfrm>
            <a:off x="9952154" y="3414687"/>
            <a:ext cx="7467600" cy="3457622"/>
            <a:chOff x="9998741" y="1074344"/>
            <a:chExt cx="7467600" cy="3867240"/>
          </a:xfrm>
        </p:grpSpPr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F728E75-E6AF-E62C-24D9-2244FEF57819}"/>
                </a:ext>
              </a:extLst>
            </p:cNvPr>
            <p:cNvSpPr/>
            <p:nvPr/>
          </p:nvSpPr>
          <p:spPr>
            <a:xfrm>
              <a:off x="9998741" y="1074344"/>
              <a:ext cx="7467600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2D4F000D-2E99-7D69-DB10-EA371201C90C}"/>
                </a:ext>
              </a:extLst>
            </p:cNvPr>
            <p:cNvSpPr txBox="1"/>
            <p:nvPr/>
          </p:nvSpPr>
          <p:spPr>
            <a:xfrm>
              <a:off x="10213837" y="1272540"/>
              <a:ext cx="7037409" cy="31085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les couches LSTM capturent la dynamique séquentielle du trafic, tandis que la régularisation </a:t>
              </a:r>
              <a:r>
                <a:rPr kumimoji="0" lang="fr-FR" sz="28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variationnelle</a:t>
              </a: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(KL) force le modèle à apprendre une frontière de normalité généralisable.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L’anomalie se détecte par une erreur de reconstruction (MSE) élevée.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3C41E93-2F0E-C328-F6AA-E65BF283FD1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11309" r="6838" b="3581"/>
          <a:stretch>
            <a:fillRect/>
          </a:stretch>
        </p:blipFill>
        <p:spPr>
          <a:xfrm>
            <a:off x="3660261" y="1445938"/>
            <a:ext cx="5483739" cy="80415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850043D-37D1-8499-01B6-220E7005900D}"/>
              </a:ext>
            </a:extLst>
          </p:cNvPr>
          <p:cNvSpPr txBox="1"/>
          <p:nvPr/>
        </p:nvSpPr>
        <p:spPr>
          <a:xfrm>
            <a:off x="3558060" y="800100"/>
            <a:ext cx="5814540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modèle LSTM-VAE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8219CF7-7862-834C-D258-48ADEE63082E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6849EF0-5F14-B039-50F9-7028C927EF9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4">
            <a:extLst>
              <a:ext uri="{FF2B5EF4-FFF2-40B4-BE49-F238E27FC236}">
                <a16:creationId xmlns:a16="http://schemas.microsoft.com/office/drawing/2014/main" id="{CFCC04D1-15FD-0BCC-6ACE-698C73F2ADD8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4E8C1D-CBA7-42C9-1D8E-5FA2FA01200D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26DF7B-26FA-F0CD-5538-ADDC7F22DD2A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1283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6D7F7-FD00-ABB8-1E7F-8DBF7B6F3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EDA1B-2473-11DE-2235-0A90DC62AEB8}"/>
              </a:ext>
            </a:extLst>
          </p:cNvPr>
          <p:cNvSpPr txBox="1"/>
          <p:nvPr/>
        </p:nvSpPr>
        <p:spPr>
          <a:xfrm>
            <a:off x="7170065" y="710619"/>
            <a:ext cx="5859296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Ingénierie des caractéristiques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5A44D2-F739-6F56-EE74-7EAD9B6A1872}"/>
              </a:ext>
            </a:extLst>
          </p:cNvPr>
          <p:cNvSpPr txBox="1"/>
          <p:nvPr/>
        </p:nvSpPr>
        <p:spPr>
          <a:xfrm>
            <a:off x="4749798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Le score ANOVA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alysis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riance), qui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capacité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caractéristique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distinguer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statistiquement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du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malveillant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26288AE-67B0-D331-0DDF-08479747D132}"/>
              </a:ext>
            </a:extLst>
          </p:cNvPr>
          <p:cNvGrpSpPr/>
          <p:nvPr/>
        </p:nvGrpSpPr>
        <p:grpSpPr>
          <a:xfrm>
            <a:off x="3513086" y="3896510"/>
            <a:ext cx="5630914" cy="1143000"/>
            <a:chOff x="3944568" y="2857500"/>
            <a:chExt cx="5630914" cy="1143000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3D073489-49ED-C3E8-3D5A-F5AA36C9B90C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A32D81-23F4-6C23-8E47-72EFAD7D2BA0}"/>
                </a:ext>
              </a:extLst>
            </p:cNvPr>
            <p:cNvSpPr txBox="1"/>
            <p:nvPr/>
          </p:nvSpPr>
          <p:spPr>
            <a:xfrm>
              <a:off x="4363073" y="3033897"/>
              <a:ext cx="4760145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Nettoyage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Valeur NaN / infinies écartés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E27F4B-53A9-123F-2E02-98890DA0C74D}"/>
              </a:ext>
            </a:extLst>
          </p:cNvPr>
          <p:cNvGrpSpPr/>
          <p:nvPr/>
        </p:nvGrpSpPr>
        <p:grpSpPr>
          <a:xfrm>
            <a:off x="3513086" y="5700021"/>
            <a:ext cx="5630914" cy="1143000"/>
            <a:chOff x="3944568" y="2857500"/>
            <a:chExt cx="5630914" cy="1143000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17BA8849-E15F-33E6-9AC2-AE7AA8904E1D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E55124C-DDF7-3692-648D-28A78CD02D08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Sélection équilibrée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( 16 caractéristiques, ANOVA par type d’attaque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5128517-91EB-DAC7-197F-E1E5FF26351F}"/>
              </a:ext>
            </a:extLst>
          </p:cNvPr>
          <p:cNvGrpSpPr/>
          <p:nvPr/>
        </p:nvGrpSpPr>
        <p:grpSpPr>
          <a:xfrm>
            <a:off x="3513086" y="7503532"/>
            <a:ext cx="5630914" cy="1143000"/>
            <a:chOff x="3944568" y="2857500"/>
            <a:chExt cx="5630914" cy="114300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BDDDB508-AB73-F3E3-8BCA-42D17CFE0B86}"/>
                </a:ext>
              </a:extLst>
            </p:cNvPr>
            <p:cNvSpPr/>
            <p:nvPr/>
          </p:nvSpPr>
          <p:spPr>
            <a:xfrm>
              <a:off x="3944568" y="2857500"/>
              <a:ext cx="5630914" cy="11430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219A29E-185D-A3FA-77C3-4A4607109F20}"/>
                </a:ext>
              </a:extLst>
            </p:cNvPr>
            <p:cNvSpPr txBox="1"/>
            <p:nvPr/>
          </p:nvSpPr>
          <p:spPr>
            <a:xfrm>
              <a:off x="4114759" y="3008343"/>
              <a:ext cx="5257841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Normalisation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MinMax</a:t>
              </a:r>
              <a:endParaRPr kumimoji="0" lang="fr-FR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fr-FR" sz="2000">
                  <a:solidFill>
                    <a:prstClr val="white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 Intervalle [0,1] )</a:t>
              </a:r>
              <a:endParaRPr kumimoji="0" lang="en-US" sz="20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7969BE0-CFA2-5004-0F0D-BA296A53AEEF}"/>
              </a:ext>
            </a:extLst>
          </p:cNvPr>
          <p:cNvCxnSpPr>
            <a:cxnSpLocks/>
            <a:stCxn id="12" idx="2"/>
            <a:endCxn id="17" idx="0"/>
          </p:cNvCxnSpPr>
          <p:nvPr/>
        </p:nvCxnSpPr>
        <p:spPr>
          <a:xfrm>
            <a:off x="6328543" y="5039510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7F02021-55F5-56E4-4A7D-FBD7D997651B}"/>
              </a:ext>
            </a:extLst>
          </p:cNvPr>
          <p:cNvCxnSpPr>
            <a:cxnSpLocks/>
            <a:stCxn id="17" idx="2"/>
            <a:endCxn id="20" idx="0"/>
          </p:cNvCxnSpPr>
          <p:nvPr/>
        </p:nvCxnSpPr>
        <p:spPr>
          <a:xfrm>
            <a:off x="6328543" y="6843021"/>
            <a:ext cx="0" cy="6605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EEBF9591-CD6A-8075-929C-2FC11A80DA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367"/>
          <a:stretch>
            <a:fillRect/>
          </a:stretch>
        </p:blipFill>
        <p:spPr>
          <a:xfrm>
            <a:off x="9304606" y="3390900"/>
            <a:ext cx="8952914" cy="5601984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726624-DA85-7929-2F81-08D42D3FF02B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7102539D-6A02-6353-797F-F0918B692E4C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4">
            <a:extLst>
              <a:ext uri="{FF2B5EF4-FFF2-40B4-BE49-F238E27FC236}">
                <a16:creationId xmlns:a16="http://schemas.microsoft.com/office/drawing/2014/main" id="{19C27823-8ED5-AF2A-8C43-0ECF47B55A5E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B5F2997-A7F3-8C69-E25E-EA685C939318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4482341-C8F6-B7FD-CA43-4A6ECAF6336C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7473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6FE37-F6BF-5D57-1104-4E1119E2FD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4562E6AD-34C7-C413-C2FE-541A1ECC982C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84546918-6C94-C822-36CF-519E93BD2F8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D59FD41A-BC57-92E5-6629-09F8944F0527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7D234F-45B4-2BF6-B8EB-1230F78650C5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D2829C-EC80-629C-1A88-92F59DA4BB90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3EB6836-974B-57CA-8FB6-C1002A47822F}"/>
              </a:ext>
            </a:extLst>
          </p:cNvPr>
          <p:cNvSpPr txBox="1"/>
          <p:nvPr/>
        </p:nvSpPr>
        <p:spPr>
          <a:xfrm>
            <a:off x="8498378" y="728872"/>
            <a:ext cx="389401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du seuil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5EC5A-3094-7832-C376-30548E0733A2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calibration du 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seuil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τ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détermine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à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partir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l’erreur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reconstruction (MSE)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mesurée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sur le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trafic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bénin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de validation, le point de bascule entre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normal et </a:t>
            </a: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anomalie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213074-D409-6BA8-4AF2-95409AEE8B94}"/>
              </a:ext>
            </a:extLst>
          </p:cNvPr>
          <p:cNvGrpSpPr/>
          <p:nvPr/>
        </p:nvGrpSpPr>
        <p:grpSpPr>
          <a:xfrm>
            <a:off x="6033752" y="2657135"/>
            <a:ext cx="4030714" cy="707886"/>
            <a:chOff x="3944568" y="2857500"/>
            <a:chExt cx="5630914" cy="707886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CB1394CD-8576-DF8A-0E39-B6DAA944192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B67237A-7E21-8EE9-071E-5F564F467E6A}"/>
                </a:ext>
              </a:extLst>
            </p:cNvPr>
            <p:cNvSpPr txBox="1"/>
            <p:nvPr/>
          </p:nvSpPr>
          <p:spPr>
            <a:xfrm>
              <a:off x="4363073" y="2961490"/>
              <a:ext cx="4760145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Optimum F1: </a:t>
              </a:r>
              <a:r>
                <a:rPr kumimoji="0" lang="el-G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τ</a:t>
              </a:r>
              <a:r>
                <a:rPr kumimoji="0" lang="fr-FR" sz="22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= 37,77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21B13C1-568D-4F0B-C323-BAE6791C4358}"/>
              </a:ext>
            </a:extLst>
          </p:cNvPr>
          <p:cNvGrpSpPr/>
          <p:nvPr/>
        </p:nvGrpSpPr>
        <p:grpSpPr>
          <a:xfrm>
            <a:off x="6021669" y="3638559"/>
            <a:ext cx="4030714" cy="707886"/>
            <a:chOff x="3944568" y="2857500"/>
            <a:chExt cx="5630914" cy="707886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9A1E8F4-0EDE-C0B9-328C-747764C69F69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+2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=77,95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4283FAFD-18C5-B4ED-6306-DB31433FE2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3"/>
                  <a:stretch>
                    <a:fillRect b="-704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7BDA0DC-B027-58F4-46F2-DC1D54A7486C}"/>
              </a:ext>
            </a:extLst>
          </p:cNvPr>
          <p:cNvGrpSpPr/>
          <p:nvPr/>
        </p:nvGrpSpPr>
        <p:grpSpPr>
          <a:xfrm>
            <a:off x="11140905" y="2638014"/>
            <a:ext cx="4030714" cy="707886"/>
            <a:chOff x="3944568" y="2857500"/>
            <a:chExt cx="5630914" cy="707886"/>
          </a:xfrm>
        </p:grpSpPr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CAC9C90-3C7D-47BB-4C9C-3175FB53C826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/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vl="0" algn="ctr"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𝛍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fr-FR" sz="2000" b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𝟓</m:t>
                        </m:r>
                        <m:r>
                          <a:rPr lang="fr-FR" sz="2000" b="1" i="1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𝛔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:</m:t>
                        </m:r>
                        <m:r>
                          <a:rPr lang="fr-FR" sz="2000" b="1" i="1" dirty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𝛕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𝟔𝟖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𝐫𝐞𝐭𝐞𝐧𝐮</m:t>
                        </m:r>
                        <m:r>
                          <a:rPr lang="fr-FR" sz="2000" b="1" i="0" dirty="0" smtClean="0">
                            <a:solidFill>
                              <a:prstClr val="white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kumimoji="0" lang="fr-FR" sz="2000" b="1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EBFCC2FA-BE7F-669E-B40B-5038F7F7B3A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3011388"/>
                  <a:ext cx="5114525" cy="400110"/>
                </a:xfrm>
                <a:prstGeom prst="rect">
                  <a:avLst/>
                </a:prstGeom>
                <a:blipFill>
                  <a:blip r:embed="rId4"/>
                  <a:stretch>
                    <a:fillRect l="-833" r="-167" b="-151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3EC63B5E-0C47-4569-E497-37A0C5ABC7FE}"/>
              </a:ext>
            </a:extLst>
          </p:cNvPr>
          <p:cNvGrpSpPr/>
          <p:nvPr/>
        </p:nvGrpSpPr>
        <p:grpSpPr>
          <a:xfrm>
            <a:off x="11140905" y="3563082"/>
            <a:ext cx="4030714" cy="707886"/>
            <a:chOff x="3944568" y="2857500"/>
            <a:chExt cx="5630914" cy="707886"/>
          </a:xfrm>
        </p:grpSpPr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849B6E6-22A0-EC4E-0764-7536CED99E3D}"/>
                </a:ext>
              </a:extLst>
            </p:cNvPr>
            <p:cNvSpPr/>
            <p:nvPr/>
          </p:nvSpPr>
          <p:spPr>
            <a:xfrm>
              <a:off x="3944568" y="2857500"/>
              <a:ext cx="5630914" cy="707886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/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𝜇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+3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𝜎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: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𝜏</m:t>
                        </m:r>
                        <m:r>
                          <a:rPr kumimoji="0" lang="fr-FR" sz="2200" i="0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prstClr val="white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</a:rPr>
                          <m:t>=97,62</m:t>
                        </m:r>
                      </m:oMath>
                    </m:oMathPara>
                  </a14:m>
                  <a:endParaRPr kumimoji="0" lang="fr-FR" sz="220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A01B5BD1-5CB8-608E-EEE0-4B45B77222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63073" y="2961490"/>
                  <a:ext cx="4760145" cy="430887"/>
                </a:xfrm>
                <a:prstGeom prst="rect">
                  <a:avLst/>
                </a:prstGeom>
                <a:blipFill>
                  <a:blip r:embed="rId5"/>
                  <a:stretch>
                    <a:fillRect b="-8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570A2664-7184-C1EC-88C4-184BEE434CE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3326" y="4818719"/>
            <a:ext cx="8249834" cy="5006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168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B1C970-996F-9F14-E7D0-592C9D37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52B24C-36E1-9211-D03A-9C8CED6945BB}"/>
              </a:ext>
            </a:extLst>
          </p:cNvPr>
          <p:cNvSpPr txBox="1"/>
          <p:nvPr/>
        </p:nvSpPr>
        <p:spPr>
          <a:xfrm>
            <a:off x="7141499" y="742585"/>
            <a:ext cx="6607771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Évaluation du modèle LSTM-VAE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76EA36-10D7-6170-B092-F24FAEF3F965}"/>
              </a:ext>
            </a:extLst>
          </p:cNvPr>
          <p:cNvSpPr txBox="1"/>
          <p:nvPr/>
        </p:nvSpPr>
        <p:spPr>
          <a:xfrm>
            <a:off x="5263787" y="1616214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/>
              <a:t>Les deux architectures </a:t>
            </a:r>
            <a:r>
              <a:rPr lang="en-US" sz="2000" b="1" err="1"/>
              <a:t>ont</a:t>
            </a:r>
            <a:r>
              <a:rPr lang="en-US" sz="2000" b="1"/>
              <a:t> </a:t>
            </a:r>
            <a:r>
              <a:rPr lang="en-US" sz="2000" b="1" err="1"/>
              <a:t>été</a:t>
            </a:r>
            <a:r>
              <a:rPr lang="en-US" sz="2000" b="1"/>
              <a:t> </a:t>
            </a:r>
            <a:r>
              <a:rPr lang="en-US" sz="2000" b="1" err="1"/>
              <a:t>entraînées</a:t>
            </a:r>
            <a:r>
              <a:rPr lang="en-US" sz="2000" b="1"/>
              <a:t> et </a:t>
            </a:r>
            <a:r>
              <a:rPr lang="en-US" sz="2000" b="1" err="1"/>
              <a:t>évaluées</a:t>
            </a:r>
            <a:r>
              <a:rPr lang="en-US" sz="2000" b="1"/>
              <a:t> dans des conditions </a:t>
            </a:r>
            <a:r>
              <a:rPr lang="en-US" sz="2000" b="1" err="1"/>
              <a:t>strictement</a:t>
            </a:r>
            <a:r>
              <a:rPr lang="en-US" sz="2000" b="1"/>
              <a:t> </a:t>
            </a:r>
            <a:r>
              <a:rPr lang="en-US" sz="2000" b="1" err="1"/>
              <a:t>identiques</a:t>
            </a:r>
            <a:r>
              <a:rPr lang="en-US" sz="2000"/>
              <a:t> </a:t>
            </a:r>
            <a:r>
              <a:rPr lang="en-US" sz="2000" err="1"/>
              <a:t>mêmes</a:t>
            </a:r>
            <a:r>
              <a:rPr lang="en-US" sz="2000"/>
              <a:t> 16 </a:t>
            </a:r>
            <a:r>
              <a:rPr lang="en-US" sz="2000" err="1"/>
              <a:t>caractéristiques</a:t>
            </a:r>
            <a:r>
              <a:rPr lang="en-US" sz="2000"/>
              <a:t>, </a:t>
            </a:r>
            <a:r>
              <a:rPr lang="en-US" sz="2000" err="1"/>
              <a:t>même</a:t>
            </a:r>
            <a:r>
              <a:rPr lang="en-US" sz="2000"/>
              <a:t> jeu de données, </a:t>
            </a:r>
            <a:r>
              <a:rPr lang="en-US" sz="2000" err="1"/>
              <a:t>même</a:t>
            </a:r>
            <a:r>
              <a:rPr lang="en-US" sz="2000"/>
              <a:t> </a:t>
            </a:r>
            <a:r>
              <a:rPr lang="en-US" sz="2000" err="1"/>
              <a:t>méthodologie</a:t>
            </a:r>
            <a:r>
              <a:rPr lang="en-US" sz="2000"/>
              <a:t> de </a:t>
            </a:r>
            <a:r>
              <a:rPr lang="en-US" sz="2000" err="1"/>
              <a:t>seuil</a:t>
            </a:r>
            <a:r>
              <a:rPr lang="en-US" sz="2000"/>
              <a:t>.</a:t>
            </a:r>
            <a:endParaRPr lang="en-US" sz="2000">
              <a:effectLst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69B1A46-009C-FF8A-5FC3-4A3A21287114}"/>
              </a:ext>
            </a:extLst>
          </p:cNvPr>
          <p:cNvGrpSpPr/>
          <p:nvPr/>
        </p:nvGrpSpPr>
        <p:grpSpPr>
          <a:xfrm>
            <a:off x="5263784" y="7355783"/>
            <a:ext cx="10363200" cy="1962598"/>
            <a:chOff x="790380" y="625140"/>
            <a:chExt cx="8785102" cy="19625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ABF3F38E-C32D-5C62-2C4A-F1C83D3711A5}"/>
                </a:ext>
              </a:extLst>
            </p:cNvPr>
            <p:cNvSpPr/>
            <p:nvPr/>
          </p:nvSpPr>
          <p:spPr>
            <a:xfrm>
              <a:off x="790380" y="625140"/>
              <a:ext cx="8785102" cy="196259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94539C8-C124-D5CE-9B26-6515A475E5AC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446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Validation en conditions réelles (chaîne complète, 4 nœuds, 46 960 flux rejoués chronologiquement) : 6 attaques sur 6 détectées à 100 % des fenêtres, dont le brute-force SSH (Hydra) — angle mort de Suricata comblé par la détection comportementale. FPR réel : 0,18 % (contre 9,23 % en évaluation hors ligne).</a:t>
              </a:r>
            </a:p>
          </p:txBody>
        </p:sp>
      </p:grp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EE15CB9-F096-8828-B336-8431BA35CB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406852"/>
              </p:ext>
            </p:extLst>
          </p:nvPr>
        </p:nvGraphicFramePr>
        <p:xfrm>
          <a:off x="6406780" y="3449575"/>
          <a:ext cx="8077200" cy="29402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0384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2026016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715206"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Métrique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LSTM-VAE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Isolation Forest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50,95 %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FPR global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57,36 %</a:t>
                      </a:r>
                      <a:endParaRPr lang="en-US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Précision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87,41 %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52,17 %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FTP-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98,01 %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0,23 %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SSH-</a:t>
                      </a:r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Patator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solidFill>
                            <a:srgbClr val="00B05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6,23 %</a:t>
                      </a:r>
                      <a:endParaRPr lang="en-US">
                        <a:solidFill>
                          <a:srgbClr val="00B05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0,29 %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54160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</a:t>
                      </a:r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DDoS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83,98 %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84,31 %</a:t>
                      </a:r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811303"/>
                  </a:ext>
                </a:extLst>
              </a:tr>
            </a:tbl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583A5A09-2771-E67E-A85F-264EB4E4CEA6}"/>
              </a:ext>
            </a:extLst>
          </p:cNvPr>
          <p:cNvSpPr/>
          <p:nvPr/>
        </p:nvSpPr>
        <p:spPr>
          <a:xfrm>
            <a:off x="0" y="-304801"/>
            <a:ext cx="2852107" cy="10896600"/>
          </a:xfrm>
          <a:prstGeom prst="rect">
            <a:avLst/>
          </a:prstGeom>
          <a:solidFill>
            <a:schemeClr val="bg1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3F1E150-B430-93A9-EA1A-AE27475F0DE1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1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14E420D4-3653-44A3-C5E5-137E2F3F2A62}"/>
              </a:ext>
            </a:extLst>
          </p:cNvPr>
          <p:cNvSpPr txBox="1"/>
          <p:nvPr/>
        </p:nvSpPr>
        <p:spPr>
          <a:xfrm rot="16200000">
            <a:off x="-2781752" y="4657137"/>
            <a:ext cx="674556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1 — Acquisition réseau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D4D4667-8899-43D4-7B7C-3A4CA8844553}"/>
              </a:ext>
            </a:extLst>
          </p:cNvPr>
          <p:cNvSpPr txBox="1"/>
          <p:nvPr/>
        </p:nvSpPr>
        <p:spPr>
          <a:xfrm rot="16200000">
            <a:off x="-3344778" y="3627446"/>
            <a:ext cx="880494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rgbClr val="909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2 — Pipeline de données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C4900C-B260-C5CD-A05C-778B128BD553}"/>
              </a:ext>
            </a:extLst>
          </p:cNvPr>
          <p:cNvSpPr txBox="1"/>
          <p:nvPr/>
        </p:nvSpPr>
        <p:spPr>
          <a:xfrm rot="16200000">
            <a:off x="-2197121" y="5052545"/>
            <a:ext cx="84656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Sprint 3 — Détection </a:t>
            </a:r>
            <a:r>
              <a:rPr lang="en-US" sz="40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comportementale</a:t>
            </a:r>
            <a:endParaRPr lang="en-US" sz="4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50834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14BC4-3AA1-F1A7-DFCE-84EE50F44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6881B50-7AA9-CDAD-56D8-06E008BE423D}"/>
              </a:ext>
            </a:extLst>
          </p:cNvPr>
          <p:cNvGrpSpPr/>
          <p:nvPr/>
        </p:nvGrpSpPr>
        <p:grpSpPr>
          <a:xfrm>
            <a:off x="914400" y="723900"/>
            <a:ext cx="13030200" cy="3810000"/>
            <a:chOff x="1219200" y="1333500"/>
            <a:chExt cx="13030200" cy="3810000"/>
          </a:xfrm>
        </p:grpSpPr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A133702D-7978-0E39-10AB-C5C065E05382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1 – Détection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E7D8458C-191A-0276-8ECF-728FFD85F1A7}"/>
                </a:ext>
              </a:extLst>
            </p:cNvPr>
            <p:cNvGrpSpPr/>
            <p:nvPr/>
          </p:nvGrpSpPr>
          <p:grpSpPr>
            <a:xfrm>
              <a:off x="1447800" y="2644139"/>
              <a:ext cx="6009538" cy="685800"/>
              <a:chOff x="1447800" y="3086100"/>
              <a:chExt cx="6009538" cy="685800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735A9BF8-8EF4-211B-9F71-A9453C716B09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23B99A6-7AF7-2C3B-7EC8-671B255C8CCA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18938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1 — Acquisition réseau</a:t>
                </a:r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BBF55678-9BC5-BDEC-7B49-1EB5B272F471}"/>
                </a:ext>
              </a:extLst>
            </p:cNvPr>
            <p:cNvGrpSpPr/>
            <p:nvPr/>
          </p:nvGrpSpPr>
          <p:grpSpPr>
            <a:xfrm>
              <a:off x="1447800" y="3573779"/>
              <a:ext cx="6062822" cy="685800"/>
              <a:chOff x="1447800" y="3086100"/>
              <a:chExt cx="6062822" cy="685800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3F5B791-EB83-8F01-0523-C134FAC263E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77C29D6-D15F-34CF-A528-A8926637EA57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507222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2 — Pipeline de données</a:t>
                </a:r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753B4C1F-5B19-040B-83B0-DC81F8BDEDFE}"/>
                </a:ext>
              </a:extLst>
            </p:cNvPr>
            <p:cNvGrpSpPr/>
            <p:nvPr/>
          </p:nvGrpSpPr>
          <p:grpSpPr>
            <a:xfrm>
              <a:off x="1447800" y="4457700"/>
              <a:ext cx="7253853" cy="685800"/>
              <a:chOff x="1447800" y="3086100"/>
              <a:chExt cx="7253853" cy="685800"/>
            </a:xfrm>
          </p:grpSpPr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1A326739-D629-2A75-2CA0-6D9F3050448A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2D6D79-9D7A-E47C-B8C2-18EA2EC7D69E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26325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3 — Détection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comportementale</a:t>
                </a:r>
                <a:endParaRPr lang="en-US" sz="30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4B514D6-A587-BBF9-9C76-B6BE9A6A33E8}"/>
              </a:ext>
            </a:extLst>
          </p:cNvPr>
          <p:cNvGrpSpPr/>
          <p:nvPr/>
        </p:nvGrpSpPr>
        <p:grpSpPr>
          <a:xfrm>
            <a:off x="914400" y="5059678"/>
            <a:ext cx="13030200" cy="3810000"/>
            <a:chOff x="1219200" y="1333500"/>
            <a:chExt cx="13030200" cy="3810000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11AA2F7D-35B9-3F5A-60EC-1019D8BEE948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C5721B7C-A8E0-C1E4-529E-71D2360020A7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6927DFE-D8DD-B443-69EA-B425EF01BD2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6E011461-AB84-4AB0-9E7F-4FF3B75A658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F7DA9E7-242B-32B2-A2E7-95D881792670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EA0A953E-C872-89C9-880C-CB021FEF0045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0CCC03A-2D4F-D83F-DFBE-7A3788D19009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51B5371-62FF-CBC1-EA8F-CAE32D6EF92F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AC58A63-3792-9131-1C88-BA790A4896F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B500BD1C-949E-90BF-0919-D39DDD93E9A3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86603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C8BB0-1A82-381C-DD0E-A5A152CCB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2E7C759-6EE8-F811-25C6-A80DD014F9F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324FC5E-7EBF-1868-21BD-2364043BC61E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B689AD82-4784-500D-9212-A3CB637E4BCC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9B7DD9-B130-F71B-3985-05E0745EC064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B191F6-A091-AFBF-656E-96B2C572C72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BCA90D-C978-D06D-19B9-3AEBB2DA0849}"/>
              </a:ext>
            </a:extLst>
          </p:cNvPr>
          <p:cNvGrpSpPr/>
          <p:nvPr/>
        </p:nvGrpSpPr>
        <p:grpSpPr>
          <a:xfrm>
            <a:off x="12877800" y="2755093"/>
            <a:ext cx="4708145" cy="4776812"/>
            <a:chOff x="12259435" y="1074345"/>
            <a:chExt cx="6599432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4764E323-128F-C594-B226-80387CF3EA60}"/>
                </a:ext>
              </a:extLst>
            </p:cNvPr>
            <p:cNvSpPr/>
            <p:nvPr/>
          </p:nvSpPr>
          <p:spPr>
            <a:xfrm>
              <a:off x="12259435" y="1074345"/>
              <a:ext cx="6599432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9565C67-D089-E949-59BA-59CBB139EF6D}"/>
                </a:ext>
              </a:extLst>
            </p:cNvPr>
            <p:cNvSpPr txBox="1"/>
            <p:nvPr/>
          </p:nvSpPr>
          <p:spPr>
            <a:xfrm>
              <a:off x="12512007" y="1326057"/>
              <a:ext cx="6094287" cy="33638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Agent CTI (Dual-RAG): automatise la veille OSINT en triant chaque article via un LLM local (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Ollama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), confronté à deux bases de référence — l’historique des menaces déjà traitées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~ 49 000 règles </a:t>
              </a:r>
              <a:r>
                <a:rPr kumimoji="0" lang="fr-FR" sz="2400" i="0" u="none" strike="noStrike" kern="1200" cap="none" spc="0" normalizeH="0" baseline="0" noProof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Suricata</a:t>
              </a: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 existantes — avant de proposer soit une règle de détection candidate, soit un contenu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4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sensibilisation.</a:t>
              </a:r>
              <a:endParaRPr kumimoji="0" lang="en-US" sz="24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4A02E41-9602-E519-828B-CE681097E835}"/>
              </a:ext>
            </a:extLst>
          </p:cNvPr>
          <p:cNvSpPr txBox="1"/>
          <p:nvPr/>
        </p:nvSpPr>
        <p:spPr>
          <a:xfrm>
            <a:off x="4148250" y="1160502"/>
            <a:ext cx="817204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4 — Agent CTI (Dual-RAG)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F118BA-B931-ED67-F392-5831181D15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" t="10138" r="2572" b="1994"/>
          <a:stretch>
            <a:fillRect/>
          </a:stretch>
        </p:blipFill>
        <p:spPr>
          <a:xfrm>
            <a:off x="3520300" y="1790700"/>
            <a:ext cx="8799995" cy="6705600"/>
          </a:xfrm>
          <a:prstGeom prst="rect">
            <a:avLst/>
          </a:prstGeom>
        </p:spPr>
      </p:pic>
      <p:grpSp>
        <p:nvGrpSpPr>
          <p:cNvPr id="2" name="Group 13">
            <a:extLst>
              <a:ext uri="{FF2B5EF4-FFF2-40B4-BE49-F238E27FC236}">
                <a16:creationId xmlns:a16="http://schemas.microsoft.com/office/drawing/2014/main" id="{DD59A256-FD4E-A511-6BF5-A12B89AA42D8}"/>
              </a:ext>
            </a:extLst>
          </p:cNvPr>
          <p:cNvGrpSpPr/>
          <p:nvPr/>
        </p:nvGrpSpPr>
        <p:grpSpPr>
          <a:xfrm rot="16200000">
            <a:off x="-10029525" y="5059679"/>
            <a:ext cx="13030200" cy="3810000"/>
            <a:chOff x="1219200" y="1333500"/>
            <a:chExt cx="13030200" cy="3810000"/>
          </a:xfrm>
        </p:grpSpPr>
        <p:sp>
          <p:nvSpPr>
            <p:cNvPr id="4" name="Rectangle: Rounded Corners 14">
              <a:extLst>
                <a:ext uri="{FF2B5EF4-FFF2-40B4-BE49-F238E27FC236}">
                  <a16:creationId xmlns:a16="http://schemas.microsoft.com/office/drawing/2014/main" id="{346186FF-E57C-5CAD-A789-C656FA1CD86E}"/>
                </a:ext>
              </a:extLst>
            </p:cNvPr>
            <p:cNvSpPr/>
            <p:nvPr/>
          </p:nvSpPr>
          <p:spPr>
            <a:xfrm>
              <a:off x="1219200" y="1333500"/>
              <a:ext cx="13030200" cy="91440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fr-FR" sz="3200">
                  <a:latin typeface="Times New Roman" panose="02020603050405020304" pitchFamily="18" charset="0"/>
                  <a:cs typeface="Times New Roman" panose="02020603050405020304" pitchFamily="18" charset="0"/>
                </a:rPr>
                <a:t>Release 2 – Prévention &amp; Réponse</a:t>
              </a:r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6" name="Group 15">
              <a:extLst>
                <a:ext uri="{FF2B5EF4-FFF2-40B4-BE49-F238E27FC236}">
                  <a16:creationId xmlns:a16="http://schemas.microsoft.com/office/drawing/2014/main" id="{88DD0024-ED39-1F58-7103-035DFB09C8FD}"/>
                </a:ext>
              </a:extLst>
            </p:cNvPr>
            <p:cNvGrpSpPr/>
            <p:nvPr/>
          </p:nvGrpSpPr>
          <p:grpSpPr>
            <a:xfrm>
              <a:off x="1447800" y="2644139"/>
              <a:ext cx="8194432" cy="685800"/>
              <a:chOff x="1447800" y="3086100"/>
              <a:chExt cx="8194432" cy="685800"/>
            </a:xfrm>
          </p:grpSpPr>
          <p:sp>
            <p:nvSpPr>
              <p:cNvPr id="19" name="Oval 22">
                <a:extLst>
                  <a:ext uri="{FF2B5EF4-FFF2-40B4-BE49-F238E27FC236}">
                    <a16:creationId xmlns:a16="http://schemas.microsoft.com/office/drawing/2014/main" id="{B48F2DE5-E374-5D01-0181-938879A17393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0" name="TextBox 23">
                <a:extLst>
                  <a:ext uri="{FF2B5EF4-FFF2-40B4-BE49-F238E27FC236}">
                    <a16:creationId xmlns:a16="http://schemas.microsoft.com/office/drawing/2014/main" id="{DB4BCCC7-6F1B-45A1-51EE-2F40093C9CC6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203832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4 — Anticipation par le renseignement</a:t>
                </a:r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B12558CA-7DE0-E233-F3BD-C2F00E346492}"/>
                </a:ext>
              </a:extLst>
            </p:cNvPr>
            <p:cNvGrpSpPr/>
            <p:nvPr/>
          </p:nvGrpSpPr>
          <p:grpSpPr>
            <a:xfrm>
              <a:off x="1447800" y="3573779"/>
              <a:ext cx="7378887" cy="685800"/>
              <a:chOff x="1447800" y="3086100"/>
              <a:chExt cx="7378887" cy="685800"/>
            </a:xfrm>
          </p:grpSpPr>
          <p:sp>
            <p:nvSpPr>
              <p:cNvPr id="17" name="Oval 20">
                <a:extLst>
                  <a:ext uri="{FF2B5EF4-FFF2-40B4-BE49-F238E27FC236}">
                    <a16:creationId xmlns:a16="http://schemas.microsoft.com/office/drawing/2014/main" id="{F4536AD9-BFEC-E5EB-4601-A2E16D12D908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5</a:t>
                </a:r>
              </a:p>
            </p:txBody>
          </p:sp>
          <p:sp>
            <p:nvSpPr>
              <p:cNvPr id="18" name="TextBox 21">
                <a:extLst>
                  <a:ext uri="{FF2B5EF4-FFF2-40B4-BE49-F238E27FC236}">
                    <a16:creationId xmlns:a16="http://schemas.microsoft.com/office/drawing/2014/main" id="{C1438378-424E-8072-9D25-0B1C7E625F7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6388287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5 — Mitigation du </a:t>
                </a:r>
                <a:r>
                  <a:rPr lang="en-US" sz="300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risque</a:t>
                </a:r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humain</a:t>
                </a:r>
              </a:p>
            </p:txBody>
          </p:sp>
        </p:grp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E9F32847-B9C7-3A1A-9D9C-2446C0C5DE7D}"/>
                </a:ext>
              </a:extLst>
            </p:cNvPr>
            <p:cNvGrpSpPr/>
            <p:nvPr/>
          </p:nvGrpSpPr>
          <p:grpSpPr>
            <a:xfrm>
              <a:off x="1447800" y="4457700"/>
              <a:ext cx="8465723" cy="685800"/>
              <a:chOff x="1447800" y="3086100"/>
              <a:chExt cx="8465723" cy="685800"/>
            </a:xfrm>
          </p:grpSpPr>
          <p:sp>
            <p:nvSpPr>
              <p:cNvPr id="15" name="Oval 18">
                <a:extLst>
                  <a:ext uri="{FF2B5EF4-FFF2-40B4-BE49-F238E27FC236}">
                    <a16:creationId xmlns:a16="http://schemas.microsoft.com/office/drawing/2014/main" id="{CE9AE4D1-0CE8-8973-4F50-AA9AD30D3144}"/>
                  </a:ext>
                </a:extLst>
              </p:cNvPr>
              <p:cNvSpPr/>
              <p:nvPr/>
            </p:nvSpPr>
            <p:spPr>
              <a:xfrm>
                <a:off x="1447800" y="3086100"/>
                <a:ext cx="685800" cy="685800"/>
              </a:xfrm>
              <a:prstGeom prst="ellipse">
                <a:avLst/>
              </a:prstGeom>
              <a:noFill/>
              <a:ln>
                <a:solidFill>
                  <a:srgbClr val="7030A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3200">
                    <a:solidFill>
                      <a:srgbClr val="7030A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6</a:t>
                </a:r>
                <a:endParaRPr lang="en-US" sz="3200">
                  <a:solidFill>
                    <a:srgbClr val="7030A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" name="TextBox 19">
                <a:extLst>
                  <a:ext uri="{FF2B5EF4-FFF2-40B4-BE49-F238E27FC236}">
                    <a16:creationId xmlns:a16="http://schemas.microsoft.com/office/drawing/2014/main" id="{142230BF-F6E4-57B5-BFA8-22CD76712C1C}"/>
                  </a:ext>
                </a:extLst>
              </p:cNvPr>
              <p:cNvSpPr txBox="1"/>
              <p:nvPr/>
            </p:nvSpPr>
            <p:spPr>
              <a:xfrm>
                <a:off x="2438400" y="3169920"/>
                <a:ext cx="7475123" cy="55399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Sprint 6 — Orchestration SOAR &amp; supervision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355851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0CCF8-2E2D-D8FB-A163-05483FAC1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D3C4967-BB23-C328-9A73-061D396FA5A3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4822D24-380E-87DB-095F-67628559D016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B38EE2C-87BE-997B-A00A-C63D65C707DB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2F1D71-B30C-B523-B148-36A81BBAF36E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64156B-7F6A-2FAD-E578-6ADE5D6DB10A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7F0EF6-CC1C-AC52-422D-2C5905A0013E}"/>
              </a:ext>
            </a:extLst>
          </p:cNvPr>
          <p:cNvSpPr txBox="1"/>
          <p:nvPr/>
        </p:nvSpPr>
        <p:spPr>
          <a:xfrm>
            <a:off x="8826104" y="800100"/>
            <a:ext cx="3988592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Le triage Dual-RAG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E6F05D-96EF-1BB8-8CF3-11C4E6260906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Chaque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article OSINT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est classé en une seule passe par le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LLM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confronté aux deux bases de référence du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Dual-RAG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aboutissant à l’une de quatre issues possibles.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56C591-6767-3F7A-CB9D-A0B355C168D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4" t="7143" r="2444" b="7143"/>
          <a:stretch>
            <a:fillRect/>
          </a:stretch>
        </p:blipFill>
        <p:spPr>
          <a:xfrm>
            <a:off x="5219700" y="3314699"/>
            <a:ext cx="11201400" cy="365760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94C8E0CD-2460-4558-D793-AEBB034E0899}"/>
              </a:ext>
            </a:extLst>
          </p:cNvPr>
          <p:cNvGrpSpPr/>
          <p:nvPr/>
        </p:nvGrpSpPr>
        <p:grpSpPr>
          <a:xfrm>
            <a:off x="5638800" y="8017012"/>
            <a:ext cx="10363200" cy="1622288"/>
            <a:chOff x="790380" y="625140"/>
            <a:chExt cx="8785102" cy="1622288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447D8BF-F66C-7094-A15C-A4EF1C66AE53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4CADAFD-AA19-8CFA-6C22-24162F26F783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déduplication en amont évite tout appel inutile au LLM sur du contenu déjà traité, tandis que la distinction technique/sensibilisation permet d’orienter chaque menace vers l’action adaptée — génération de règle ou formation des utilisateurs.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50956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A9FD9-91EE-27EC-B6B2-39D0EE3BA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2D7C29C0-545A-7CAE-0616-3E66566CEAE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A72EE63-C83B-C219-C21E-1A23B16D5FB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153C78B6-0FAB-D9E0-B73F-17BA5C8F8ED3}"/>
              </a:ext>
            </a:extLst>
          </p:cNvPr>
          <p:cNvSpPr txBox="1"/>
          <p:nvPr/>
        </p:nvSpPr>
        <p:spPr>
          <a:xfrm rot="16200000">
            <a:off x="-2747240" y="5018901"/>
            <a:ext cx="7162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641BA-1CC0-336D-D0B3-07D4B5E96859}"/>
              </a:ext>
            </a:extLst>
          </p:cNvPr>
          <p:cNvSpPr txBox="1"/>
          <p:nvPr/>
        </p:nvSpPr>
        <p:spPr>
          <a:xfrm rot="16200000">
            <a:off x="-1070071" y="6103406"/>
            <a:ext cx="507222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C6D26-E26E-54BD-25E9-587766DB9BBD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B412847-7E22-FBC4-3E63-9171AF89C212}"/>
              </a:ext>
            </a:extLst>
          </p:cNvPr>
          <p:cNvSpPr txBox="1"/>
          <p:nvPr/>
        </p:nvSpPr>
        <p:spPr>
          <a:xfrm>
            <a:off x="8187303" y="746760"/>
            <a:ext cx="5266185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 l’article à la règle active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9C0516-3C34-B68A-9666-01F54169E199}"/>
              </a:ext>
            </a:extLst>
          </p:cNvPr>
          <p:cNvSpPr txBox="1"/>
          <p:nvPr/>
        </p:nvSpPr>
        <p:spPr>
          <a:xfrm>
            <a:off x="5638800" y="1562100"/>
            <a:ext cx="1036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Une fois classée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TECHNICAL_THREAT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la menace suit un cycle de validation avant toute action sur l’infrastructure — aucune règle n’est injectée sans passer par un test syntaxique à blanc.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DD250EC-2938-13EC-9A0D-4CD65E950A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9" t="5956" r="5649" b="5956"/>
          <a:stretch>
            <a:fillRect/>
          </a:stretch>
        </p:blipFill>
        <p:spPr>
          <a:xfrm>
            <a:off x="4868810" y="3162300"/>
            <a:ext cx="5181600" cy="5999747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A3096CC3-8F3B-C8B5-1129-694C9E1676DE}"/>
              </a:ext>
            </a:extLst>
          </p:cNvPr>
          <p:cNvGrpSpPr/>
          <p:nvPr/>
        </p:nvGrpSpPr>
        <p:grpSpPr>
          <a:xfrm>
            <a:off x="11734800" y="3216414"/>
            <a:ext cx="4504550" cy="707886"/>
            <a:chOff x="9913989" y="1036320"/>
            <a:chExt cx="7467600" cy="364998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5318F262-EDB2-4C56-0203-A6219AE79E14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1CDB58B-600E-A4A7-67B1-014EEB25FBCF}"/>
                </a:ext>
              </a:extLst>
            </p:cNvPr>
            <p:cNvSpPr txBox="1"/>
            <p:nvPr/>
          </p:nvSpPr>
          <p:spPr>
            <a:xfrm>
              <a:off x="10271175" y="1591748"/>
              <a:ext cx="6753228" cy="25391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Génération &amp; Persistance</a:t>
              </a:r>
              <a:endParaRPr kumimoji="0" lang="en-US" sz="2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D62A3F-17D7-169D-A70F-A839BD95C677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E9793A7-28BB-2CC6-AF0E-8C3CA13D1AC2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ABAC4C98-3D25-14DB-7361-97409D5508C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4194AD46-5D5A-2F4C-BD19-EEDDA040372B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287834E-89BC-99CB-7614-FA65D6F42C35}"/>
              </a:ext>
            </a:extLst>
          </p:cNvPr>
          <p:cNvGrpSpPr/>
          <p:nvPr/>
        </p:nvGrpSpPr>
        <p:grpSpPr>
          <a:xfrm>
            <a:off x="11700772" y="5421149"/>
            <a:ext cx="4504550" cy="1246351"/>
            <a:chOff x="9913989" y="1036320"/>
            <a:chExt cx="7467600" cy="364998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9F01E926-BFDB-7021-BCEE-13CD2006101E}"/>
                </a:ext>
              </a:extLst>
            </p:cNvPr>
            <p:cNvSpPr/>
            <p:nvPr/>
          </p:nvSpPr>
          <p:spPr>
            <a:xfrm>
              <a:off x="9913989" y="1036320"/>
              <a:ext cx="7467600" cy="364998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F63341E9-F19C-8EA7-562A-E3AFE502EABE}"/>
                </a:ext>
              </a:extLst>
            </p:cNvPr>
            <p:cNvSpPr txBox="1"/>
            <p:nvPr/>
          </p:nvSpPr>
          <p:spPr>
            <a:xfrm>
              <a:off x="10066390" y="2093535"/>
              <a:ext cx="7049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390A9A0-A3A6-CB7E-E4C6-5F1D9E4FA258}"/>
                </a:ext>
              </a:extLst>
            </p:cNvPr>
            <p:cNvSpPr txBox="1"/>
            <p:nvPr/>
          </p:nvSpPr>
          <p:spPr>
            <a:xfrm>
              <a:off x="10066390" y="2532607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47C4E86-1BE2-741F-A33B-0AF59C7F84D0}"/>
                </a:ext>
              </a:extLst>
            </p:cNvPr>
            <p:cNvSpPr txBox="1"/>
            <p:nvPr/>
          </p:nvSpPr>
          <p:spPr>
            <a:xfrm>
              <a:off x="10066389" y="3350805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662E056-7ED6-D924-8B9D-4AC75DA84085}"/>
                </a:ext>
              </a:extLst>
            </p:cNvPr>
            <p:cNvSpPr txBox="1"/>
            <p:nvPr/>
          </p:nvSpPr>
          <p:spPr>
            <a:xfrm>
              <a:off x="10066389" y="3989962"/>
              <a:ext cx="18473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200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9" name="TextBox 38">
            <a:extLst>
              <a:ext uri="{FF2B5EF4-FFF2-40B4-BE49-F238E27FC236}">
                <a16:creationId xmlns:a16="http://schemas.microsoft.com/office/drawing/2014/main" id="{A51A06B5-72ED-E7D2-C9ED-9EBB7EBEAA4B}"/>
              </a:ext>
            </a:extLst>
          </p:cNvPr>
          <p:cNvSpPr txBox="1"/>
          <p:nvPr/>
        </p:nvSpPr>
        <p:spPr>
          <a:xfrm>
            <a:off x="12826559" y="5531666"/>
            <a:ext cx="2321032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Test à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blanc</a:t>
            </a: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&amp; </a:t>
            </a:r>
            <a:r>
              <a:rPr kumimoji="0" lang="en-US" sz="2600" b="1" i="0" u="none" strike="noStrike" kern="1200" cap="none" spc="0" normalizeH="0" baseline="0" noProof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Déploiement</a:t>
            </a:r>
            <a:endParaRPr kumimoji="0" lang="en-US" sz="2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0" name="Right Brace 39">
            <a:extLst>
              <a:ext uri="{FF2B5EF4-FFF2-40B4-BE49-F238E27FC236}">
                <a16:creationId xmlns:a16="http://schemas.microsoft.com/office/drawing/2014/main" id="{7120BD63-1A62-5D74-2498-3F115403B609}"/>
              </a:ext>
            </a:extLst>
          </p:cNvPr>
          <p:cNvSpPr/>
          <p:nvPr/>
        </p:nvSpPr>
        <p:spPr>
          <a:xfrm>
            <a:off x="10210800" y="4686300"/>
            <a:ext cx="838200" cy="2895600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CDD8C632-D6D5-EC40-893D-2B96D06C8947}"/>
              </a:ext>
            </a:extLst>
          </p:cNvPr>
          <p:cNvSpPr/>
          <p:nvPr/>
        </p:nvSpPr>
        <p:spPr>
          <a:xfrm>
            <a:off x="10173939" y="3250522"/>
            <a:ext cx="838200" cy="616327"/>
          </a:xfrm>
          <a:prstGeom prst="rightBrace">
            <a:avLst>
              <a:gd name="adj1" fmla="val 8333"/>
              <a:gd name="adj2" fmla="val 508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871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4D86D6-F110-A4F6-A677-94EEBA743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6174EBAA-9C9B-78E2-8823-2CE01BA1B21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E6E5AF0-5EDA-1718-D825-084D9C29C694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5FB44797-EAD2-DFB8-D8F4-7B716422C801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670861-ACD6-301E-852D-5E7FB745A564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E66A42-E547-4A41-16F6-98865A2053E9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7FF31E-F644-2466-F2A2-18B8A38BC34D}"/>
              </a:ext>
            </a:extLst>
          </p:cNvPr>
          <p:cNvGrpSpPr/>
          <p:nvPr/>
        </p:nvGrpSpPr>
        <p:grpSpPr>
          <a:xfrm>
            <a:off x="10997805" y="2171700"/>
            <a:ext cx="5470145" cy="3810000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D18BBF1-2302-3A46-37FC-637F7D48CFE3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4F98C5-B949-B46B-777C-BBA5B7C8C804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1552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article AWARENESS déclenche, sur décision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l’administrateur,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génération d’un parcours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de formation personnalisée,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8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sa diffusion ciblée et le suivi de conformité des employés.</a:t>
              </a:r>
              <a:endParaRPr kumimoji="0" lang="en-US" sz="28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9AC0994-A64A-F9F7-EF76-63C1C9C724F2}"/>
              </a:ext>
            </a:extLst>
          </p:cNvPr>
          <p:cNvSpPr txBox="1"/>
          <p:nvPr/>
        </p:nvSpPr>
        <p:spPr>
          <a:xfrm>
            <a:off x="3830527" y="1160502"/>
            <a:ext cx="92758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5 - Mitigation du risque humain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B6741-A7CD-9E85-462E-B4D42E7089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83" t="11308" r="22383" b="3101"/>
          <a:stretch>
            <a:fillRect/>
          </a:stretch>
        </p:blipFill>
        <p:spPr>
          <a:xfrm>
            <a:off x="5867400" y="2042401"/>
            <a:ext cx="4556760" cy="708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50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77D4B-2A73-AE68-3513-8D4852FA6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5BDFE2C7-F357-7A38-C44B-A41CF2762D6E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31B9B992-5C99-1A5E-C578-93E158EFA16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9F0CAB82-9EE5-4208-A321-7C98FB492C5C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50EADB-71F3-1711-BE7A-F07BD8F86BE6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628FA0-5789-03A1-6CF1-805665EA5660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A19E5D-01D0-5D9E-7F0B-FF61C9CFA939}"/>
              </a:ext>
            </a:extLst>
          </p:cNvPr>
          <p:cNvSpPr txBox="1"/>
          <p:nvPr/>
        </p:nvSpPr>
        <p:spPr>
          <a:xfrm>
            <a:off x="7382596" y="740807"/>
            <a:ext cx="687560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cascade de résilience multi-LLM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1FB3F4E-9819-15C8-A2D7-560061B5B5BA}"/>
              </a:ext>
            </a:extLst>
          </p:cNvPr>
          <p:cNvSpPr txBox="1"/>
          <p:nvPr/>
        </p:nvSpPr>
        <p:spPr>
          <a:xfrm>
            <a:off x="5638800" y="1562100"/>
            <a:ext cx="103632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 le fournisseur cloud primaire est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indisponible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le système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bascule automatiquement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vers un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palier de secours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jusqu’au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modèle local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— garantissant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la continuité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 service pédagogique en toute circonstance.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D63D015-F633-8B96-C803-5CCF26F2C450}"/>
              </a:ext>
            </a:extLst>
          </p:cNvPr>
          <p:cNvGrpSpPr/>
          <p:nvPr/>
        </p:nvGrpSpPr>
        <p:grpSpPr>
          <a:xfrm>
            <a:off x="5638800" y="8474212"/>
            <a:ext cx="10363200" cy="1088888"/>
            <a:chOff x="790380" y="625140"/>
            <a:chExt cx="8785102" cy="162228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308E6CC0-2DEB-8753-8C30-45B9A1F4CE21}"/>
                </a:ext>
              </a:extLst>
            </p:cNvPr>
            <p:cNvSpPr/>
            <p:nvPr/>
          </p:nvSpPr>
          <p:spPr>
            <a:xfrm>
              <a:off x="790380" y="625140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B7BCE32-F4A5-5DD4-3F04-D5C5831AAD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Le troisième palier, exécuté localement, ne dépend d’aucun accès réseau externe — une garantie de disponibilité même en cas de panne totale des deux fournisseurs cloud.</a:t>
              </a:r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C4E7EB4C-55CD-11FB-D8E4-8327DF1FF7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8" t="6163" r="3778" b="6217"/>
          <a:stretch>
            <a:fillRect/>
          </a:stretch>
        </p:blipFill>
        <p:spPr>
          <a:xfrm>
            <a:off x="7277095" y="3061083"/>
            <a:ext cx="7086601" cy="4929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050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A2C44-904D-AC4C-5950-1DE7A2101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E4A45809-FAE5-488C-AE87-12AFECF08797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454F1B7-ED02-02EC-9EFD-6A81843CE339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6446055-EE3C-8D57-5E3F-4497E07E58DB}"/>
              </a:ext>
            </a:extLst>
          </p:cNvPr>
          <p:cNvSpPr txBox="1"/>
          <p:nvPr/>
        </p:nvSpPr>
        <p:spPr>
          <a:xfrm rot="16200000">
            <a:off x="-2747240" y="51343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51E77-1E2E-BC77-ACF5-01CE1CE6FE2E}"/>
              </a:ext>
            </a:extLst>
          </p:cNvPr>
          <p:cNvSpPr txBox="1"/>
          <p:nvPr/>
        </p:nvSpPr>
        <p:spPr>
          <a:xfrm rot="16200000">
            <a:off x="-2123301" y="4980800"/>
            <a:ext cx="70866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3C55FC-4CA0-9EEC-D467-4D7380DE81FC}"/>
              </a:ext>
            </a:extLst>
          </p:cNvPr>
          <p:cNvSpPr txBox="1"/>
          <p:nvPr/>
        </p:nvSpPr>
        <p:spPr>
          <a:xfrm rot="16200000">
            <a:off x="-1149993" y="5522744"/>
            <a:ext cx="626325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ABF01AC-BD5D-E875-19FF-D5544A8D050B}"/>
              </a:ext>
            </a:extLst>
          </p:cNvPr>
          <p:cNvGrpSpPr/>
          <p:nvPr/>
        </p:nvGrpSpPr>
        <p:grpSpPr>
          <a:xfrm>
            <a:off x="10967325" y="2781299"/>
            <a:ext cx="5470145" cy="4450978"/>
            <a:chOff x="12471632" y="1074345"/>
            <a:chExt cx="6387235" cy="386724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0AA31330-CAAA-C459-0AD3-1E4479ED6B09}"/>
                </a:ext>
              </a:extLst>
            </p:cNvPr>
            <p:cNvSpPr/>
            <p:nvPr/>
          </p:nvSpPr>
          <p:spPr>
            <a:xfrm>
              <a:off x="12471632" y="1074345"/>
              <a:ext cx="6387235" cy="3867240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08CC815-9719-784F-2A6E-A17A0B5E13B6}"/>
                </a:ext>
              </a:extLst>
            </p:cNvPr>
            <p:cNvSpPr txBox="1"/>
            <p:nvPr/>
          </p:nvSpPr>
          <p:spPr>
            <a:xfrm>
              <a:off x="12723958" y="1430342"/>
              <a:ext cx="5882581" cy="320894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Toute tentative de connexion avec un identifiant inconnu est rejetée,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et un employé non ciblé par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la campagne — même avec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un identifiant valide par ailleurs ne peut pas accéder au module,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600" b="1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seul le périmètre de diffusion choisi par l’administrateur est autorisé à le déverrouiller</a:t>
              </a:r>
              <a:r>
                <a:rPr kumimoji="0" lang="fr-FR" sz="260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.</a:t>
              </a:r>
              <a:endParaRPr kumimoji="0" lang="en-US" sz="260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2ED9ED7D-5DA1-C1EF-198E-CC4B8AD73883}"/>
              </a:ext>
            </a:extLst>
          </p:cNvPr>
          <p:cNvSpPr txBox="1"/>
          <p:nvPr/>
        </p:nvSpPr>
        <p:spPr>
          <a:xfrm>
            <a:off x="4333273" y="1257300"/>
            <a:ext cx="533671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000" b="1">
                <a:latin typeface="Times New Roman" panose="02020603050405020304" pitchFamily="18" charset="0"/>
                <a:cs typeface="Times New Roman" panose="02020603050405020304" pitchFamily="18" charset="0"/>
              </a:rPr>
              <a:t>Diffusion et suivi de conformité</a:t>
            </a:r>
            <a:endParaRPr lang="en-US" sz="3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E1FF0D1-EA2F-B120-8A67-C594025D79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62" t="4791" r="6773" b="5068"/>
          <a:stretch>
            <a:fillRect/>
          </a:stretch>
        </p:blipFill>
        <p:spPr>
          <a:xfrm>
            <a:off x="4590035" y="1981199"/>
            <a:ext cx="4823192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602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D205-2714-4468-6896-FC2213F53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D28C306F-1A2C-E28D-114C-055554E25035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28CCFDA2-D491-2FBE-B1CD-4EDE55F8F6B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6B984535-D2FB-764C-1998-6AE221058986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0762C-F1FB-7481-ADDF-23E0BE9E3A01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60F4B9-A4EC-FA43-2F09-590DCDA65E4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54C03C-C288-288F-94F9-515FD7E28368}"/>
              </a:ext>
            </a:extLst>
          </p:cNvPr>
          <p:cNvSpPr txBox="1"/>
          <p:nvPr/>
        </p:nvSpPr>
        <p:spPr>
          <a:xfrm>
            <a:off x="5870472" y="682495"/>
            <a:ext cx="934621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du Sprint 6 — Orchestration SOAR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BC1BDB-0BDB-E120-398E-3AC00F283424}"/>
              </a:ext>
            </a:extLst>
          </p:cNvPr>
          <p:cNvSpPr txBox="1"/>
          <p:nvPr/>
        </p:nvSpPr>
        <p:spPr>
          <a:xfrm>
            <a:off x="4800600" y="1790699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distingue deux moteurs de remédiation :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corrèle et décide en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autonomie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complète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tandis que </a:t>
            </a:r>
            <a:r>
              <a:rPr lang="fr-FR" sz="2000" i="1">
                <a:latin typeface="Times New Roman" panose="02020603050405020304" pitchFamily="18" charset="0"/>
                <a:cs typeface="Times New Roman" panose="02020603050405020304" pitchFamily="18" charset="0"/>
              </a:rPr>
              <a:t>agent_soar.py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n’exécute que sur 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ordre explicite 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— qu’il vienne d’un administrateur ou du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D79820-82AC-977E-1544-DA46743AE2C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44" t="13312" r="2944" b="4141"/>
          <a:stretch>
            <a:fillRect/>
          </a:stretch>
        </p:blipFill>
        <p:spPr>
          <a:xfrm>
            <a:off x="6504979" y="2991236"/>
            <a:ext cx="8451022" cy="61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2707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A409E-8B96-28CC-4C3C-E5F79E0FF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ABED34FF-A840-23A8-9078-AFFA5C4ED8B4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D58E0DB8-59DC-A4DB-1F98-7346CBEDCB87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148829A-90CE-E31C-1067-379DFF2B864C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3CF49C-0D5F-FD56-5387-12FB9C8F9E17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C6A9B6-B35F-3AB6-A79D-8E406272C69F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997500-2C68-34B7-548A-D729A2575844}"/>
              </a:ext>
            </a:extLst>
          </p:cNvPr>
          <p:cNvSpPr txBox="1"/>
          <p:nvPr/>
        </p:nvSpPr>
        <p:spPr>
          <a:xfrm>
            <a:off x="7596458" y="685143"/>
            <a:ext cx="6268063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La logique de décision autonome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28907D-2338-A519-2847-4A8A2AD161A9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Avant toute action, chaque alerte est confrontée à la politique </a:t>
            </a:r>
            <a:r>
              <a:rPr lang="fr-FR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Zero</a:t>
            </a:r>
            <a:r>
              <a:rPr lang="fr-FR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 Trust</a:t>
            </a:r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, puis à une fenêtre de corrélation de 30 secondes entre les deux sources de détection — c’est cette corrélation, et non une alerte isolée, qui déclenche un blocage autonome.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DF99068-2BC9-CF72-C65E-C845BAA315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17" t="5863" r="3141" b="6127"/>
          <a:stretch>
            <a:fillRect/>
          </a:stretch>
        </p:blipFill>
        <p:spPr>
          <a:xfrm>
            <a:off x="5181600" y="3246241"/>
            <a:ext cx="10744200" cy="4792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0443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185D4-8A23-7403-CC0D-81461CB45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35">
            <a:extLst>
              <a:ext uri="{FF2B5EF4-FFF2-40B4-BE49-F238E27FC236}">
                <a16:creationId xmlns:a16="http://schemas.microsoft.com/office/drawing/2014/main" id="{B9C86710-F3CF-896E-86CC-A27098D9E296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B4FE3585-BA48-FCFA-E1EA-C273DFF2564F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4DD93EBC-0B0F-3976-9F79-3BCDEDF9FF57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CD96A9-510F-5ECF-C264-BBC64DDA76A6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81646B-2407-7793-302E-9C014361F678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A221A9-C130-4516-13FB-3A50B693F574}"/>
              </a:ext>
            </a:extLst>
          </p:cNvPr>
          <p:cNvSpPr txBox="1"/>
          <p:nvPr/>
        </p:nvSpPr>
        <p:spPr>
          <a:xfrm>
            <a:off x="7168735" y="682495"/>
            <a:ext cx="6769930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Deux moteurs, deux responsabilités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7181C5-1B46-871D-36E4-5D749C2BF0AB}"/>
              </a:ext>
            </a:extLst>
          </p:cNvPr>
          <p:cNvSpPr txBox="1"/>
          <p:nvPr/>
        </p:nvSpPr>
        <p:spPr>
          <a:xfrm>
            <a:off x="4800600" y="1765637"/>
            <a:ext cx="1148595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sprint sépare la corrélation et la décision autonome, hébergées sur VM-ML, de l’exécution — qui reste supervisée et confiée à VM-Response, qu’elle soit déclenchée par un administrateur ou par le mode auto-pilote.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A5CD5B3-849A-0184-5DC3-2DDDE1615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233841"/>
              </p:ext>
            </p:extLst>
          </p:nvPr>
        </p:nvGraphicFramePr>
        <p:xfrm>
          <a:off x="4896408" y="3547260"/>
          <a:ext cx="11314584" cy="40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899">
                  <a:extLst>
                    <a:ext uri="{9D8B030D-6E8A-4147-A177-3AD203B41FA5}">
                      <a16:colId xmlns:a16="http://schemas.microsoft.com/office/drawing/2014/main" val="67450470"/>
                    </a:ext>
                  </a:extLst>
                </a:gridCol>
                <a:gridCol w="4540479">
                  <a:extLst>
                    <a:ext uri="{9D8B030D-6E8A-4147-A177-3AD203B41FA5}">
                      <a16:colId xmlns:a16="http://schemas.microsoft.com/office/drawing/2014/main" val="582604162"/>
                    </a:ext>
                  </a:extLst>
                </a:gridCol>
                <a:gridCol w="3629206">
                  <a:extLst>
                    <a:ext uri="{9D8B030D-6E8A-4147-A177-3AD203B41FA5}">
                      <a16:colId xmlns:a16="http://schemas.microsoft.com/office/drawing/2014/main" val="279402377"/>
                    </a:ext>
                  </a:extLst>
                </a:gridCol>
              </a:tblGrid>
              <a:tr h="9866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Critère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(VM-ML, autonome)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agent_soar.py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(VM-Response, Supervisé)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367517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Déclencheur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Consommation directe des topics Kafka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Évènement Socket.IO</a:t>
                      </a:r>
                      <a:r>
                        <a:rPr lang="en-US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2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execute_command</a:t>
                      </a:r>
                      <a:endParaRPr lang="fr-FR" sz="2200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1956494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Décision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Corrélation, seuils de sévérité, logique de vote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Aucune – exécution de l’ordre reçu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714618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Origin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Entièrement autonome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Administrateur ou mode auto-pilote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614722"/>
                  </a:ext>
                </a:extLst>
              </a:tr>
              <a:tr h="511581">
                <a:tc>
                  <a:txBody>
                    <a:bodyPr/>
                    <a:lstStyle/>
                    <a:p>
                      <a:r>
                        <a:rPr lang="fr-FR" sz="2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Action</a:t>
                      </a:r>
                      <a:endParaRPr lang="en-US" sz="2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direct ou notification de l’agent IA</a:t>
                      </a:r>
                      <a:endParaRPr lang="en-US" sz="2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Blocage SSH sur ordre, avec accusé </a:t>
                      </a:r>
                      <a:r>
                        <a:rPr lang="fr-FR" sz="2200" i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command_result</a:t>
                      </a:r>
                      <a:endParaRPr lang="en-US" sz="2200" i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7446450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245A702D-B869-473B-BD6D-ACE55291BD20}"/>
              </a:ext>
            </a:extLst>
          </p:cNvPr>
          <p:cNvGrpSpPr/>
          <p:nvPr/>
        </p:nvGrpSpPr>
        <p:grpSpPr>
          <a:xfrm>
            <a:off x="5361978" y="8347860"/>
            <a:ext cx="10363200" cy="1443559"/>
            <a:chOff x="790377" y="735597"/>
            <a:chExt cx="8785102" cy="1622288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440E8217-2C88-F783-ED2A-0C9E97AE7DEB}"/>
                </a:ext>
              </a:extLst>
            </p:cNvPr>
            <p:cNvSpPr/>
            <p:nvPr/>
          </p:nvSpPr>
          <p:spPr>
            <a:xfrm>
              <a:off x="790377" y="735597"/>
              <a:ext cx="8785102" cy="1622288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B036F86-E76B-B545-EB52-4DA338B65BC0}"/>
                </a:ext>
              </a:extLst>
            </p:cNvPr>
            <p:cNvSpPr txBox="1"/>
            <p:nvPr/>
          </p:nvSpPr>
          <p:spPr>
            <a:xfrm>
              <a:off x="917032" y="883164"/>
              <a:ext cx="8531792" cy="124517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fr-FR" sz="2200" i="1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Times New Roman" panose="02020603050405020304" pitchFamily="18" charset="0"/>
                </a:rPr>
                <a:t>Cette séparation garantit qu’un humain — ou une règle explicite du mode auto-pilote reste toujours le seul point d’origine d’une action sur l’infrastructure, même lorsque la détection elle-même est entièrement automatisée.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34013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08DF7C-6760-F0CC-D35E-CDE477DB1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FA3AB8F-5A9A-85B0-89CA-5F277C40BE41}"/>
              </a:ext>
            </a:extLst>
          </p:cNvPr>
          <p:cNvSpPr/>
          <p:nvPr/>
        </p:nvSpPr>
        <p:spPr>
          <a:xfrm>
            <a:off x="12994483" y="7949077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C0469B25-BA77-C9CD-6010-F73FD750947F}"/>
              </a:ext>
            </a:extLst>
          </p:cNvPr>
          <p:cNvSpPr/>
          <p:nvPr/>
        </p:nvSpPr>
        <p:spPr>
          <a:xfrm>
            <a:off x="5254142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9BBC3F-E0BA-9B42-5902-036F38ED2A5F}"/>
              </a:ext>
            </a:extLst>
          </p:cNvPr>
          <p:cNvSpPr/>
          <p:nvPr/>
        </p:nvSpPr>
        <p:spPr>
          <a:xfrm>
            <a:off x="9086961" y="7962900"/>
            <a:ext cx="2904878" cy="1796393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47CFBFC-8C00-DD87-6707-F7FBF861A222}"/>
              </a:ext>
            </a:extLst>
          </p:cNvPr>
          <p:cNvSpPr/>
          <p:nvPr/>
        </p:nvSpPr>
        <p:spPr>
          <a:xfrm>
            <a:off x="0" y="-304801"/>
            <a:ext cx="2811410" cy="1089660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A32E3A0-76EE-1C81-6E82-07FF33831045}"/>
              </a:ext>
            </a:extLst>
          </p:cNvPr>
          <p:cNvSpPr/>
          <p:nvPr/>
        </p:nvSpPr>
        <p:spPr>
          <a:xfrm>
            <a:off x="228600" y="647700"/>
            <a:ext cx="2362200" cy="609600"/>
          </a:xfrm>
          <a:prstGeom prst="round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000">
                <a:latin typeface="Times New Roman" panose="02020603050405020304" pitchFamily="18" charset="0"/>
                <a:cs typeface="Times New Roman" panose="02020603050405020304" pitchFamily="18" charset="0"/>
              </a:rPr>
              <a:t>Release 2</a:t>
            </a:r>
            <a:endParaRPr lang="en-US" sz="3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F7C158BD-99B2-DCA2-C58E-4390E424E6B3}"/>
              </a:ext>
            </a:extLst>
          </p:cNvPr>
          <p:cNvSpPr txBox="1"/>
          <p:nvPr/>
        </p:nvSpPr>
        <p:spPr>
          <a:xfrm rot="16200000">
            <a:off x="-2747240" y="5210517"/>
            <a:ext cx="7162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4 — Anticipation par le renseignement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627A13-E2C3-E58D-1475-0B081075B728}"/>
              </a:ext>
            </a:extLst>
          </p:cNvPr>
          <p:cNvSpPr txBox="1"/>
          <p:nvPr/>
        </p:nvSpPr>
        <p:spPr>
          <a:xfrm rot="16200000">
            <a:off x="-2123301" y="5248617"/>
            <a:ext cx="70866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5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 5 — Mitigation du risque humain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C5528A-F90B-6559-4A98-73EF14D9B5ED}"/>
              </a:ext>
            </a:extLst>
          </p:cNvPr>
          <p:cNvSpPr txBox="1"/>
          <p:nvPr/>
        </p:nvSpPr>
        <p:spPr>
          <a:xfrm rot="16200000">
            <a:off x="-1846092" y="4848775"/>
            <a:ext cx="765545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>
                <a:latin typeface="Times New Roman" panose="02020603050405020304" pitchFamily="18" charset="0"/>
                <a:cs typeface="Times New Roman" panose="02020603050405020304" pitchFamily="18" charset="0"/>
              </a:rPr>
              <a:t>Sprint 6 — Orchestration SOAR &amp; supervision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4817DC-844B-6BC3-1235-13994947C76D}"/>
              </a:ext>
            </a:extLst>
          </p:cNvPr>
          <p:cNvSpPr txBox="1"/>
          <p:nvPr/>
        </p:nvSpPr>
        <p:spPr>
          <a:xfrm>
            <a:off x="8266856" y="717947"/>
            <a:ext cx="4573688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400" b="1">
                <a:latin typeface="Times New Roman" panose="02020603050405020304" pitchFamily="18" charset="0"/>
                <a:cs typeface="Times New Roman" panose="02020603050405020304" pitchFamily="18" charset="0"/>
              </a:rPr>
              <a:t>Résilience et autonomie</a:t>
            </a:r>
            <a:endParaRPr lang="en-US" sz="3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FD7DEC3-CCDE-B21D-9F73-E45B5B723F91}"/>
              </a:ext>
            </a:extLst>
          </p:cNvPr>
          <p:cNvSpPr txBox="1"/>
          <p:nvPr/>
        </p:nvSpPr>
        <p:spPr>
          <a:xfrm>
            <a:off x="4800600" y="1562100"/>
            <a:ext cx="1148595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Le score composite pondère les trois sources de détection pour alimenter le mode auto-pilote, </a:t>
            </a:r>
          </a:p>
          <a:p>
            <a:pPr algn="ctr"/>
            <a:r>
              <a:rPr lang="fr-FR" sz="2000">
                <a:latin typeface="Times New Roman" panose="02020603050405020304" pitchFamily="18" charset="0"/>
                <a:cs typeface="Times New Roman" panose="02020603050405020304" pitchFamily="18" charset="0"/>
              </a:rPr>
              <a:t>qui garantit une réponse sans délai même en l’absence totale de supervision humaine.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FD940BF-8295-A039-CA86-FCF380399F32}"/>
              </a:ext>
            </a:extLst>
          </p:cNvPr>
          <p:cNvSpPr txBox="1"/>
          <p:nvPr/>
        </p:nvSpPr>
        <p:spPr>
          <a:xfrm>
            <a:off x="5328845" y="8277886"/>
            <a:ext cx="2755472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Watchdog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de panne d’un nœud en &lt;= 15 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4854CE5-1B69-50AB-7860-770006844B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53" t="5222" r="11592" b="37693"/>
          <a:stretch>
            <a:fillRect/>
          </a:stretch>
        </p:blipFill>
        <p:spPr>
          <a:xfrm>
            <a:off x="5791200" y="2974923"/>
            <a:ext cx="9448800" cy="4337154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960189-D043-85DA-CF22-44F09D75019E}"/>
              </a:ext>
            </a:extLst>
          </p:cNvPr>
          <p:cNvSpPr txBox="1"/>
          <p:nvPr/>
        </p:nvSpPr>
        <p:spPr>
          <a:xfrm>
            <a:off x="13069186" y="8150705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Bouclier anti-DDos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SYN cookies et limitation de débit à distance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65A1AE9-2840-457E-59B6-95D9B157A335}"/>
              </a:ext>
            </a:extLst>
          </p:cNvPr>
          <p:cNvSpPr txBox="1"/>
          <p:nvPr/>
        </p:nvSpPr>
        <p:spPr>
          <a:xfrm>
            <a:off x="9161664" y="8171690"/>
            <a:ext cx="275547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2400" b="1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Résilience Kafka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2200" i="1">
                <a:solidFill>
                  <a:prstClr val="whit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Reconnexion automatique, nouvelle tentative toutes les 5s</a:t>
            </a:r>
            <a:endParaRPr kumimoji="0" lang="fr-FR" sz="2200" i="1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65282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C1D90-F8C7-F1CB-5D27-AC3818D29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7173497D-83AA-8363-BE23-AC8F2513CC5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EC81FE6-278F-3C96-5D99-6EA3A20F314F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03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92BED39-23C9-DAB9-66ED-1B7C16A2D518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Déploiement</a:t>
            </a: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 </a:t>
            </a:r>
          </a:p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</a:t>
            </a:r>
            <a:r>
              <a:rPr lang="en-US" sz="8850" b="1" spc="-265" err="1">
                <a:latin typeface="Times New Roman Bold"/>
                <a:ea typeface="Times New Roman Bold"/>
                <a:cs typeface="Times New Roman Bold"/>
                <a:sym typeface="Times New Roman Bold"/>
              </a:rPr>
              <a:t>réalisation</a:t>
            </a:r>
            <a:endParaRPr lang="en-US" sz="8850" b="1" spc="-265"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D6ADFA7-6652-E431-49BF-B16334B08610}"/>
              </a:ext>
            </a:extLst>
          </p:cNvPr>
          <p:cNvSpPr txBox="1"/>
          <p:nvPr/>
        </p:nvSpPr>
        <p:spPr>
          <a:xfrm>
            <a:off x="1059472" y="6819900"/>
            <a:ext cx="8382000" cy="1341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Environnement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logiciel</a:t>
            </a: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18160" lvl="1" indent="-259080" algn="l">
              <a:lnSpc>
                <a:spcPts val="3600"/>
              </a:lnSpc>
              <a:buClr>
                <a:srgbClr val="9964CC"/>
              </a:buClr>
              <a:buFont typeface="Arial"/>
              <a:buChar char="•"/>
            </a:pP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Achitecture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en-US"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8B459392-4889-A22F-2140-6C8FE9039A2B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03</a:t>
            </a:r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2987CB31-A56D-29EE-5105-F79374A57A1D}"/>
              </a:ext>
            </a:extLst>
          </p:cNvPr>
          <p:cNvSpPr txBox="1"/>
          <p:nvPr/>
        </p:nvSpPr>
        <p:spPr>
          <a:xfrm>
            <a:off x="14706600" y="11077478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Times New Roman" panose="02020603050405020304" pitchFamily="18" charset="0"/>
                <a:sym typeface="Bricolage Grotesque Bold"/>
              </a:rPr>
              <a:t>1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A1F3497-FF2A-B3E9-D374-4BC90A52EE82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F6344371-056D-3DF2-1B33-69D131FEA1A9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B0BD716D-2805-A489-1F2B-A90EE47B5F1C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1246C27-A832-FA0B-175E-1475F88BD3FD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sp>
        <p:nvSpPr>
          <p:cNvPr id="15" name="Ellipse 14">
            <a:extLst>
              <a:ext uri="{FF2B5EF4-FFF2-40B4-BE49-F238E27FC236}">
                <a16:creationId xmlns:a16="http://schemas.microsoft.com/office/drawing/2014/main" id="{FF95E074-A0D1-5C51-C4F8-D2B6D946D6FC}"/>
              </a:ext>
            </a:extLst>
          </p:cNvPr>
          <p:cNvSpPr/>
          <p:nvPr/>
        </p:nvSpPr>
        <p:spPr>
          <a:xfrm>
            <a:off x="196849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C59476F-4371-7073-DBBD-54D6678E0292}"/>
              </a:ext>
            </a:extLst>
          </p:cNvPr>
          <p:cNvSpPr/>
          <p:nvPr/>
        </p:nvSpPr>
        <p:spPr>
          <a:xfrm>
            <a:off x="31165798" y="495300"/>
            <a:ext cx="5613400" cy="580476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241E205-A7ED-BA2D-CC64-9F9BACB19089}"/>
              </a:ext>
            </a:extLst>
          </p:cNvPr>
          <p:cNvSpPr txBox="1"/>
          <p:nvPr/>
        </p:nvSpPr>
        <p:spPr>
          <a:xfrm>
            <a:off x="17703798" y="2400300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DFEBF57-F2A2-2E3E-4967-E9544049E401}"/>
              </a:ext>
            </a:extLst>
          </p:cNvPr>
          <p:cNvSpPr txBox="1"/>
          <p:nvPr/>
        </p:nvSpPr>
        <p:spPr>
          <a:xfrm>
            <a:off x="29260800" y="2440886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6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6000" err="1"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6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11C98BD7-A240-EA68-39E8-E811CB0B5668}"/>
              </a:ext>
            </a:extLst>
          </p:cNvPr>
          <p:cNvCxnSpPr>
            <a:cxnSpLocks/>
          </p:cNvCxnSpPr>
          <p:nvPr/>
        </p:nvCxnSpPr>
        <p:spPr>
          <a:xfrm>
            <a:off x="1059472" y="6277206"/>
            <a:ext cx="118800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577F1855-1935-09D2-CE3F-63C49D45BF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7210" y="-276958"/>
            <a:ext cx="12228476" cy="6878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63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C7A655-EA12-0C65-D47B-6F3BDD533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6769429B-25CE-1E13-286C-A34864D11E1F}"/>
              </a:ext>
            </a:extLst>
          </p:cNvPr>
          <p:cNvSpPr/>
          <p:nvPr/>
        </p:nvSpPr>
        <p:spPr>
          <a:xfrm>
            <a:off x="2743200" y="2426232"/>
            <a:ext cx="4622800" cy="4780396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5C0AECD0-E735-ECB6-51D8-592648CF3841}"/>
              </a:ext>
            </a:extLst>
          </p:cNvPr>
          <p:cNvSpPr/>
          <p:nvPr/>
        </p:nvSpPr>
        <p:spPr>
          <a:xfrm>
            <a:off x="10927862" y="2426232"/>
            <a:ext cx="4634523" cy="4792518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CFBF075-2E4B-251D-BC53-6966840B85A4}"/>
              </a:ext>
            </a:extLst>
          </p:cNvPr>
          <p:cNvSpPr txBox="1"/>
          <p:nvPr/>
        </p:nvSpPr>
        <p:spPr>
          <a:xfrm>
            <a:off x="1397001" y="4000822"/>
            <a:ext cx="71882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12D696F-2883-3E3C-F18E-9427D87B4207}"/>
              </a:ext>
            </a:extLst>
          </p:cNvPr>
          <p:cNvSpPr txBox="1"/>
          <p:nvPr/>
        </p:nvSpPr>
        <p:spPr>
          <a:xfrm>
            <a:off x="10675813" y="3866272"/>
            <a:ext cx="46228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50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50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50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3372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3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FCD079-CC07-3492-FFC7-45CD1DB1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llipse 9">
            <a:extLst>
              <a:ext uri="{FF2B5EF4-FFF2-40B4-BE49-F238E27FC236}">
                <a16:creationId xmlns:a16="http://schemas.microsoft.com/office/drawing/2014/main" id="{0BA05D4E-97E7-046C-1784-C1F543FB858F}"/>
              </a:ext>
            </a:extLst>
          </p:cNvPr>
          <p:cNvSpPr/>
          <p:nvPr/>
        </p:nvSpPr>
        <p:spPr>
          <a:xfrm>
            <a:off x="914400" y="482600"/>
            <a:ext cx="2973192" cy="3074551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A8DF428-B90D-6DF7-20B7-542EE4936810}"/>
              </a:ext>
            </a:extLst>
          </p:cNvPr>
          <p:cNvSpPr txBox="1"/>
          <p:nvPr/>
        </p:nvSpPr>
        <p:spPr>
          <a:xfrm>
            <a:off x="-2286000" y="1465877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Environnement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logiciel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6A2ADE-7BFE-A4F5-8988-816CF740E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1091" y="1033002"/>
            <a:ext cx="10565463" cy="8220995"/>
          </a:xfrm>
          <a:prstGeom prst="roundRect">
            <a:avLst>
              <a:gd name="adj" fmla="val 657"/>
            </a:avLst>
          </a:prstGeom>
        </p:spPr>
      </p:pic>
    </p:spTree>
    <p:extLst>
      <p:ext uri="{BB962C8B-B14F-4D97-AF65-F5344CB8AC3E}">
        <p14:creationId xmlns:p14="http://schemas.microsoft.com/office/powerpoint/2010/main" val="10808744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>
            <a:alpha val="2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8276E7-A01A-03B5-F86C-83648EA01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lipse 5">
            <a:extLst>
              <a:ext uri="{FF2B5EF4-FFF2-40B4-BE49-F238E27FC236}">
                <a16:creationId xmlns:a16="http://schemas.microsoft.com/office/drawing/2014/main" id="{06BABD2A-5039-E5FC-4765-FF386D493576}"/>
              </a:ext>
            </a:extLst>
          </p:cNvPr>
          <p:cNvSpPr/>
          <p:nvPr/>
        </p:nvSpPr>
        <p:spPr>
          <a:xfrm>
            <a:off x="762000" y="495300"/>
            <a:ext cx="2973193" cy="3074552"/>
          </a:xfrm>
          <a:prstGeom prst="ellipse">
            <a:avLst/>
          </a:prstGeom>
          <a:solidFill>
            <a:srgbClr val="9964CC"/>
          </a:solidFill>
          <a:ln>
            <a:solidFill>
              <a:srgbClr val="9964CC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TN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68C6475B-329D-B8CE-D51B-A7AE30743E72}"/>
              </a:ext>
            </a:extLst>
          </p:cNvPr>
          <p:cNvSpPr txBox="1"/>
          <p:nvPr/>
        </p:nvSpPr>
        <p:spPr>
          <a:xfrm>
            <a:off x="-2514600" y="1478578"/>
            <a:ext cx="914400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9080" lvl="1" algn="ctr"/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Architecture</a:t>
            </a:r>
            <a:b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300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00" err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globale</a:t>
            </a:r>
            <a:endParaRPr lang="en-US" sz="3300">
              <a:solidFill>
                <a:schemeClr val="bg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EAAEE33-916F-16D0-8ED8-D2352EBE316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93" y="567566"/>
            <a:ext cx="11734800" cy="9151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52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5A0FE-9066-A14E-630B-C55452D2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B3CCA92-C621-9C96-3FC6-35584A8DCA7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E4F4F65-7285-19C0-1AE8-EFDBC81AEAD9}"/>
              </a:ext>
            </a:extLst>
          </p:cNvPr>
          <p:cNvSpPr txBox="1"/>
          <p:nvPr/>
        </p:nvSpPr>
        <p:spPr>
          <a:xfrm>
            <a:off x="1047750" y="3162301"/>
            <a:ext cx="3067050" cy="307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3500" b="1" spc="27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SECTION 04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FDF135C-A245-CEFE-07DA-F533E69AA8AC}"/>
              </a:ext>
            </a:extLst>
          </p:cNvPr>
          <p:cNvSpPr txBox="1"/>
          <p:nvPr/>
        </p:nvSpPr>
        <p:spPr>
          <a:xfrm>
            <a:off x="1047749" y="3838575"/>
            <a:ext cx="14249399" cy="21800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</a:p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et Perspectives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EE89540-4B4C-270D-B186-2C24674C44A1}"/>
              </a:ext>
            </a:extLst>
          </p:cNvPr>
          <p:cNvSpPr txBox="1"/>
          <p:nvPr/>
        </p:nvSpPr>
        <p:spPr>
          <a:xfrm>
            <a:off x="12206478" y="7050185"/>
            <a:ext cx="6081522" cy="4494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600"/>
              </a:lnSpc>
            </a:pPr>
            <a:r>
              <a:rPr lang="en-US" sz="42000" b="1" spc="-1680">
                <a:solidFill>
                  <a:srgbClr val="9964CC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04</a:t>
            </a:r>
          </a:p>
        </p:txBody>
      </p: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3B136B5C-41B9-EA2B-CB78-C29201E903BA}"/>
              </a:ext>
            </a:extLst>
          </p:cNvPr>
          <p:cNvCxnSpPr>
            <a:cxnSpLocks/>
          </p:cNvCxnSpPr>
          <p:nvPr/>
        </p:nvCxnSpPr>
        <p:spPr>
          <a:xfrm>
            <a:off x="17860471" y="-2552700"/>
            <a:ext cx="0" cy="16405860"/>
          </a:xfrm>
          <a:prstGeom prst="line">
            <a:avLst/>
          </a:prstGeom>
          <a:ln w="57150">
            <a:solidFill>
              <a:srgbClr val="7030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e 8">
            <a:extLst>
              <a:ext uri="{FF2B5EF4-FFF2-40B4-BE49-F238E27FC236}">
                <a16:creationId xmlns:a16="http://schemas.microsoft.com/office/drawing/2014/main" id="{C5B79EA0-C549-F0F8-DB9B-59F4EBD312FA}"/>
              </a:ext>
            </a:extLst>
          </p:cNvPr>
          <p:cNvGrpSpPr/>
          <p:nvPr/>
        </p:nvGrpSpPr>
        <p:grpSpPr>
          <a:xfrm>
            <a:off x="17432943" y="-1529187"/>
            <a:ext cx="855057" cy="845229"/>
            <a:chOff x="2059401" y="468086"/>
            <a:chExt cx="570038" cy="563486"/>
          </a:xfrm>
        </p:grpSpPr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43162C2-B09E-5EE6-9411-48E1E6BF177E}"/>
                </a:ext>
              </a:extLst>
            </p:cNvPr>
            <p:cNvSpPr/>
            <p:nvPr/>
          </p:nvSpPr>
          <p:spPr>
            <a:xfrm>
              <a:off x="2059401" y="468086"/>
              <a:ext cx="570038" cy="563486"/>
            </a:xfrm>
            <a:prstGeom prst="ellipse">
              <a:avLst/>
            </a:prstGeom>
            <a:solidFill>
              <a:srgbClr val="7030A0"/>
            </a:solidFill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TN" sz="2700"/>
            </a:p>
          </p:txBody>
        </p:sp>
        <p:sp>
          <p:nvSpPr>
            <p:cNvPr id="11" name="ZoneTexte 10">
              <a:extLst>
                <a:ext uri="{FF2B5EF4-FFF2-40B4-BE49-F238E27FC236}">
                  <a16:creationId xmlns:a16="http://schemas.microsoft.com/office/drawing/2014/main" id="{7724A3AB-A0B3-AF13-D50E-C1223BE48AE9}"/>
                </a:ext>
              </a:extLst>
            </p:cNvPr>
            <p:cNvSpPr txBox="1"/>
            <p:nvPr/>
          </p:nvSpPr>
          <p:spPr>
            <a:xfrm>
              <a:off x="2175239" y="488109"/>
              <a:ext cx="338359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fr-FR" sz="4500" b="1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</a:p>
          </p:txBody>
        </p:sp>
      </p:grpSp>
      <p:pic>
        <p:nvPicPr>
          <p:cNvPr id="22" name="Image 21">
            <a:extLst>
              <a:ext uri="{FF2B5EF4-FFF2-40B4-BE49-F238E27FC236}">
                <a16:creationId xmlns:a16="http://schemas.microsoft.com/office/drawing/2014/main" id="{12E91DED-5871-0C8F-7FC0-DB3A9C84B3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00" r="70561" b="78781"/>
          <a:stretch>
            <a:fillRect/>
          </a:stretch>
        </p:blipFill>
        <p:spPr>
          <a:xfrm>
            <a:off x="19354800" y="342900"/>
            <a:ext cx="4800600" cy="947835"/>
          </a:xfrm>
          <a:prstGeom prst="rect">
            <a:avLst/>
          </a:prstGeom>
        </p:spPr>
      </p:pic>
      <p:pic>
        <p:nvPicPr>
          <p:cNvPr id="7" name="Image 10">
            <a:extLst>
              <a:ext uri="{FF2B5EF4-FFF2-40B4-BE49-F238E27FC236}">
                <a16:creationId xmlns:a16="http://schemas.microsoft.com/office/drawing/2014/main" id="{A9B83A58-334D-045B-4366-8D79390A2E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79" y="-333619"/>
            <a:ext cx="14889096" cy="8375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716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F3A43-37E1-612E-46C7-CB5D75DBF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Box 4">
            <a:extLst>
              <a:ext uri="{FF2B5EF4-FFF2-40B4-BE49-F238E27FC236}">
                <a16:creationId xmlns:a16="http://schemas.microsoft.com/office/drawing/2014/main" id="{094BE5F8-8EFE-76D1-9E5A-B196461E1E91}"/>
              </a:ext>
            </a:extLst>
          </p:cNvPr>
          <p:cNvSpPr txBox="1"/>
          <p:nvPr/>
        </p:nvSpPr>
        <p:spPr>
          <a:xfrm>
            <a:off x="685800" y="340574"/>
            <a:ext cx="2895600" cy="9167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endParaRPr lang="en-US" sz="3300" b="1" spc="-265"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21" name="TextBox 4">
            <a:extLst>
              <a:ext uri="{FF2B5EF4-FFF2-40B4-BE49-F238E27FC236}">
                <a16:creationId xmlns:a16="http://schemas.microsoft.com/office/drawing/2014/main" id="{4400ADBE-9DEF-3D3B-6332-B5944E33F1DE}"/>
              </a:ext>
            </a:extLst>
          </p:cNvPr>
          <p:cNvSpPr txBox="1"/>
          <p:nvPr/>
        </p:nvSpPr>
        <p:spPr>
          <a:xfrm>
            <a:off x="685800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E308000-5F8B-860E-A510-5B1D8C937E13}"/>
              </a:ext>
            </a:extLst>
          </p:cNvPr>
          <p:cNvSpPr/>
          <p:nvPr/>
        </p:nvSpPr>
        <p:spPr>
          <a:xfrm>
            <a:off x="12995031" y="3322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comportementale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C1CAB2-291C-65F5-6928-29AF7887113F}"/>
              </a:ext>
            </a:extLst>
          </p:cNvPr>
          <p:cNvSpPr/>
          <p:nvPr/>
        </p:nvSpPr>
        <p:spPr>
          <a:xfrm>
            <a:off x="87278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Renseignement</a:t>
            </a:r>
          </a:p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CTI )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0A20758-7316-1D1F-A487-F83F9170E762}"/>
              </a:ext>
            </a:extLst>
          </p:cNvPr>
          <p:cNvSpPr/>
          <p:nvPr/>
        </p:nvSpPr>
        <p:spPr>
          <a:xfrm>
            <a:off x="12995031" y="5600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Réponse orchestrée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E0B0BB-6641-BCE4-625C-48C592AEBC7D}"/>
              </a:ext>
            </a:extLst>
          </p:cNvPr>
          <p:cNvSpPr/>
          <p:nvPr/>
        </p:nvSpPr>
        <p:spPr>
          <a:xfrm>
            <a:off x="8751277" y="3374164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Détection par signatures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4">
            <a:extLst>
              <a:ext uri="{FF2B5EF4-FFF2-40B4-BE49-F238E27FC236}">
                <a16:creationId xmlns:a16="http://schemas.microsoft.com/office/drawing/2014/main" id="{BA62F805-5782-A792-8A84-4777D6AEC6F9}"/>
              </a:ext>
            </a:extLst>
          </p:cNvPr>
          <p:cNvSpPr txBox="1"/>
          <p:nvPr/>
        </p:nvSpPr>
        <p:spPr>
          <a:xfrm>
            <a:off x="7596554" y="1612577"/>
            <a:ext cx="9829800" cy="9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en-US" sz="3500" b="1" spc="-265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Next - Generation Intrusion Detection and Prevention System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94AA5E3-0A57-8005-6310-5557BD74412F}"/>
              </a:ext>
            </a:extLst>
          </p:cNvPr>
          <p:cNvSpPr/>
          <p:nvPr/>
        </p:nvSpPr>
        <p:spPr>
          <a:xfrm>
            <a:off x="10861431" y="7790698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Supervision SOC</a:t>
            </a:r>
            <a:endParaRPr lang="fr-TN" sz="3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922F84-372D-C3DF-B8B6-589B559DB4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44" t="5676" r="29335" b="16981"/>
          <a:stretch>
            <a:fillRect/>
          </a:stretch>
        </p:blipFill>
        <p:spPr>
          <a:xfrm>
            <a:off x="1600200" y="2357857"/>
            <a:ext cx="5181600" cy="67480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04C4D97-CD49-528B-1E2E-7A9C2963C37A}"/>
              </a:ext>
            </a:extLst>
          </p:cNvPr>
          <p:cNvSpPr txBox="1"/>
          <p:nvPr/>
        </p:nvSpPr>
        <p:spPr>
          <a:xfrm>
            <a:off x="-381000" y="8856191"/>
            <a:ext cx="9144000" cy="1090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FR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NG-IDPS</a:t>
            </a:r>
          </a:p>
        </p:txBody>
      </p:sp>
    </p:spTree>
    <p:extLst>
      <p:ext uri="{BB962C8B-B14F-4D97-AF65-F5344CB8AC3E}">
        <p14:creationId xmlns:p14="http://schemas.microsoft.com/office/powerpoint/2010/main" val="4914287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D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58C44C-91B3-082D-7345-C07AD6C00C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e 57">
            <a:extLst>
              <a:ext uri="{FF2B5EF4-FFF2-40B4-BE49-F238E27FC236}">
                <a16:creationId xmlns:a16="http://schemas.microsoft.com/office/drawing/2014/main" id="{738612F4-99AA-DDB4-7E14-6CEC32502BAE}"/>
              </a:ext>
            </a:extLst>
          </p:cNvPr>
          <p:cNvGrpSpPr/>
          <p:nvPr/>
        </p:nvGrpSpPr>
        <p:grpSpPr>
          <a:xfrm>
            <a:off x="-8551070" y="35943"/>
            <a:ext cx="16094870" cy="10287000"/>
            <a:chOff x="-3140870" y="0"/>
            <a:chExt cx="16094870" cy="10287000"/>
          </a:xfrm>
        </p:grpSpPr>
        <p:grpSp>
          <p:nvGrpSpPr>
            <p:cNvPr id="14" name="Group 28">
              <a:extLst>
                <a:ext uri="{FF2B5EF4-FFF2-40B4-BE49-F238E27FC236}">
                  <a16:creationId xmlns:a16="http://schemas.microsoft.com/office/drawing/2014/main" id="{67DF29CA-43D5-19E1-ADC8-93784FF5DE08}"/>
                </a:ext>
              </a:extLst>
            </p:cNvPr>
            <p:cNvGrpSpPr/>
            <p:nvPr/>
          </p:nvGrpSpPr>
          <p:grpSpPr>
            <a:xfrm>
              <a:off x="-3140870" y="0"/>
              <a:ext cx="16094870" cy="10287000"/>
              <a:chOff x="-4114800" y="0"/>
              <a:chExt cx="10729913" cy="6858000"/>
            </a:xfrm>
            <a:solidFill>
              <a:srgbClr val="D2E6F0"/>
            </a:solidFill>
            <a:effectLst>
              <a:outerShdw blurRad="254000" dist="88900" algn="l" rotWithShape="0">
                <a:schemeClr val="tx1">
                  <a:lumMod val="95000"/>
                  <a:lumOff val="5000"/>
                  <a:alpha val="51000"/>
                </a:schemeClr>
              </a:outerShdw>
            </a:effectLst>
          </p:grpSpPr>
          <p:grpSp>
            <p:nvGrpSpPr>
              <p:cNvPr id="17" name="Group 10">
                <a:extLst>
                  <a:ext uri="{FF2B5EF4-FFF2-40B4-BE49-F238E27FC236}">
                    <a16:creationId xmlns:a16="http://schemas.microsoft.com/office/drawing/2014/main" id="{E374027E-6E1B-1982-C085-BEEC253149B9}"/>
                  </a:ext>
                </a:extLst>
              </p:cNvPr>
              <p:cNvGrpSpPr/>
              <p:nvPr/>
            </p:nvGrpSpPr>
            <p:grpSpPr>
              <a:xfrm>
                <a:off x="5734050" y="2972999"/>
                <a:ext cx="881063" cy="881757"/>
                <a:chOff x="8401050" y="3628037"/>
                <a:chExt cx="881063" cy="881757"/>
              </a:xfrm>
              <a:grpFill/>
            </p:grpSpPr>
            <p:sp>
              <p:nvSpPr>
                <p:cNvPr id="18" name="Rectangle: Top Corners Rounded 1">
                  <a:extLst>
                    <a:ext uri="{FF2B5EF4-FFF2-40B4-BE49-F238E27FC236}">
                      <a16:creationId xmlns:a16="http://schemas.microsoft.com/office/drawing/2014/main" id="{7D927493-013D-D7ED-0548-FE9334C20797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E5D9F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solidFill>
                      <a:srgbClr val="00195C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9" name="TextBox 2">
                  <a:extLst>
                    <a:ext uri="{FF2B5EF4-FFF2-40B4-BE49-F238E27FC236}">
                      <a16:creationId xmlns:a16="http://schemas.microsoft.com/office/drawing/2014/main" id="{D0A36440-26A5-1782-323B-FAEFBE845322}"/>
                    </a:ext>
                  </a:extLst>
                </p:cNvPr>
                <p:cNvSpPr txBox="1"/>
                <p:nvPr/>
              </p:nvSpPr>
              <p:spPr>
                <a:xfrm>
                  <a:off x="8483339" y="3643631"/>
                  <a:ext cx="703555" cy="830996"/>
                </a:xfrm>
                <a:prstGeom prst="rect">
                  <a:avLst/>
                </a:prstGeom>
                <a:solidFill>
                  <a:srgbClr val="E5D9F2"/>
                </a:solidFill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5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</a:t>
                  </a:r>
                </a:p>
              </p:txBody>
            </p:sp>
          </p:grp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0E0650A-9D06-FFB6-265B-12A855370010}"/>
                  </a:ext>
                </a:extLst>
              </p:cNvPr>
              <p:cNvSpPr/>
              <p:nvPr/>
            </p:nvSpPr>
            <p:spPr>
              <a:xfrm>
                <a:off x="-4114800" y="0"/>
                <a:ext cx="9848850" cy="6858000"/>
              </a:xfrm>
              <a:prstGeom prst="rect">
                <a:avLst/>
              </a:prstGeom>
              <a:solidFill>
                <a:srgbClr val="E5D9F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solidFill>
                    <a:srgbClr val="00195C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57" name="TextBox 4">
              <a:extLst>
                <a:ext uri="{FF2B5EF4-FFF2-40B4-BE49-F238E27FC236}">
                  <a16:creationId xmlns:a16="http://schemas.microsoft.com/office/drawing/2014/main" id="{91250F6F-8893-E0E5-15B0-A3DD5869582D}"/>
                </a:ext>
              </a:extLst>
            </p:cNvPr>
            <p:cNvSpPr txBox="1"/>
            <p:nvPr/>
          </p:nvSpPr>
          <p:spPr>
            <a:xfrm>
              <a:off x="4495800" y="2145078"/>
              <a:ext cx="5804532" cy="294952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8496"/>
                </a:lnSpc>
              </a:pPr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Conteneurisation et orchestration</a:t>
              </a:r>
            </a:p>
            <a:p>
              <a:pPr algn="ctr">
                <a:lnSpc>
                  <a:spcPct val="100000"/>
                </a:lnSpc>
              </a:pPr>
              <a:r>
                <a:rPr lang="en-US" sz="5000" spc="-265">
                  <a:latin typeface="Times New Roman" panose="02020603050405020304" pitchFamily="18" charset="0"/>
                  <a:ea typeface="Times New Roman Bold"/>
                  <a:cs typeface="Times New Roman" panose="02020603050405020304" pitchFamily="18" charset="0"/>
                  <a:sym typeface="Times New Roman Bold"/>
                </a:rPr>
                <a:t>(Docker / Kubernetes)</a:t>
              </a:r>
            </a:p>
          </p:txBody>
        </p:sp>
      </p:grpSp>
      <p:grpSp>
        <p:nvGrpSpPr>
          <p:cNvPr id="60" name="Groupe 59">
            <a:extLst>
              <a:ext uri="{FF2B5EF4-FFF2-40B4-BE49-F238E27FC236}">
                <a16:creationId xmlns:a16="http://schemas.microsoft.com/office/drawing/2014/main" id="{8F821DD3-4B49-F0D1-425E-C8D134D4B3FF}"/>
              </a:ext>
            </a:extLst>
          </p:cNvPr>
          <p:cNvGrpSpPr/>
          <p:nvPr/>
        </p:nvGrpSpPr>
        <p:grpSpPr>
          <a:xfrm>
            <a:off x="-10010777" y="-114300"/>
            <a:ext cx="16094870" cy="10287000"/>
            <a:chOff x="-2517276" y="621827"/>
            <a:chExt cx="16094870" cy="10287000"/>
          </a:xfrm>
        </p:grpSpPr>
        <p:grpSp>
          <p:nvGrpSpPr>
            <p:cNvPr id="21" name="Group 223">
              <a:extLst>
                <a:ext uri="{FF2B5EF4-FFF2-40B4-BE49-F238E27FC236}">
                  <a16:creationId xmlns:a16="http://schemas.microsoft.com/office/drawing/2014/main" id="{7D2525D7-0F7F-81D0-5E89-D34E65B42C56}"/>
                </a:ext>
              </a:extLst>
            </p:cNvPr>
            <p:cNvGrpSpPr/>
            <p:nvPr/>
          </p:nvGrpSpPr>
          <p:grpSpPr>
            <a:xfrm>
              <a:off x="-2517276" y="621827"/>
              <a:ext cx="16094870" cy="10287000"/>
              <a:chOff x="0" y="0"/>
              <a:chExt cx="10729913" cy="6858000"/>
            </a:xfrm>
          </p:grpSpPr>
          <p:grpSp>
            <p:nvGrpSpPr>
              <p:cNvPr id="23" name="Group 31">
                <a:extLst>
                  <a:ext uri="{FF2B5EF4-FFF2-40B4-BE49-F238E27FC236}">
                    <a16:creationId xmlns:a16="http://schemas.microsoft.com/office/drawing/2014/main" id="{44BE798D-1604-5AF1-2B94-139F742EDC6C}"/>
                  </a:ext>
                </a:extLst>
              </p:cNvPr>
              <p:cNvGrpSpPr/>
              <p:nvPr/>
            </p:nvGrpSpPr>
            <p:grpSpPr>
              <a:xfrm>
                <a:off x="0" y="0"/>
                <a:ext cx="10729913" cy="6858000"/>
                <a:chOff x="-5219700" y="0"/>
                <a:chExt cx="10729913" cy="6858000"/>
              </a:xfrm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C2C88A6F-D8F1-00BD-4AEB-44E9ECF57F2E}"/>
                    </a:ext>
                  </a:extLst>
                </p:cNvPr>
                <p:cNvSpPr/>
                <p:nvPr/>
              </p:nvSpPr>
              <p:spPr>
                <a:xfrm>
                  <a:off x="-5219700" y="0"/>
                  <a:ext cx="9848850" cy="6858000"/>
                </a:xfrm>
                <a:prstGeom prst="rect">
                  <a:avLst/>
                </a:prstGeom>
                <a:solidFill>
                  <a:srgbClr val="EBD6FB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0" name="Group 11">
                  <a:extLst>
                    <a:ext uri="{FF2B5EF4-FFF2-40B4-BE49-F238E27FC236}">
                      <a16:creationId xmlns:a16="http://schemas.microsoft.com/office/drawing/2014/main" id="{C1C1D035-6967-9D5B-B6DE-005913AF5728}"/>
                    </a:ext>
                  </a:extLst>
                </p:cNvPr>
                <p:cNvGrpSpPr/>
                <p:nvPr/>
              </p:nvGrpSpPr>
              <p:grpSpPr>
                <a:xfrm>
                  <a:off x="4629150" y="2511334"/>
                  <a:ext cx="881063" cy="902544"/>
                  <a:chOff x="8401050" y="3607250"/>
                  <a:chExt cx="881063" cy="902544"/>
                </a:xfrm>
              </p:grpSpPr>
              <p:sp>
                <p:nvSpPr>
                  <p:cNvPr id="31" name="Rectangle: Top Corners Rounded 12">
                    <a:extLst>
                      <a:ext uri="{FF2B5EF4-FFF2-40B4-BE49-F238E27FC236}">
                        <a16:creationId xmlns:a16="http://schemas.microsoft.com/office/drawing/2014/main" id="{1F2D525C-B7A6-1113-682D-ACD5624B8F7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solidFill>
                    <a:srgbClr val="EBD6FB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2" name="TextBox 13">
                    <a:extLst>
                      <a:ext uri="{FF2B5EF4-FFF2-40B4-BE49-F238E27FC236}">
                        <a16:creationId xmlns:a16="http://schemas.microsoft.com/office/drawing/2014/main" id="{47052AEE-4A8F-1BF0-A5AD-D1FBD986A480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</p:grpSp>
          </p:grpSp>
          <p:grpSp>
            <p:nvGrpSpPr>
              <p:cNvPr id="24" name="Group 42">
                <a:extLst>
                  <a:ext uri="{FF2B5EF4-FFF2-40B4-BE49-F238E27FC236}">
                    <a16:creationId xmlns:a16="http://schemas.microsoft.com/office/drawing/2014/main" id="{7F019BDF-C917-AF53-A20F-BA4C0A0C72F3}"/>
                  </a:ext>
                </a:extLst>
              </p:cNvPr>
              <p:cNvGrpSpPr/>
              <p:nvPr/>
            </p:nvGrpSpPr>
            <p:grpSpPr>
              <a:xfrm>
                <a:off x="4322410" y="1114344"/>
                <a:ext cx="4480810" cy="3722669"/>
                <a:chOff x="4185096" y="1114344"/>
                <a:chExt cx="4480810" cy="3722669"/>
              </a:xfrm>
            </p:grpSpPr>
            <p:sp>
              <p:nvSpPr>
                <p:cNvPr id="25" name="TextBox 38">
                  <a:extLst>
                    <a:ext uri="{FF2B5EF4-FFF2-40B4-BE49-F238E27FC236}">
                      <a16:creationId xmlns:a16="http://schemas.microsoft.com/office/drawing/2014/main" id="{3F6D0DE8-EF9A-1273-923D-AAA163168D24}"/>
                    </a:ext>
                  </a:extLst>
                </p:cNvPr>
                <p:cNvSpPr txBox="1"/>
                <p:nvPr/>
              </p:nvSpPr>
              <p:spPr>
                <a:xfrm>
                  <a:off x="4185096" y="1114344"/>
                  <a:ext cx="2011287" cy="107721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99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6" name="TextBox 39">
                  <a:extLst>
                    <a:ext uri="{FF2B5EF4-FFF2-40B4-BE49-F238E27FC236}">
                      <a16:creationId xmlns:a16="http://schemas.microsoft.com/office/drawing/2014/main" id="{43BFE3DE-0739-F182-FC77-07A1840D918A}"/>
                    </a:ext>
                  </a:extLst>
                </p:cNvPr>
                <p:cNvSpPr txBox="1"/>
                <p:nvPr/>
              </p:nvSpPr>
              <p:spPr>
                <a:xfrm>
                  <a:off x="6443052" y="1719048"/>
                  <a:ext cx="1825248" cy="73866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6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7" name="TextBox 40">
                  <a:extLst>
                    <a:ext uri="{FF2B5EF4-FFF2-40B4-BE49-F238E27FC236}">
                      <a16:creationId xmlns:a16="http://schemas.microsoft.com/office/drawing/2014/main" id="{973FC21E-F4EE-8253-E37B-5B177D365D24}"/>
                    </a:ext>
                  </a:extLst>
                </p:cNvPr>
                <p:cNvSpPr txBox="1"/>
                <p:nvPr/>
              </p:nvSpPr>
              <p:spPr>
                <a:xfrm>
                  <a:off x="4695719" y="4038608"/>
                  <a:ext cx="1825248" cy="61555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54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8" name="TextBox 41">
                  <a:extLst>
                    <a:ext uri="{FF2B5EF4-FFF2-40B4-BE49-F238E27FC236}">
                      <a16:creationId xmlns:a16="http://schemas.microsoft.com/office/drawing/2014/main" id="{BDA2D793-830F-13A9-DE50-C37F0957004A}"/>
                    </a:ext>
                  </a:extLst>
                </p:cNvPr>
                <p:cNvSpPr txBox="1"/>
                <p:nvPr/>
              </p:nvSpPr>
              <p:spPr>
                <a:xfrm>
                  <a:off x="6708714" y="4498459"/>
                  <a:ext cx="1957192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endParaRPr lang="en-US" sz="2700">
                    <a:solidFill>
                      <a:srgbClr val="84AF9B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sp>
          <p:nvSpPr>
            <p:cNvPr id="59" name="ZoneTexte 58">
              <a:extLst>
                <a:ext uri="{FF2B5EF4-FFF2-40B4-BE49-F238E27FC236}">
                  <a16:creationId xmlns:a16="http://schemas.microsoft.com/office/drawing/2014/main" id="{EC98FCC2-8CDA-CC8C-4E86-FD894EA12BF9}"/>
                </a:ext>
              </a:extLst>
            </p:cNvPr>
            <p:cNvSpPr txBox="1"/>
            <p:nvPr/>
          </p:nvSpPr>
          <p:spPr>
            <a:xfrm>
              <a:off x="6550525" y="3263063"/>
              <a:ext cx="4743955" cy="16312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5000" b="1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Intégration</a:t>
              </a:r>
              <a:r>
                <a:rPr lang="en-US" sz="5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XDR</a:t>
              </a:r>
            </a:p>
          </p:txBody>
        </p:sp>
      </p:grpSp>
      <p:grpSp>
        <p:nvGrpSpPr>
          <p:cNvPr id="62" name="Groupe 61">
            <a:extLst>
              <a:ext uri="{FF2B5EF4-FFF2-40B4-BE49-F238E27FC236}">
                <a16:creationId xmlns:a16="http://schemas.microsoft.com/office/drawing/2014/main" id="{4776D846-3FAF-FEAC-BD61-B90B5392743A}"/>
              </a:ext>
            </a:extLst>
          </p:cNvPr>
          <p:cNvGrpSpPr/>
          <p:nvPr/>
        </p:nvGrpSpPr>
        <p:grpSpPr>
          <a:xfrm>
            <a:off x="-11463336" y="-25070"/>
            <a:ext cx="16094870" cy="10287000"/>
            <a:chOff x="-3293270" y="-25070"/>
            <a:chExt cx="16094870" cy="10287000"/>
          </a:xfrm>
        </p:grpSpPr>
        <p:grpSp>
          <p:nvGrpSpPr>
            <p:cNvPr id="34" name="Group 30">
              <a:extLst>
                <a:ext uri="{FF2B5EF4-FFF2-40B4-BE49-F238E27FC236}">
                  <a16:creationId xmlns:a16="http://schemas.microsoft.com/office/drawing/2014/main" id="{8DF55F58-F31B-D850-DA2B-5966E334A9B5}"/>
                </a:ext>
              </a:extLst>
            </p:cNvPr>
            <p:cNvGrpSpPr/>
            <p:nvPr/>
          </p:nvGrpSpPr>
          <p:grpSpPr>
            <a:xfrm>
              <a:off x="-3293270" y="-25070"/>
              <a:ext cx="16094870" cy="10287000"/>
              <a:chOff x="-6324600" y="0"/>
              <a:chExt cx="10729913" cy="6858000"/>
            </a:xfrm>
            <a:effectLst>
              <a:outerShdw blurRad="254000" dist="88900" algn="l" rotWithShape="0">
                <a:prstClr val="black">
                  <a:alpha val="51000"/>
                </a:prstClr>
              </a:outerShdw>
            </a:effectLst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F84B0C00-D94D-43A3-4352-37093E0C2A8D}"/>
                  </a:ext>
                </a:extLst>
              </p:cNvPr>
              <p:cNvSpPr/>
              <p:nvPr/>
            </p:nvSpPr>
            <p:spPr>
              <a:xfrm>
                <a:off x="-6324600" y="0"/>
                <a:ext cx="9848850" cy="6858000"/>
              </a:xfrm>
              <a:prstGeom prst="rect">
                <a:avLst/>
              </a:prstGeom>
              <a:solidFill>
                <a:srgbClr val="CDC1F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27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37" name="Group 14">
                <a:extLst>
                  <a:ext uri="{FF2B5EF4-FFF2-40B4-BE49-F238E27FC236}">
                    <a16:creationId xmlns:a16="http://schemas.microsoft.com/office/drawing/2014/main" id="{A79AB2F4-D680-DCB3-4B49-19E8ADDCFE18}"/>
                  </a:ext>
                </a:extLst>
              </p:cNvPr>
              <p:cNvGrpSpPr/>
              <p:nvPr/>
            </p:nvGrpSpPr>
            <p:grpSpPr>
              <a:xfrm>
                <a:off x="3524250" y="2049669"/>
                <a:ext cx="881063" cy="902544"/>
                <a:chOff x="8401050" y="3607250"/>
                <a:chExt cx="881063" cy="902544"/>
              </a:xfrm>
            </p:grpSpPr>
            <p:sp>
              <p:nvSpPr>
                <p:cNvPr id="38" name="Rectangle: Top Corners Rounded 15">
                  <a:extLst>
                    <a:ext uri="{FF2B5EF4-FFF2-40B4-BE49-F238E27FC236}">
                      <a16:creationId xmlns:a16="http://schemas.microsoft.com/office/drawing/2014/main" id="{6A15A784-757E-EAD2-D481-21F4BB6F0EAF}"/>
                    </a:ext>
                  </a:extLst>
                </p:cNvPr>
                <p:cNvSpPr/>
                <p:nvPr/>
              </p:nvSpPr>
              <p:spPr>
                <a:xfrm rot="5400000">
                  <a:off x="8400703" y="3628384"/>
                  <a:ext cx="881757" cy="881063"/>
                </a:xfrm>
                <a:prstGeom prst="round2SameRect">
                  <a:avLst/>
                </a:prstGeom>
                <a:solidFill>
                  <a:srgbClr val="CDC1F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16">
                  <a:extLst>
                    <a:ext uri="{FF2B5EF4-FFF2-40B4-BE49-F238E27FC236}">
                      <a16:creationId xmlns:a16="http://schemas.microsoft.com/office/drawing/2014/main" id="{5BB1AA0C-E478-1932-9D8E-773B6495FC27}"/>
                    </a:ext>
                  </a:extLst>
                </p:cNvPr>
                <p:cNvSpPr txBox="1"/>
                <p:nvPr/>
              </p:nvSpPr>
              <p:spPr>
                <a:xfrm>
                  <a:off x="8513922" y="3607250"/>
                  <a:ext cx="674370" cy="89255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81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</a:p>
              </p:txBody>
            </p:sp>
          </p:grpSp>
        </p:grpSp>
        <p:sp>
          <p:nvSpPr>
            <p:cNvPr id="61" name="ZoneTexte 60">
              <a:extLst>
                <a:ext uri="{FF2B5EF4-FFF2-40B4-BE49-F238E27FC236}">
                  <a16:creationId xmlns:a16="http://schemas.microsoft.com/office/drawing/2014/main" id="{21A9EF50-EFD8-B9BD-AEE9-D9057C4F744E}"/>
                </a:ext>
              </a:extLst>
            </p:cNvPr>
            <p:cNvSpPr txBox="1"/>
            <p:nvPr/>
          </p:nvSpPr>
          <p:spPr>
            <a:xfrm>
              <a:off x="4911360" y="2465737"/>
              <a:ext cx="6048848" cy="17851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55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Interopérabilité SOAR</a:t>
              </a:r>
            </a:p>
          </p:txBody>
        </p:sp>
      </p:grpSp>
      <p:grpSp>
        <p:nvGrpSpPr>
          <p:cNvPr id="64" name="Groupe 63">
            <a:extLst>
              <a:ext uri="{FF2B5EF4-FFF2-40B4-BE49-F238E27FC236}">
                <a16:creationId xmlns:a16="http://schemas.microsoft.com/office/drawing/2014/main" id="{0EB655D2-66B6-44F0-6973-BB77DA5074A4}"/>
              </a:ext>
            </a:extLst>
          </p:cNvPr>
          <p:cNvGrpSpPr/>
          <p:nvPr/>
        </p:nvGrpSpPr>
        <p:grpSpPr>
          <a:xfrm>
            <a:off x="-12909461" y="0"/>
            <a:ext cx="16094870" cy="10287000"/>
            <a:chOff x="-13338096" y="0"/>
            <a:chExt cx="16094870" cy="10287000"/>
          </a:xfrm>
        </p:grpSpPr>
        <p:grpSp>
          <p:nvGrpSpPr>
            <p:cNvPr id="41" name="Group 224">
              <a:extLst>
                <a:ext uri="{FF2B5EF4-FFF2-40B4-BE49-F238E27FC236}">
                  <a16:creationId xmlns:a16="http://schemas.microsoft.com/office/drawing/2014/main" id="{976A7E16-A183-3006-3BAB-30D4E40FAB8F}"/>
                </a:ext>
              </a:extLst>
            </p:cNvPr>
            <p:cNvGrpSpPr/>
            <p:nvPr/>
          </p:nvGrpSpPr>
          <p:grpSpPr>
            <a:xfrm>
              <a:off x="-13338096" y="0"/>
              <a:ext cx="16094870" cy="10287000"/>
              <a:chOff x="-8716908" y="0"/>
              <a:chExt cx="10729913" cy="6858000"/>
            </a:xfrm>
            <a:solidFill>
              <a:srgbClr val="A594F9"/>
            </a:solidFill>
          </p:grpSpPr>
          <p:grpSp>
            <p:nvGrpSpPr>
              <p:cNvPr id="43" name="Group 29">
                <a:extLst>
                  <a:ext uri="{FF2B5EF4-FFF2-40B4-BE49-F238E27FC236}">
                    <a16:creationId xmlns:a16="http://schemas.microsoft.com/office/drawing/2014/main" id="{9289410C-34E7-F59C-1057-7A8BAD1C3813}"/>
                  </a:ext>
                </a:extLst>
              </p:cNvPr>
              <p:cNvGrpSpPr/>
              <p:nvPr/>
            </p:nvGrpSpPr>
            <p:grpSpPr>
              <a:xfrm>
                <a:off x="-8716908" y="0"/>
                <a:ext cx="10729913" cy="6858000"/>
                <a:chOff x="-7429500" y="0"/>
                <a:chExt cx="10729913" cy="6858000"/>
              </a:xfrm>
              <a:grpFill/>
              <a:effectLst>
                <a:outerShdw blurRad="254000" dist="88900" algn="l" rotWithShape="0">
                  <a:prstClr val="black">
                    <a:alpha val="51000"/>
                  </a:prstClr>
                </a:outerShdw>
              </a:effectLst>
            </p:grpSpPr>
            <p:sp>
              <p:nvSpPr>
                <p:cNvPr id="53" name="Rectangle 52">
                  <a:extLst>
                    <a:ext uri="{FF2B5EF4-FFF2-40B4-BE49-F238E27FC236}">
                      <a16:creationId xmlns:a16="http://schemas.microsoft.com/office/drawing/2014/main" id="{A254DFE4-E2CD-2BFB-F298-64E25BE42F65}"/>
                    </a:ext>
                  </a:extLst>
                </p:cNvPr>
                <p:cNvSpPr/>
                <p:nvPr/>
              </p:nvSpPr>
              <p:spPr>
                <a:xfrm>
                  <a:off x="-7429500" y="0"/>
                  <a:ext cx="9848850" cy="6858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27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54" name="Group 17">
                  <a:extLst>
                    <a:ext uri="{FF2B5EF4-FFF2-40B4-BE49-F238E27FC236}">
                      <a16:creationId xmlns:a16="http://schemas.microsoft.com/office/drawing/2014/main" id="{FDF5F1B2-3364-6459-E1D8-8BB3DE638E31}"/>
                    </a:ext>
                  </a:extLst>
                </p:cNvPr>
                <p:cNvGrpSpPr/>
                <p:nvPr/>
              </p:nvGrpSpPr>
              <p:grpSpPr>
                <a:xfrm>
                  <a:off x="2419350" y="1588004"/>
                  <a:ext cx="881063" cy="902544"/>
                  <a:chOff x="8401050" y="3607250"/>
                  <a:chExt cx="881063" cy="902544"/>
                </a:xfrm>
                <a:grpFill/>
              </p:grpSpPr>
              <p:sp>
                <p:nvSpPr>
                  <p:cNvPr id="55" name="Rectangle: Top Corners Rounded 18">
                    <a:extLst>
                      <a:ext uri="{FF2B5EF4-FFF2-40B4-BE49-F238E27FC236}">
                        <a16:creationId xmlns:a16="http://schemas.microsoft.com/office/drawing/2014/main" id="{60D79BAC-EE28-5999-1E7E-19F05C0BA1E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8400703" y="3628384"/>
                    <a:ext cx="881757" cy="881063"/>
                  </a:xfrm>
                  <a:prstGeom prst="round2SameRect">
                    <a:avLst/>
                  </a:prstGeom>
                  <a:grp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sz="270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6" name="TextBox 19">
                    <a:extLst>
                      <a:ext uri="{FF2B5EF4-FFF2-40B4-BE49-F238E27FC236}">
                        <a16:creationId xmlns:a16="http://schemas.microsoft.com/office/drawing/2014/main" id="{D01D6060-DDCA-F5CC-EC1F-4C5D72F0B535}"/>
                      </a:ext>
                    </a:extLst>
                  </p:cNvPr>
                  <p:cNvSpPr txBox="1"/>
                  <p:nvPr/>
                </p:nvSpPr>
                <p:spPr>
                  <a:xfrm>
                    <a:off x="8513922" y="3607250"/>
                    <a:ext cx="674370" cy="892552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81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4</a:t>
                    </a:r>
                  </a:p>
                </p:txBody>
              </p:sp>
            </p:grpSp>
          </p:grpSp>
          <p:grpSp>
            <p:nvGrpSpPr>
              <p:cNvPr id="44" name="Group 220">
                <a:extLst>
                  <a:ext uri="{FF2B5EF4-FFF2-40B4-BE49-F238E27FC236}">
                    <a16:creationId xmlns:a16="http://schemas.microsoft.com/office/drawing/2014/main" id="{1152EB66-E0E2-072F-3D32-1FA3940EF176}"/>
                  </a:ext>
                </a:extLst>
              </p:cNvPr>
              <p:cNvGrpSpPr/>
              <p:nvPr/>
            </p:nvGrpSpPr>
            <p:grpSpPr>
              <a:xfrm>
                <a:off x="-3634286" y="2071428"/>
                <a:ext cx="3968259" cy="3302377"/>
                <a:chOff x="2736843" y="1729018"/>
                <a:chExt cx="3968259" cy="3302377"/>
              </a:xfrm>
              <a:grpFill/>
            </p:grpSpPr>
            <p:grpSp>
              <p:nvGrpSpPr>
                <p:cNvPr id="45" name="Group 195">
                  <a:extLst>
                    <a:ext uri="{FF2B5EF4-FFF2-40B4-BE49-F238E27FC236}">
                      <a16:creationId xmlns:a16="http://schemas.microsoft.com/office/drawing/2014/main" id="{3EF29C6A-EA38-AF86-D623-04A27809B104}"/>
                    </a:ext>
                  </a:extLst>
                </p:cNvPr>
                <p:cNvGrpSpPr/>
                <p:nvPr/>
              </p:nvGrpSpPr>
              <p:grpSpPr>
                <a:xfrm>
                  <a:off x="2736843" y="1729018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51" name="TextBox 198">
                    <a:extLst>
                      <a:ext uri="{FF2B5EF4-FFF2-40B4-BE49-F238E27FC236}">
                        <a16:creationId xmlns:a16="http://schemas.microsoft.com/office/drawing/2014/main" id="{59918546-0188-80E8-6CC7-3FF68281CC22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2" name="TextBox 199">
                    <a:extLst>
                      <a:ext uri="{FF2B5EF4-FFF2-40B4-BE49-F238E27FC236}">
                        <a16:creationId xmlns:a16="http://schemas.microsoft.com/office/drawing/2014/main" id="{0684EC30-CC07-431E-4800-5429187DF1BC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sp>
              <p:nvSpPr>
                <p:cNvPr id="46" name="TextBox 203">
                  <a:extLst>
                    <a:ext uri="{FF2B5EF4-FFF2-40B4-BE49-F238E27FC236}">
                      <a16:creationId xmlns:a16="http://schemas.microsoft.com/office/drawing/2014/main" id="{091FF27F-34E5-7273-1811-7CD2E36BEC2A}"/>
                    </a:ext>
                  </a:extLst>
                </p:cNvPr>
                <p:cNvSpPr txBox="1"/>
                <p:nvPr/>
              </p:nvSpPr>
              <p:spPr>
                <a:xfrm>
                  <a:off x="5347154" y="1729018"/>
                  <a:ext cx="963342" cy="430887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36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TextBox 214">
                  <a:extLst>
                    <a:ext uri="{FF2B5EF4-FFF2-40B4-BE49-F238E27FC236}">
                      <a16:creationId xmlns:a16="http://schemas.microsoft.com/office/drawing/2014/main" id="{52957275-1788-84DC-55B3-3EE06164A6A8}"/>
                    </a:ext>
                  </a:extLst>
                </p:cNvPr>
                <p:cNvSpPr txBox="1"/>
                <p:nvPr/>
              </p:nvSpPr>
              <p:spPr>
                <a:xfrm>
                  <a:off x="2736843" y="4754396"/>
                  <a:ext cx="1758766" cy="276999"/>
                </a:xfrm>
                <a:prstGeom prst="rect">
                  <a:avLst/>
                </a:prstGeom>
                <a:grp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en-US" sz="210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48" name="Group 215">
                  <a:extLst>
                    <a:ext uri="{FF2B5EF4-FFF2-40B4-BE49-F238E27FC236}">
                      <a16:creationId xmlns:a16="http://schemas.microsoft.com/office/drawing/2014/main" id="{12D0600F-6555-5311-C0CF-01ABBE98C049}"/>
                    </a:ext>
                  </a:extLst>
                </p:cNvPr>
                <p:cNvGrpSpPr/>
                <p:nvPr/>
              </p:nvGrpSpPr>
              <p:grpSpPr>
                <a:xfrm>
                  <a:off x="4946336" y="3805420"/>
                  <a:ext cx="1758766" cy="1225975"/>
                  <a:chOff x="828691" y="2039551"/>
                  <a:chExt cx="1758766" cy="1225975"/>
                </a:xfrm>
                <a:grpFill/>
              </p:grpSpPr>
              <p:sp>
                <p:nvSpPr>
                  <p:cNvPr id="49" name="TextBox 218">
                    <a:extLst>
                      <a:ext uri="{FF2B5EF4-FFF2-40B4-BE49-F238E27FC236}">
                        <a16:creationId xmlns:a16="http://schemas.microsoft.com/office/drawing/2014/main" id="{0683EFF3-9D2F-FA0D-9779-1A970CD7FE18}"/>
                      </a:ext>
                    </a:extLst>
                  </p:cNvPr>
                  <p:cNvSpPr txBox="1"/>
                  <p:nvPr/>
                </p:nvSpPr>
                <p:spPr>
                  <a:xfrm>
                    <a:off x="1229509" y="2039551"/>
                    <a:ext cx="963342" cy="430887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36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0" name="TextBox 219">
                    <a:extLst>
                      <a:ext uri="{FF2B5EF4-FFF2-40B4-BE49-F238E27FC236}">
                        <a16:creationId xmlns:a16="http://schemas.microsoft.com/office/drawing/2014/main" id="{2AA0C3BC-152C-8B88-27E2-677F941C5EE5}"/>
                      </a:ext>
                    </a:extLst>
                  </p:cNvPr>
                  <p:cNvSpPr txBox="1"/>
                  <p:nvPr/>
                </p:nvSpPr>
                <p:spPr>
                  <a:xfrm>
                    <a:off x="828691" y="2988527"/>
                    <a:ext cx="1758766" cy="276999"/>
                  </a:xfrm>
                  <a:prstGeom prst="rect">
                    <a:avLst/>
                  </a:prstGeom>
                  <a:grp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en-US" sz="2100">
                      <a:solidFill>
                        <a:schemeClr val="bg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</p:grpSp>
        <p:sp>
          <p:nvSpPr>
            <p:cNvPr id="63" name="ZoneTexte 62">
              <a:extLst>
                <a:ext uri="{FF2B5EF4-FFF2-40B4-BE49-F238E27FC236}">
                  <a16:creationId xmlns:a16="http://schemas.microsoft.com/office/drawing/2014/main" id="{1CDCA447-00FD-47BE-DA41-AD737B62AC12}"/>
                </a:ext>
              </a:extLst>
            </p:cNvPr>
            <p:cNvSpPr txBox="1"/>
            <p:nvPr/>
          </p:nvSpPr>
          <p:spPr>
            <a:xfrm>
              <a:off x="-5444883" y="2556595"/>
              <a:ext cx="5806205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6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Évolution des LLM</a:t>
              </a:r>
              <a:endParaRPr lang="fr-TN" sz="60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7" name="TextBox 4">
            <a:extLst>
              <a:ext uri="{FF2B5EF4-FFF2-40B4-BE49-F238E27FC236}">
                <a16:creationId xmlns:a16="http://schemas.microsoft.com/office/drawing/2014/main" id="{4BF31ABD-D635-8051-8618-2C458FEF2D14}"/>
              </a:ext>
            </a:extLst>
          </p:cNvPr>
          <p:cNvSpPr txBox="1"/>
          <p:nvPr/>
        </p:nvSpPr>
        <p:spPr>
          <a:xfrm>
            <a:off x="14478000" y="3429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Perspectives</a:t>
            </a:r>
          </a:p>
        </p:txBody>
      </p:sp>
      <p:sp>
        <p:nvSpPr>
          <p:cNvPr id="67" name="TextBox 4">
            <a:extLst>
              <a:ext uri="{FF2B5EF4-FFF2-40B4-BE49-F238E27FC236}">
                <a16:creationId xmlns:a16="http://schemas.microsoft.com/office/drawing/2014/main" id="{02721C4D-913C-77B6-6266-2A9D21F775CA}"/>
              </a:ext>
            </a:extLst>
          </p:cNvPr>
          <p:cNvSpPr txBox="1"/>
          <p:nvPr/>
        </p:nvSpPr>
        <p:spPr>
          <a:xfrm>
            <a:off x="19626863" y="49530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latin typeface="Times New Roman" panose="02020603050405020304" pitchFamily="18" charset="0"/>
                <a:ea typeface="Times New Roman Bold"/>
                <a:cs typeface="Times New Roman" panose="02020603050405020304" pitchFamily="18" charset="0"/>
                <a:sym typeface="Times New Roman Bold"/>
              </a:rPr>
              <a:t>Conclusion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2028160A-9ABD-4360-F841-EAC7B2C02723}"/>
              </a:ext>
            </a:extLst>
          </p:cNvPr>
          <p:cNvSpPr/>
          <p:nvPr/>
        </p:nvSpPr>
        <p:spPr>
          <a:xfrm>
            <a:off x="32352263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28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TN" sz="28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Assistant intelligent adaptatif</a:t>
            </a:r>
            <a:endParaRPr lang="fr-TN" sz="28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T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6DC74C4-6C2E-D641-C39C-1CE56F2D0DB5}"/>
              </a:ext>
            </a:extLst>
          </p:cNvPr>
          <p:cNvSpPr/>
          <p:nvPr/>
        </p:nvSpPr>
        <p:spPr>
          <a:xfrm>
            <a:off x="28085063" y="78867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IA Générative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276D280-B3C9-0DE5-F783-9208D695D10D}"/>
              </a:ext>
            </a:extLst>
          </p:cNvPr>
          <p:cNvSpPr/>
          <p:nvPr/>
        </p:nvSpPr>
        <p:spPr>
          <a:xfrm>
            <a:off x="32352263" y="78486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Systèmes embarqués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C0D52FCF-ADD3-16B6-8C42-9EAE013F5B00}"/>
              </a:ext>
            </a:extLst>
          </p:cNvPr>
          <p:cNvSpPr/>
          <p:nvPr/>
        </p:nvSpPr>
        <p:spPr>
          <a:xfrm>
            <a:off x="28073340" y="4991100"/>
            <a:ext cx="3276600" cy="1477328"/>
          </a:xfrm>
          <a:prstGeom prst="rect">
            <a:avLst/>
          </a:prstGeom>
          <a:solidFill>
            <a:srgbClr val="EBD6F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TN" sz="3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Développement Mobile</a:t>
            </a:r>
            <a:endParaRPr lang="fr-TN" sz="3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Box 4">
            <a:extLst>
              <a:ext uri="{FF2B5EF4-FFF2-40B4-BE49-F238E27FC236}">
                <a16:creationId xmlns:a16="http://schemas.microsoft.com/office/drawing/2014/main" id="{D2F70CFF-719D-2057-1501-35BDFBBEDEC3}"/>
              </a:ext>
            </a:extLst>
          </p:cNvPr>
          <p:cNvSpPr txBox="1"/>
          <p:nvPr/>
        </p:nvSpPr>
        <p:spPr>
          <a:xfrm>
            <a:off x="27704063" y="1714500"/>
            <a:ext cx="8338537" cy="2105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96"/>
              </a:lnSpc>
            </a:pPr>
            <a:r>
              <a:rPr lang="fr-TN" sz="6000" b="1" err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SmartFocus</a:t>
            </a:r>
            <a:r>
              <a:rPr lang="fr-TN" sz="6000" b="1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Life Assistant</a:t>
            </a:r>
            <a:endParaRPr lang="en-US" sz="6000" b="1" spc="-265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Times New Roman Bold"/>
              <a:cs typeface="Times New Roman" panose="02020603050405020304" pitchFamily="18" charset="0"/>
              <a:sym typeface="Times New Roman Bold"/>
            </a:endParaRP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962401F-0A57-6CDD-9844-4B88E2051F26}"/>
              </a:ext>
            </a:extLst>
          </p:cNvPr>
          <p:cNvSpPr txBox="1"/>
          <p:nvPr/>
        </p:nvSpPr>
        <p:spPr>
          <a:xfrm>
            <a:off x="4323987" y="-1846029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2655830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8 6.17284E-7 L 0.38585 -0.003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4" y="-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3906 1.11111E-6 L 0.38906 1.11111E-6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4 -8.64198E-7 L 0.3724 -8.64198E-7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257 0 L 0.37257 0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C49598-4BCF-2E73-492A-52924C115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700B75C-3D5F-3833-6291-A87FBFA06C4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EBD6FB"/>
          </a:solidFill>
        </p:spPr>
        <p:txBody>
          <a:bodyPr/>
          <a:lstStyle/>
          <a:p>
            <a:endParaRPr lang="fr-TN">
              <a:solidFill>
                <a:srgbClr val="9964CC"/>
              </a:solidFill>
            </a:endParaRP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30BC03B-76C1-A176-53CD-393A7DF63288}"/>
              </a:ext>
            </a:extLst>
          </p:cNvPr>
          <p:cNvSpPr txBox="1"/>
          <p:nvPr/>
        </p:nvSpPr>
        <p:spPr>
          <a:xfrm>
            <a:off x="3028587" y="4493811"/>
            <a:ext cx="12230826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8850" b="1" spc="-265">
                <a:latin typeface="Times New Roman Bold"/>
                <a:ea typeface="Times New Roman Bold"/>
                <a:cs typeface="Times New Roman Bold"/>
                <a:sym typeface="Times New Roman Bold"/>
              </a:rPr>
              <a:t>Merci pour votre attention</a:t>
            </a:r>
          </a:p>
        </p:txBody>
      </p: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6C3411AF-2E2B-08B3-A514-92663763C927}"/>
              </a:ext>
            </a:extLst>
          </p:cNvPr>
          <p:cNvCxnSpPr>
            <a:cxnSpLocks/>
          </p:cNvCxnSpPr>
          <p:nvPr/>
        </p:nvCxnSpPr>
        <p:spPr>
          <a:xfrm>
            <a:off x="2819400" y="5676900"/>
            <a:ext cx="12260580" cy="0"/>
          </a:xfrm>
          <a:prstGeom prst="line">
            <a:avLst/>
          </a:prstGeom>
          <a:ln>
            <a:solidFill>
              <a:srgbClr val="9964CC"/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ZoneTexte 6">
            <a:extLst>
              <a:ext uri="{FF2B5EF4-FFF2-40B4-BE49-F238E27FC236}">
                <a16:creationId xmlns:a16="http://schemas.microsoft.com/office/drawing/2014/main" id="{833BEA25-A7EC-117E-3C78-10C00566BA0B}"/>
              </a:ext>
            </a:extLst>
          </p:cNvPr>
          <p:cNvSpPr txBox="1"/>
          <p:nvPr/>
        </p:nvSpPr>
        <p:spPr>
          <a:xfrm>
            <a:off x="838200" y="1183088"/>
            <a:ext cx="10163906" cy="11984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96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Sprint 1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73AFC591-EF3D-1D58-5FFC-6B32AAD916FF}"/>
              </a:ext>
            </a:extLst>
          </p:cNvPr>
          <p:cNvSpPr txBox="1"/>
          <p:nvPr/>
        </p:nvSpPr>
        <p:spPr>
          <a:xfrm>
            <a:off x="838200" y="6725420"/>
            <a:ext cx="4876800" cy="997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96"/>
              </a:lnSpc>
            </a:pPr>
            <a:r>
              <a:rPr lang="en-US" sz="6000" b="1" spc="-265">
                <a:solidFill>
                  <a:srgbClr val="EBD6F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Perspectives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86295E9F-DEF6-4169-FD08-489610EE0664}"/>
              </a:ext>
            </a:extLst>
          </p:cNvPr>
          <p:cNvSpPr/>
          <p:nvPr/>
        </p:nvSpPr>
        <p:spPr>
          <a:xfrm>
            <a:off x="-1155449" y="-985157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24" name="Ellipse 23">
            <a:extLst>
              <a:ext uri="{FF2B5EF4-FFF2-40B4-BE49-F238E27FC236}">
                <a16:creationId xmlns:a16="http://schemas.microsoft.com/office/drawing/2014/main" id="{B71CD5D0-A88D-C2E5-5A79-C53B664DDFE0}"/>
              </a:ext>
            </a:extLst>
          </p:cNvPr>
          <p:cNvSpPr/>
          <p:nvPr/>
        </p:nvSpPr>
        <p:spPr>
          <a:xfrm rot="8330170">
            <a:off x="16863477" y="9026762"/>
            <a:ext cx="2177143" cy="1970314"/>
          </a:xfrm>
          <a:prstGeom prst="ellipse">
            <a:avLst/>
          </a:prstGeom>
          <a:noFill/>
          <a:ln w="381000" cap="flat" cmpd="sng" algn="ctr">
            <a:solidFill>
              <a:srgbClr val="9964CC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TN">
              <a:solidFill>
                <a:srgbClr val="00195C"/>
              </a:solidFill>
            </a:endParaRP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540F0800-7914-9F00-617C-42C080F508D3}"/>
              </a:ext>
            </a:extLst>
          </p:cNvPr>
          <p:cNvSpPr/>
          <p:nvPr/>
        </p:nvSpPr>
        <p:spPr>
          <a:xfrm>
            <a:off x="15110460" y="11989405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</p:spTree>
    <p:extLst>
      <p:ext uri="{BB962C8B-B14F-4D97-AF65-F5344CB8AC3E}">
        <p14:creationId xmlns:p14="http://schemas.microsoft.com/office/powerpoint/2010/main" val="304796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0D4B1-75A6-D50A-4F82-45A26EC8C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">
            <a:extLst>
              <a:ext uri="{FF2B5EF4-FFF2-40B4-BE49-F238E27FC236}">
                <a16:creationId xmlns:a16="http://schemas.microsoft.com/office/drawing/2014/main" id="{F88707B0-588B-4DC7-28A8-BC6A89888162}"/>
              </a:ext>
            </a:extLst>
          </p:cNvPr>
          <p:cNvSpPr txBox="1"/>
          <p:nvPr/>
        </p:nvSpPr>
        <p:spPr>
          <a:xfrm>
            <a:off x="18764584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1</a:t>
            </a:r>
          </a:p>
        </p:txBody>
      </p:sp>
      <p:sp>
        <p:nvSpPr>
          <p:cNvPr id="23" name="TextBox 3">
            <a:extLst>
              <a:ext uri="{FF2B5EF4-FFF2-40B4-BE49-F238E27FC236}">
                <a16:creationId xmlns:a16="http://schemas.microsoft.com/office/drawing/2014/main" id="{82AB1FBB-0832-1276-7B84-669E74B72CBF}"/>
              </a:ext>
            </a:extLst>
          </p:cNvPr>
          <p:cNvSpPr txBox="1"/>
          <p:nvPr/>
        </p:nvSpPr>
        <p:spPr>
          <a:xfrm>
            <a:off x="-14478000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4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D6F1BB00-6C24-714B-AE74-360E96AB34FF}"/>
              </a:ext>
            </a:extLst>
          </p:cNvPr>
          <p:cNvSpPr txBox="1"/>
          <p:nvPr/>
        </p:nvSpPr>
        <p:spPr>
          <a:xfrm>
            <a:off x="24378868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2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F54D5D56-3B5C-056C-5FB0-1EA0CD38D10F}"/>
              </a:ext>
            </a:extLst>
          </p:cNvPr>
          <p:cNvSpPr txBox="1"/>
          <p:nvPr/>
        </p:nvSpPr>
        <p:spPr>
          <a:xfrm>
            <a:off x="-8863716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5</a:t>
            </a:r>
          </a:p>
        </p:txBody>
      </p:sp>
      <p:sp>
        <p:nvSpPr>
          <p:cNvPr id="26" name="TextBox 10">
            <a:extLst>
              <a:ext uri="{FF2B5EF4-FFF2-40B4-BE49-F238E27FC236}">
                <a16:creationId xmlns:a16="http://schemas.microsoft.com/office/drawing/2014/main" id="{750F1A5C-D6A0-8719-89E4-A43B3AEB58E6}"/>
              </a:ext>
            </a:extLst>
          </p:cNvPr>
          <p:cNvSpPr txBox="1"/>
          <p:nvPr/>
        </p:nvSpPr>
        <p:spPr>
          <a:xfrm>
            <a:off x="29994559" y="357867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3</a:t>
            </a:r>
          </a:p>
        </p:txBody>
      </p:sp>
      <p:sp>
        <p:nvSpPr>
          <p:cNvPr id="27" name="TextBox 11">
            <a:extLst>
              <a:ext uri="{FF2B5EF4-FFF2-40B4-BE49-F238E27FC236}">
                <a16:creationId xmlns:a16="http://schemas.microsoft.com/office/drawing/2014/main" id="{48F48A1B-0471-7B46-97FA-A10110F48221}"/>
              </a:ext>
            </a:extLst>
          </p:cNvPr>
          <p:cNvSpPr txBox="1"/>
          <p:nvPr/>
        </p:nvSpPr>
        <p:spPr>
          <a:xfrm>
            <a:off x="-3248025" y="6518276"/>
            <a:ext cx="2543132" cy="3425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0"/>
              </a:lnSpc>
              <a:spcBef>
                <a:spcPct val="0"/>
              </a:spcBef>
            </a:pPr>
            <a:r>
              <a:rPr lang="en-US" sz="20000" b="1">
                <a:solidFill>
                  <a:srgbClr val="6C63FF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6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EBC8B2A2-EB77-C76F-514A-F7A82E6502B4}"/>
              </a:ext>
            </a:extLst>
          </p:cNvPr>
          <p:cNvSpPr/>
          <p:nvPr/>
        </p:nvSpPr>
        <p:spPr>
          <a:xfrm>
            <a:off x="878514" y="357867"/>
            <a:ext cx="2304716" cy="1840963"/>
          </a:xfrm>
          <a:custGeom>
            <a:avLst/>
            <a:gdLst/>
            <a:ahLst/>
            <a:cxnLst/>
            <a:rect l="l" t="t" r="r" b="b"/>
            <a:pathLst>
              <a:path w="2304716" h="1840963">
                <a:moveTo>
                  <a:pt x="0" y="0"/>
                </a:moveTo>
                <a:lnTo>
                  <a:pt x="2304716" y="0"/>
                </a:lnTo>
                <a:lnTo>
                  <a:pt x="2304716" y="1840962"/>
                </a:lnTo>
                <a:lnTo>
                  <a:pt x="0" y="18409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F4DAC32-4D59-0B67-369A-0D27E39C2288}"/>
              </a:ext>
            </a:extLst>
          </p:cNvPr>
          <p:cNvSpPr/>
          <p:nvPr/>
        </p:nvSpPr>
        <p:spPr>
          <a:xfrm>
            <a:off x="15098908" y="-5198"/>
            <a:ext cx="2104457" cy="2939283"/>
          </a:xfrm>
          <a:custGeom>
            <a:avLst/>
            <a:gdLst/>
            <a:ahLst/>
            <a:cxnLst/>
            <a:rect l="l" t="t" r="r" b="b"/>
            <a:pathLst>
              <a:path w="2104457" h="2939283">
                <a:moveTo>
                  <a:pt x="0" y="0"/>
                </a:moveTo>
                <a:lnTo>
                  <a:pt x="2104457" y="0"/>
                </a:lnTo>
                <a:lnTo>
                  <a:pt x="2104457" y="2939283"/>
                </a:lnTo>
                <a:lnTo>
                  <a:pt x="0" y="293928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T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C2DE89C-BF3E-C6A5-4189-D7B7AB99627C}"/>
              </a:ext>
            </a:extLst>
          </p:cNvPr>
          <p:cNvSpPr txBox="1"/>
          <p:nvPr/>
        </p:nvSpPr>
        <p:spPr>
          <a:xfrm>
            <a:off x="5235819" y="970259"/>
            <a:ext cx="7810500" cy="8615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UNIVERSITÉ DE MONASTIR </a:t>
            </a:r>
          </a:p>
          <a:p>
            <a:pPr marL="0" lvl="0" indent="0" algn="ctr">
              <a:lnSpc>
                <a:spcPts val="3541"/>
              </a:lnSpc>
              <a:spcBef>
                <a:spcPct val="0"/>
              </a:spcBef>
            </a:pPr>
            <a:r>
              <a:rPr lang="en-US" sz="2529" b="1" u="none" strike="noStrike" spc="-159">
                <a:solidFill>
                  <a:srgbClr val="1A1A2E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 INSTITUT SUPÉRIEUR D'INFORMATIQUE DE MAHDIA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2967DCF-CAED-0FB5-7CA0-8B11D384F267}"/>
              </a:ext>
            </a:extLst>
          </p:cNvPr>
          <p:cNvSpPr txBox="1"/>
          <p:nvPr/>
        </p:nvSpPr>
        <p:spPr>
          <a:xfrm>
            <a:off x="4757622" y="2904907"/>
            <a:ext cx="11701578" cy="1439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631"/>
              </a:lnSpc>
              <a:spcBef>
                <a:spcPct val="0"/>
              </a:spcBef>
            </a:pPr>
            <a:r>
              <a:rPr lang="en-US" sz="6399" b="1" u="none" strike="noStrike" spc="-403">
                <a:solidFill>
                  <a:srgbClr val="7030A0"/>
                </a:solidFill>
                <a:latin typeface="Times New Roman" panose="02020603050405020304" pitchFamily="18" charset="0"/>
                <a:ea typeface="Proxima Nova Bold"/>
                <a:cs typeface="Times New Roman" panose="02020603050405020304" pitchFamily="18" charset="0"/>
                <a:sym typeface="Proxima Nova Bold"/>
              </a:rPr>
              <a:t>PROJET DE FIN D'ÉTUDES</a:t>
            </a:r>
          </a:p>
          <a:p>
            <a:pPr algn="l">
              <a:lnSpc>
                <a:spcPts val="5631"/>
              </a:lnSpc>
            </a:pPr>
            <a:endParaRPr lang="en-US" sz="6399" b="1" u="none" strike="noStrike" spc="-403">
              <a:solidFill>
                <a:srgbClr val="1A1A2E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4A98F2A-2359-A4F9-3026-AA5F10323F9B}"/>
              </a:ext>
            </a:extLst>
          </p:cNvPr>
          <p:cNvSpPr txBox="1"/>
          <p:nvPr/>
        </p:nvSpPr>
        <p:spPr>
          <a:xfrm>
            <a:off x="1483846" y="8420100"/>
            <a:ext cx="369914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Encadrant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Académique</a:t>
            </a:r>
            <a:endParaRPr lang="en-US" sz="2760" b="1" u="none" strike="noStrike">
              <a:solidFill>
                <a:srgbClr val="7030A0"/>
              </a:solidFill>
              <a:latin typeface="Proxima Nova Bold"/>
              <a:ea typeface="Proxima Nova Bold"/>
              <a:cs typeface="Proxima Nova Bold"/>
              <a:sym typeface="Proxima Nova Bold"/>
            </a:endParaRP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Hamdi </a:t>
            </a:r>
            <a:r>
              <a:rPr lang="en-US" sz="2760" b="1" u="none" strike="noStrike" err="1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Aloulou</a:t>
            </a: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2A24DDF-341A-5DBC-20B4-F8A2D4E83C8E}"/>
              </a:ext>
            </a:extLst>
          </p:cNvPr>
          <p:cNvSpPr txBox="1"/>
          <p:nvPr/>
        </p:nvSpPr>
        <p:spPr>
          <a:xfrm>
            <a:off x="12297343" y="8290624"/>
            <a:ext cx="5715000" cy="9490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 err="1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Elaboré</a:t>
            </a:r>
            <a:r>
              <a:rPr lang="en-US" sz="2760" b="1" u="none" strike="noStrike">
                <a:solidFill>
                  <a:srgbClr val="7030A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 par </a:t>
            </a:r>
          </a:p>
          <a:p>
            <a:pPr marL="0" lvl="0" indent="0" algn="ctr">
              <a:lnSpc>
                <a:spcPts val="3863"/>
              </a:lnSpc>
              <a:spcBef>
                <a:spcPct val="0"/>
              </a:spcBef>
            </a:pPr>
            <a:r>
              <a:rPr lang="en-US" sz="2760" b="1" u="none" strike="noStrike">
                <a:solidFill>
                  <a:srgbClr val="1A1A2E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Aziz Dhifaoui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1498E0B0-018D-0A02-52DD-D799A81A95D9}"/>
              </a:ext>
            </a:extLst>
          </p:cNvPr>
          <p:cNvGrpSpPr/>
          <p:nvPr/>
        </p:nvGrpSpPr>
        <p:grpSpPr>
          <a:xfrm>
            <a:off x="1330901" y="4330437"/>
            <a:ext cx="15626198" cy="2667000"/>
            <a:chOff x="1638964" y="4152900"/>
            <a:chExt cx="15626198" cy="2667000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0BC0424-C0AB-22CF-AE7F-D9A451B327AE}"/>
                </a:ext>
              </a:extLst>
            </p:cNvPr>
            <p:cNvSpPr txBox="1"/>
            <p:nvPr/>
          </p:nvSpPr>
          <p:spPr>
            <a:xfrm>
              <a:off x="1644826" y="4513597"/>
              <a:ext cx="15620336" cy="6412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950"/>
                </a:lnSpc>
                <a:spcBef>
                  <a:spcPct val="0"/>
                </a:spcBef>
              </a:pPr>
              <a:r>
                <a:rPr lang="en-US" sz="5000" b="1" u="none" strike="noStrike" spc="460">
                  <a:solidFill>
                    <a:srgbClr val="1A1A2E"/>
                  </a:solidFill>
                  <a:latin typeface="Times New Roman" panose="02020603050405020304" pitchFamily="18" charset="0"/>
                  <a:ea typeface="Proxima Nova Bold"/>
                  <a:cs typeface="Times New Roman" panose="02020603050405020304" pitchFamily="18" charset="0"/>
                  <a:sym typeface="Proxima Nova Bold"/>
                </a:rPr>
                <a:t>NG-IDPS</a:t>
              </a:r>
            </a:p>
          </p:txBody>
        </p: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B174B64B-03B9-A404-34C1-0D8A5B34399C}"/>
                </a:ext>
              </a:extLst>
            </p:cNvPr>
            <p:cNvCxnSpPr>
              <a:cxnSpLocks/>
            </p:cNvCxnSpPr>
            <p:nvPr/>
          </p:nvCxnSpPr>
          <p:spPr>
            <a:xfrm>
              <a:off x="2438400" y="6819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>
              <a:extLst>
                <a:ext uri="{FF2B5EF4-FFF2-40B4-BE49-F238E27FC236}">
                  <a16:creationId xmlns:a16="http://schemas.microsoft.com/office/drawing/2014/main" id="{C7FA0783-9029-080C-6E5C-FE6D464DB9EC}"/>
                </a:ext>
              </a:extLst>
            </p:cNvPr>
            <p:cNvCxnSpPr>
              <a:cxnSpLocks/>
            </p:cNvCxnSpPr>
            <p:nvPr/>
          </p:nvCxnSpPr>
          <p:spPr>
            <a:xfrm>
              <a:off x="2362200" y="4152900"/>
              <a:ext cx="140970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6D067E6A-1E0A-245C-C370-A22FDE17CC43}"/>
                </a:ext>
              </a:extLst>
            </p:cNvPr>
            <p:cNvSpPr txBox="1"/>
            <p:nvPr/>
          </p:nvSpPr>
          <p:spPr>
            <a:xfrm>
              <a:off x="1638964" y="5224102"/>
              <a:ext cx="15620336" cy="12311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Plateforme autonome de cyberdéfense pour la détection et la prévention </a:t>
              </a:r>
            </a:p>
            <a:p>
              <a:pPr algn="ctr"/>
              <a:r>
                <a:rPr lang="fr-FR" sz="40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des cyberattaques</a:t>
              </a:r>
              <a:endParaRPr lang="en-US" sz="4000">
                <a:effectLst/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249453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9ccaf80-d9df-456a-8bf7-56f413aac9e0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539A0FC82CE845B23D17829AD420C2" ma:contentTypeVersion="6" ma:contentTypeDescription="Create a new document." ma:contentTypeScope="" ma:versionID="40f5163b8f0821511539ec881d575f7b">
  <xsd:schema xmlns:xsd="http://www.w3.org/2001/XMLSchema" xmlns:xs="http://www.w3.org/2001/XMLSchema" xmlns:p="http://schemas.microsoft.com/office/2006/metadata/properties" xmlns:ns3="c9ccaf80-d9df-456a-8bf7-56f413aac9e0" targetNamespace="http://schemas.microsoft.com/office/2006/metadata/properties" ma:root="true" ma:fieldsID="33cbaf6721cba15ce46876926baaf7fc" ns3:_="">
    <xsd:import namespace="c9ccaf80-d9df-456a-8bf7-56f413aac9e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ccaf80-d9df-456a-8bf7-56f413aac9e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3F84C3-8936-4C5F-95B0-64A479EA862E}">
  <ds:schemaRefs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c9ccaf80-d9df-456a-8bf7-56f413aac9e0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FD64AE9-AE60-4FAA-AE5B-F0CCB691730B}">
  <ds:schemaRefs>
    <ds:schemaRef ds:uri="c9ccaf80-d9df-456a-8bf7-56f413aac9e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01EBEC8-DE67-4435-8D1B-CB1928E4EE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kacemghof (1)</Template>
  <TotalTime>0</TotalTime>
  <Words>7182</Words>
  <Application>Microsoft Office PowerPoint</Application>
  <PresentationFormat>Custom</PresentationFormat>
  <Paragraphs>469</Paragraphs>
  <Slides>35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5" baseType="lpstr">
      <vt:lpstr>Times New Roman</vt:lpstr>
      <vt:lpstr>Calibri</vt:lpstr>
      <vt:lpstr>Proxima Nova Bold</vt:lpstr>
      <vt:lpstr>Arial</vt:lpstr>
      <vt:lpstr>Cambria Math</vt:lpstr>
      <vt:lpstr>Bricolage Grotesque Bold</vt:lpstr>
      <vt:lpstr>DejaVu Sans Light</vt:lpstr>
      <vt:lpstr>Aptos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aziz dhifaoui</dc:creator>
  <cp:lastModifiedBy>aziz dhifaoui</cp:lastModifiedBy>
  <cp:revision>1</cp:revision>
  <dcterms:created xsi:type="dcterms:W3CDTF">2026-10-10T11:58:30Z</dcterms:created>
  <dcterms:modified xsi:type="dcterms:W3CDTF">2026-10-13T21:15:18Z</dcterms:modified>
  <dc:identifier>DAHL-h76PEE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0x0101006A539A0FC82CE845B23D17829AD420C2</vt:lpwstr>
  </property>
</Properties>
</file>