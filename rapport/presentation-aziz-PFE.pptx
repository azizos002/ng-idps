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notesMasterIdLst>
    <p:notesMasterId r:id="rId40"/>
  </p:notesMasterIdLst>
  <p:sldIdLst>
    <p:sldId id="257" r:id="rId5"/>
    <p:sldId id="258" r:id="rId6"/>
    <p:sldId id="371" r:id="rId7"/>
    <p:sldId id="260" r:id="rId8"/>
    <p:sldId id="261" r:id="rId9"/>
    <p:sldId id="262" r:id="rId10"/>
    <p:sldId id="443" r:id="rId11"/>
    <p:sldId id="386" r:id="rId12"/>
    <p:sldId id="391" r:id="rId13"/>
    <p:sldId id="423" r:id="rId14"/>
    <p:sldId id="425" r:id="rId15"/>
    <p:sldId id="441" r:id="rId16"/>
    <p:sldId id="426" r:id="rId17"/>
    <p:sldId id="428" r:id="rId18"/>
    <p:sldId id="429" r:id="rId19"/>
    <p:sldId id="430" r:id="rId20"/>
    <p:sldId id="431" r:id="rId21"/>
    <p:sldId id="432" r:id="rId22"/>
    <p:sldId id="433" r:id="rId23"/>
    <p:sldId id="434" r:id="rId24"/>
    <p:sldId id="435" r:id="rId25"/>
    <p:sldId id="436" r:id="rId26"/>
    <p:sldId id="437" r:id="rId27"/>
    <p:sldId id="438" r:id="rId28"/>
    <p:sldId id="439" r:id="rId29"/>
    <p:sldId id="440" r:id="rId30"/>
    <p:sldId id="387" r:id="rId31"/>
    <p:sldId id="374" r:id="rId32"/>
    <p:sldId id="376" r:id="rId33"/>
    <p:sldId id="384" r:id="rId34"/>
    <p:sldId id="388" r:id="rId35"/>
    <p:sldId id="419" r:id="rId36"/>
    <p:sldId id="418" r:id="rId37"/>
    <p:sldId id="420" r:id="rId38"/>
    <p:sldId id="442" r:id="rId39"/>
  </p:sldIdLst>
  <p:sldSz cx="18288000" cy="10287000"/>
  <p:notesSz cx="6858000" cy="9144000"/>
  <p:embeddedFontLst>
    <p:embeddedFont>
      <p:font typeface="Bricolage Grotesque Bold" panose="020B0604020202020204" charset="0"/>
      <p:regular r:id="rId41"/>
    </p:embeddedFont>
    <p:embeddedFont>
      <p:font typeface="Cambria Math" panose="02040503050406030204" pitchFamily="18" charset="0"/>
      <p:regular r:id="rId42"/>
    </p:embeddedFont>
    <p:embeddedFont>
      <p:font typeface="DejaVu Sans Light" panose="020B0604020202020204" charset="0"/>
      <p:regular r:id="rId43"/>
    </p:embeddedFont>
    <p:embeddedFont>
      <p:font typeface="Proxima Nova Bold" panose="020B0604020202020204" charset="0"/>
      <p:regular r:id="rId44"/>
    </p:embeddedFont>
    <p:embeddedFont>
      <p:font typeface="Times New Roman Bold" panose="02020803070505020304" pitchFamily="18" charset="0"/>
      <p:regular r:id="rId45"/>
      <p:bold r:id="rId4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1F54"/>
    <a:srgbClr val="D6CAEE"/>
    <a:srgbClr val="101A30"/>
    <a:srgbClr val="7030A0"/>
    <a:srgbClr val="2FE1F5"/>
    <a:srgbClr val="E63950"/>
    <a:srgbClr val="29BDD1"/>
    <a:srgbClr val="9964CC"/>
    <a:srgbClr val="F0F7FE"/>
    <a:srgbClr val="2AC4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91" autoAdjust="0"/>
    <p:restoredTop sz="61749" autoAdjust="0"/>
  </p:normalViewPr>
  <p:slideViewPr>
    <p:cSldViewPr snapToGrid="0">
      <p:cViewPr varScale="1">
        <p:scale>
          <a:sx n="55" d="100"/>
          <a:sy n="55" d="100"/>
        </p:scale>
        <p:origin x="797" y="77"/>
      </p:cViewPr>
      <p:guideLst>
        <p:guide orient="horz" pos="2160"/>
        <p:guide pos="2880"/>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2.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openxmlformats.org/officeDocument/2006/relationships/font" Target="fonts/font5.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font" Target="fonts/font3.fntdata"/><Relationship Id="rId48"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font" Target="fonts/font6.fntdata"/><Relationship Id="rId20" Type="http://schemas.openxmlformats.org/officeDocument/2006/relationships/slide" Target="slides/slide16.xml"/><Relationship Id="rId41" Type="http://schemas.openxmlformats.org/officeDocument/2006/relationships/font" Target="fonts/font1.fntdata"/><Relationship Id="rId1" Type="http://schemas.openxmlformats.org/officeDocument/2006/relationships/customXml" Target="../customXml/item1.xml"/><Relationship Id="rId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TN"/>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01CE8C-F70D-4249-B48F-02DF46090E5C}" type="datetimeFigureOut">
              <a:rPr lang="fr-TN" smtClean="0"/>
              <a:t>10/13/2026</a:t>
            </a:fld>
            <a:endParaRPr lang="fr-TN"/>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TN"/>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TN"/>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TN"/>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16125-8C64-4F60-9C47-92B1855ADCC6}" type="slidenum">
              <a:rPr lang="fr-TN" smtClean="0"/>
              <a:t>‹#›</a:t>
            </a:fld>
            <a:endParaRPr lang="fr-TN"/>
          </a:p>
        </p:txBody>
      </p:sp>
    </p:spTree>
    <p:extLst>
      <p:ext uri="{BB962C8B-B14F-4D97-AF65-F5344CB8AC3E}">
        <p14:creationId xmlns:p14="http://schemas.microsoft.com/office/powerpoint/2010/main" val="35336563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a:t>
            </a:fld>
            <a:endParaRPr lang="fr-TN"/>
          </a:p>
        </p:txBody>
      </p:sp>
    </p:spTree>
    <p:extLst>
      <p:ext uri="{BB962C8B-B14F-4D97-AF65-F5344CB8AC3E}">
        <p14:creationId xmlns:p14="http://schemas.microsoft.com/office/powerpoint/2010/main" val="938143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fr-FR" dirty="0"/>
              <a:t>Pour vous présenter ce travail, ma présentation suit six axes. D'abord l'introduction et la problématique qui ont motivé ce projet, puis l'analyse des besoins, l'environnement et l'architecture globale, la méthodologie que j'ai suivie, le déroulement des six sprints qui ont construit le système, et enfin et la conclusion et les </a:t>
            </a:r>
            <a:r>
              <a:rPr lang="fr-FR" sz="1200" kern="1200" dirty="0">
                <a:solidFill>
                  <a:schemeClr val="tx1"/>
                </a:solidFill>
                <a:effectLst/>
                <a:latin typeface="+mn-lt"/>
                <a:ea typeface="+mn-ea"/>
                <a:cs typeface="+mn-cs"/>
              </a:rPr>
              <a:t>perspectives</a:t>
            </a:r>
            <a:r>
              <a:rPr lang="fr-FR" dirty="0"/>
              <a:t>.</a:t>
            </a:r>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a:t>
            </a:fld>
            <a:endParaRPr lang="fr-TN"/>
          </a:p>
        </p:txBody>
      </p:sp>
    </p:spTree>
    <p:extLst>
      <p:ext uri="{BB962C8B-B14F-4D97-AF65-F5344CB8AC3E}">
        <p14:creationId xmlns:p14="http://schemas.microsoft.com/office/powerpoint/2010/main" val="16488552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rtl="0"/>
            <a:r>
              <a:rPr lang="en-US" dirty="0" err="1"/>
              <a:t>Imaginons</a:t>
            </a:r>
            <a:r>
              <a:rPr lang="en-US" dirty="0"/>
              <a:t> un instant un </a:t>
            </a:r>
            <a:r>
              <a:rPr lang="en-US" dirty="0" err="1"/>
              <a:t>administrateur</a:t>
            </a:r>
            <a:r>
              <a:rPr lang="en-US" dirty="0"/>
              <a:t> </a:t>
            </a:r>
            <a:r>
              <a:rPr lang="en-US" dirty="0" err="1"/>
              <a:t>système</a:t>
            </a:r>
            <a:r>
              <a:rPr lang="en-US" dirty="0"/>
              <a:t>, seul </a:t>
            </a:r>
            <a:r>
              <a:rPr lang="en-US" dirty="0" err="1"/>
              <a:t>responsable</a:t>
            </a:r>
            <a:r>
              <a:rPr lang="en-US" dirty="0"/>
              <a:t> de la sécurité </a:t>
            </a:r>
            <a:r>
              <a:rPr lang="en-US" dirty="0" err="1"/>
              <a:t>d’une</a:t>
            </a:r>
            <a:r>
              <a:rPr lang="en-US" dirty="0"/>
              <a:t> infrastructure, qui doit quitter son poste à dix-</a:t>
            </a:r>
            <a:r>
              <a:rPr lang="en-US" dirty="0" err="1"/>
              <a:t>huit</a:t>
            </a:r>
            <a:r>
              <a:rPr lang="en-US" dirty="0"/>
              <a:t> </a:t>
            </a:r>
            <a:r>
              <a:rPr lang="en-US" dirty="0" err="1"/>
              <a:t>heures</a:t>
            </a:r>
            <a:r>
              <a:rPr lang="en-US" dirty="0"/>
              <a:t>. Son réseau, </a:t>
            </a:r>
            <a:r>
              <a:rPr lang="en-US" dirty="0" err="1"/>
              <a:t>lui</a:t>
            </a:r>
            <a:r>
              <a:rPr lang="en-US" dirty="0"/>
              <a:t>, ne </a:t>
            </a:r>
            <a:r>
              <a:rPr lang="en-US" dirty="0" err="1"/>
              <a:t>s’arrête</a:t>
            </a:r>
            <a:r>
              <a:rPr lang="en-US" dirty="0"/>
              <a:t> jamais. </a:t>
            </a:r>
            <a:r>
              <a:rPr lang="en-US" dirty="0" err="1"/>
              <a:t>C’est</a:t>
            </a:r>
            <a:r>
              <a:rPr lang="en-US" dirty="0"/>
              <a:t> </a:t>
            </a:r>
            <a:r>
              <a:rPr lang="en-US" dirty="0" err="1"/>
              <a:t>précisément</a:t>
            </a:r>
            <a:r>
              <a:rPr lang="en-US" dirty="0"/>
              <a:t> </a:t>
            </a:r>
            <a:r>
              <a:rPr lang="en-US" dirty="0" err="1"/>
              <a:t>cette</a:t>
            </a:r>
            <a:r>
              <a:rPr lang="en-US" dirty="0"/>
              <a:t> </a:t>
            </a:r>
            <a:r>
              <a:rPr lang="en-US" dirty="0" err="1"/>
              <a:t>asymétrie</a:t>
            </a:r>
            <a:r>
              <a:rPr lang="en-US" dirty="0"/>
              <a:t> — </a:t>
            </a:r>
            <a:r>
              <a:rPr lang="en-US" dirty="0" err="1"/>
              <a:t>une</a:t>
            </a:r>
            <a:r>
              <a:rPr lang="en-US" dirty="0"/>
              <a:t> surface </a:t>
            </a:r>
            <a:r>
              <a:rPr lang="en-US" dirty="0" err="1"/>
              <a:t>d’attaque</a:t>
            </a:r>
            <a:r>
              <a:rPr lang="en-US" dirty="0"/>
              <a:t> continue face à </a:t>
            </a:r>
            <a:r>
              <a:rPr lang="en-US" dirty="0" err="1"/>
              <a:t>une</a:t>
            </a:r>
            <a:r>
              <a:rPr lang="en-US" dirty="0"/>
              <a:t> </a:t>
            </a:r>
            <a:r>
              <a:rPr lang="en-US" dirty="0" err="1"/>
              <a:t>capacité</a:t>
            </a:r>
            <a:r>
              <a:rPr lang="en-US" dirty="0"/>
              <a:t> de surveillance humaine </a:t>
            </a:r>
            <a:r>
              <a:rPr lang="en-US" dirty="0" err="1"/>
              <a:t>nécessairement</a:t>
            </a:r>
            <a:r>
              <a:rPr lang="en-US" dirty="0"/>
              <a:t> </a:t>
            </a:r>
            <a:r>
              <a:rPr lang="en-US" dirty="0" err="1"/>
              <a:t>limitée</a:t>
            </a:r>
            <a:r>
              <a:rPr lang="en-US" dirty="0"/>
              <a:t> — qui </a:t>
            </a:r>
            <a:r>
              <a:rPr lang="en-US" dirty="0" err="1"/>
              <a:t>caractérise</a:t>
            </a:r>
            <a:r>
              <a:rPr lang="en-US" dirty="0"/>
              <a:t> la </a:t>
            </a:r>
            <a:r>
              <a:rPr lang="en-US" dirty="0" err="1"/>
              <a:t>majorité</a:t>
            </a:r>
            <a:r>
              <a:rPr lang="en-US" dirty="0"/>
              <a:t> des petites et </a:t>
            </a:r>
            <a:r>
              <a:rPr lang="en-US" dirty="0" err="1"/>
              <a:t>moyennes</a:t>
            </a:r>
            <a:r>
              <a:rPr lang="en-US" dirty="0"/>
              <a:t> </a:t>
            </a:r>
            <a:r>
              <a:rPr lang="en-US" dirty="0" err="1"/>
              <a:t>organisations</a:t>
            </a:r>
            <a:r>
              <a:rPr lang="en-US" dirty="0"/>
              <a:t> </a:t>
            </a:r>
            <a:r>
              <a:rPr lang="en-US" dirty="0" err="1"/>
              <a:t>aujourd’hui</a:t>
            </a:r>
            <a:r>
              <a:rPr lang="en-US" dirty="0"/>
              <a:t> : </a:t>
            </a:r>
            <a:r>
              <a:rPr lang="en-US" dirty="0" err="1"/>
              <a:t>elles</a:t>
            </a:r>
            <a:r>
              <a:rPr lang="en-US" dirty="0"/>
              <a:t> </a:t>
            </a:r>
            <a:r>
              <a:rPr lang="en-US" dirty="0" err="1"/>
              <a:t>n’ont</a:t>
            </a:r>
            <a:r>
              <a:rPr lang="en-US" dirty="0"/>
              <a:t> </a:t>
            </a:r>
            <a:r>
              <a:rPr lang="en-US" dirty="0" err="1"/>
              <a:t>ni</a:t>
            </a:r>
            <a:r>
              <a:rPr lang="en-US" dirty="0"/>
              <a:t> les moyens d’un </a:t>
            </a:r>
            <a:r>
              <a:rPr lang="en-US" dirty="0" err="1"/>
              <a:t>centre</a:t>
            </a:r>
            <a:r>
              <a:rPr lang="en-US" dirty="0"/>
              <a:t> </a:t>
            </a:r>
            <a:r>
              <a:rPr lang="en-US" dirty="0" err="1"/>
              <a:t>opérationnel</a:t>
            </a:r>
            <a:r>
              <a:rPr lang="en-US" dirty="0"/>
              <a:t> de sécurité permanent, </a:t>
            </a:r>
            <a:r>
              <a:rPr lang="en-US" dirty="0" err="1"/>
              <a:t>ni</a:t>
            </a:r>
            <a:r>
              <a:rPr lang="en-US" dirty="0"/>
              <a:t> le budget des </a:t>
            </a:r>
            <a:r>
              <a:rPr lang="en-US" dirty="0" err="1"/>
              <a:t>plateformes</a:t>
            </a:r>
            <a:r>
              <a:rPr lang="en-US" dirty="0"/>
              <a:t> </a:t>
            </a:r>
            <a:r>
              <a:rPr lang="en-US" dirty="0" err="1"/>
              <a:t>commerciales</a:t>
            </a:r>
            <a:r>
              <a:rPr lang="en-US" dirty="0"/>
              <a:t> les plus </a:t>
            </a:r>
            <a:r>
              <a:rPr lang="en-US" dirty="0" err="1"/>
              <a:t>avancées</a:t>
            </a:r>
            <a:r>
              <a:rPr lang="en-US" dirty="0"/>
              <a:t>. Or le </a:t>
            </a:r>
            <a:r>
              <a:rPr lang="en-US" dirty="0" err="1"/>
              <a:t>délai</a:t>
            </a:r>
            <a:r>
              <a:rPr lang="en-US" dirty="0"/>
              <a:t> entre la </a:t>
            </a:r>
            <a:r>
              <a:rPr lang="en-US" dirty="0" err="1"/>
              <a:t>détection</a:t>
            </a:r>
            <a:r>
              <a:rPr lang="en-US" dirty="0"/>
              <a:t> </a:t>
            </a:r>
            <a:r>
              <a:rPr lang="en-US" dirty="0" err="1"/>
              <a:t>d’une</a:t>
            </a:r>
            <a:r>
              <a:rPr lang="en-US" dirty="0"/>
              <a:t> intrusion et </a:t>
            </a:r>
            <a:r>
              <a:rPr lang="en-US" dirty="0" err="1"/>
              <a:t>sa</a:t>
            </a:r>
            <a:r>
              <a:rPr lang="en-US" dirty="0"/>
              <a:t> </a:t>
            </a:r>
            <a:r>
              <a:rPr lang="en-US" dirty="0" err="1"/>
              <a:t>remédiation</a:t>
            </a:r>
            <a:r>
              <a:rPr lang="en-US" dirty="0"/>
              <a:t> </a:t>
            </a:r>
            <a:r>
              <a:rPr lang="en-US" dirty="0" err="1"/>
              <a:t>reste</a:t>
            </a:r>
            <a:r>
              <a:rPr lang="en-US" dirty="0"/>
              <a:t> </a:t>
            </a:r>
            <a:r>
              <a:rPr lang="en-US" dirty="0" err="1"/>
              <a:t>l’un</a:t>
            </a:r>
            <a:r>
              <a:rPr lang="en-US" dirty="0"/>
              <a:t> des </a:t>
            </a:r>
            <a:r>
              <a:rPr lang="en-US" dirty="0" err="1"/>
              <a:t>facteurs</a:t>
            </a:r>
            <a:r>
              <a:rPr lang="en-US" dirty="0"/>
              <a:t> les plus </a:t>
            </a:r>
            <a:r>
              <a:rPr lang="en-US" dirty="0" err="1"/>
              <a:t>déterminants</a:t>
            </a:r>
            <a:r>
              <a:rPr lang="en-US" dirty="0"/>
              <a:t> dans </a:t>
            </a:r>
            <a:r>
              <a:rPr lang="en-US" dirty="0" err="1"/>
              <a:t>l’ampleur</a:t>
            </a:r>
            <a:r>
              <a:rPr lang="en-US" dirty="0"/>
              <a:t> des </a:t>
            </a:r>
            <a:r>
              <a:rPr lang="en-US" dirty="0" err="1"/>
              <a:t>dégâts</a:t>
            </a:r>
            <a:r>
              <a:rPr lang="en-US" dirty="0"/>
              <a:t> </a:t>
            </a:r>
            <a:r>
              <a:rPr lang="en-US" dirty="0" err="1"/>
              <a:t>causés</a:t>
            </a:r>
            <a:r>
              <a:rPr lang="en-US" dirty="0"/>
              <a:t>. </a:t>
            </a:r>
            <a:r>
              <a:rPr lang="en-US" dirty="0" err="1"/>
              <a:t>C’est</a:t>
            </a:r>
            <a:r>
              <a:rPr lang="en-US" dirty="0"/>
              <a:t> </a:t>
            </a:r>
            <a:r>
              <a:rPr lang="en-US" dirty="0" err="1"/>
              <a:t>cet</a:t>
            </a:r>
            <a:r>
              <a:rPr lang="en-US" dirty="0"/>
              <a:t> </a:t>
            </a:r>
            <a:r>
              <a:rPr lang="en-US" dirty="0" err="1"/>
              <a:t>écart</a:t>
            </a:r>
            <a:r>
              <a:rPr lang="en-US" dirty="0"/>
              <a:t> — entre la </a:t>
            </a:r>
            <a:r>
              <a:rPr lang="en-US" dirty="0" err="1"/>
              <a:t>nécessité</a:t>
            </a:r>
            <a:r>
              <a:rPr lang="en-US" dirty="0"/>
              <a:t> </a:t>
            </a:r>
            <a:r>
              <a:rPr lang="en-US" dirty="0" err="1"/>
              <a:t>d’une</a:t>
            </a:r>
            <a:r>
              <a:rPr lang="en-US" dirty="0"/>
              <a:t> </a:t>
            </a:r>
            <a:r>
              <a:rPr lang="en-US" dirty="0" err="1"/>
              <a:t>réponse</a:t>
            </a:r>
            <a:r>
              <a:rPr lang="en-US" dirty="0"/>
              <a:t> continue et </a:t>
            </a:r>
            <a:r>
              <a:rPr lang="en-US" dirty="0" err="1"/>
              <a:t>l’impossibilité</a:t>
            </a:r>
            <a:r>
              <a:rPr lang="en-US" dirty="0"/>
              <a:t> pratique </a:t>
            </a:r>
            <a:r>
              <a:rPr lang="en-US" dirty="0" err="1"/>
              <a:t>d’une</a:t>
            </a:r>
            <a:r>
              <a:rPr lang="en-US" dirty="0"/>
              <a:t> supervision humaine </a:t>
            </a:r>
            <a:r>
              <a:rPr lang="en-US" dirty="0" err="1"/>
              <a:t>constante</a:t>
            </a:r>
            <a:r>
              <a:rPr lang="en-US" dirty="0"/>
              <a:t> — qui pose la </a:t>
            </a:r>
            <a:r>
              <a:rPr lang="en-US" dirty="0" err="1"/>
              <a:t>problématique</a:t>
            </a:r>
            <a:r>
              <a:rPr lang="en-US" dirty="0"/>
              <a:t> </a:t>
            </a:r>
            <a:r>
              <a:rPr lang="en-US" dirty="0" err="1"/>
              <a:t>que</a:t>
            </a:r>
            <a:r>
              <a:rPr lang="en-US" dirty="0"/>
              <a:t> nous </a:t>
            </a:r>
            <a:r>
              <a:rPr lang="en-US" dirty="0" err="1"/>
              <a:t>allons</a:t>
            </a:r>
            <a:r>
              <a:rPr lang="en-US" dirty="0"/>
              <a:t> </a:t>
            </a:r>
            <a:r>
              <a:rPr lang="en-US" dirty="0" err="1"/>
              <a:t>maintenant</a:t>
            </a:r>
            <a:r>
              <a:rPr lang="en-US" dirty="0"/>
              <a:t> </a:t>
            </a:r>
            <a:r>
              <a:rPr lang="en-US" dirty="0" err="1"/>
              <a:t>détailler</a:t>
            </a:r>
            <a:r>
              <a:rPr lang="en-US" dirty="0"/>
              <a:t>.</a:t>
            </a:r>
          </a:p>
        </p:txBody>
      </p:sp>
      <p:sp>
        <p:nvSpPr>
          <p:cNvPr id="4" name="Slide Number Placeholder 3"/>
          <p:cNvSpPr>
            <a:spLocks noGrp="1"/>
          </p:cNvSpPr>
          <p:nvPr>
            <p:ph type="sldNum" sz="quarter" idx="5"/>
          </p:nvPr>
        </p:nvSpPr>
        <p:spPr/>
        <p:txBody>
          <a:bodyPr/>
          <a:lstStyle/>
          <a:p>
            <a:fld id="{13416125-8C64-4F60-9C47-92B1855ADCC6}" type="slidenum">
              <a:rPr lang="fr-TN" smtClean="0"/>
              <a:t>3</a:t>
            </a:fld>
            <a:endParaRPr lang="fr-TN"/>
          </a:p>
        </p:txBody>
      </p:sp>
    </p:spTree>
    <p:extLst>
      <p:ext uri="{BB962C8B-B14F-4D97-AF65-F5344CB8AC3E}">
        <p14:creationId xmlns:p14="http://schemas.microsoft.com/office/powerpoint/2010/main" val="24032816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en-US"/>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Cette </a:t>
            </a:r>
            <a:r>
              <a:rPr lang="en-US" dirty="0" err="1"/>
              <a:t>asymétrie</a:t>
            </a:r>
            <a:r>
              <a:rPr lang="en-US" dirty="0"/>
              <a:t> </a:t>
            </a:r>
            <a:r>
              <a:rPr lang="en-US" dirty="0" err="1"/>
              <a:t>que</a:t>
            </a:r>
            <a:r>
              <a:rPr lang="en-US" dirty="0"/>
              <a:t> je </a:t>
            </a:r>
            <a:r>
              <a:rPr lang="en-US" dirty="0" err="1"/>
              <a:t>viens</a:t>
            </a:r>
            <a:r>
              <a:rPr lang="en-US" dirty="0"/>
              <a:t> </a:t>
            </a:r>
            <a:r>
              <a:rPr lang="en-US" dirty="0" err="1"/>
              <a:t>d’évoquer</a:t>
            </a:r>
            <a:r>
              <a:rPr lang="en-US" dirty="0"/>
              <a:t> — entre </a:t>
            </a:r>
            <a:r>
              <a:rPr lang="en-US" dirty="0" err="1"/>
              <a:t>une</a:t>
            </a:r>
            <a:r>
              <a:rPr lang="en-US" dirty="0"/>
              <a:t> menace continue et </a:t>
            </a:r>
            <a:r>
              <a:rPr lang="en-US" dirty="0" err="1"/>
              <a:t>une</a:t>
            </a:r>
            <a:r>
              <a:rPr lang="en-US" dirty="0"/>
              <a:t> </a:t>
            </a:r>
            <a:r>
              <a:rPr lang="en-US" dirty="0" err="1"/>
              <a:t>capacité</a:t>
            </a:r>
            <a:r>
              <a:rPr lang="en-US" dirty="0"/>
              <a:t> de surveillance </a:t>
            </a:r>
            <a:r>
              <a:rPr lang="en-US" dirty="0" err="1"/>
              <a:t>limitée</a:t>
            </a:r>
            <a:r>
              <a:rPr lang="en-US" dirty="0"/>
              <a:t> — se </a:t>
            </a:r>
            <a:r>
              <a:rPr lang="en-US" dirty="0" err="1"/>
              <a:t>traduit</a:t>
            </a:r>
            <a:r>
              <a:rPr lang="en-US" dirty="0"/>
              <a:t> </a:t>
            </a:r>
            <a:r>
              <a:rPr lang="en-US" dirty="0" err="1"/>
              <a:t>concrètement</a:t>
            </a:r>
            <a:r>
              <a:rPr lang="en-US" dirty="0"/>
              <a:t> par cinq </a:t>
            </a:r>
            <a:r>
              <a:rPr lang="en-US" dirty="0" err="1"/>
              <a:t>défis</a:t>
            </a:r>
            <a:r>
              <a:rPr lang="en-US" dirty="0"/>
              <a:t> techniques. </a:t>
            </a:r>
            <a:r>
              <a:rPr lang="en-US" dirty="0" err="1"/>
              <a:t>Premièrement</a:t>
            </a:r>
            <a:r>
              <a:rPr lang="en-US" dirty="0"/>
              <a:t>, la </a:t>
            </a:r>
            <a:r>
              <a:rPr lang="en-US" dirty="0" err="1"/>
              <a:t>latence</a:t>
            </a:r>
            <a:r>
              <a:rPr lang="en-US" dirty="0"/>
              <a:t> : toute </a:t>
            </a:r>
            <a:r>
              <a:rPr lang="en-US" dirty="0" err="1"/>
              <a:t>décision</a:t>
            </a:r>
            <a:r>
              <a:rPr lang="en-US" dirty="0"/>
              <a:t> doit </a:t>
            </a:r>
            <a:r>
              <a:rPr lang="en-US" dirty="0" err="1"/>
              <a:t>intervenir</a:t>
            </a:r>
            <a:r>
              <a:rPr lang="en-US" dirty="0"/>
              <a:t> dans un </a:t>
            </a:r>
            <a:r>
              <a:rPr lang="en-US" dirty="0" err="1"/>
              <a:t>délai</a:t>
            </a:r>
            <a:r>
              <a:rPr lang="en-US" dirty="0"/>
              <a:t> compatible avec </a:t>
            </a:r>
            <a:r>
              <a:rPr lang="en-US" dirty="0" err="1"/>
              <a:t>une</a:t>
            </a:r>
            <a:r>
              <a:rPr lang="en-US" dirty="0"/>
              <a:t> </a:t>
            </a:r>
            <a:r>
              <a:rPr lang="en-US" dirty="0" err="1"/>
              <a:t>détection</a:t>
            </a:r>
            <a:r>
              <a:rPr lang="en-US" dirty="0"/>
              <a:t> quasi temps </a:t>
            </a:r>
            <a:r>
              <a:rPr lang="en-US" dirty="0" err="1"/>
              <a:t>réel</a:t>
            </a:r>
            <a:r>
              <a:rPr lang="en-US" dirty="0"/>
              <a:t>, sans quoi </a:t>
            </a:r>
            <a:r>
              <a:rPr lang="en-US" dirty="0" err="1"/>
              <a:t>l’attaque</a:t>
            </a:r>
            <a:r>
              <a:rPr lang="en-US" dirty="0"/>
              <a:t> a déjà </a:t>
            </a:r>
            <a:r>
              <a:rPr lang="en-US" dirty="0" err="1"/>
              <a:t>abouti</a:t>
            </a:r>
            <a:r>
              <a:rPr lang="en-US" dirty="0"/>
              <a:t>. </a:t>
            </a:r>
            <a:r>
              <a:rPr lang="en-US" dirty="0" err="1"/>
              <a:t>Deuxièmement</a:t>
            </a:r>
            <a:r>
              <a:rPr lang="en-US" dirty="0"/>
              <a:t>, les faux </a:t>
            </a:r>
            <a:r>
              <a:rPr lang="en-US" dirty="0" err="1"/>
              <a:t>positifs</a:t>
            </a:r>
            <a:r>
              <a:rPr lang="en-US" dirty="0"/>
              <a:t> : </a:t>
            </a:r>
            <a:r>
              <a:rPr lang="en-US" dirty="0" err="1"/>
              <a:t>une</a:t>
            </a:r>
            <a:r>
              <a:rPr lang="en-US" dirty="0"/>
              <a:t> </a:t>
            </a:r>
            <a:r>
              <a:rPr lang="en-US" dirty="0" err="1"/>
              <a:t>détection</a:t>
            </a:r>
            <a:r>
              <a:rPr lang="en-US" dirty="0"/>
              <a:t> </a:t>
            </a:r>
            <a:r>
              <a:rPr lang="en-US" dirty="0" err="1"/>
              <a:t>comportementale</a:t>
            </a:r>
            <a:r>
              <a:rPr lang="en-US" dirty="0"/>
              <a:t> mal </a:t>
            </a:r>
            <a:r>
              <a:rPr lang="en-US" dirty="0" err="1"/>
              <a:t>calibrée</a:t>
            </a:r>
            <a:r>
              <a:rPr lang="en-US" dirty="0"/>
              <a:t> </a:t>
            </a:r>
            <a:r>
              <a:rPr lang="en-US" dirty="0" err="1"/>
              <a:t>génère</a:t>
            </a:r>
            <a:r>
              <a:rPr lang="en-US" dirty="0"/>
              <a:t> des </a:t>
            </a:r>
            <a:r>
              <a:rPr lang="en-US" dirty="0" err="1"/>
              <a:t>alertes</a:t>
            </a:r>
            <a:r>
              <a:rPr lang="en-US" dirty="0"/>
              <a:t> </a:t>
            </a:r>
            <a:r>
              <a:rPr lang="en-US" dirty="0" err="1"/>
              <a:t>en</a:t>
            </a:r>
            <a:r>
              <a:rPr lang="en-US" dirty="0"/>
              <a:t> masse, au point de </a:t>
            </a:r>
            <a:r>
              <a:rPr lang="en-US" dirty="0" err="1"/>
              <a:t>devenir</a:t>
            </a:r>
            <a:r>
              <a:rPr lang="en-US" dirty="0"/>
              <a:t> </a:t>
            </a:r>
            <a:r>
              <a:rPr lang="en-US" dirty="0" err="1"/>
              <a:t>inexploitable</a:t>
            </a:r>
            <a:r>
              <a:rPr lang="en-US" dirty="0"/>
              <a:t> — il faut limiter les </a:t>
            </a:r>
            <a:r>
              <a:rPr lang="en-US" dirty="0" err="1"/>
              <a:t>fausses</a:t>
            </a:r>
            <a:r>
              <a:rPr lang="en-US" dirty="0"/>
              <a:t> </a:t>
            </a:r>
            <a:r>
              <a:rPr lang="en-US" dirty="0" err="1"/>
              <a:t>alertes</a:t>
            </a:r>
            <a:r>
              <a:rPr lang="en-US" dirty="0"/>
              <a:t> sans </a:t>
            </a:r>
            <a:r>
              <a:rPr lang="en-US" dirty="0" err="1"/>
              <a:t>perdre</a:t>
            </a:r>
            <a:r>
              <a:rPr lang="en-US" dirty="0"/>
              <a:t> </a:t>
            </a:r>
            <a:r>
              <a:rPr lang="en-US" dirty="0" err="1"/>
              <a:t>en</a:t>
            </a:r>
            <a:r>
              <a:rPr lang="en-US" dirty="0"/>
              <a:t> </a:t>
            </a:r>
            <a:r>
              <a:rPr lang="en-US" dirty="0" err="1"/>
              <a:t>sensibilité</a:t>
            </a:r>
            <a:r>
              <a:rPr lang="en-US" dirty="0"/>
              <a:t>. </a:t>
            </a:r>
            <a:r>
              <a:rPr lang="en-US" dirty="0" err="1"/>
              <a:t>Troisièmement</a:t>
            </a:r>
            <a:r>
              <a:rPr lang="en-US" dirty="0"/>
              <a:t>, les </a:t>
            </a:r>
            <a:r>
              <a:rPr lang="en-US" dirty="0" err="1"/>
              <a:t>comportements</a:t>
            </a:r>
            <a:r>
              <a:rPr lang="en-US" dirty="0"/>
              <a:t> inconnus : </a:t>
            </a:r>
            <a:r>
              <a:rPr lang="en-US" dirty="0" err="1"/>
              <a:t>une</a:t>
            </a:r>
            <a:r>
              <a:rPr lang="en-US" dirty="0"/>
              <a:t> </a:t>
            </a:r>
            <a:r>
              <a:rPr lang="en-US" dirty="0" err="1"/>
              <a:t>détection</a:t>
            </a:r>
            <a:r>
              <a:rPr lang="en-US" dirty="0"/>
              <a:t> </a:t>
            </a:r>
            <a:r>
              <a:rPr lang="en-US" dirty="0" err="1"/>
              <a:t>fondée</a:t>
            </a:r>
            <a:r>
              <a:rPr lang="en-US" dirty="0"/>
              <a:t> </a:t>
            </a:r>
            <a:r>
              <a:rPr lang="en-US" dirty="0" err="1"/>
              <a:t>uniquement</a:t>
            </a:r>
            <a:r>
              <a:rPr lang="en-US" dirty="0"/>
              <a:t> sur des signatures </a:t>
            </a:r>
            <a:r>
              <a:rPr lang="en-US" dirty="0" err="1"/>
              <a:t>connues</a:t>
            </a:r>
            <a:r>
              <a:rPr lang="en-US" dirty="0"/>
              <a:t> </a:t>
            </a:r>
            <a:r>
              <a:rPr lang="en-US" dirty="0" err="1"/>
              <a:t>reste</a:t>
            </a:r>
            <a:r>
              <a:rPr lang="en-US" dirty="0"/>
              <a:t> </a:t>
            </a:r>
            <a:r>
              <a:rPr lang="en-US" dirty="0" err="1"/>
              <a:t>aveugle</a:t>
            </a:r>
            <a:r>
              <a:rPr lang="en-US" dirty="0"/>
              <a:t> face à </a:t>
            </a:r>
            <a:r>
              <a:rPr lang="en-US" dirty="0" err="1"/>
              <a:t>une</a:t>
            </a:r>
            <a:r>
              <a:rPr lang="en-US" dirty="0"/>
              <a:t> </a:t>
            </a:r>
            <a:r>
              <a:rPr lang="en-US" dirty="0" err="1"/>
              <a:t>attaque</a:t>
            </a:r>
            <a:r>
              <a:rPr lang="en-US" dirty="0"/>
              <a:t> zero-day ; il faut la </a:t>
            </a:r>
            <a:r>
              <a:rPr lang="en-US" dirty="0" err="1"/>
              <a:t>compléter</a:t>
            </a:r>
            <a:r>
              <a:rPr lang="en-US" dirty="0"/>
              <a:t> par </a:t>
            </a:r>
            <a:r>
              <a:rPr lang="en-US" dirty="0" err="1"/>
              <a:t>une</a:t>
            </a:r>
            <a:r>
              <a:rPr lang="en-US" dirty="0"/>
              <a:t> </a:t>
            </a:r>
            <a:r>
              <a:rPr lang="en-US" dirty="0" err="1"/>
              <a:t>approche</a:t>
            </a:r>
            <a:r>
              <a:rPr lang="en-US" dirty="0"/>
              <a:t> </a:t>
            </a:r>
            <a:r>
              <a:rPr lang="en-US" dirty="0" err="1"/>
              <a:t>comportementale</a:t>
            </a:r>
            <a:r>
              <a:rPr lang="en-US" dirty="0"/>
              <a:t> non </a:t>
            </a:r>
            <a:r>
              <a:rPr lang="en-US" dirty="0" err="1"/>
              <a:t>supervisée</a:t>
            </a:r>
            <a:r>
              <a:rPr lang="en-US" dirty="0"/>
              <a:t>. </a:t>
            </a:r>
            <a:r>
              <a:rPr lang="en-US" dirty="0" err="1"/>
              <a:t>Quatrièmement</a:t>
            </a:r>
            <a:r>
              <a:rPr lang="en-US" dirty="0"/>
              <a:t>, </a:t>
            </a:r>
            <a:r>
              <a:rPr lang="en-US" dirty="0" err="1"/>
              <a:t>l’accessibilité</a:t>
            </a:r>
            <a:r>
              <a:rPr lang="en-US" dirty="0"/>
              <a:t> : </a:t>
            </a:r>
            <a:r>
              <a:rPr lang="en-US" dirty="0" err="1"/>
              <a:t>une</a:t>
            </a:r>
            <a:r>
              <a:rPr lang="en-US" dirty="0"/>
              <a:t> </a:t>
            </a:r>
            <a:r>
              <a:rPr lang="en-US" dirty="0" err="1"/>
              <a:t>organisation</a:t>
            </a:r>
            <a:r>
              <a:rPr lang="en-US" dirty="0"/>
              <a:t> sans budget </a:t>
            </a:r>
            <a:r>
              <a:rPr lang="en-US" dirty="0" err="1"/>
              <a:t>conséquent</a:t>
            </a:r>
            <a:r>
              <a:rPr lang="en-US" dirty="0"/>
              <a:t> a </a:t>
            </a:r>
            <a:r>
              <a:rPr lang="en-US" dirty="0" err="1"/>
              <a:t>besoin</a:t>
            </a:r>
            <a:r>
              <a:rPr lang="en-US" dirty="0"/>
              <a:t> </a:t>
            </a:r>
            <a:r>
              <a:rPr lang="en-US" dirty="0" err="1"/>
              <a:t>d’une</a:t>
            </a:r>
            <a:r>
              <a:rPr lang="en-US" dirty="0"/>
              <a:t> architecture open-source et auto-</a:t>
            </a:r>
            <a:r>
              <a:rPr lang="en-US" dirty="0" err="1"/>
              <a:t>hébergée</a:t>
            </a:r>
            <a:r>
              <a:rPr lang="en-US" dirty="0"/>
              <a:t>, sans </a:t>
            </a:r>
            <a:r>
              <a:rPr lang="en-US" dirty="0" err="1"/>
              <a:t>dépendance</a:t>
            </a:r>
            <a:r>
              <a:rPr lang="en-US" dirty="0"/>
              <a:t> à un </a:t>
            </a:r>
            <a:r>
              <a:rPr lang="en-US" dirty="0" err="1"/>
              <a:t>éditeur</a:t>
            </a:r>
            <a:r>
              <a:rPr lang="en-US" dirty="0"/>
              <a:t> commercial. Et </a:t>
            </a:r>
            <a:r>
              <a:rPr lang="en-US" dirty="0" err="1"/>
              <a:t>cinquièmement</a:t>
            </a:r>
            <a:r>
              <a:rPr lang="en-US" dirty="0"/>
              <a:t>, la </a:t>
            </a:r>
            <a:r>
              <a:rPr lang="en-US" dirty="0" err="1"/>
              <a:t>continuité</a:t>
            </a:r>
            <a:r>
              <a:rPr lang="en-US" dirty="0"/>
              <a:t> de la </a:t>
            </a:r>
            <a:r>
              <a:rPr lang="en-US" dirty="0" err="1"/>
              <a:t>réponse</a:t>
            </a:r>
            <a:r>
              <a:rPr lang="en-US" dirty="0"/>
              <a:t> : </a:t>
            </a:r>
            <a:r>
              <a:rPr lang="en-US" dirty="0" err="1"/>
              <a:t>automatiser</a:t>
            </a:r>
            <a:r>
              <a:rPr lang="en-US" dirty="0"/>
              <a:t> la mitigation </a:t>
            </a:r>
            <a:r>
              <a:rPr lang="en-US" dirty="0" err="1"/>
              <a:t>vingt</a:t>
            </a:r>
            <a:r>
              <a:rPr lang="en-US" dirty="0"/>
              <a:t>-quatre </a:t>
            </a:r>
            <a:r>
              <a:rPr lang="en-US" dirty="0" err="1"/>
              <a:t>heures</a:t>
            </a:r>
            <a:r>
              <a:rPr lang="en-US" dirty="0"/>
              <a:t> sur </a:t>
            </a:r>
            <a:r>
              <a:rPr lang="en-US" dirty="0" err="1"/>
              <a:t>vingt</a:t>
            </a:r>
            <a:r>
              <a:rPr lang="en-US" dirty="0"/>
              <a:t>-quatre, tout </a:t>
            </a:r>
            <a:r>
              <a:rPr lang="en-US" dirty="0" err="1"/>
              <a:t>en</a:t>
            </a:r>
            <a:r>
              <a:rPr lang="en-US" dirty="0"/>
              <a:t> </a:t>
            </a:r>
            <a:r>
              <a:rPr lang="en-US" dirty="0" err="1"/>
              <a:t>conservant</a:t>
            </a:r>
            <a:r>
              <a:rPr lang="en-US" dirty="0"/>
              <a:t> </a:t>
            </a:r>
            <a:r>
              <a:rPr lang="en-US" dirty="0" err="1"/>
              <a:t>traçabilité</a:t>
            </a:r>
            <a:r>
              <a:rPr lang="en-US" dirty="0"/>
              <a:t>, audit et </a:t>
            </a:r>
            <a:r>
              <a:rPr lang="en-US" dirty="0" err="1"/>
              <a:t>moindre</a:t>
            </a:r>
            <a:r>
              <a:rPr lang="en-US" dirty="0"/>
              <a:t> </a:t>
            </a:r>
            <a:r>
              <a:rPr lang="en-US" dirty="0" err="1"/>
              <a:t>privilège</a:t>
            </a:r>
            <a:r>
              <a:rPr lang="en-US" dirty="0"/>
              <a:t>. Ce </a:t>
            </a:r>
            <a:r>
              <a:rPr lang="en-US" dirty="0" err="1"/>
              <a:t>sont</a:t>
            </a:r>
            <a:r>
              <a:rPr lang="en-US" dirty="0"/>
              <a:t> </a:t>
            </a:r>
            <a:r>
              <a:rPr lang="en-US" dirty="0" err="1"/>
              <a:t>ces</a:t>
            </a:r>
            <a:r>
              <a:rPr lang="en-US" dirty="0"/>
              <a:t> cinq </a:t>
            </a:r>
            <a:r>
              <a:rPr lang="en-US" dirty="0" err="1"/>
              <a:t>défis</a:t>
            </a:r>
            <a:r>
              <a:rPr lang="en-US" dirty="0"/>
              <a:t> qui </a:t>
            </a:r>
            <a:r>
              <a:rPr lang="en-US" dirty="0" err="1"/>
              <a:t>vont</a:t>
            </a:r>
            <a:r>
              <a:rPr lang="en-US" dirty="0"/>
              <a:t> </a:t>
            </a:r>
            <a:r>
              <a:rPr lang="en-US" dirty="0" err="1"/>
              <a:t>maintenant</a:t>
            </a:r>
            <a:r>
              <a:rPr lang="en-US" dirty="0"/>
              <a:t> </a:t>
            </a:r>
            <a:r>
              <a:rPr lang="en-US" dirty="0" err="1"/>
              <a:t>orienter</a:t>
            </a:r>
            <a:r>
              <a:rPr lang="en-US" dirty="0"/>
              <a:t> </a:t>
            </a:r>
            <a:r>
              <a:rPr lang="en-US" dirty="0" err="1"/>
              <a:t>notre</a:t>
            </a:r>
            <a:r>
              <a:rPr lang="en-US" dirty="0"/>
              <a:t> lecture de </a:t>
            </a:r>
            <a:r>
              <a:rPr lang="en-US" dirty="0" err="1"/>
              <a:t>l’existant</a:t>
            </a:r>
            <a:r>
              <a:rPr lang="en-US" dirty="0"/>
              <a:t>.</a:t>
            </a:r>
            <a:endParaRPr lang="fr-TN" dirty="0"/>
          </a:p>
        </p:txBody>
      </p:sp>
      <p:sp>
        <p:nvSpPr>
          <p:cNvPr id="4" name="Espace réservé du numéro de diapositive 3"/>
          <p:cNvSpPr>
            <a:spLocks noGrp="1"/>
          </p:cNvSpPr>
          <p:nvPr>
            <p:ph type="sldNum" sz="quarter" idx="5"/>
          </p:nvPr>
        </p:nvSpPr>
        <p:spPr/>
        <p:txBody>
          <a:bodyPr/>
          <a:lstStyle/>
          <a:p>
            <a:fld id="{13416125-8C64-4F60-9C47-92B1855ADCC6}" type="slidenum">
              <a:rPr lang="fr-TN" smtClean="0"/>
              <a:t>4</a:t>
            </a:fld>
            <a:endParaRPr lang="fr-TN"/>
          </a:p>
        </p:txBody>
      </p:sp>
    </p:spTree>
    <p:extLst>
      <p:ext uri="{BB962C8B-B14F-4D97-AF65-F5344CB8AC3E}">
        <p14:creationId xmlns:p14="http://schemas.microsoft.com/office/powerpoint/2010/main" val="23881993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rtl="0"/>
            <a:r>
              <a:rPr lang="en-US" dirty="0"/>
              <a:t>Face à </a:t>
            </a:r>
            <a:r>
              <a:rPr lang="en-US" dirty="0" err="1"/>
              <a:t>ces</a:t>
            </a:r>
            <a:r>
              <a:rPr lang="en-US" dirty="0"/>
              <a:t> cinq </a:t>
            </a:r>
            <a:r>
              <a:rPr lang="en-US" dirty="0" err="1"/>
              <a:t>défis</a:t>
            </a:r>
            <a:r>
              <a:rPr lang="en-US" dirty="0"/>
              <a:t>, </a:t>
            </a:r>
            <a:r>
              <a:rPr lang="en-US" dirty="0" err="1"/>
              <a:t>j’ai</a:t>
            </a:r>
            <a:r>
              <a:rPr lang="en-US" dirty="0"/>
              <a:t> </a:t>
            </a:r>
            <a:r>
              <a:rPr lang="en-US" dirty="0" err="1"/>
              <a:t>étudié</a:t>
            </a:r>
            <a:r>
              <a:rPr lang="en-US" dirty="0"/>
              <a:t> trois </a:t>
            </a:r>
            <a:r>
              <a:rPr lang="en-US" dirty="0" err="1"/>
              <a:t>familles</a:t>
            </a:r>
            <a:r>
              <a:rPr lang="en-US" dirty="0"/>
              <a:t> de solutions déjà </a:t>
            </a:r>
            <a:r>
              <a:rPr lang="en-US" dirty="0" err="1"/>
              <a:t>présentes</a:t>
            </a:r>
            <a:r>
              <a:rPr lang="en-US" dirty="0"/>
              <a:t> sur le </a:t>
            </a:r>
            <a:r>
              <a:rPr lang="en-US" dirty="0" err="1"/>
              <a:t>marché</a:t>
            </a:r>
            <a:r>
              <a:rPr lang="en-US" dirty="0"/>
              <a:t>. Snort et Zeek </a:t>
            </a:r>
            <a:r>
              <a:rPr lang="en-US" dirty="0" err="1"/>
              <a:t>assurent</a:t>
            </a:r>
            <a:r>
              <a:rPr lang="en-US" dirty="0"/>
              <a:t> </a:t>
            </a:r>
            <a:r>
              <a:rPr lang="en-US" dirty="0" err="1"/>
              <a:t>une</a:t>
            </a:r>
            <a:r>
              <a:rPr lang="en-US" dirty="0"/>
              <a:t> </a:t>
            </a:r>
            <a:r>
              <a:rPr lang="en-US" dirty="0" err="1"/>
              <a:t>détection</a:t>
            </a:r>
            <a:r>
              <a:rPr lang="en-US" dirty="0"/>
              <a:t> par signatures et </a:t>
            </a:r>
            <a:r>
              <a:rPr lang="en-US" dirty="0" err="1"/>
              <a:t>une</a:t>
            </a:r>
            <a:r>
              <a:rPr lang="en-US" dirty="0"/>
              <a:t> </a:t>
            </a:r>
            <a:r>
              <a:rPr lang="en-US" dirty="0" err="1"/>
              <a:t>analyse</a:t>
            </a:r>
            <a:r>
              <a:rPr lang="en-US" dirty="0"/>
              <a:t> de </a:t>
            </a:r>
            <a:r>
              <a:rPr lang="en-US" dirty="0" err="1"/>
              <a:t>protocole</a:t>
            </a:r>
            <a:r>
              <a:rPr lang="en-US" dirty="0"/>
              <a:t> </a:t>
            </a:r>
            <a:r>
              <a:rPr lang="en-US" dirty="0" err="1"/>
              <a:t>solides</a:t>
            </a:r>
            <a:r>
              <a:rPr lang="en-US" dirty="0"/>
              <a:t>, </a:t>
            </a:r>
            <a:r>
              <a:rPr lang="en-US" dirty="0" err="1"/>
              <a:t>mais</a:t>
            </a:r>
            <a:r>
              <a:rPr lang="en-US" dirty="0"/>
              <a:t> sans </a:t>
            </a:r>
            <a:r>
              <a:rPr lang="en-US" dirty="0" err="1"/>
              <a:t>comportemental</a:t>
            </a:r>
            <a:r>
              <a:rPr lang="en-US" dirty="0"/>
              <a:t> </a:t>
            </a:r>
            <a:r>
              <a:rPr lang="en-US" dirty="0" err="1"/>
              <a:t>natif</a:t>
            </a:r>
            <a:r>
              <a:rPr lang="en-US" dirty="0"/>
              <a:t> </a:t>
            </a:r>
            <a:r>
              <a:rPr lang="en-US" dirty="0" err="1"/>
              <a:t>ni</a:t>
            </a:r>
            <a:r>
              <a:rPr lang="en-US" dirty="0"/>
              <a:t> orchestration </a:t>
            </a:r>
            <a:r>
              <a:rPr lang="en-US" dirty="0" err="1"/>
              <a:t>intégrée</a:t>
            </a:r>
            <a:r>
              <a:rPr lang="en-US" dirty="0"/>
              <a:t> — </a:t>
            </a:r>
            <a:r>
              <a:rPr lang="en-US" dirty="0" err="1"/>
              <a:t>ils</a:t>
            </a:r>
            <a:r>
              <a:rPr lang="en-US" dirty="0"/>
              <a:t> </a:t>
            </a:r>
            <a:r>
              <a:rPr lang="en-US" dirty="0" err="1"/>
              <a:t>couvrent</a:t>
            </a:r>
            <a:r>
              <a:rPr lang="en-US" dirty="0"/>
              <a:t> la </a:t>
            </a:r>
            <a:r>
              <a:rPr lang="en-US" dirty="0" err="1"/>
              <a:t>détection</a:t>
            </a:r>
            <a:r>
              <a:rPr lang="en-US" dirty="0"/>
              <a:t>, pas la </a:t>
            </a:r>
            <a:r>
              <a:rPr lang="en-US" dirty="0" err="1"/>
              <a:t>réponse</a:t>
            </a:r>
            <a:r>
              <a:rPr lang="en-US" dirty="0"/>
              <a:t>. Splunk ES et </a:t>
            </a:r>
            <a:r>
              <a:rPr lang="en-US" dirty="0" err="1"/>
              <a:t>QRadar</a:t>
            </a:r>
            <a:r>
              <a:rPr lang="en-US" dirty="0"/>
              <a:t>, de </a:t>
            </a:r>
            <a:r>
              <a:rPr lang="en-US" dirty="0" err="1"/>
              <a:t>leur</a:t>
            </a:r>
            <a:r>
              <a:rPr lang="en-US" dirty="0"/>
              <a:t> </a:t>
            </a:r>
            <a:r>
              <a:rPr lang="en-US" dirty="0" err="1"/>
              <a:t>côté</a:t>
            </a:r>
            <a:r>
              <a:rPr lang="en-US" dirty="0"/>
              <a:t>, </a:t>
            </a:r>
            <a:r>
              <a:rPr lang="en-US" dirty="0" err="1"/>
              <a:t>offrent</a:t>
            </a:r>
            <a:r>
              <a:rPr lang="en-US" dirty="0"/>
              <a:t> </a:t>
            </a:r>
            <a:r>
              <a:rPr lang="en-US" dirty="0" err="1"/>
              <a:t>une</a:t>
            </a:r>
            <a:r>
              <a:rPr lang="en-US" dirty="0"/>
              <a:t> corrélation et un SOAR matures, </a:t>
            </a:r>
            <a:r>
              <a:rPr lang="en-US" dirty="0" err="1"/>
              <a:t>mais</a:t>
            </a:r>
            <a:r>
              <a:rPr lang="en-US" dirty="0"/>
              <a:t> à un </a:t>
            </a:r>
            <a:r>
              <a:rPr lang="en-US" dirty="0" err="1"/>
              <a:t>coût</a:t>
            </a:r>
            <a:r>
              <a:rPr lang="en-US" dirty="0"/>
              <a:t> de </a:t>
            </a:r>
            <a:r>
              <a:rPr lang="en-US" dirty="0" err="1"/>
              <a:t>licence</a:t>
            </a:r>
            <a:r>
              <a:rPr lang="en-US" dirty="0"/>
              <a:t> </a:t>
            </a:r>
            <a:r>
              <a:rPr lang="en-US" dirty="0" err="1"/>
              <a:t>élevé</a:t>
            </a:r>
            <a:r>
              <a:rPr lang="en-US" dirty="0"/>
              <a:t> et avec </a:t>
            </a:r>
            <a:r>
              <a:rPr lang="en-US" dirty="0" err="1"/>
              <a:t>une</a:t>
            </a:r>
            <a:r>
              <a:rPr lang="en-US" dirty="0"/>
              <a:t> </a:t>
            </a:r>
            <a:r>
              <a:rPr lang="en-US" dirty="0" err="1"/>
              <a:t>dépendance</a:t>
            </a:r>
            <a:r>
              <a:rPr lang="en-US" dirty="0"/>
              <a:t> cloud </a:t>
            </a:r>
            <a:r>
              <a:rPr lang="en-US" dirty="0" err="1"/>
              <a:t>ou</a:t>
            </a:r>
            <a:r>
              <a:rPr lang="en-US" dirty="0"/>
              <a:t> </a:t>
            </a:r>
            <a:r>
              <a:rPr lang="en-US" dirty="0" err="1"/>
              <a:t>éditeur</a:t>
            </a:r>
            <a:r>
              <a:rPr lang="en-US" dirty="0"/>
              <a:t> — </a:t>
            </a:r>
            <a:r>
              <a:rPr lang="en-US" dirty="0" err="1"/>
              <a:t>inaccessibles</a:t>
            </a:r>
            <a:r>
              <a:rPr lang="en-US" dirty="0"/>
              <a:t> pour </a:t>
            </a:r>
            <a:r>
              <a:rPr lang="en-US" dirty="0" err="1"/>
              <a:t>une</a:t>
            </a:r>
            <a:r>
              <a:rPr lang="en-US" dirty="0"/>
              <a:t> </a:t>
            </a:r>
            <a:r>
              <a:rPr lang="en-US" dirty="0" err="1"/>
              <a:t>organisation</a:t>
            </a:r>
            <a:r>
              <a:rPr lang="en-US" dirty="0"/>
              <a:t> sans budget </a:t>
            </a:r>
            <a:r>
              <a:rPr lang="en-US" dirty="0" err="1"/>
              <a:t>conséquent</a:t>
            </a:r>
            <a:r>
              <a:rPr lang="en-US" dirty="0"/>
              <a:t>. Darktrace propose </a:t>
            </a:r>
            <a:r>
              <a:rPr lang="en-US" dirty="0" err="1"/>
              <a:t>une</a:t>
            </a:r>
            <a:r>
              <a:rPr lang="en-US" dirty="0"/>
              <a:t> </a:t>
            </a:r>
            <a:r>
              <a:rPr lang="en-US" dirty="0" err="1"/>
              <a:t>détection</a:t>
            </a:r>
            <a:r>
              <a:rPr lang="en-US" dirty="0"/>
              <a:t> </a:t>
            </a:r>
            <a:r>
              <a:rPr lang="en-US" dirty="0" err="1"/>
              <a:t>comportementale</a:t>
            </a:r>
            <a:r>
              <a:rPr lang="en-US" dirty="0"/>
              <a:t> par IA </a:t>
            </a:r>
            <a:r>
              <a:rPr lang="en-US" dirty="0" err="1"/>
              <a:t>avancée</a:t>
            </a:r>
            <a:r>
              <a:rPr lang="en-US" dirty="0"/>
              <a:t>, </a:t>
            </a:r>
            <a:r>
              <a:rPr lang="en-US" dirty="0" err="1"/>
              <a:t>mais</a:t>
            </a:r>
            <a:r>
              <a:rPr lang="en-US" dirty="0"/>
              <a:t> </a:t>
            </a:r>
            <a:r>
              <a:rPr lang="en-US" dirty="0" err="1"/>
              <a:t>reste</a:t>
            </a:r>
            <a:r>
              <a:rPr lang="en-US" dirty="0"/>
              <a:t> </a:t>
            </a:r>
            <a:r>
              <a:rPr lang="en-US" dirty="0" err="1"/>
              <a:t>une</a:t>
            </a:r>
            <a:r>
              <a:rPr lang="en-US" dirty="0"/>
              <a:t> </a:t>
            </a:r>
            <a:r>
              <a:rPr lang="en-US" dirty="0" err="1"/>
              <a:t>boîte</a:t>
            </a:r>
            <a:r>
              <a:rPr lang="en-US" dirty="0"/>
              <a:t> noire propriétaire, </a:t>
            </a:r>
            <a:r>
              <a:rPr lang="en-US" dirty="0" err="1"/>
              <a:t>dont</a:t>
            </a:r>
            <a:r>
              <a:rPr lang="en-US" dirty="0"/>
              <a:t> le </a:t>
            </a:r>
            <a:r>
              <a:rPr lang="en-US" dirty="0" err="1"/>
              <a:t>modèle</a:t>
            </a:r>
            <a:r>
              <a:rPr lang="en-US" dirty="0"/>
              <a:t> ne </a:t>
            </a:r>
            <a:r>
              <a:rPr lang="en-US" dirty="0" err="1"/>
              <a:t>peut</a:t>
            </a:r>
            <a:r>
              <a:rPr lang="en-US" dirty="0"/>
              <a:t> pas </a:t>
            </a:r>
            <a:r>
              <a:rPr lang="en-US" dirty="0" err="1"/>
              <a:t>être</a:t>
            </a:r>
            <a:r>
              <a:rPr lang="en-US" dirty="0"/>
              <a:t> auto-</a:t>
            </a:r>
            <a:r>
              <a:rPr lang="en-US" dirty="0" err="1"/>
              <a:t>hébergé</a:t>
            </a:r>
            <a:r>
              <a:rPr lang="en-US" dirty="0"/>
              <a:t>. </a:t>
            </a:r>
            <a:r>
              <a:rPr lang="en-US" dirty="0" err="1"/>
              <a:t>Aucune</a:t>
            </a:r>
            <a:r>
              <a:rPr lang="en-US" dirty="0"/>
              <a:t> de </a:t>
            </a:r>
            <a:r>
              <a:rPr lang="en-US" dirty="0" err="1"/>
              <a:t>ces</a:t>
            </a:r>
            <a:r>
              <a:rPr lang="en-US" dirty="0"/>
              <a:t> trois </a:t>
            </a:r>
            <a:r>
              <a:rPr lang="en-US" dirty="0" err="1"/>
              <a:t>approches</a:t>
            </a:r>
            <a:r>
              <a:rPr lang="en-US" dirty="0"/>
              <a:t> ne </a:t>
            </a:r>
            <a:r>
              <a:rPr lang="en-US" dirty="0" err="1"/>
              <a:t>répond</a:t>
            </a:r>
            <a:r>
              <a:rPr lang="en-US" dirty="0"/>
              <a:t> </a:t>
            </a:r>
            <a:r>
              <a:rPr lang="en-US" dirty="0" err="1"/>
              <a:t>simultanément</a:t>
            </a:r>
            <a:r>
              <a:rPr lang="en-US" dirty="0"/>
              <a:t> aux cinq </a:t>
            </a:r>
            <a:r>
              <a:rPr lang="en-US" dirty="0" err="1"/>
              <a:t>défis</a:t>
            </a:r>
            <a:r>
              <a:rPr lang="en-US" dirty="0"/>
              <a:t> </a:t>
            </a:r>
            <a:r>
              <a:rPr lang="en-US" dirty="0" err="1"/>
              <a:t>identifiés</a:t>
            </a:r>
            <a:r>
              <a:rPr lang="en-US" dirty="0"/>
              <a:t> — </a:t>
            </a:r>
            <a:r>
              <a:rPr lang="en-US" dirty="0" err="1"/>
              <a:t>c’est</a:t>
            </a:r>
            <a:r>
              <a:rPr lang="en-US" dirty="0"/>
              <a:t> </a:t>
            </a:r>
            <a:r>
              <a:rPr lang="en-US" dirty="0" err="1"/>
              <a:t>cet</a:t>
            </a:r>
            <a:r>
              <a:rPr lang="en-US" dirty="0"/>
              <a:t> </a:t>
            </a:r>
            <a:r>
              <a:rPr lang="en-US" dirty="0" err="1"/>
              <a:t>espace</a:t>
            </a:r>
            <a:r>
              <a:rPr lang="en-US" dirty="0"/>
              <a:t>, à </a:t>
            </a:r>
            <a:r>
              <a:rPr lang="en-US" dirty="0" err="1"/>
              <a:t>l’intersection</a:t>
            </a:r>
            <a:r>
              <a:rPr lang="en-US" dirty="0"/>
              <a:t> des trois, </a:t>
            </a:r>
            <a:r>
              <a:rPr lang="en-US" dirty="0" err="1"/>
              <a:t>que</a:t>
            </a:r>
            <a:r>
              <a:rPr lang="en-US" dirty="0"/>
              <a:t> </a:t>
            </a:r>
            <a:r>
              <a:rPr lang="en-US" dirty="0" err="1"/>
              <a:t>vient</a:t>
            </a:r>
            <a:r>
              <a:rPr lang="en-US" dirty="0"/>
              <a:t> </a:t>
            </a:r>
            <a:r>
              <a:rPr lang="en-US" dirty="0" err="1"/>
              <a:t>occuper</a:t>
            </a:r>
            <a:r>
              <a:rPr lang="en-US" dirty="0"/>
              <a:t> la solution </a:t>
            </a:r>
            <a:r>
              <a:rPr lang="en-US" dirty="0" err="1"/>
              <a:t>que</a:t>
            </a:r>
            <a:r>
              <a:rPr lang="en-US" dirty="0"/>
              <a:t> je </a:t>
            </a:r>
            <a:r>
              <a:rPr lang="en-US" dirty="0" err="1"/>
              <a:t>vais</a:t>
            </a:r>
            <a:r>
              <a:rPr lang="en-US" dirty="0"/>
              <a:t> </a:t>
            </a:r>
            <a:r>
              <a:rPr lang="en-US" dirty="0" err="1"/>
              <a:t>maintenant</a:t>
            </a:r>
            <a:r>
              <a:rPr lang="en-US" dirty="0"/>
              <a:t> vous </a:t>
            </a:r>
            <a:r>
              <a:rPr lang="en-US" dirty="0" err="1"/>
              <a:t>présenter</a:t>
            </a:r>
            <a:r>
              <a:rPr lang="en-US" dirty="0"/>
              <a:t>.</a:t>
            </a:r>
          </a:p>
        </p:txBody>
      </p:sp>
      <p:sp>
        <p:nvSpPr>
          <p:cNvPr id="4" name="Slide Number Placeholder 3"/>
          <p:cNvSpPr>
            <a:spLocks noGrp="1"/>
          </p:cNvSpPr>
          <p:nvPr>
            <p:ph type="sldNum" sz="quarter" idx="5"/>
          </p:nvPr>
        </p:nvSpPr>
        <p:spPr/>
        <p:txBody>
          <a:bodyPr/>
          <a:lstStyle/>
          <a:p>
            <a:fld id="{13416125-8C64-4F60-9C47-92B1855ADCC6}" type="slidenum">
              <a:rPr lang="fr-TN" smtClean="0"/>
              <a:t>5</a:t>
            </a:fld>
            <a:endParaRPr lang="fr-TN"/>
          </a:p>
        </p:txBody>
      </p:sp>
    </p:spTree>
    <p:extLst>
      <p:ext uri="{BB962C8B-B14F-4D97-AF65-F5344CB8AC3E}">
        <p14:creationId xmlns:p14="http://schemas.microsoft.com/office/powerpoint/2010/main" val="22819680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C’est</a:t>
            </a:r>
            <a:r>
              <a:rPr lang="en-US" dirty="0"/>
              <a:t> pour </a:t>
            </a:r>
            <a:r>
              <a:rPr lang="en-US" dirty="0" err="1"/>
              <a:t>occuper</a:t>
            </a:r>
            <a:r>
              <a:rPr lang="en-US" dirty="0"/>
              <a:t> </a:t>
            </a:r>
            <a:r>
              <a:rPr lang="en-US" dirty="0" err="1"/>
              <a:t>cet</a:t>
            </a:r>
            <a:r>
              <a:rPr lang="en-US" dirty="0"/>
              <a:t> </a:t>
            </a:r>
            <a:r>
              <a:rPr lang="en-US" dirty="0" err="1"/>
              <a:t>espace</a:t>
            </a:r>
            <a:r>
              <a:rPr lang="en-US" dirty="0"/>
              <a:t> </a:t>
            </a:r>
            <a:r>
              <a:rPr lang="en-US" dirty="0" err="1"/>
              <a:t>que</a:t>
            </a:r>
            <a:r>
              <a:rPr lang="en-US" dirty="0"/>
              <a:t> </a:t>
            </a:r>
            <a:r>
              <a:rPr lang="en-US" dirty="0" err="1"/>
              <a:t>j’ai</a:t>
            </a:r>
            <a:r>
              <a:rPr lang="en-US" dirty="0"/>
              <a:t> </a:t>
            </a:r>
            <a:r>
              <a:rPr lang="en-US" dirty="0" err="1"/>
              <a:t>conçu</a:t>
            </a:r>
            <a:r>
              <a:rPr lang="en-US" dirty="0"/>
              <a:t> NG-IDPS — </a:t>
            </a:r>
            <a:r>
              <a:rPr lang="en-US" dirty="0" err="1"/>
              <a:t>une</a:t>
            </a:r>
            <a:r>
              <a:rPr lang="en-US" dirty="0"/>
              <a:t> </a:t>
            </a:r>
            <a:r>
              <a:rPr lang="en-US" dirty="0" err="1"/>
              <a:t>plateforme</a:t>
            </a:r>
            <a:r>
              <a:rPr lang="en-US" dirty="0"/>
              <a:t> autonome de </a:t>
            </a:r>
            <a:r>
              <a:rPr lang="en-US" dirty="0" err="1"/>
              <a:t>cyberdéfense</a:t>
            </a:r>
            <a:r>
              <a:rPr lang="en-US" dirty="0"/>
              <a:t> pour la </a:t>
            </a:r>
            <a:r>
              <a:rPr lang="en-US" dirty="0" err="1"/>
              <a:t>détection</a:t>
            </a:r>
            <a:r>
              <a:rPr lang="en-US" dirty="0"/>
              <a:t> et la </a:t>
            </a:r>
            <a:r>
              <a:rPr lang="en-US" dirty="0" err="1"/>
              <a:t>prévention</a:t>
            </a:r>
            <a:r>
              <a:rPr lang="en-US" dirty="0"/>
              <a:t> des cyber </a:t>
            </a:r>
            <a:r>
              <a:rPr lang="en-US" dirty="0" err="1"/>
              <a:t>attaques</a:t>
            </a:r>
            <a:r>
              <a:rPr lang="en-US" dirty="0"/>
              <a:t>. Elle repose sur quatre </a:t>
            </a:r>
            <a:r>
              <a:rPr lang="en-US" dirty="0" err="1"/>
              <a:t>capacités</a:t>
            </a:r>
            <a:r>
              <a:rPr lang="en-US" dirty="0"/>
              <a:t>. Une </a:t>
            </a:r>
            <a:r>
              <a:rPr lang="en-US" dirty="0" err="1"/>
              <a:t>détection</a:t>
            </a:r>
            <a:r>
              <a:rPr lang="en-US" dirty="0"/>
              <a:t> </a:t>
            </a:r>
            <a:r>
              <a:rPr lang="en-US" dirty="0" err="1"/>
              <a:t>hybride</a:t>
            </a:r>
            <a:r>
              <a:rPr lang="en-US" dirty="0"/>
              <a:t>, </a:t>
            </a:r>
            <a:r>
              <a:rPr lang="en-US" dirty="0" err="1"/>
              <a:t>combinant</a:t>
            </a:r>
            <a:r>
              <a:rPr lang="en-US" dirty="0"/>
              <a:t> Suricata pour les signatures et un LSTM-VAE pour le </a:t>
            </a:r>
            <a:r>
              <a:rPr lang="en-US" dirty="0" err="1"/>
              <a:t>comportemental</a:t>
            </a:r>
            <a:r>
              <a:rPr lang="en-US" dirty="0"/>
              <a:t> non </a:t>
            </a:r>
            <a:r>
              <a:rPr lang="en-US" dirty="0" err="1"/>
              <a:t>supervisé</a:t>
            </a:r>
            <a:r>
              <a:rPr lang="en-US" dirty="0"/>
              <a:t>, </a:t>
            </a:r>
            <a:r>
              <a:rPr lang="en-US" dirty="0" err="1"/>
              <a:t>afin</a:t>
            </a:r>
            <a:r>
              <a:rPr lang="en-US" dirty="0"/>
              <a:t> de </a:t>
            </a:r>
            <a:r>
              <a:rPr lang="en-US" dirty="0" err="1"/>
              <a:t>couvrir</a:t>
            </a:r>
            <a:r>
              <a:rPr lang="en-US" dirty="0"/>
              <a:t> à la </a:t>
            </a:r>
            <a:r>
              <a:rPr lang="en-US" dirty="0" err="1"/>
              <a:t>fois</a:t>
            </a:r>
            <a:r>
              <a:rPr lang="en-US" dirty="0"/>
              <a:t> les menaces </a:t>
            </a:r>
            <a:r>
              <a:rPr lang="en-US" dirty="0" err="1"/>
              <a:t>connues</a:t>
            </a:r>
            <a:r>
              <a:rPr lang="en-US" dirty="0"/>
              <a:t> et les zero-day. Une </a:t>
            </a:r>
            <a:r>
              <a:rPr lang="en-US" dirty="0" err="1"/>
              <a:t>analyse</a:t>
            </a:r>
            <a:r>
              <a:rPr lang="en-US" dirty="0"/>
              <a:t> cognitive locale, </a:t>
            </a:r>
            <a:r>
              <a:rPr lang="en-US" dirty="0" err="1"/>
              <a:t>où</a:t>
            </a:r>
            <a:r>
              <a:rPr lang="en-US" dirty="0"/>
              <a:t> un LLM — </a:t>
            </a:r>
            <a:r>
              <a:rPr lang="en-US" dirty="0" err="1"/>
              <a:t>Ollama</a:t>
            </a:r>
            <a:r>
              <a:rPr lang="en-US" dirty="0"/>
              <a:t> — </a:t>
            </a:r>
            <a:r>
              <a:rPr lang="en-US" dirty="0" err="1"/>
              <a:t>génère</a:t>
            </a:r>
            <a:r>
              <a:rPr lang="en-US" dirty="0"/>
              <a:t> un diagnostic </a:t>
            </a:r>
            <a:r>
              <a:rPr lang="en-US" dirty="0" err="1"/>
              <a:t>structuré</a:t>
            </a:r>
            <a:r>
              <a:rPr lang="en-US" dirty="0"/>
              <a:t>, sans </a:t>
            </a:r>
            <a:r>
              <a:rPr lang="en-US" dirty="0" err="1"/>
              <a:t>dépendance</a:t>
            </a:r>
            <a:r>
              <a:rPr lang="en-US" dirty="0"/>
              <a:t> cloud </a:t>
            </a:r>
            <a:r>
              <a:rPr lang="en-US" dirty="0" err="1"/>
              <a:t>obligatoire</a:t>
            </a:r>
            <a:r>
              <a:rPr lang="en-US" dirty="0"/>
              <a:t>. Un SOAR multi-</a:t>
            </a:r>
            <a:r>
              <a:rPr lang="en-US" dirty="0" err="1"/>
              <a:t>paliers</a:t>
            </a:r>
            <a:r>
              <a:rPr lang="en-US" dirty="0"/>
              <a:t>, qui </a:t>
            </a:r>
            <a:r>
              <a:rPr lang="en-US" dirty="0" err="1"/>
              <a:t>corrèle</a:t>
            </a:r>
            <a:r>
              <a:rPr lang="en-US" dirty="0"/>
              <a:t>, </a:t>
            </a:r>
            <a:r>
              <a:rPr lang="en-US" dirty="0" err="1"/>
              <a:t>calcule</a:t>
            </a:r>
            <a:r>
              <a:rPr lang="en-US" dirty="0"/>
              <a:t> un score composite de menace et </a:t>
            </a:r>
            <a:r>
              <a:rPr lang="en-US" dirty="0" err="1"/>
              <a:t>peut</a:t>
            </a:r>
            <a:r>
              <a:rPr lang="en-US" dirty="0"/>
              <a:t> </a:t>
            </a:r>
            <a:r>
              <a:rPr lang="en-US" dirty="0" err="1"/>
              <a:t>bloquer</a:t>
            </a:r>
            <a:r>
              <a:rPr lang="en-US" dirty="0"/>
              <a:t> de façon autonome, avec supervision humaine possible. Et un module de renseignement et de formation, qui assure la </a:t>
            </a:r>
            <a:r>
              <a:rPr lang="en-US" dirty="0" err="1"/>
              <a:t>veille</a:t>
            </a:r>
            <a:r>
              <a:rPr lang="en-US" dirty="0"/>
              <a:t> CTI et la </a:t>
            </a:r>
            <a:r>
              <a:rPr lang="en-US" dirty="0" err="1"/>
              <a:t>sensibilisation</a:t>
            </a:r>
            <a:r>
              <a:rPr lang="en-US" dirty="0"/>
              <a:t> du facteur humain.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Voyons</a:t>
            </a:r>
            <a:r>
              <a:rPr lang="en-US" dirty="0"/>
              <a:t> </a:t>
            </a:r>
            <a:r>
              <a:rPr lang="en-US" dirty="0" err="1"/>
              <a:t>maintenant</a:t>
            </a:r>
            <a:r>
              <a:rPr lang="en-US" dirty="0"/>
              <a:t> comment </a:t>
            </a:r>
            <a:r>
              <a:rPr lang="en-US" dirty="0" err="1"/>
              <a:t>ces</a:t>
            </a:r>
            <a:r>
              <a:rPr lang="en-US" dirty="0"/>
              <a:t> </a:t>
            </a:r>
            <a:r>
              <a:rPr lang="en-US" dirty="0" err="1"/>
              <a:t>capacités</a:t>
            </a:r>
            <a:r>
              <a:rPr lang="en-US" dirty="0"/>
              <a:t> </a:t>
            </a:r>
            <a:r>
              <a:rPr lang="en-US" dirty="0" err="1"/>
              <a:t>répondent</a:t>
            </a:r>
            <a:r>
              <a:rPr lang="en-US" dirty="0"/>
              <a:t> </a:t>
            </a:r>
            <a:r>
              <a:rPr lang="en-US" dirty="0" err="1"/>
              <a:t>concrètement</a:t>
            </a:r>
            <a:r>
              <a:rPr lang="en-US" dirty="0"/>
              <a:t> aux </a:t>
            </a:r>
            <a:r>
              <a:rPr lang="en-US" dirty="0" err="1"/>
              <a:t>besoins</a:t>
            </a:r>
            <a:r>
              <a:rPr lang="en-US" dirty="0"/>
              <a:t> de </a:t>
            </a:r>
            <a:r>
              <a:rPr lang="en-US" dirty="0" err="1"/>
              <a:t>notre</a:t>
            </a:r>
            <a:r>
              <a:rPr lang="en-US" dirty="0"/>
              <a:t> </a:t>
            </a:r>
            <a:r>
              <a:rPr lang="en-US" dirty="0" err="1"/>
              <a:t>projet</a:t>
            </a:r>
            <a:r>
              <a:rPr lang="en-US" dirty="0"/>
              <a:t>.</a:t>
            </a:r>
          </a:p>
        </p:txBody>
      </p:sp>
      <p:sp>
        <p:nvSpPr>
          <p:cNvPr id="4" name="Slide Number Placeholder 3"/>
          <p:cNvSpPr>
            <a:spLocks noGrp="1"/>
          </p:cNvSpPr>
          <p:nvPr>
            <p:ph type="sldNum" sz="quarter" idx="5"/>
          </p:nvPr>
        </p:nvSpPr>
        <p:spPr/>
        <p:txBody>
          <a:bodyPr/>
          <a:lstStyle/>
          <a:p>
            <a:fld id="{13416125-8C64-4F60-9C47-92B1855ADCC6}" type="slidenum">
              <a:rPr lang="fr-TN" smtClean="0"/>
              <a:t>6</a:t>
            </a:fld>
            <a:endParaRPr lang="fr-TN"/>
          </a:p>
        </p:txBody>
      </p:sp>
    </p:spTree>
    <p:extLst>
      <p:ext uri="{BB962C8B-B14F-4D97-AF65-F5344CB8AC3E}">
        <p14:creationId xmlns:p14="http://schemas.microsoft.com/office/powerpoint/2010/main" val="3488861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ECD0D-AF43-1CAB-BBDC-39F8948D24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9D53CD-E744-E293-F500-4B397C7D4F6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CA2C82E-8C40-9A3C-D338-9A8344A343EE}"/>
              </a:ext>
            </a:extLst>
          </p:cNvPr>
          <p:cNvSpPr>
            <a:spLocks noGrp="1"/>
          </p:cNvSpPr>
          <p:nvPr>
            <p:ph type="body" idx="1"/>
          </p:nvPr>
        </p:nvSpPr>
        <p:spPr/>
        <p:txBody>
          <a:bodyPr/>
          <a:lstStyle/>
          <a:p>
            <a:pPr rtl="0"/>
            <a:r>
              <a:rPr lang="en-US" dirty="0"/>
              <a:t>Pour </a:t>
            </a:r>
            <a:r>
              <a:rPr lang="en-US" dirty="0" err="1"/>
              <a:t>remplir</a:t>
            </a:r>
            <a:r>
              <a:rPr lang="en-US" dirty="0"/>
              <a:t> son </a:t>
            </a:r>
            <a:r>
              <a:rPr lang="en-US" dirty="0" err="1"/>
              <a:t>rôle</a:t>
            </a:r>
            <a:r>
              <a:rPr lang="en-US" dirty="0"/>
              <a:t>, NG-IDPS doit </a:t>
            </a:r>
            <a:r>
              <a:rPr lang="en-US" dirty="0" err="1"/>
              <a:t>répondre</a:t>
            </a:r>
            <a:r>
              <a:rPr lang="en-US" dirty="0"/>
              <a:t> à quatre </a:t>
            </a:r>
            <a:r>
              <a:rPr lang="en-US" dirty="0" err="1"/>
              <a:t>besoins</a:t>
            </a:r>
            <a:r>
              <a:rPr lang="en-US" dirty="0"/>
              <a:t> </a:t>
            </a:r>
            <a:r>
              <a:rPr lang="en-US" dirty="0" err="1"/>
              <a:t>fonctionnels</a:t>
            </a:r>
            <a:r>
              <a:rPr lang="en-US" dirty="0"/>
              <a:t> précis. </a:t>
            </a:r>
            <a:r>
              <a:rPr lang="en-US" dirty="0" err="1"/>
              <a:t>D’abord</a:t>
            </a:r>
            <a:r>
              <a:rPr lang="en-US" dirty="0"/>
              <a:t>, la supervision et le pilotage, qui </a:t>
            </a:r>
            <a:r>
              <a:rPr lang="en-US" dirty="0" err="1"/>
              <a:t>donnent</a:t>
            </a:r>
            <a:r>
              <a:rPr lang="en-US" dirty="0"/>
              <a:t> à </a:t>
            </a:r>
            <a:r>
              <a:rPr lang="en-US" dirty="0" err="1"/>
              <a:t>l’administrateur</a:t>
            </a:r>
            <a:r>
              <a:rPr lang="en-US" dirty="0"/>
              <a:t> </a:t>
            </a:r>
            <a:r>
              <a:rPr lang="en-US" dirty="0" err="1"/>
              <a:t>une</a:t>
            </a:r>
            <a:r>
              <a:rPr lang="en-US" dirty="0"/>
              <a:t> </a:t>
            </a:r>
            <a:r>
              <a:rPr lang="en-US" dirty="0" err="1"/>
              <a:t>visibilité</a:t>
            </a:r>
            <a:r>
              <a:rPr lang="en-US" dirty="0"/>
              <a:t> et un </a:t>
            </a:r>
            <a:r>
              <a:rPr lang="en-US" dirty="0" err="1"/>
              <a:t>contrôle</a:t>
            </a:r>
            <a:r>
              <a:rPr lang="en-US" dirty="0"/>
              <a:t> constants sur </a:t>
            </a:r>
            <a:r>
              <a:rPr lang="en-US" dirty="0" err="1"/>
              <a:t>l’activité</a:t>
            </a:r>
            <a:r>
              <a:rPr lang="en-US" dirty="0"/>
              <a:t> du </a:t>
            </a:r>
            <a:r>
              <a:rPr lang="en-US" dirty="0" err="1"/>
              <a:t>système</a:t>
            </a:r>
            <a:r>
              <a:rPr lang="en-US" dirty="0"/>
              <a:t>. Ensuite, la </a:t>
            </a:r>
            <a:r>
              <a:rPr lang="en-US" dirty="0" err="1"/>
              <a:t>détection</a:t>
            </a:r>
            <a:r>
              <a:rPr lang="en-US" dirty="0"/>
              <a:t> et la corrélation autonome, </a:t>
            </a:r>
            <a:r>
              <a:rPr lang="en-US" dirty="0" err="1"/>
              <a:t>cœur</a:t>
            </a:r>
            <a:r>
              <a:rPr lang="en-US" dirty="0"/>
              <a:t> </a:t>
            </a:r>
            <a:r>
              <a:rPr lang="en-US" dirty="0" err="1"/>
              <a:t>opérationnel</a:t>
            </a:r>
            <a:r>
              <a:rPr lang="en-US" dirty="0"/>
              <a:t> qui </a:t>
            </a:r>
            <a:r>
              <a:rPr lang="en-US" dirty="0" err="1"/>
              <a:t>transforme</a:t>
            </a:r>
            <a:r>
              <a:rPr lang="en-US" dirty="0"/>
              <a:t> le </a:t>
            </a:r>
            <a:r>
              <a:rPr lang="en-US" dirty="0" err="1"/>
              <a:t>trafic</a:t>
            </a:r>
            <a:r>
              <a:rPr lang="en-US" dirty="0"/>
              <a:t> brut </a:t>
            </a:r>
            <a:r>
              <a:rPr lang="en-US" dirty="0" err="1"/>
              <a:t>en</a:t>
            </a:r>
            <a:r>
              <a:rPr lang="en-US" dirty="0"/>
              <a:t> </a:t>
            </a:r>
            <a:r>
              <a:rPr lang="en-US" dirty="0" err="1"/>
              <a:t>alertes</a:t>
            </a:r>
            <a:r>
              <a:rPr lang="en-US" dirty="0"/>
              <a:t> </a:t>
            </a:r>
            <a:r>
              <a:rPr lang="en-US" dirty="0" err="1"/>
              <a:t>qualifiées</a:t>
            </a:r>
            <a:r>
              <a:rPr lang="en-US" dirty="0"/>
              <a:t>. </a:t>
            </a:r>
            <a:r>
              <a:rPr lang="en-US" dirty="0" err="1"/>
              <a:t>Puis</a:t>
            </a:r>
            <a:r>
              <a:rPr lang="en-US" dirty="0"/>
              <a:t> le diagnostic et le renseignement, qui </a:t>
            </a:r>
            <a:r>
              <a:rPr lang="en-US" dirty="0" err="1"/>
              <a:t>enrichissent</a:t>
            </a:r>
            <a:r>
              <a:rPr lang="en-US" dirty="0"/>
              <a:t> </a:t>
            </a:r>
            <a:r>
              <a:rPr lang="en-US" dirty="0" err="1"/>
              <a:t>chaque</a:t>
            </a:r>
            <a:r>
              <a:rPr lang="en-US" dirty="0"/>
              <a:t> </a:t>
            </a:r>
            <a:r>
              <a:rPr lang="en-US" dirty="0" err="1"/>
              <a:t>alerte</a:t>
            </a:r>
            <a:r>
              <a:rPr lang="en-US" dirty="0"/>
              <a:t> d’un </a:t>
            </a:r>
            <a:r>
              <a:rPr lang="en-US" dirty="0" err="1"/>
              <a:t>contexte</a:t>
            </a:r>
            <a:r>
              <a:rPr lang="en-US" dirty="0"/>
              <a:t> exploitable </a:t>
            </a:r>
            <a:r>
              <a:rPr lang="en-US" dirty="0" err="1"/>
              <a:t>plutôt</a:t>
            </a:r>
            <a:r>
              <a:rPr lang="en-US" dirty="0"/>
              <a:t> </a:t>
            </a:r>
            <a:r>
              <a:rPr lang="en-US" dirty="0" err="1"/>
              <a:t>que</a:t>
            </a:r>
            <a:r>
              <a:rPr lang="en-US" dirty="0"/>
              <a:t> d’un simple signal brut. Et </a:t>
            </a:r>
            <a:r>
              <a:rPr lang="en-US" dirty="0" err="1"/>
              <a:t>enfin</a:t>
            </a:r>
            <a:r>
              <a:rPr lang="en-US" dirty="0"/>
              <a:t>, la </a:t>
            </a:r>
            <a:r>
              <a:rPr lang="en-US" dirty="0" err="1"/>
              <a:t>sensibilisation</a:t>
            </a:r>
            <a:r>
              <a:rPr lang="en-US" dirty="0"/>
              <a:t> du facteur humain, </a:t>
            </a:r>
            <a:r>
              <a:rPr lang="en-US" dirty="0" err="1"/>
              <a:t>parce</a:t>
            </a:r>
            <a:r>
              <a:rPr lang="en-US" dirty="0"/>
              <a:t> </a:t>
            </a:r>
            <a:r>
              <a:rPr lang="en-US" dirty="0" err="1"/>
              <a:t>qu’une</a:t>
            </a:r>
            <a:r>
              <a:rPr lang="en-US" dirty="0"/>
              <a:t> </a:t>
            </a:r>
            <a:r>
              <a:rPr lang="en-US" dirty="0" err="1"/>
              <a:t>partie</a:t>
            </a:r>
            <a:r>
              <a:rPr lang="en-US" dirty="0"/>
              <a:t> des incidents </a:t>
            </a:r>
            <a:r>
              <a:rPr lang="en-US" dirty="0" err="1"/>
              <a:t>trouve</a:t>
            </a:r>
            <a:r>
              <a:rPr lang="en-US" dirty="0"/>
              <a:t> son origine du </a:t>
            </a:r>
            <a:r>
              <a:rPr lang="en-US" dirty="0" err="1"/>
              <a:t>côté</a:t>
            </a:r>
            <a:r>
              <a:rPr lang="en-US" dirty="0"/>
              <a:t> des </a:t>
            </a:r>
            <a:r>
              <a:rPr lang="en-US" dirty="0" err="1"/>
              <a:t>utilisateurs</a:t>
            </a:r>
            <a:r>
              <a:rPr lang="en-US" dirty="0"/>
              <a:t>, pas </a:t>
            </a:r>
            <a:r>
              <a:rPr lang="en-US" dirty="0" err="1"/>
              <a:t>seulement</a:t>
            </a:r>
            <a:r>
              <a:rPr lang="en-US" dirty="0"/>
              <a:t> du réseau. </a:t>
            </a:r>
            <a:r>
              <a:rPr lang="en-US" dirty="0" err="1"/>
              <a:t>Voyons</a:t>
            </a:r>
            <a:r>
              <a:rPr lang="en-US" dirty="0"/>
              <a:t> </a:t>
            </a:r>
            <a:r>
              <a:rPr lang="en-US" dirty="0" err="1"/>
              <a:t>maintenant</a:t>
            </a:r>
            <a:r>
              <a:rPr lang="en-US" dirty="0"/>
              <a:t> comment </a:t>
            </a:r>
            <a:r>
              <a:rPr lang="en-US" dirty="0" err="1"/>
              <a:t>ces</a:t>
            </a:r>
            <a:r>
              <a:rPr lang="en-US" dirty="0"/>
              <a:t> quatre </a:t>
            </a:r>
            <a:r>
              <a:rPr lang="en-US" dirty="0" err="1"/>
              <a:t>besoins</a:t>
            </a:r>
            <a:r>
              <a:rPr lang="en-US" dirty="0"/>
              <a:t> </a:t>
            </a:r>
            <a:r>
              <a:rPr lang="en-US" dirty="0" err="1"/>
              <a:t>ont</a:t>
            </a:r>
            <a:r>
              <a:rPr lang="en-US" dirty="0"/>
              <a:t> </a:t>
            </a:r>
            <a:r>
              <a:rPr lang="en-US" dirty="0" err="1"/>
              <a:t>été</a:t>
            </a:r>
            <a:r>
              <a:rPr lang="en-US" dirty="0"/>
              <a:t> </a:t>
            </a:r>
            <a:r>
              <a:rPr lang="en-US" dirty="0" err="1"/>
              <a:t>traduits</a:t>
            </a:r>
            <a:r>
              <a:rPr lang="en-US" dirty="0"/>
              <a:t> </a:t>
            </a:r>
            <a:r>
              <a:rPr lang="en-US" dirty="0" err="1"/>
              <a:t>en</a:t>
            </a:r>
            <a:r>
              <a:rPr lang="en-US" dirty="0"/>
              <a:t> architecture.</a:t>
            </a:r>
          </a:p>
        </p:txBody>
      </p:sp>
      <p:sp>
        <p:nvSpPr>
          <p:cNvPr id="4" name="Slide Number Placeholder 3">
            <a:extLst>
              <a:ext uri="{FF2B5EF4-FFF2-40B4-BE49-F238E27FC236}">
                <a16:creationId xmlns:a16="http://schemas.microsoft.com/office/drawing/2014/main" id="{5DDB2735-DCC8-46A5-4067-F329F021B202}"/>
              </a:ext>
            </a:extLst>
          </p:cNvPr>
          <p:cNvSpPr>
            <a:spLocks noGrp="1"/>
          </p:cNvSpPr>
          <p:nvPr>
            <p:ph type="sldNum" sz="quarter" idx="5"/>
          </p:nvPr>
        </p:nvSpPr>
        <p:spPr/>
        <p:txBody>
          <a:bodyPr/>
          <a:lstStyle/>
          <a:p>
            <a:fld id="{13416125-8C64-4F60-9C47-92B1855ADCC6}" type="slidenum">
              <a:rPr lang="fr-TN" smtClean="0"/>
              <a:t>7</a:t>
            </a:fld>
            <a:endParaRPr lang="fr-TN"/>
          </a:p>
        </p:txBody>
      </p:sp>
    </p:spTree>
    <p:extLst>
      <p:ext uri="{BB962C8B-B14F-4D97-AF65-F5344CB8AC3E}">
        <p14:creationId xmlns:p14="http://schemas.microsoft.com/office/powerpoint/2010/main" val="4189285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Passons à </a:t>
            </a:r>
            <a:r>
              <a:rPr lang="en-US" dirty="0" err="1"/>
              <a:t>l'analyse</a:t>
            </a:r>
            <a:r>
              <a:rPr lang="en-US" dirty="0"/>
              <a:t> des </a:t>
            </a:r>
            <a:r>
              <a:rPr lang="en-US" dirty="0" err="1"/>
              <a:t>besoins</a:t>
            </a:r>
            <a:r>
              <a:rPr lang="en-US" dirty="0"/>
              <a:t> : qui </a:t>
            </a:r>
            <a:r>
              <a:rPr lang="en-US" dirty="0" err="1"/>
              <a:t>utilise</a:t>
            </a:r>
            <a:r>
              <a:rPr lang="en-US" dirty="0"/>
              <a:t> le </a:t>
            </a:r>
            <a:r>
              <a:rPr lang="en-US" dirty="0" err="1"/>
              <a:t>système</a:t>
            </a:r>
            <a:r>
              <a:rPr lang="en-US" dirty="0"/>
              <a:t>, et </a:t>
            </a:r>
            <a:r>
              <a:rPr lang="en-US" dirty="0" err="1"/>
              <a:t>ce</a:t>
            </a:r>
            <a:r>
              <a:rPr lang="en-US" dirty="0"/>
              <a:t> </a:t>
            </a:r>
            <a:r>
              <a:rPr lang="en-US" dirty="0" err="1"/>
              <a:t>qu'il</a:t>
            </a:r>
            <a:r>
              <a:rPr lang="en-US" dirty="0"/>
              <a:t> doit </a:t>
            </a:r>
            <a:r>
              <a:rPr lang="en-US" dirty="0" err="1"/>
              <a:t>accomplir</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8</a:t>
            </a:fld>
            <a:endParaRPr lang="fr-TN"/>
          </a:p>
        </p:txBody>
      </p:sp>
    </p:spTree>
    <p:extLst>
      <p:ext uri="{BB962C8B-B14F-4D97-AF65-F5344CB8AC3E}">
        <p14:creationId xmlns:p14="http://schemas.microsoft.com/office/powerpoint/2010/main" val="8579473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La Release 1, </a:t>
            </a:r>
            <a:r>
              <a:rPr lang="en-US" dirty="0" err="1"/>
              <a:t>consacrée</a:t>
            </a:r>
            <a:r>
              <a:rPr lang="en-US" dirty="0"/>
              <a:t> à la </a:t>
            </a:r>
            <a:r>
              <a:rPr lang="en-US" dirty="0" err="1"/>
              <a:t>détection</a:t>
            </a:r>
            <a:r>
              <a:rPr lang="en-US" dirty="0"/>
              <a:t>, </a:t>
            </a:r>
            <a:r>
              <a:rPr lang="en-US" dirty="0" err="1"/>
              <a:t>comprend</a:t>
            </a:r>
            <a:r>
              <a:rPr lang="en-US" dirty="0"/>
              <a:t> trois sprints : </a:t>
            </a:r>
            <a:r>
              <a:rPr lang="en-US" dirty="0" err="1"/>
              <a:t>l'acquisition</a:t>
            </a:r>
            <a:r>
              <a:rPr lang="en-US" dirty="0"/>
              <a:t> réseau, le pipeline de données, et la </a:t>
            </a:r>
            <a:r>
              <a:rPr lang="en-US" dirty="0" err="1"/>
              <a:t>détection</a:t>
            </a:r>
            <a:r>
              <a:rPr lang="en-US" dirty="0"/>
              <a:t> </a:t>
            </a:r>
            <a:r>
              <a:rPr lang="en-US" dirty="0" err="1"/>
              <a:t>comportementale</a:t>
            </a:r>
            <a:r>
              <a:rPr lang="en-US" dirty="0"/>
              <a:t>. La Release 2, </a:t>
            </a:r>
            <a:r>
              <a:rPr lang="en-US" dirty="0" err="1"/>
              <a:t>consacrée</a:t>
            </a:r>
            <a:r>
              <a:rPr lang="en-US" dirty="0"/>
              <a:t> à la </a:t>
            </a:r>
            <a:r>
              <a:rPr lang="en-US" dirty="0" err="1"/>
              <a:t>prévention</a:t>
            </a:r>
            <a:r>
              <a:rPr lang="en-US" dirty="0"/>
              <a:t> et à la </a:t>
            </a:r>
            <a:r>
              <a:rPr lang="en-US" dirty="0" err="1"/>
              <a:t>réponse</a:t>
            </a:r>
            <a:r>
              <a:rPr lang="en-US" dirty="0"/>
              <a:t>, </a:t>
            </a:r>
            <a:r>
              <a:rPr lang="en-US" dirty="0" err="1"/>
              <a:t>comprend</a:t>
            </a:r>
            <a:r>
              <a:rPr lang="en-US" dirty="0"/>
              <a:t> </a:t>
            </a:r>
            <a:r>
              <a:rPr lang="en-US" dirty="0" err="1"/>
              <a:t>l'anticipation</a:t>
            </a:r>
            <a:r>
              <a:rPr lang="en-US" dirty="0"/>
              <a:t> par le renseignement, la mitigation du </a:t>
            </a:r>
            <a:r>
              <a:rPr lang="en-US" dirty="0" err="1"/>
              <a:t>risque</a:t>
            </a:r>
            <a:r>
              <a:rPr lang="en-US" dirty="0"/>
              <a:t> humain, et </a:t>
            </a:r>
            <a:r>
              <a:rPr lang="en-US" dirty="0" err="1"/>
              <a:t>l'orchestration</a:t>
            </a:r>
            <a:r>
              <a:rPr lang="en-US" dirty="0"/>
              <a:t> SOAR avec supervision. </a:t>
            </a:r>
            <a:r>
              <a:rPr lang="en-US" dirty="0" err="1"/>
              <a:t>Commençons</a:t>
            </a:r>
            <a:r>
              <a:rPr lang="en-US" dirty="0"/>
              <a:t> par la Release 1.</a:t>
            </a:r>
          </a:p>
        </p:txBody>
      </p:sp>
      <p:sp>
        <p:nvSpPr>
          <p:cNvPr id="4" name="Slide Number Placeholder 3"/>
          <p:cNvSpPr>
            <a:spLocks noGrp="1"/>
          </p:cNvSpPr>
          <p:nvPr>
            <p:ph type="sldNum" sz="quarter" idx="5"/>
          </p:nvPr>
        </p:nvSpPr>
        <p:spPr/>
        <p:txBody>
          <a:bodyPr/>
          <a:lstStyle/>
          <a:p>
            <a:fld id="{13416125-8C64-4F60-9C47-92B1855ADCC6}" type="slidenum">
              <a:rPr lang="fr-TN" smtClean="0"/>
              <a:t>9</a:t>
            </a:fld>
            <a:endParaRPr lang="fr-TN"/>
          </a:p>
        </p:txBody>
      </p:sp>
    </p:spTree>
    <p:extLst>
      <p:ext uri="{BB962C8B-B14F-4D97-AF65-F5344CB8AC3E}">
        <p14:creationId xmlns:p14="http://schemas.microsoft.com/office/powerpoint/2010/main" val="17664870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 premier sprint met </a:t>
            </a:r>
            <a:r>
              <a:rPr lang="en-US" dirty="0" err="1"/>
              <a:t>en</a:t>
            </a:r>
            <a:r>
              <a:rPr lang="en-US" dirty="0"/>
              <a:t> place la capture réseau. Suricata </a:t>
            </a:r>
            <a:r>
              <a:rPr lang="en-US" dirty="0" err="1"/>
              <a:t>fonctionne</a:t>
            </a:r>
            <a:r>
              <a:rPr lang="en-US" dirty="0"/>
              <a:t> </a:t>
            </a:r>
            <a:r>
              <a:rPr lang="en-US" dirty="0" err="1"/>
              <a:t>en</a:t>
            </a:r>
            <a:r>
              <a:rPr lang="en-US" dirty="0"/>
              <a:t> mode promiscuous, </a:t>
            </a:r>
            <a:r>
              <a:rPr lang="en-US" dirty="0" err="1"/>
              <a:t>capturant</a:t>
            </a:r>
            <a:r>
              <a:rPr lang="en-US" dirty="0"/>
              <a:t> tout le </a:t>
            </a:r>
            <a:r>
              <a:rPr lang="en-US" dirty="0" err="1"/>
              <a:t>trafic</a:t>
            </a:r>
            <a:r>
              <a:rPr lang="en-US" dirty="0"/>
              <a:t> du segment réseau, avec </a:t>
            </a:r>
            <a:r>
              <a:rPr lang="en-US" dirty="0" err="1"/>
              <a:t>une</a:t>
            </a:r>
            <a:r>
              <a:rPr lang="en-US" dirty="0"/>
              <a:t> capture zero-copy </a:t>
            </a:r>
            <a:r>
              <a:rPr lang="en-US" dirty="0" err="1"/>
              <a:t>en</a:t>
            </a:r>
            <a:r>
              <a:rPr lang="en-US" dirty="0"/>
              <a:t> AF_PACKET qui </a:t>
            </a:r>
            <a:r>
              <a:rPr lang="en-US" dirty="0" err="1"/>
              <a:t>élimine</a:t>
            </a:r>
            <a:r>
              <a:rPr lang="en-US" dirty="0"/>
              <a:t> la </a:t>
            </a:r>
            <a:r>
              <a:rPr lang="en-US" dirty="0" err="1"/>
              <a:t>latence</a:t>
            </a:r>
            <a:r>
              <a:rPr lang="en-US" dirty="0"/>
              <a:t> </a:t>
            </a:r>
            <a:r>
              <a:rPr lang="en-US" dirty="0" err="1"/>
              <a:t>d'acquisition</a:t>
            </a:r>
            <a:r>
              <a:rPr lang="en-US" dirty="0"/>
              <a:t>, et </a:t>
            </a:r>
            <a:r>
              <a:rPr lang="en-US" dirty="0" err="1"/>
              <a:t>produit</a:t>
            </a:r>
            <a:r>
              <a:rPr lang="en-US" dirty="0"/>
              <a:t> </a:t>
            </a:r>
            <a:r>
              <a:rPr lang="en-US" dirty="0" err="1"/>
              <a:t>une</a:t>
            </a:r>
            <a:r>
              <a:rPr lang="en-US" dirty="0"/>
              <a:t> sortie </a:t>
            </a:r>
            <a:r>
              <a:rPr lang="en-US" dirty="0" err="1"/>
              <a:t>structurée</a:t>
            </a:r>
            <a:r>
              <a:rPr lang="en-US" dirty="0"/>
              <a:t> </a:t>
            </a:r>
            <a:r>
              <a:rPr lang="en-US" dirty="0" err="1"/>
              <a:t>en</a:t>
            </a:r>
            <a:r>
              <a:rPr lang="en-US" dirty="0"/>
              <a:t> JSON. Point important : Suricata ne </a:t>
            </a:r>
            <a:r>
              <a:rPr lang="en-US" dirty="0" err="1"/>
              <a:t>bloque</a:t>
            </a:r>
            <a:r>
              <a:rPr lang="en-US" dirty="0"/>
              <a:t> jamais </a:t>
            </a:r>
            <a:r>
              <a:rPr lang="en-US" dirty="0" err="1"/>
              <a:t>directement</a:t>
            </a:r>
            <a:r>
              <a:rPr lang="en-US" dirty="0"/>
              <a:t> — il </a:t>
            </a:r>
            <a:r>
              <a:rPr lang="en-US" dirty="0" err="1"/>
              <a:t>publie</a:t>
            </a:r>
            <a:r>
              <a:rPr lang="en-US" dirty="0"/>
              <a:t> </a:t>
            </a:r>
            <a:r>
              <a:rPr lang="en-US" dirty="0" err="1"/>
              <a:t>ses</a:t>
            </a:r>
            <a:r>
              <a:rPr lang="en-US" dirty="0"/>
              <a:t> </a:t>
            </a:r>
            <a:r>
              <a:rPr lang="en-US" dirty="0" err="1"/>
              <a:t>alertes</a:t>
            </a:r>
            <a:r>
              <a:rPr lang="en-US" dirty="0"/>
              <a:t> sur Kafka, et </a:t>
            </a:r>
            <a:r>
              <a:rPr lang="en-US" dirty="0" err="1"/>
              <a:t>c'est</a:t>
            </a:r>
            <a:r>
              <a:rPr lang="en-US" dirty="0"/>
              <a:t> le </a:t>
            </a:r>
            <a:r>
              <a:rPr lang="en-US" dirty="0" err="1"/>
              <a:t>moteur</a:t>
            </a:r>
            <a:r>
              <a:rPr lang="en-US" dirty="0"/>
              <a:t> soar.py qui </a:t>
            </a:r>
            <a:r>
              <a:rPr lang="en-US" dirty="0" err="1"/>
              <a:t>décide</a:t>
            </a:r>
            <a:r>
              <a:rPr lang="en-US" dirty="0"/>
              <a:t> de la </a:t>
            </a:r>
            <a:r>
              <a:rPr lang="en-US" dirty="0" err="1"/>
              <a:t>remédiation</a:t>
            </a:r>
            <a:r>
              <a:rPr lang="en-US" dirty="0"/>
              <a:t>. Cette </a:t>
            </a:r>
            <a:r>
              <a:rPr lang="en-US" dirty="0" err="1"/>
              <a:t>séparation</a:t>
            </a:r>
            <a:r>
              <a:rPr lang="en-US" dirty="0"/>
              <a:t> </a:t>
            </a:r>
            <a:r>
              <a:rPr lang="en-US" dirty="0" err="1"/>
              <a:t>garantit</a:t>
            </a:r>
            <a:r>
              <a:rPr lang="en-US" dirty="0"/>
              <a:t> la </a:t>
            </a:r>
            <a:r>
              <a:rPr lang="en-US" dirty="0" err="1"/>
              <a:t>continuité</a:t>
            </a:r>
            <a:r>
              <a:rPr lang="en-US" dirty="0"/>
              <a:t> de la capture </a:t>
            </a:r>
            <a:r>
              <a:rPr lang="en-US" dirty="0" err="1"/>
              <a:t>même</a:t>
            </a:r>
            <a:r>
              <a:rPr lang="en-US" dirty="0"/>
              <a:t> pendant </a:t>
            </a:r>
            <a:r>
              <a:rPr lang="en-US" dirty="0" err="1"/>
              <a:t>une</a:t>
            </a:r>
            <a:r>
              <a:rPr lang="en-US" dirty="0"/>
              <a:t> action de </a:t>
            </a:r>
            <a:r>
              <a:rPr lang="en-US" dirty="0" err="1"/>
              <a:t>réponse</a:t>
            </a:r>
            <a:r>
              <a:rPr lang="en-US" dirty="0"/>
              <a:t>. </a:t>
            </a:r>
            <a:r>
              <a:rPr lang="en-US" dirty="0" err="1"/>
              <a:t>Voyons</a:t>
            </a:r>
            <a:r>
              <a:rPr lang="en-US" dirty="0"/>
              <a:t> </a:t>
            </a:r>
            <a:r>
              <a:rPr lang="en-US" dirty="0" err="1"/>
              <a:t>maintenant</a:t>
            </a:r>
            <a:r>
              <a:rPr lang="en-US" dirty="0"/>
              <a:t> </a:t>
            </a:r>
            <a:r>
              <a:rPr lang="en-US" dirty="0" err="1"/>
              <a:t>ce</a:t>
            </a:r>
            <a:r>
              <a:rPr lang="en-US" dirty="0"/>
              <a:t> </a:t>
            </a:r>
            <a:r>
              <a:rPr lang="en-US" dirty="0" err="1"/>
              <a:t>que</a:t>
            </a:r>
            <a:r>
              <a:rPr lang="en-US" dirty="0"/>
              <a:t> </a:t>
            </a:r>
            <a:r>
              <a:rPr lang="en-US" dirty="0" err="1"/>
              <a:t>deviennent</a:t>
            </a:r>
            <a:r>
              <a:rPr lang="en-US" dirty="0"/>
              <a:t> </a:t>
            </a:r>
            <a:r>
              <a:rPr lang="en-US" dirty="0" err="1"/>
              <a:t>ces</a:t>
            </a:r>
            <a:r>
              <a:rPr lang="en-US" dirty="0"/>
              <a:t> </a:t>
            </a:r>
            <a:r>
              <a:rPr lang="en-US" dirty="0" err="1"/>
              <a:t>événements</a:t>
            </a:r>
            <a:r>
              <a:rPr lang="en-US" dirty="0"/>
              <a:t> </a:t>
            </a:r>
            <a:r>
              <a:rPr lang="en-US" dirty="0" err="1"/>
              <a:t>une</a:t>
            </a:r>
            <a:r>
              <a:rPr lang="en-US" dirty="0"/>
              <a:t> </a:t>
            </a:r>
            <a:r>
              <a:rPr lang="en-US" dirty="0" err="1"/>
              <a:t>fois</a:t>
            </a:r>
            <a:r>
              <a:rPr lang="en-US" dirty="0"/>
              <a:t> </a:t>
            </a:r>
            <a:r>
              <a:rPr lang="en-US" dirty="0" err="1"/>
              <a:t>capturés</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10</a:t>
            </a:fld>
            <a:endParaRPr lang="fr-TN"/>
          </a:p>
        </p:txBody>
      </p:sp>
    </p:spTree>
    <p:extLst>
      <p:ext uri="{BB962C8B-B14F-4D97-AF65-F5344CB8AC3E}">
        <p14:creationId xmlns:p14="http://schemas.microsoft.com/office/powerpoint/2010/main" val="786434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 deuxième sprint </a:t>
            </a:r>
            <a:r>
              <a:rPr lang="en-US" dirty="0" err="1"/>
              <a:t>construit</a:t>
            </a:r>
            <a:r>
              <a:rPr lang="en-US" dirty="0"/>
              <a:t> un pipeline à double chemin. La </a:t>
            </a:r>
            <a:r>
              <a:rPr lang="en-US" dirty="0" err="1"/>
              <a:t>voie</a:t>
            </a:r>
            <a:r>
              <a:rPr lang="en-US" dirty="0"/>
              <a:t> </a:t>
            </a:r>
            <a:r>
              <a:rPr lang="en-US" dirty="0" err="1"/>
              <a:t>rapide</a:t>
            </a:r>
            <a:r>
              <a:rPr lang="en-US" dirty="0"/>
              <a:t> extrait seize </a:t>
            </a:r>
            <a:r>
              <a:rPr lang="en-US" dirty="0" err="1"/>
              <a:t>caractéristiques</a:t>
            </a:r>
            <a:r>
              <a:rPr lang="en-US" dirty="0"/>
              <a:t> par flux, les </a:t>
            </a:r>
            <a:r>
              <a:rPr lang="en-US" dirty="0" err="1"/>
              <a:t>publie</a:t>
            </a:r>
            <a:r>
              <a:rPr lang="en-US" dirty="0"/>
              <a:t> sur Kafka, pour </a:t>
            </a:r>
            <a:r>
              <a:rPr lang="en-US" dirty="0" err="1"/>
              <a:t>une</a:t>
            </a:r>
            <a:r>
              <a:rPr lang="en-US" dirty="0"/>
              <a:t> </a:t>
            </a:r>
            <a:r>
              <a:rPr lang="en-US" dirty="0" err="1"/>
              <a:t>inférence</a:t>
            </a:r>
            <a:r>
              <a:rPr lang="en-US" dirty="0"/>
              <a:t> LSTM-VAE </a:t>
            </a:r>
            <a:r>
              <a:rPr lang="en-US" dirty="0" err="1"/>
              <a:t>en</a:t>
            </a:r>
            <a:r>
              <a:rPr lang="en-US" dirty="0"/>
              <a:t> deux à quatre </a:t>
            </a:r>
            <a:r>
              <a:rPr lang="en-US" dirty="0" err="1"/>
              <a:t>millisecondes</a:t>
            </a:r>
            <a:r>
              <a:rPr lang="en-US" dirty="0"/>
              <a:t> et </a:t>
            </a:r>
            <a:r>
              <a:rPr lang="en-US" dirty="0" err="1"/>
              <a:t>une</a:t>
            </a:r>
            <a:r>
              <a:rPr lang="en-US" dirty="0"/>
              <a:t> </a:t>
            </a:r>
            <a:r>
              <a:rPr lang="en-US" dirty="0" err="1"/>
              <a:t>décision</a:t>
            </a:r>
            <a:r>
              <a:rPr lang="en-US" dirty="0"/>
              <a:t> SOAR </a:t>
            </a:r>
            <a:r>
              <a:rPr lang="en-US" dirty="0" err="1"/>
              <a:t>en</a:t>
            </a:r>
            <a:r>
              <a:rPr lang="en-US" dirty="0"/>
              <a:t> </a:t>
            </a:r>
            <a:r>
              <a:rPr lang="en-US" dirty="0" err="1"/>
              <a:t>moins</a:t>
            </a:r>
            <a:r>
              <a:rPr lang="en-US" dirty="0"/>
              <a:t> de quinze </a:t>
            </a:r>
            <a:r>
              <a:rPr lang="en-US" dirty="0" err="1"/>
              <a:t>millisecondes</a:t>
            </a:r>
            <a:r>
              <a:rPr lang="en-US" dirty="0"/>
              <a:t> bout-</a:t>
            </a:r>
            <a:r>
              <a:rPr lang="en-US" dirty="0" err="1"/>
              <a:t>en</a:t>
            </a:r>
            <a:r>
              <a:rPr lang="en-US" dirty="0"/>
              <a:t>-bout. La </a:t>
            </a:r>
            <a:r>
              <a:rPr lang="en-US" dirty="0" err="1"/>
              <a:t>voie</a:t>
            </a:r>
            <a:r>
              <a:rPr lang="en-US" dirty="0"/>
              <a:t> </a:t>
            </a:r>
            <a:r>
              <a:rPr lang="en-US" dirty="0" err="1"/>
              <a:t>froide</a:t>
            </a:r>
            <a:r>
              <a:rPr lang="en-US" dirty="0"/>
              <a:t>, </a:t>
            </a:r>
            <a:r>
              <a:rPr lang="en-US" dirty="0" err="1"/>
              <a:t>elle</a:t>
            </a:r>
            <a:r>
              <a:rPr lang="en-US" dirty="0"/>
              <a:t>, </a:t>
            </a:r>
            <a:r>
              <a:rPr lang="en-US" dirty="0" err="1"/>
              <a:t>achemine</a:t>
            </a:r>
            <a:r>
              <a:rPr lang="en-US" dirty="0"/>
              <a:t> </a:t>
            </a:r>
            <a:r>
              <a:rPr lang="en-US" dirty="0" err="1"/>
              <a:t>chaque</a:t>
            </a:r>
            <a:r>
              <a:rPr lang="en-US" dirty="0"/>
              <a:t> </a:t>
            </a:r>
            <a:r>
              <a:rPr lang="en-US" dirty="0" err="1"/>
              <a:t>événement</a:t>
            </a:r>
            <a:r>
              <a:rPr lang="en-US" dirty="0"/>
              <a:t> vers Elasticsearch, pour </a:t>
            </a:r>
            <a:r>
              <a:rPr lang="en-US" dirty="0" err="1"/>
              <a:t>l'audit</a:t>
            </a:r>
            <a:r>
              <a:rPr lang="en-US" dirty="0"/>
              <a:t> </a:t>
            </a:r>
            <a:r>
              <a:rPr lang="en-US" dirty="0" err="1"/>
              <a:t>forensique</a:t>
            </a:r>
            <a:r>
              <a:rPr lang="en-US" dirty="0"/>
              <a:t> et la supervision Kibana, sans </a:t>
            </a:r>
            <a:r>
              <a:rPr lang="en-US" dirty="0" err="1"/>
              <a:t>contrainte</a:t>
            </a:r>
            <a:r>
              <a:rPr lang="en-US" dirty="0"/>
              <a:t> de </a:t>
            </a:r>
            <a:r>
              <a:rPr lang="en-US" dirty="0" err="1"/>
              <a:t>latence</a:t>
            </a:r>
            <a:r>
              <a:rPr lang="en-US" dirty="0"/>
              <a:t>. </a:t>
            </a:r>
            <a:r>
              <a:rPr lang="en-US" dirty="0" err="1"/>
              <a:t>C'est</a:t>
            </a:r>
            <a:r>
              <a:rPr lang="en-US" dirty="0"/>
              <a:t> </a:t>
            </a:r>
            <a:r>
              <a:rPr lang="en-US" dirty="0" err="1"/>
              <a:t>cette</a:t>
            </a:r>
            <a:r>
              <a:rPr lang="en-US" dirty="0"/>
              <a:t> </a:t>
            </a:r>
            <a:r>
              <a:rPr lang="en-US" dirty="0" err="1"/>
              <a:t>voie</a:t>
            </a:r>
            <a:r>
              <a:rPr lang="en-US" dirty="0"/>
              <a:t> </a:t>
            </a:r>
            <a:r>
              <a:rPr lang="en-US" dirty="0" err="1"/>
              <a:t>rapide</a:t>
            </a:r>
            <a:r>
              <a:rPr lang="en-US" dirty="0"/>
              <a:t> qui </a:t>
            </a:r>
            <a:r>
              <a:rPr lang="en-US" dirty="0" err="1"/>
              <a:t>alimente</a:t>
            </a:r>
            <a:r>
              <a:rPr lang="en-US" dirty="0"/>
              <a:t> le </a:t>
            </a:r>
            <a:r>
              <a:rPr lang="en-US" dirty="0" err="1"/>
              <a:t>modèle</a:t>
            </a:r>
            <a:r>
              <a:rPr lang="en-US" dirty="0"/>
              <a:t> de </a:t>
            </a:r>
            <a:r>
              <a:rPr lang="en-US" dirty="0" err="1"/>
              <a:t>détection</a:t>
            </a:r>
            <a:r>
              <a:rPr lang="en-US" dirty="0"/>
              <a:t> </a:t>
            </a:r>
            <a:r>
              <a:rPr lang="en-US" dirty="0" err="1"/>
              <a:t>comportementale</a:t>
            </a:r>
            <a:r>
              <a:rPr lang="en-US" dirty="0"/>
              <a:t> </a:t>
            </a:r>
            <a:r>
              <a:rPr lang="en-US" dirty="0" err="1"/>
              <a:t>que</a:t>
            </a:r>
            <a:r>
              <a:rPr lang="en-US" dirty="0"/>
              <a:t> je </a:t>
            </a:r>
            <a:r>
              <a:rPr lang="en-US" dirty="0" err="1"/>
              <a:t>vais</a:t>
            </a:r>
            <a:r>
              <a:rPr lang="en-US" dirty="0"/>
              <a:t> </a:t>
            </a:r>
            <a:r>
              <a:rPr lang="en-US" dirty="0" err="1"/>
              <a:t>maintenant</a:t>
            </a:r>
            <a:r>
              <a:rPr lang="en-US" dirty="0"/>
              <a:t> </a:t>
            </a:r>
            <a:r>
              <a:rPr lang="en-US" dirty="0" err="1"/>
              <a:t>détailler</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11</a:t>
            </a:fld>
            <a:endParaRPr lang="fr-TN"/>
          </a:p>
        </p:txBody>
      </p:sp>
    </p:spTree>
    <p:extLst>
      <p:ext uri="{BB962C8B-B14F-4D97-AF65-F5344CB8AC3E}">
        <p14:creationId xmlns:p14="http://schemas.microsoft.com/office/powerpoint/2010/main" val="12832190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 </a:t>
            </a:r>
            <a:r>
              <a:rPr lang="en-US" dirty="0" err="1"/>
              <a:t>troisième</a:t>
            </a:r>
            <a:r>
              <a:rPr lang="en-US" dirty="0"/>
              <a:t> sprint </a:t>
            </a:r>
            <a:r>
              <a:rPr lang="en-US" dirty="0" err="1"/>
              <a:t>introduit</a:t>
            </a:r>
            <a:r>
              <a:rPr lang="en-US" dirty="0"/>
              <a:t> le </a:t>
            </a:r>
            <a:r>
              <a:rPr lang="en-US" dirty="0" err="1"/>
              <a:t>cœur</a:t>
            </a:r>
            <a:r>
              <a:rPr lang="en-US" dirty="0"/>
              <a:t> de la </a:t>
            </a:r>
            <a:r>
              <a:rPr lang="en-US" dirty="0" err="1"/>
              <a:t>détection</a:t>
            </a:r>
            <a:r>
              <a:rPr lang="en-US" dirty="0"/>
              <a:t> </a:t>
            </a:r>
            <a:r>
              <a:rPr lang="en-US" dirty="0" err="1"/>
              <a:t>comportementale</a:t>
            </a:r>
            <a:r>
              <a:rPr lang="en-US" dirty="0"/>
              <a:t> : un </a:t>
            </a:r>
            <a:r>
              <a:rPr lang="en-US" dirty="0" err="1"/>
              <a:t>autoencodeur</a:t>
            </a:r>
            <a:r>
              <a:rPr lang="en-US" dirty="0"/>
              <a:t> </a:t>
            </a:r>
            <a:r>
              <a:rPr lang="en-US" dirty="0" err="1"/>
              <a:t>variationnel</a:t>
            </a:r>
            <a:r>
              <a:rPr lang="en-US" dirty="0"/>
              <a:t> à </a:t>
            </a:r>
            <a:r>
              <a:rPr lang="en-US" dirty="0" err="1"/>
              <a:t>mémoire</a:t>
            </a:r>
            <a:r>
              <a:rPr lang="en-US" dirty="0"/>
              <a:t> longue. Les couches LSTM </a:t>
            </a:r>
            <a:r>
              <a:rPr lang="en-US" dirty="0" err="1"/>
              <a:t>capturent</a:t>
            </a:r>
            <a:r>
              <a:rPr lang="en-US" dirty="0"/>
              <a:t> la </a:t>
            </a:r>
            <a:r>
              <a:rPr lang="en-US" dirty="0" err="1"/>
              <a:t>dynamique</a:t>
            </a:r>
            <a:r>
              <a:rPr lang="en-US" dirty="0"/>
              <a:t> </a:t>
            </a:r>
            <a:r>
              <a:rPr lang="en-US" dirty="0" err="1"/>
              <a:t>séquentielle</a:t>
            </a:r>
            <a:r>
              <a:rPr lang="en-US" dirty="0"/>
              <a:t> du </a:t>
            </a:r>
            <a:r>
              <a:rPr lang="en-US" dirty="0" err="1"/>
              <a:t>trafic</a:t>
            </a:r>
            <a:r>
              <a:rPr lang="en-US" dirty="0"/>
              <a:t>, </a:t>
            </a:r>
            <a:r>
              <a:rPr lang="en-US" dirty="0" err="1"/>
              <a:t>tandis</a:t>
            </a:r>
            <a:r>
              <a:rPr lang="en-US" dirty="0"/>
              <a:t> </a:t>
            </a:r>
            <a:r>
              <a:rPr lang="en-US" dirty="0" err="1"/>
              <a:t>que</a:t>
            </a:r>
            <a:r>
              <a:rPr lang="en-US" dirty="0"/>
              <a:t> la </a:t>
            </a:r>
            <a:r>
              <a:rPr lang="en-US" dirty="0" err="1"/>
              <a:t>régularisation</a:t>
            </a:r>
            <a:r>
              <a:rPr lang="en-US" dirty="0"/>
              <a:t> </a:t>
            </a:r>
            <a:r>
              <a:rPr lang="en-US" dirty="0" err="1"/>
              <a:t>variationnelle</a:t>
            </a:r>
            <a:r>
              <a:rPr lang="en-US" dirty="0"/>
              <a:t> force le </a:t>
            </a:r>
            <a:r>
              <a:rPr lang="en-US" dirty="0" err="1"/>
              <a:t>modèle</a:t>
            </a:r>
            <a:r>
              <a:rPr lang="en-US" dirty="0"/>
              <a:t> à </a:t>
            </a:r>
            <a:r>
              <a:rPr lang="en-US" dirty="0" err="1"/>
              <a:t>apprendre</a:t>
            </a:r>
            <a:r>
              <a:rPr lang="en-US" dirty="0"/>
              <a:t> </a:t>
            </a:r>
            <a:r>
              <a:rPr lang="en-US" dirty="0" err="1"/>
              <a:t>une</a:t>
            </a:r>
            <a:r>
              <a:rPr lang="en-US" dirty="0"/>
              <a:t> </a:t>
            </a:r>
            <a:r>
              <a:rPr lang="en-US" dirty="0" err="1"/>
              <a:t>frontière</a:t>
            </a:r>
            <a:r>
              <a:rPr lang="en-US" dirty="0"/>
              <a:t> de </a:t>
            </a:r>
            <a:r>
              <a:rPr lang="en-US" dirty="0" err="1"/>
              <a:t>normalité</a:t>
            </a:r>
            <a:r>
              <a:rPr lang="en-US" dirty="0"/>
              <a:t> </a:t>
            </a:r>
            <a:r>
              <a:rPr lang="en-US" dirty="0" err="1"/>
              <a:t>généralisable</a:t>
            </a:r>
            <a:r>
              <a:rPr lang="en-US" dirty="0"/>
              <a:t>. Une </a:t>
            </a:r>
            <a:r>
              <a:rPr lang="en-US" dirty="0" err="1"/>
              <a:t>anomalie</a:t>
            </a:r>
            <a:r>
              <a:rPr lang="en-US" dirty="0"/>
              <a:t> se </a:t>
            </a:r>
            <a:r>
              <a:rPr lang="en-US" dirty="0" err="1"/>
              <a:t>détecte</a:t>
            </a:r>
            <a:r>
              <a:rPr lang="en-US" dirty="0"/>
              <a:t> par </a:t>
            </a:r>
            <a:r>
              <a:rPr lang="en-US" dirty="0" err="1"/>
              <a:t>une</a:t>
            </a:r>
            <a:r>
              <a:rPr lang="en-US" dirty="0"/>
              <a:t> </a:t>
            </a:r>
            <a:r>
              <a:rPr lang="en-US" dirty="0" err="1"/>
              <a:t>erreur</a:t>
            </a:r>
            <a:r>
              <a:rPr lang="en-US" dirty="0"/>
              <a:t> de reconstruction </a:t>
            </a:r>
            <a:r>
              <a:rPr lang="en-US" dirty="0" err="1"/>
              <a:t>élevée</a:t>
            </a:r>
            <a:r>
              <a:rPr lang="en-US" dirty="0"/>
              <a:t>. Encore </a:t>
            </a:r>
            <a:r>
              <a:rPr lang="en-US" dirty="0" err="1"/>
              <a:t>fallait</a:t>
            </a:r>
            <a:r>
              <a:rPr lang="en-US" dirty="0"/>
              <a:t>-il </a:t>
            </a:r>
            <a:r>
              <a:rPr lang="en-US" dirty="0" err="1"/>
              <a:t>choisir</a:t>
            </a:r>
            <a:r>
              <a:rPr lang="en-US" dirty="0"/>
              <a:t> les </a:t>
            </a:r>
            <a:r>
              <a:rPr lang="en-US" dirty="0" err="1"/>
              <a:t>bonnes</a:t>
            </a:r>
            <a:r>
              <a:rPr lang="en-US" dirty="0"/>
              <a:t> </a:t>
            </a:r>
            <a:r>
              <a:rPr lang="en-US" dirty="0" err="1"/>
              <a:t>caractéristiques</a:t>
            </a:r>
            <a:r>
              <a:rPr lang="en-US" dirty="0"/>
              <a:t> </a:t>
            </a:r>
            <a:r>
              <a:rPr lang="en-US" dirty="0" err="1"/>
              <a:t>en</a:t>
            </a:r>
            <a:r>
              <a:rPr lang="en-US" dirty="0"/>
              <a:t> entrée — </a:t>
            </a:r>
            <a:r>
              <a:rPr lang="en-US" dirty="0" err="1"/>
              <a:t>c'est</a:t>
            </a:r>
            <a:r>
              <a:rPr lang="en-US" dirty="0"/>
              <a:t> </a:t>
            </a:r>
            <a:r>
              <a:rPr lang="en-US" dirty="0" err="1"/>
              <a:t>l'objet</a:t>
            </a:r>
            <a:r>
              <a:rPr lang="en-US" dirty="0"/>
              <a:t> de </a:t>
            </a:r>
            <a:r>
              <a:rPr lang="en-US" dirty="0" err="1"/>
              <a:t>l'étape</a:t>
            </a:r>
            <a:r>
              <a:rPr lang="en-US" dirty="0"/>
              <a:t> </a:t>
            </a:r>
            <a:r>
              <a:rPr lang="en-US" dirty="0" err="1"/>
              <a:t>suivante</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12</a:t>
            </a:fld>
            <a:endParaRPr lang="fr-TN"/>
          </a:p>
        </p:txBody>
      </p:sp>
    </p:spTree>
    <p:extLst>
      <p:ext uri="{BB962C8B-B14F-4D97-AF65-F5344CB8AC3E}">
        <p14:creationId xmlns:p14="http://schemas.microsoft.com/office/powerpoint/2010/main" val="8663232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Pour </a:t>
            </a:r>
            <a:r>
              <a:rPr lang="en-US" dirty="0" err="1"/>
              <a:t>sélectionner</a:t>
            </a:r>
            <a:r>
              <a:rPr lang="en-US" dirty="0"/>
              <a:t> les seize </a:t>
            </a:r>
            <a:r>
              <a:rPr lang="en-US" dirty="0" err="1"/>
              <a:t>caractéristiques</a:t>
            </a:r>
            <a:r>
              <a:rPr lang="en-US" dirty="0"/>
              <a:t> les plus </a:t>
            </a:r>
            <a:r>
              <a:rPr lang="en-US" dirty="0" err="1"/>
              <a:t>pertinentes</a:t>
            </a:r>
            <a:r>
              <a:rPr lang="en-US" dirty="0"/>
              <a:t>, </a:t>
            </a:r>
            <a:r>
              <a:rPr lang="en-US" dirty="0" err="1"/>
              <a:t>j'ai</a:t>
            </a:r>
            <a:r>
              <a:rPr lang="en-US" dirty="0"/>
              <a:t> </a:t>
            </a:r>
            <a:r>
              <a:rPr lang="en-US" dirty="0" err="1"/>
              <a:t>utilisé</a:t>
            </a:r>
            <a:r>
              <a:rPr lang="en-US" dirty="0"/>
              <a:t> le score ANOVA, qui </a:t>
            </a:r>
            <a:r>
              <a:rPr lang="en-US" dirty="0" err="1"/>
              <a:t>mesure</a:t>
            </a:r>
            <a:r>
              <a:rPr lang="en-US" dirty="0"/>
              <a:t> la </a:t>
            </a:r>
            <a:r>
              <a:rPr lang="en-US" dirty="0" err="1"/>
              <a:t>capacité</a:t>
            </a:r>
            <a:r>
              <a:rPr lang="en-US" dirty="0"/>
              <a:t> de </a:t>
            </a:r>
            <a:r>
              <a:rPr lang="en-US" dirty="0" err="1"/>
              <a:t>chaque</a:t>
            </a:r>
            <a:r>
              <a:rPr lang="en-US" dirty="0"/>
              <a:t> </a:t>
            </a:r>
            <a:r>
              <a:rPr lang="en-US" dirty="0" err="1"/>
              <a:t>caractéristique</a:t>
            </a:r>
            <a:r>
              <a:rPr lang="en-US" dirty="0"/>
              <a:t> à </a:t>
            </a:r>
            <a:r>
              <a:rPr lang="en-US" dirty="0" err="1"/>
              <a:t>distinguer</a:t>
            </a:r>
            <a:r>
              <a:rPr lang="en-US" dirty="0"/>
              <a:t> </a:t>
            </a:r>
            <a:r>
              <a:rPr lang="en-US" dirty="0" err="1"/>
              <a:t>statistiquement</a:t>
            </a:r>
            <a:r>
              <a:rPr lang="en-US" dirty="0"/>
              <a:t> le </a:t>
            </a:r>
            <a:r>
              <a:rPr lang="en-US" dirty="0" err="1"/>
              <a:t>trafic</a:t>
            </a:r>
            <a:r>
              <a:rPr lang="en-US" dirty="0"/>
              <a:t> </a:t>
            </a:r>
            <a:r>
              <a:rPr lang="en-US" dirty="0" err="1"/>
              <a:t>bénin</a:t>
            </a:r>
            <a:r>
              <a:rPr lang="en-US" dirty="0"/>
              <a:t> du </a:t>
            </a:r>
            <a:r>
              <a:rPr lang="en-US" dirty="0" err="1"/>
              <a:t>trafic</a:t>
            </a:r>
            <a:r>
              <a:rPr lang="en-US" dirty="0"/>
              <a:t> </a:t>
            </a:r>
            <a:r>
              <a:rPr lang="en-US" dirty="0" err="1"/>
              <a:t>malveillant</a:t>
            </a:r>
            <a:r>
              <a:rPr lang="en-US" dirty="0"/>
              <a:t>. Le pipeline suit trois étapes : </a:t>
            </a:r>
            <a:r>
              <a:rPr lang="en-US" dirty="0" err="1"/>
              <a:t>nettoyage</a:t>
            </a:r>
            <a:r>
              <a:rPr lang="en-US" dirty="0"/>
              <a:t> des </a:t>
            </a:r>
            <a:r>
              <a:rPr lang="en-US" dirty="0" err="1"/>
              <a:t>valeurs</a:t>
            </a:r>
            <a:r>
              <a:rPr lang="en-US" dirty="0"/>
              <a:t> </a:t>
            </a:r>
            <a:r>
              <a:rPr lang="en-US" dirty="0" err="1"/>
              <a:t>aberrantes</a:t>
            </a:r>
            <a:r>
              <a:rPr lang="en-US" dirty="0"/>
              <a:t>, </a:t>
            </a:r>
            <a:r>
              <a:rPr lang="en-US" dirty="0" err="1"/>
              <a:t>sélection</a:t>
            </a:r>
            <a:r>
              <a:rPr lang="en-US" dirty="0"/>
              <a:t> </a:t>
            </a:r>
            <a:r>
              <a:rPr lang="en-US" dirty="0" err="1"/>
              <a:t>équilibrée</a:t>
            </a:r>
            <a:r>
              <a:rPr lang="en-US" dirty="0"/>
              <a:t> par type </a:t>
            </a:r>
            <a:r>
              <a:rPr lang="en-US" dirty="0" err="1"/>
              <a:t>d'attaque</a:t>
            </a:r>
            <a:r>
              <a:rPr lang="en-US" dirty="0"/>
              <a:t>, </a:t>
            </a:r>
            <a:r>
              <a:rPr lang="en-US" dirty="0" err="1"/>
              <a:t>puis</a:t>
            </a:r>
            <a:r>
              <a:rPr lang="en-US" dirty="0"/>
              <a:t> </a:t>
            </a:r>
            <a:r>
              <a:rPr lang="en-US" dirty="0" err="1"/>
              <a:t>normalisation</a:t>
            </a:r>
            <a:r>
              <a:rPr lang="en-US" dirty="0"/>
              <a:t> </a:t>
            </a:r>
            <a:r>
              <a:rPr lang="en-US" dirty="0" err="1"/>
              <a:t>MinMax</a:t>
            </a:r>
            <a:r>
              <a:rPr lang="en-US" dirty="0"/>
              <a:t>. Une </a:t>
            </a:r>
            <a:r>
              <a:rPr lang="en-US" dirty="0" err="1"/>
              <a:t>fois</a:t>
            </a:r>
            <a:r>
              <a:rPr lang="en-US" dirty="0"/>
              <a:t> </a:t>
            </a:r>
            <a:r>
              <a:rPr lang="en-US" dirty="0" err="1"/>
              <a:t>ces</a:t>
            </a:r>
            <a:r>
              <a:rPr lang="en-US" dirty="0"/>
              <a:t> </a:t>
            </a:r>
            <a:r>
              <a:rPr lang="en-US" dirty="0" err="1"/>
              <a:t>caractéristiques</a:t>
            </a:r>
            <a:r>
              <a:rPr lang="en-US" dirty="0"/>
              <a:t> </a:t>
            </a:r>
            <a:r>
              <a:rPr lang="en-US" dirty="0" err="1"/>
              <a:t>choisies</a:t>
            </a:r>
            <a:r>
              <a:rPr lang="en-US" dirty="0"/>
              <a:t>, </a:t>
            </a:r>
            <a:r>
              <a:rPr lang="en-US" dirty="0" err="1"/>
              <a:t>restait</a:t>
            </a:r>
            <a:r>
              <a:rPr lang="en-US" dirty="0"/>
              <a:t> à </a:t>
            </a:r>
            <a:r>
              <a:rPr lang="en-US" dirty="0" err="1"/>
              <a:t>déterminer</a:t>
            </a:r>
            <a:r>
              <a:rPr lang="en-US" dirty="0"/>
              <a:t> à </a:t>
            </a:r>
            <a:r>
              <a:rPr lang="en-US" dirty="0" err="1"/>
              <a:t>partir</a:t>
            </a:r>
            <a:r>
              <a:rPr lang="en-US" dirty="0"/>
              <a:t> de </a:t>
            </a:r>
            <a:r>
              <a:rPr lang="en-US" dirty="0" err="1"/>
              <a:t>quel</a:t>
            </a:r>
            <a:r>
              <a:rPr lang="en-US" dirty="0"/>
              <a:t> </a:t>
            </a:r>
            <a:r>
              <a:rPr lang="en-US" dirty="0" err="1"/>
              <a:t>niveau</a:t>
            </a:r>
            <a:r>
              <a:rPr lang="en-US" dirty="0"/>
              <a:t> </a:t>
            </a:r>
            <a:r>
              <a:rPr lang="en-US" dirty="0" err="1"/>
              <a:t>d'erreur</a:t>
            </a:r>
            <a:r>
              <a:rPr lang="en-US" dirty="0"/>
              <a:t> </a:t>
            </a:r>
            <a:r>
              <a:rPr lang="en-US" dirty="0" err="1"/>
              <a:t>une</a:t>
            </a:r>
            <a:r>
              <a:rPr lang="en-US" dirty="0"/>
              <a:t> </a:t>
            </a:r>
            <a:r>
              <a:rPr lang="en-US" dirty="0" err="1"/>
              <a:t>séquence</a:t>
            </a:r>
            <a:r>
              <a:rPr lang="en-US" dirty="0"/>
              <a:t> </a:t>
            </a:r>
            <a:r>
              <a:rPr lang="en-US" dirty="0" err="1"/>
              <a:t>devient</a:t>
            </a:r>
            <a:r>
              <a:rPr lang="en-US" dirty="0"/>
              <a:t> </a:t>
            </a:r>
            <a:r>
              <a:rPr lang="en-US" dirty="0" err="1"/>
              <a:t>anormale</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13</a:t>
            </a:fld>
            <a:endParaRPr lang="fr-TN"/>
          </a:p>
        </p:txBody>
      </p:sp>
    </p:spTree>
    <p:extLst>
      <p:ext uri="{BB962C8B-B14F-4D97-AF65-F5344CB8AC3E}">
        <p14:creationId xmlns:p14="http://schemas.microsoft.com/office/powerpoint/2010/main" val="42134053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Ce </a:t>
            </a:r>
            <a:r>
              <a:rPr lang="en-US" dirty="0" err="1"/>
              <a:t>seuil</a:t>
            </a:r>
            <a:r>
              <a:rPr lang="en-US" dirty="0"/>
              <a:t> de </a:t>
            </a:r>
            <a:r>
              <a:rPr lang="en-US" dirty="0" err="1"/>
              <a:t>détection</a:t>
            </a:r>
            <a:r>
              <a:rPr lang="en-US" dirty="0"/>
              <a:t> a </a:t>
            </a:r>
            <a:r>
              <a:rPr lang="en-US" dirty="0" err="1"/>
              <a:t>été</a:t>
            </a:r>
            <a:r>
              <a:rPr lang="en-US" dirty="0"/>
              <a:t> </a:t>
            </a:r>
            <a:r>
              <a:rPr lang="en-US" dirty="0" err="1"/>
              <a:t>calibré</a:t>
            </a:r>
            <a:r>
              <a:rPr lang="en-US" dirty="0"/>
              <a:t> </a:t>
            </a:r>
            <a:r>
              <a:rPr lang="en-US" dirty="0" err="1"/>
              <a:t>en</a:t>
            </a:r>
            <a:r>
              <a:rPr lang="en-US" dirty="0"/>
              <a:t> </a:t>
            </a:r>
            <a:r>
              <a:rPr lang="en-US" dirty="0" err="1"/>
              <a:t>comparant</a:t>
            </a:r>
            <a:r>
              <a:rPr lang="en-US" dirty="0"/>
              <a:t> quatre points de </a:t>
            </a:r>
            <a:r>
              <a:rPr lang="en-US" dirty="0" err="1"/>
              <a:t>fonctionnement</a:t>
            </a:r>
            <a:r>
              <a:rPr lang="en-US" dirty="0"/>
              <a:t>. Le point </a:t>
            </a:r>
            <a:r>
              <a:rPr lang="en-US" dirty="0" err="1"/>
              <a:t>retenu</a:t>
            </a:r>
            <a:r>
              <a:rPr lang="en-US" dirty="0"/>
              <a:t> est mu plus un virgule cinq sigma, soit un </a:t>
            </a:r>
            <a:r>
              <a:rPr lang="en-US" dirty="0" err="1"/>
              <a:t>seuil</a:t>
            </a:r>
            <a:r>
              <a:rPr lang="en-US" dirty="0"/>
              <a:t> de </a:t>
            </a:r>
            <a:r>
              <a:rPr lang="en-US" dirty="0" err="1"/>
              <a:t>soixante-huit</a:t>
            </a:r>
            <a:r>
              <a:rPr lang="en-US" dirty="0"/>
              <a:t> virgule </a:t>
            </a:r>
            <a:r>
              <a:rPr lang="en-US" dirty="0" err="1"/>
              <a:t>douze</a:t>
            </a:r>
            <a:r>
              <a:rPr lang="en-US" dirty="0"/>
              <a:t>, sur </a:t>
            </a:r>
            <a:r>
              <a:rPr lang="en-US" dirty="0" err="1"/>
              <a:t>l'erreur</a:t>
            </a:r>
            <a:r>
              <a:rPr lang="en-US" dirty="0"/>
              <a:t> de reconstruction </a:t>
            </a:r>
            <a:r>
              <a:rPr lang="en-US" dirty="0" err="1"/>
              <a:t>mesurée</a:t>
            </a:r>
            <a:r>
              <a:rPr lang="en-US" dirty="0"/>
              <a:t> </a:t>
            </a:r>
            <a:r>
              <a:rPr lang="en-US" dirty="0" err="1"/>
              <a:t>en</a:t>
            </a:r>
            <a:r>
              <a:rPr lang="en-US" dirty="0"/>
              <a:t> validation. </a:t>
            </a:r>
            <a:r>
              <a:rPr lang="en-US" dirty="0" err="1"/>
              <a:t>Voyons</a:t>
            </a:r>
            <a:r>
              <a:rPr lang="en-US" dirty="0"/>
              <a:t> </a:t>
            </a:r>
            <a:r>
              <a:rPr lang="en-US" dirty="0" err="1"/>
              <a:t>maintenant</a:t>
            </a:r>
            <a:r>
              <a:rPr lang="en-US" dirty="0"/>
              <a:t> </a:t>
            </a:r>
            <a:r>
              <a:rPr lang="en-US" dirty="0" err="1"/>
              <a:t>si</a:t>
            </a:r>
            <a:r>
              <a:rPr lang="en-US" dirty="0"/>
              <a:t> </a:t>
            </a:r>
            <a:r>
              <a:rPr lang="en-US" dirty="0" err="1"/>
              <a:t>ce</a:t>
            </a:r>
            <a:r>
              <a:rPr lang="en-US" dirty="0"/>
              <a:t> choix se </a:t>
            </a:r>
            <a:r>
              <a:rPr lang="en-US" dirty="0" err="1"/>
              <a:t>justifie</a:t>
            </a:r>
            <a:r>
              <a:rPr lang="en-US" dirty="0"/>
              <a:t> face à </a:t>
            </a:r>
            <a:r>
              <a:rPr lang="en-US" dirty="0" err="1"/>
              <a:t>une</a:t>
            </a:r>
            <a:r>
              <a:rPr lang="en-US" dirty="0"/>
              <a:t> architecture alternative.</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14</a:t>
            </a:fld>
            <a:endParaRPr lang="fr-TN"/>
          </a:p>
        </p:txBody>
      </p:sp>
    </p:spTree>
    <p:extLst>
      <p:ext uri="{BB962C8B-B14F-4D97-AF65-F5344CB8AC3E}">
        <p14:creationId xmlns:p14="http://schemas.microsoft.com/office/powerpoint/2010/main" val="18250797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J'ai</a:t>
            </a:r>
            <a:r>
              <a:rPr lang="en-US" dirty="0"/>
              <a:t> </a:t>
            </a:r>
            <a:r>
              <a:rPr lang="en-US" dirty="0" err="1"/>
              <a:t>comparé</a:t>
            </a:r>
            <a:r>
              <a:rPr lang="en-US" dirty="0"/>
              <a:t> LSTM-VAE à Isolation Forest, dans des conditions </a:t>
            </a:r>
            <a:r>
              <a:rPr lang="en-US" dirty="0" err="1"/>
              <a:t>strictement</a:t>
            </a:r>
            <a:r>
              <a:rPr lang="en-US" dirty="0"/>
              <a:t> </a:t>
            </a:r>
            <a:r>
              <a:rPr lang="en-US" dirty="0" err="1"/>
              <a:t>identiques</a:t>
            </a:r>
            <a:r>
              <a:rPr lang="en-US" dirty="0"/>
              <a:t>. LSTM-VAE </a:t>
            </a:r>
            <a:r>
              <a:rPr lang="en-US" dirty="0" err="1"/>
              <a:t>atteint</a:t>
            </a:r>
            <a:r>
              <a:rPr lang="en-US" dirty="0"/>
              <a:t> un rappel global de </a:t>
            </a:r>
            <a:r>
              <a:rPr lang="en-US" dirty="0" err="1"/>
              <a:t>cinquante</a:t>
            </a:r>
            <a:r>
              <a:rPr lang="en-US" dirty="0"/>
              <a:t> et un virgule quatre-</a:t>
            </a:r>
            <a:r>
              <a:rPr lang="en-US" dirty="0" err="1"/>
              <a:t>vingt</a:t>
            </a:r>
            <a:r>
              <a:rPr lang="en-US" dirty="0"/>
              <a:t>-</a:t>
            </a:r>
            <a:r>
              <a:rPr lang="en-US" dirty="0" err="1"/>
              <a:t>neuf</a:t>
            </a:r>
            <a:r>
              <a:rPr lang="en-US" dirty="0"/>
              <a:t> pour cent, pour </a:t>
            </a:r>
            <a:r>
              <a:rPr lang="en-US" dirty="0" err="1"/>
              <a:t>seulement</a:t>
            </a:r>
            <a:r>
              <a:rPr lang="en-US" dirty="0"/>
              <a:t> </a:t>
            </a:r>
            <a:r>
              <a:rPr lang="en-US" dirty="0" err="1"/>
              <a:t>neuf</a:t>
            </a:r>
            <a:r>
              <a:rPr lang="en-US" dirty="0"/>
              <a:t> virgule </a:t>
            </a:r>
            <a:r>
              <a:rPr lang="en-US" dirty="0" err="1"/>
              <a:t>vingt</a:t>
            </a:r>
            <a:r>
              <a:rPr lang="en-US" dirty="0"/>
              <a:t>-trois pour cent de faux </a:t>
            </a:r>
            <a:r>
              <a:rPr lang="en-US" dirty="0" err="1"/>
              <a:t>positifs</a:t>
            </a:r>
            <a:r>
              <a:rPr lang="en-US" dirty="0"/>
              <a:t> — </a:t>
            </a:r>
            <a:r>
              <a:rPr lang="en-US" dirty="0" err="1"/>
              <a:t>contre</a:t>
            </a:r>
            <a:r>
              <a:rPr lang="en-US" dirty="0"/>
              <a:t> </a:t>
            </a:r>
            <a:r>
              <a:rPr lang="en-US" dirty="0" err="1"/>
              <a:t>cinquante</a:t>
            </a:r>
            <a:r>
              <a:rPr lang="en-US" dirty="0"/>
              <a:t>-sept pour cent pour Isolation Forest, </a:t>
            </a:r>
            <a:r>
              <a:rPr lang="en-US" dirty="0" err="1"/>
              <a:t>dépourvu</a:t>
            </a:r>
            <a:r>
              <a:rPr lang="en-US" dirty="0"/>
              <a:t> de </a:t>
            </a:r>
            <a:r>
              <a:rPr lang="en-US" dirty="0" err="1"/>
              <a:t>modélisation</a:t>
            </a:r>
            <a:r>
              <a:rPr lang="en-US" dirty="0"/>
              <a:t> </a:t>
            </a:r>
            <a:r>
              <a:rPr lang="en-US" dirty="0" err="1"/>
              <a:t>temporelle</a:t>
            </a:r>
            <a:r>
              <a:rPr lang="en-US" dirty="0"/>
              <a:t>. Sur les </a:t>
            </a:r>
            <a:r>
              <a:rPr lang="en-US" dirty="0" err="1"/>
              <a:t>attaques</a:t>
            </a:r>
            <a:r>
              <a:rPr lang="en-US" dirty="0"/>
              <a:t> par force brute, </a:t>
            </a:r>
            <a:r>
              <a:rPr lang="en-US" dirty="0" err="1"/>
              <a:t>l'écart</a:t>
            </a:r>
            <a:r>
              <a:rPr lang="en-US" dirty="0"/>
              <a:t> est </a:t>
            </a:r>
            <a:r>
              <a:rPr lang="en-US" dirty="0" err="1"/>
              <a:t>spectaculaire</a:t>
            </a:r>
            <a:r>
              <a:rPr lang="en-US" dirty="0"/>
              <a:t> : quatre-</a:t>
            </a:r>
            <a:r>
              <a:rPr lang="en-US" dirty="0" err="1"/>
              <a:t>vingt</a:t>
            </a:r>
            <a:r>
              <a:rPr lang="en-US" dirty="0"/>
              <a:t>-dix-</a:t>
            </a:r>
            <a:r>
              <a:rPr lang="en-US" dirty="0" err="1"/>
              <a:t>huit</a:t>
            </a:r>
            <a:r>
              <a:rPr lang="en-US" dirty="0"/>
              <a:t> pour cent de rappel </a:t>
            </a:r>
            <a:r>
              <a:rPr lang="en-US" dirty="0" err="1"/>
              <a:t>contre</a:t>
            </a:r>
            <a:r>
              <a:rPr lang="en-US" dirty="0"/>
              <a:t> </a:t>
            </a:r>
            <a:r>
              <a:rPr lang="en-US" dirty="0" err="1"/>
              <a:t>zéro</a:t>
            </a:r>
            <a:r>
              <a:rPr lang="en-US" dirty="0"/>
              <a:t> virgule </a:t>
            </a:r>
            <a:r>
              <a:rPr lang="en-US" dirty="0" err="1"/>
              <a:t>vingt</a:t>
            </a:r>
            <a:r>
              <a:rPr lang="en-US" dirty="0"/>
              <a:t>-trois. Et surtout, </a:t>
            </a:r>
            <a:r>
              <a:rPr lang="en-US" dirty="0" err="1"/>
              <a:t>en</a:t>
            </a:r>
            <a:r>
              <a:rPr lang="en-US" dirty="0"/>
              <a:t> conditions </a:t>
            </a:r>
            <a:r>
              <a:rPr lang="en-US" dirty="0" err="1"/>
              <a:t>réelles</a:t>
            </a:r>
            <a:r>
              <a:rPr lang="en-US" dirty="0"/>
              <a:t> — sur </a:t>
            </a:r>
            <a:r>
              <a:rPr lang="en-US" dirty="0" err="1"/>
              <a:t>une</a:t>
            </a:r>
            <a:r>
              <a:rPr lang="en-US" dirty="0"/>
              <a:t> </a:t>
            </a:r>
            <a:r>
              <a:rPr lang="en-US" dirty="0" err="1"/>
              <a:t>chaîne</a:t>
            </a:r>
            <a:r>
              <a:rPr lang="en-US" dirty="0"/>
              <a:t> </a:t>
            </a:r>
            <a:r>
              <a:rPr lang="en-US" dirty="0" err="1"/>
              <a:t>complète</a:t>
            </a:r>
            <a:r>
              <a:rPr lang="en-US" dirty="0"/>
              <a:t>, </a:t>
            </a:r>
            <a:r>
              <a:rPr lang="en-US" dirty="0" err="1"/>
              <a:t>quarante</a:t>
            </a:r>
            <a:r>
              <a:rPr lang="en-US" dirty="0"/>
              <a:t>-six </a:t>
            </a:r>
            <a:r>
              <a:rPr lang="en-US" dirty="0" err="1"/>
              <a:t>mille</a:t>
            </a:r>
            <a:r>
              <a:rPr lang="en-US" dirty="0"/>
              <a:t> </a:t>
            </a:r>
            <a:r>
              <a:rPr lang="en-US" dirty="0" err="1"/>
              <a:t>neuf</a:t>
            </a:r>
            <a:r>
              <a:rPr lang="en-US" dirty="0"/>
              <a:t> cent </a:t>
            </a:r>
            <a:r>
              <a:rPr lang="en-US" dirty="0" err="1"/>
              <a:t>soixante</a:t>
            </a:r>
            <a:r>
              <a:rPr lang="en-US" dirty="0"/>
              <a:t> flux </a:t>
            </a:r>
            <a:r>
              <a:rPr lang="en-US" dirty="0" err="1"/>
              <a:t>rejoués</a:t>
            </a:r>
            <a:r>
              <a:rPr lang="en-US" dirty="0"/>
              <a:t> </a:t>
            </a:r>
            <a:r>
              <a:rPr lang="en-US" dirty="0" err="1"/>
              <a:t>chronologiquement</a:t>
            </a:r>
            <a:r>
              <a:rPr lang="en-US" dirty="0"/>
              <a:t> — les six </a:t>
            </a:r>
            <a:r>
              <a:rPr lang="en-US" dirty="0" err="1"/>
              <a:t>attaques</a:t>
            </a:r>
            <a:r>
              <a:rPr lang="en-US" dirty="0"/>
              <a:t> </a:t>
            </a:r>
            <a:r>
              <a:rPr lang="en-US" dirty="0" err="1"/>
              <a:t>testées</a:t>
            </a:r>
            <a:r>
              <a:rPr lang="en-US" dirty="0"/>
              <a:t> </a:t>
            </a:r>
            <a:r>
              <a:rPr lang="en-US" dirty="0" err="1"/>
              <a:t>ont</a:t>
            </a:r>
            <a:r>
              <a:rPr lang="en-US" dirty="0"/>
              <a:t> </a:t>
            </a:r>
            <a:r>
              <a:rPr lang="en-US" dirty="0" err="1"/>
              <a:t>toutes</a:t>
            </a:r>
            <a:r>
              <a:rPr lang="en-US" dirty="0"/>
              <a:t> </a:t>
            </a:r>
            <a:r>
              <a:rPr lang="en-US" dirty="0" err="1"/>
              <a:t>été</a:t>
            </a:r>
            <a:r>
              <a:rPr lang="en-US" dirty="0"/>
              <a:t> </a:t>
            </a:r>
            <a:r>
              <a:rPr lang="en-US" dirty="0" err="1"/>
              <a:t>détectées</a:t>
            </a:r>
            <a:r>
              <a:rPr lang="en-US" dirty="0"/>
              <a:t>, </a:t>
            </a:r>
            <a:r>
              <a:rPr lang="en-US" dirty="0" err="1"/>
              <a:t>dont</a:t>
            </a:r>
            <a:r>
              <a:rPr lang="en-US" dirty="0"/>
              <a:t> un brute-force SSH </a:t>
            </a:r>
            <a:r>
              <a:rPr lang="en-US" dirty="0" err="1"/>
              <a:t>que</a:t>
            </a:r>
            <a:r>
              <a:rPr lang="en-US" dirty="0"/>
              <a:t> Suricata seul ne </a:t>
            </a:r>
            <a:r>
              <a:rPr lang="en-US" dirty="0" err="1"/>
              <a:t>couvrait</a:t>
            </a:r>
            <a:r>
              <a:rPr lang="en-US" dirty="0"/>
              <a:t> pas, avec un </a:t>
            </a:r>
            <a:r>
              <a:rPr lang="en-US" dirty="0" err="1"/>
              <a:t>taux</a:t>
            </a:r>
            <a:r>
              <a:rPr lang="en-US" dirty="0"/>
              <a:t> de faux </a:t>
            </a:r>
            <a:r>
              <a:rPr lang="en-US" dirty="0" err="1"/>
              <a:t>positifs</a:t>
            </a:r>
            <a:r>
              <a:rPr lang="en-US" dirty="0"/>
              <a:t> </a:t>
            </a:r>
            <a:r>
              <a:rPr lang="en-US" dirty="0" err="1"/>
              <a:t>réel</a:t>
            </a:r>
            <a:r>
              <a:rPr lang="en-US" dirty="0"/>
              <a:t> de </a:t>
            </a:r>
            <a:r>
              <a:rPr lang="en-US" dirty="0" err="1"/>
              <a:t>seulement</a:t>
            </a:r>
            <a:r>
              <a:rPr lang="en-US" dirty="0"/>
              <a:t> </a:t>
            </a:r>
            <a:r>
              <a:rPr lang="en-US" dirty="0" err="1"/>
              <a:t>zéro</a:t>
            </a:r>
            <a:r>
              <a:rPr lang="en-US" dirty="0"/>
              <a:t> virgule dix-</a:t>
            </a:r>
            <a:r>
              <a:rPr lang="en-US" dirty="0" err="1"/>
              <a:t>huit</a:t>
            </a:r>
            <a:r>
              <a:rPr lang="en-US" dirty="0"/>
              <a:t> pour cent. Ceci </a:t>
            </a:r>
            <a:r>
              <a:rPr lang="en-US" dirty="0" err="1"/>
              <a:t>clôt</a:t>
            </a:r>
            <a:r>
              <a:rPr lang="en-US" dirty="0"/>
              <a:t> la Release 1, </a:t>
            </a:r>
            <a:r>
              <a:rPr lang="en-US" dirty="0" err="1"/>
              <a:t>consacrée</a:t>
            </a:r>
            <a:r>
              <a:rPr lang="en-US" dirty="0"/>
              <a:t> à la </a:t>
            </a:r>
            <a:r>
              <a:rPr lang="en-US" dirty="0" err="1"/>
              <a:t>détection</a:t>
            </a:r>
            <a:r>
              <a:rPr lang="en-US" dirty="0"/>
              <a:t>. Passons </a:t>
            </a:r>
            <a:r>
              <a:rPr lang="en-US" dirty="0" err="1"/>
              <a:t>maintenant</a:t>
            </a:r>
            <a:r>
              <a:rPr lang="en-US" dirty="0"/>
              <a:t> à la Release 2 : la </a:t>
            </a:r>
            <a:r>
              <a:rPr lang="en-US" dirty="0" err="1"/>
              <a:t>prévention</a:t>
            </a:r>
            <a:r>
              <a:rPr lang="en-US" dirty="0"/>
              <a:t> et la </a:t>
            </a:r>
            <a:r>
              <a:rPr lang="en-US" dirty="0" err="1"/>
              <a:t>réponse</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15</a:t>
            </a:fld>
            <a:endParaRPr lang="fr-TN"/>
          </a:p>
        </p:txBody>
      </p:sp>
    </p:spTree>
    <p:extLst>
      <p:ext uri="{BB962C8B-B14F-4D97-AF65-F5344CB8AC3E}">
        <p14:creationId xmlns:p14="http://schemas.microsoft.com/office/powerpoint/2010/main" val="136583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Voici</a:t>
            </a:r>
            <a:r>
              <a:rPr lang="en-US" dirty="0"/>
              <a:t> les trois sprints qui </a:t>
            </a:r>
            <a:r>
              <a:rPr lang="en-US" dirty="0" err="1"/>
              <a:t>transforment</a:t>
            </a:r>
            <a:r>
              <a:rPr lang="en-US" dirty="0"/>
              <a:t> la </a:t>
            </a:r>
            <a:r>
              <a:rPr lang="en-US" dirty="0" err="1"/>
              <a:t>détection</a:t>
            </a:r>
            <a:r>
              <a:rPr lang="en-US" dirty="0"/>
              <a:t> </a:t>
            </a:r>
            <a:r>
              <a:rPr lang="en-US" dirty="0" err="1"/>
              <a:t>en</a:t>
            </a:r>
            <a:r>
              <a:rPr lang="en-US" dirty="0"/>
              <a:t> action : renseignement, </a:t>
            </a:r>
            <a:r>
              <a:rPr lang="en-US" dirty="0" err="1"/>
              <a:t>sensibilisation</a:t>
            </a:r>
            <a:r>
              <a:rPr lang="en-US" dirty="0"/>
              <a:t>, et orchestration.</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16</a:t>
            </a:fld>
            <a:endParaRPr lang="fr-TN"/>
          </a:p>
        </p:txBody>
      </p:sp>
    </p:spTree>
    <p:extLst>
      <p:ext uri="{BB962C8B-B14F-4D97-AF65-F5344CB8AC3E}">
        <p14:creationId xmlns:p14="http://schemas.microsoft.com/office/powerpoint/2010/main" val="9869007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 </a:t>
            </a:r>
            <a:r>
              <a:rPr lang="en-US" dirty="0" err="1"/>
              <a:t>quatrième</a:t>
            </a:r>
            <a:r>
              <a:rPr lang="en-US" dirty="0"/>
              <a:t> sprint </a:t>
            </a:r>
            <a:r>
              <a:rPr lang="en-US" dirty="0" err="1"/>
              <a:t>introduit</a:t>
            </a:r>
            <a:r>
              <a:rPr lang="en-US" dirty="0"/>
              <a:t> </a:t>
            </a:r>
            <a:r>
              <a:rPr lang="en-US" dirty="0" err="1"/>
              <a:t>l'agent</a:t>
            </a:r>
            <a:r>
              <a:rPr lang="en-US" dirty="0"/>
              <a:t> CTI, qui </a:t>
            </a:r>
            <a:r>
              <a:rPr lang="en-US" dirty="0" err="1"/>
              <a:t>automatise</a:t>
            </a:r>
            <a:r>
              <a:rPr lang="en-US" dirty="0"/>
              <a:t> la </a:t>
            </a:r>
            <a:r>
              <a:rPr lang="en-US" dirty="0" err="1"/>
              <a:t>veille</a:t>
            </a:r>
            <a:r>
              <a:rPr lang="en-US" dirty="0"/>
              <a:t> OSINT. </a:t>
            </a:r>
            <a:r>
              <a:rPr lang="en-US" dirty="0" err="1"/>
              <a:t>Chaque</a:t>
            </a:r>
            <a:r>
              <a:rPr lang="en-US" dirty="0"/>
              <a:t> article est </a:t>
            </a:r>
            <a:r>
              <a:rPr lang="en-US" dirty="0" err="1"/>
              <a:t>trié</a:t>
            </a:r>
            <a:r>
              <a:rPr lang="en-US" dirty="0"/>
              <a:t> par un LLM local, </a:t>
            </a:r>
            <a:r>
              <a:rPr lang="en-US" dirty="0" err="1"/>
              <a:t>confronté</a:t>
            </a:r>
            <a:r>
              <a:rPr lang="en-US" dirty="0"/>
              <a:t> à deux bases de </a:t>
            </a:r>
            <a:r>
              <a:rPr lang="en-US" dirty="0" err="1"/>
              <a:t>référence</a:t>
            </a:r>
            <a:r>
              <a:rPr lang="en-US" dirty="0"/>
              <a:t> — </a:t>
            </a:r>
            <a:r>
              <a:rPr lang="en-US" dirty="0" err="1"/>
              <a:t>l'historique</a:t>
            </a:r>
            <a:r>
              <a:rPr lang="en-US" dirty="0"/>
              <a:t> des menaces déjà </a:t>
            </a:r>
            <a:r>
              <a:rPr lang="en-US" dirty="0" err="1"/>
              <a:t>traitées</a:t>
            </a:r>
            <a:r>
              <a:rPr lang="en-US" dirty="0"/>
              <a:t> et près de </a:t>
            </a:r>
            <a:r>
              <a:rPr lang="en-US" dirty="0" err="1"/>
              <a:t>quarante-neuf</a:t>
            </a:r>
            <a:r>
              <a:rPr lang="en-US" dirty="0"/>
              <a:t> </a:t>
            </a:r>
            <a:r>
              <a:rPr lang="en-US" dirty="0" err="1"/>
              <a:t>mille</a:t>
            </a:r>
            <a:r>
              <a:rPr lang="en-US" dirty="0"/>
              <a:t> </a:t>
            </a:r>
            <a:r>
              <a:rPr lang="en-US" dirty="0" err="1"/>
              <a:t>règles</a:t>
            </a:r>
            <a:r>
              <a:rPr lang="en-US" dirty="0"/>
              <a:t> Suricata </a:t>
            </a:r>
            <a:r>
              <a:rPr lang="en-US" dirty="0" err="1"/>
              <a:t>existantes</a:t>
            </a:r>
            <a:r>
              <a:rPr lang="en-US" dirty="0"/>
              <a:t> — avant de proposer soit </a:t>
            </a:r>
            <a:r>
              <a:rPr lang="en-US" dirty="0" err="1"/>
              <a:t>une</a:t>
            </a:r>
            <a:r>
              <a:rPr lang="en-US" dirty="0"/>
              <a:t> </a:t>
            </a:r>
            <a:r>
              <a:rPr lang="en-US" dirty="0" err="1"/>
              <a:t>règle</a:t>
            </a:r>
            <a:r>
              <a:rPr lang="en-US" dirty="0"/>
              <a:t> de </a:t>
            </a:r>
            <a:r>
              <a:rPr lang="en-US" dirty="0" err="1"/>
              <a:t>détection</a:t>
            </a:r>
            <a:r>
              <a:rPr lang="en-US" dirty="0"/>
              <a:t> candidate, soit un </a:t>
            </a:r>
            <a:r>
              <a:rPr lang="en-US" dirty="0" err="1"/>
              <a:t>contenu</a:t>
            </a:r>
            <a:r>
              <a:rPr lang="en-US" dirty="0"/>
              <a:t> de </a:t>
            </a:r>
            <a:r>
              <a:rPr lang="en-US" dirty="0" err="1"/>
              <a:t>sensibilisation</a:t>
            </a:r>
            <a:r>
              <a:rPr lang="en-US" dirty="0"/>
              <a:t>. </a:t>
            </a:r>
            <a:r>
              <a:rPr lang="en-US" dirty="0" err="1"/>
              <a:t>Voyons</a:t>
            </a:r>
            <a:r>
              <a:rPr lang="en-US" dirty="0"/>
              <a:t> </a:t>
            </a:r>
            <a:r>
              <a:rPr lang="en-US" dirty="0" err="1"/>
              <a:t>en</a:t>
            </a:r>
            <a:r>
              <a:rPr lang="en-US" dirty="0"/>
              <a:t> </a:t>
            </a:r>
            <a:r>
              <a:rPr lang="en-US" dirty="0" err="1"/>
              <a:t>détail</a:t>
            </a:r>
            <a:r>
              <a:rPr lang="en-US" dirty="0"/>
              <a:t> comment </a:t>
            </a:r>
            <a:r>
              <a:rPr lang="en-US" dirty="0" err="1"/>
              <a:t>s'opère</a:t>
            </a:r>
            <a:r>
              <a:rPr lang="en-US" dirty="0"/>
              <a:t> </a:t>
            </a:r>
            <a:r>
              <a:rPr lang="en-US" dirty="0" err="1"/>
              <a:t>ce</a:t>
            </a:r>
            <a:r>
              <a:rPr lang="en-US" dirty="0"/>
              <a:t> tri.</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17</a:t>
            </a:fld>
            <a:endParaRPr lang="fr-TN"/>
          </a:p>
        </p:txBody>
      </p:sp>
    </p:spTree>
    <p:extLst>
      <p:ext uri="{BB962C8B-B14F-4D97-AF65-F5344CB8AC3E}">
        <p14:creationId xmlns:p14="http://schemas.microsoft.com/office/powerpoint/2010/main" val="39732505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Ce triage Dual-RAG </a:t>
            </a:r>
            <a:r>
              <a:rPr lang="en-US" dirty="0" err="1"/>
              <a:t>aboutit</a:t>
            </a:r>
            <a:r>
              <a:rPr lang="en-US" dirty="0"/>
              <a:t> à quatre issues possibles : menace technique, </a:t>
            </a:r>
            <a:r>
              <a:rPr lang="en-US" dirty="0" err="1"/>
              <a:t>sensibilisation</a:t>
            </a:r>
            <a:r>
              <a:rPr lang="en-US" dirty="0"/>
              <a:t>, bruit à </a:t>
            </a:r>
            <a:r>
              <a:rPr lang="en-US" dirty="0" err="1"/>
              <a:t>rejeter</a:t>
            </a:r>
            <a:r>
              <a:rPr lang="en-US" dirty="0"/>
              <a:t>, </a:t>
            </a:r>
            <a:r>
              <a:rPr lang="en-US" dirty="0" err="1"/>
              <a:t>ou</a:t>
            </a:r>
            <a:r>
              <a:rPr lang="en-US" dirty="0"/>
              <a:t> </a:t>
            </a:r>
            <a:r>
              <a:rPr lang="en-US" dirty="0" err="1"/>
              <a:t>contenu</a:t>
            </a:r>
            <a:r>
              <a:rPr lang="en-US" dirty="0"/>
              <a:t> déjà </a:t>
            </a:r>
            <a:r>
              <a:rPr lang="en-US" dirty="0" err="1"/>
              <a:t>connu</a:t>
            </a:r>
            <a:r>
              <a:rPr lang="en-US" dirty="0"/>
              <a:t>. La </a:t>
            </a:r>
            <a:r>
              <a:rPr lang="en-US" dirty="0" err="1"/>
              <a:t>déduplication</a:t>
            </a:r>
            <a:r>
              <a:rPr lang="en-US" dirty="0"/>
              <a:t> </a:t>
            </a:r>
            <a:r>
              <a:rPr lang="en-US" dirty="0" err="1"/>
              <a:t>en</a:t>
            </a:r>
            <a:r>
              <a:rPr lang="en-US" dirty="0"/>
              <a:t> </a:t>
            </a:r>
            <a:r>
              <a:rPr lang="en-US" dirty="0" err="1"/>
              <a:t>amont</a:t>
            </a:r>
            <a:r>
              <a:rPr lang="en-US" dirty="0"/>
              <a:t> </a:t>
            </a:r>
            <a:r>
              <a:rPr lang="en-US" dirty="0" err="1"/>
              <a:t>évite</a:t>
            </a:r>
            <a:r>
              <a:rPr lang="en-US" dirty="0"/>
              <a:t> tout </a:t>
            </a:r>
            <a:r>
              <a:rPr lang="en-US" dirty="0" err="1"/>
              <a:t>appel</a:t>
            </a:r>
            <a:r>
              <a:rPr lang="en-US" dirty="0"/>
              <a:t> inutile au LLM, et la distinction technique-</a:t>
            </a:r>
            <a:r>
              <a:rPr lang="en-US" dirty="0" err="1"/>
              <a:t>sensibilisation</a:t>
            </a:r>
            <a:r>
              <a:rPr lang="en-US" dirty="0"/>
              <a:t> </a:t>
            </a:r>
            <a:r>
              <a:rPr lang="en-US" dirty="0" err="1"/>
              <a:t>oriente</a:t>
            </a:r>
            <a:r>
              <a:rPr lang="en-US" dirty="0"/>
              <a:t> </a:t>
            </a:r>
            <a:r>
              <a:rPr lang="en-US" dirty="0" err="1"/>
              <a:t>chaque</a:t>
            </a:r>
            <a:r>
              <a:rPr lang="en-US" dirty="0"/>
              <a:t> menace vers </a:t>
            </a:r>
            <a:r>
              <a:rPr lang="en-US" dirty="0" err="1"/>
              <a:t>l'action</a:t>
            </a:r>
            <a:r>
              <a:rPr lang="en-US" dirty="0"/>
              <a:t> </a:t>
            </a:r>
            <a:r>
              <a:rPr lang="en-US" dirty="0" err="1"/>
              <a:t>adaptée</a:t>
            </a:r>
            <a:r>
              <a:rPr lang="en-US" dirty="0"/>
              <a:t>. </a:t>
            </a:r>
            <a:r>
              <a:rPr lang="en-US" dirty="0" err="1"/>
              <a:t>Suivons</a:t>
            </a:r>
            <a:r>
              <a:rPr lang="en-US" dirty="0"/>
              <a:t> </a:t>
            </a:r>
            <a:r>
              <a:rPr lang="en-US" dirty="0" err="1"/>
              <a:t>maintenant</a:t>
            </a:r>
            <a:r>
              <a:rPr lang="en-US" dirty="0"/>
              <a:t> le chemin </a:t>
            </a:r>
            <a:r>
              <a:rPr lang="en-US" dirty="0" err="1"/>
              <a:t>d'une</a:t>
            </a:r>
            <a:r>
              <a:rPr lang="en-US" dirty="0"/>
              <a:t> menace technique </a:t>
            </a:r>
            <a:r>
              <a:rPr lang="en-US" dirty="0" err="1"/>
              <a:t>jusqu'à</a:t>
            </a:r>
            <a:r>
              <a:rPr lang="en-US" dirty="0"/>
              <a:t> son </a:t>
            </a:r>
            <a:r>
              <a:rPr lang="en-US" dirty="0" err="1"/>
              <a:t>déploiement</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18</a:t>
            </a:fld>
            <a:endParaRPr lang="fr-TN"/>
          </a:p>
        </p:txBody>
      </p:sp>
    </p:spTree>
    <p:extLst>
      <p:ext uri="{BB962C8B-B14F-4D97-AF65-F5344CB8AC3E}">
        <p14:creationId xmlns:p14="http://schemas.microsoft.com/office/powerpoint/2010/main" val="1142596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Une </a:t>
            </a:r>
            <a:r>
              <a:rPr lang="en-US" dirty="0" err="1"/>
              <a:t>fois</a:t>
            </a:r>
            <a:r>
              <a:rPr lang="en-US" dirty="0"/>
              <a:t> </a:t>
            </a:r>
            <a:r>
              <a:rPr lang="en-US" dirty="0" err="1"/>
              <a:t>classée</a:t>
            </a:r>
            <a:r>
              <a:rPr lang="en-US" dirty="0"/>
              <a:t> menace technique, la </a:t>
            </a:r>
            <a:r>
              <a:rPr lang="en-US" dirty="0" err="1"/>
              <a:t>règle</a:t>
            </a:r>
            <a:r>
              <a:rPr lang="en-US" dirty="0"/>
              <a:t> suit un cycle de validation strict : </a:t>
            </a:r>
            <a:r>
              <a:rPr lang="en-US" dirty="0" err="1"/>
              <a:t>génération</a:t>
            </a:r>
            <a:r>
              <a:rPr lang="en-US" dirty="0"/>
              <a:t>, </a:t>
            </a:r>
            <a:r>
              <a:rPr lang="en-US" dirty="0" err="1"/>
              <a:t>persistance</a:t>
            </a:r>
            <a:r>
              <a:rPr lang="en-US" dirty="0"/>
              <a:t> </a:t>
            </a:r>
            <a:r>
              <a:rPr lang="en-US" dirty="0" err="1"/>
              <a:t>en</a:t>
            </a:r>
            <a:r>
              <a:rPr lang="en-US" dirty="0"/>
              <a:t> </a:t>
            </a:r>
            <a:r>
              <a:rPr lang="en-US" dirty="0" err="1"/>
              <a:t>statut</a:t>
            </a:r>
            <a:r>
              <a:rPr lang="en-US" dirty="0"/>
              <a:t> </a:t>
            </a:r>
            <a:r>
              <a:rPr lang="en-US" dirty="0" err="1"/>
              <a:t>en</a:t>
            </a:r>
            <a:r>
              <a:rPr lang="en-US" dirty="0"/>
              <a:t> </a:t>
            </a:r>
            <a:r>
              <a:rPr lang="en-US" dirty="0" err="1"/>
              <a:t>attente</a:t>
            </a:r>
            <a:r>
              <a:rPr lang="en-US" dirty="0"/>
              <a:t>, </a:t>
            </a:r>
            <a:r>
              <a:rPr lang="en-US" dirty="0" err="1"/>
              <a:t>puis</a:t>
            </a:r>
            <a:r>
              <a:rPr lang="en-US" dirty="0"/>
              <a:t> test </a:t>
            </a:r>
            <a:r>
              <a:rPr lang="en-US" dirty="0" err="1"/>
              <a:t>syntaxique</a:t>
            </a:r>
            <a:r>
              <a:rPr lang="en-US" dirty="0"/>
              <a:t> à </a:t>
            </a:r>
            <a:r>
              <a:rPr lang="en-US" dirty="0" err="1"/>
              <a:t>blanc</a:t>
            </a:r>
            <a:r>
              <a:rPr lang="en-US" dirty="0"/>
              <a:t> avant </a:t>
            </a:r>
            <a:r>
              <a:rPr lang="en-US" dirty="0" err="1"/>
              <a:t>déploiement</a:t>
            </a:r>
            <a:r>
              <a:rPr lang="en-US" dirty="0"/>
              <a:t> — </a:t>
            </a:r>
            <a:r>
              <a:rPr lang="en-US" dirty="0" err="1"/>
              <a:t>aucune</a:t>
            </a:r>
            <a:r>
              <a:rPr lang="en-US" dirty="0"/>
              <a:t> </a:t>
            </a:r>
            <a:r>
              <a:rPr lang="en-US" dirty="0" err="1"/>
              <a:t>règle</a:t>
            </a:r>
            <a:r>
              <a:rPr lang="en-US" dirty="0"/>
              <a:t> </a:t>
            </a:r>
            <a:r>
              <a:rPr lang="en-US" dirty="0" err="1"/>
              <a:t>n'est</a:t>
            </a:r>
            <a:r>
              <a:rPr lang="en-US" dirty="0"/>
              <a:t> </a:t>
            </a:r>
            <a:r>
              <a:rPr lang="en-US" dirty="0" err="1"/>
              <a:t>injectée</a:t>
            </a:r>
            <a:r>
              <a:rPr lang="en-US" dirty="0"/>
              <a:t> sans </a:t>
            </a:r>
            <a:r>
              <a:rPr lang="en-US" dirty="0" err="1"/>
              <a:t>cette</a:t>
            </a:r>
            <a:r>
              <a:rPr lang="en-US" dirty="0"/>
              <a:t> </a:t>
            </a:r>
            <a:r>
              <a:rPr lang="en-US" dirty="0" err="1"/>
              <a:t>vérification</a:t>
            </a:r>
            <a:r>
              <a:rPr lang="en-US" dirty="0"/>
              <a:t>. </a:t>
            </a:r>
            <a:r>
              <a:rPr lang="en-US" dirty="0" err="1"/>
              <a:t>L'autre</a:t>
            </a:r>
            <a:r>
              <a:rPr lang="en-US" dirty="0"/>
              <a:t> issue possible, la </a:t>
            </a:r>
            <a:r>
              <a:rPr lang="en-US" dirty="0" err="1"/>
              <a:t>sensibilisation</a:t>
            </a:r>
            <a:r>
              <a:rPr lang="en-US" dirty="0"/>
              <a:t>, </a:t>
            </a:r>
            <a:r>
              <a:rPr lang="en-US" dirty="0" err="1"/>
              <a:t>déclenche</a:t>
            </a:r>
            <a:r>
              <a:rPr lang="en-US" dirty="0"/>
              <a:t> un processus </a:t>
            </a:r>
            <a:r>
              <a:rPr lang="en-US" dirty="0" err="1"/>
              <a:t>différent</a:t>
            </a:r>
            <a:r>
              <a:rPr lang="en-US" dirty="0"/>
              <a:t> </a:t>
            </a:r>
            <a:r>
              <a:rPr lang="en-US" dirty="0" err="1"/>
              <a:t>que</a:t>
            </a:r>
            <a:r>
              <a:rPr lang="en-US" dirty="0"/>
              <a:t> </a:t>
            </a:r>
            <a:r>
              <a:rPr lang="en-US" dirty="0" err="1"/>
              <a:t>voici</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19</a:t>
            </a:fld>
            <a:endParaRPr lang="fr-TN"/>
          </a:p>
        </p:txBody>
      </p:sp>
    </p:spTree>
    <p:extLst>
      <p:ext uri="{BB962C8B-B14F-4D97-AF65-F5344CB8AC3E}">
        <p14:creationId xmlns:p14="http://schemas.microsoft.com/office/powerpoint/2010/main" val="19119242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 </a:t>
            </a:r>
            <a:r>
              <a:rPr lang="en-US" dirty="0" err="1"/>
              <a:t>cinquième</a:t>
            </a:r>
            <a:r>
              <a:rPr lang="en-US" dirty="0"/>
              <a:t> sprint </a:t>
            </a:r>
            <a:r>
              <a:rPr lang="en-US" dirty="0" err="1"/>
              <a:t>s'attaque</a:t>
            </a:r>
            <a:r>
              <a:rPr lang="en-US" dirty="0"/>
              <a:t> au facteur humain. Un article de </a:t>
            </a:r>
            <a:r>
              <a:rPr lang="en-US" dirty="0" err="1"/>
              <a:t>sensibilisation</a:t>
            </a:r>
            <a:r>
              <a:rPr lang="en-US" dirty="0"/>
              <a:t> </a:t>
            </a:r>
            <a:r>
              <a:rPr lang="en-US" dirty="0" err="1"/>
              <a:t>déclenche</a:t>
            </a:r>
            <a:r>
              <a:rPr lang="en-US" dirty="0"/>
              <a:t>, sur </a:t>
            </a:r>
            <a:r>
              <a:rPr lang="en-US" dirty="0" err="1"/>
              <a:t>décision</a:t>
            </a:r>
            <a:r>
              <a:rPr lang="en-US" dirty="0"/>
              <a:t> de </a:t>
            </a:r>
            <a:r>
              <a:rPr lang="en-US" dirty="0" err="1"/>
              <a:t>l'administrateur</a:t>
            </a:r>
            <a:r>
              <a:rPr lang="en-US" dirty="0"/>
              <a:t>, la </a:t>
            </a:r>
            <a:r>
              <a:rPr lang="en-US" dirty="0" err="1"/>
              <a:t>génération</a:t>
            </a:r>
            <a:r>
              <a:rPr lang="en-US" dirty="0"/>
              <a:t> d'un </a:t>
            </a:r>
            <a:r>
              <a:rPr lang="en-US" dirty="0" err="1"/>
              <a:t>parcours</a:t>
            </a:r>
            <a:r>
              <a:rPr lang="en-US" dirty="0"/>
              <a:t> de formation </a:t>
            </a:r>
            <a:r>
              <a:rPr lang="en-US" dirty="0" err="1"/>
              <a:t>personnalisé</a:t>
            </a:r>
            <a:r>
              <a:rPr lang="en-US" dirty="0"/>
              <a:t>, </a:t>
            </a:r>
            <a:r>
              <a:rPr lang="en-US" dirty="0" err="1"/>
              <a:t>sa</a:t>
            </a:r>
            <a:r>
              <a:rPr lang="en-US" dirty="0"/>
              <a:t> diffusion </a:t>
            </a:r>
            <a:r>
              <a:rPr lang="en-US" dirty="0" err="1"/>
              <a:t>ciblée</a:t>
            </a:r>
            <a:r>
              <a:rPr lang="en-US" dirty="0"/>
              <a:t>, et le </a:t>
            </a:r>
            <a:r>
              <a:rPr lang="en-US" dirty="0" err="1"/>
              <a:t>suivi</a:t>
            </a:r>
            <a:r>
              <a:rPr lang="en-US" dirty="0"/>
              <a:t> de </a:t>
            </a:r>
            <a:r>
              <a:rPr lang="en-US" dirty="0" err="1"/>
              <a:t>conformité</a:t>
            </a:r>
            <a:r>
              <a:rPr lang="en-US" dirty="0"/>
              <a:t> des </a:t>
            </a:r>
            <a:r>
              <a:rPr lang="en-US" dirty="0" err="1"/>
              <a:t>employés</a:t>
            </a:r>
            <a:r>
              <a:rPr lang="en-US" dirty="0"/>
              <a:t>. La </a:t>
            </a:r>
            <a:r>
              <a:rPr lang="en-US" dirty="0" err="1"/>
              <a:t>génération</a:t>
            </a:r>
            <a:r>
              <a:rPr lang="en-US" dirty="0"/>
              <a:t> de </a:t>
            </a:r>
            <a:r>
              <a:rPr lang="en-US" dirty="0" err="1"/>
              <a:t>ce</a:t>
            </a:r>
            <a:r>
              <a:rPr lang="en-US" dirty="0"/>
              <a:t> </a:t>
            </a:r>
            <a:r>
              <a:rPr lang="en-US" dirty="0" err="1"/>
              <a:t>contenu</a:t>
            </a:r>
            <a:r>
              <a:rPr lang="en-US" dirty="0"/>
              <a:t> </a:t>
            </a:r>
            <a:r>
              <a:rPr lang="en-US" dirty="0" err="1"/>
              <a:t>s'appuie</a:t>
            </a:r>
            <a:r>
              <a:rPr lang="en-US" dirty="0"/>
              <a:t> sur un </a:t>
            </a:r>
            <a:r>
              <a:rPr lang="en-US" dirty="0" err="1"/>
              <a:t>mécanisme</a:t>
            </a:r>
            <a:r>
              <a:rPr lang="en-US" dirty="0"/>
              <a:t> de </a:t>
            </a:r>
            <a:r>
              <a:rPr lang="en-US" dirty="0" err="1"/>
              <a:t>résilience</a:t>
            </a:r>
            <a:r>
              <a:rPr lang="en-US" dirty="0"/>
              <a:t> </a:t>
            </a:r>
            <a:r>
              <a:rPr lang="en-US" dirty="0" err="1"/>
              <a:t>que</a:t>
            </a:r>
            <a:r>
              <a:rPr lang="en-US" dirty="0"/>
              <a:t> je </a:t>
            </a:r>
            <a:r>
              <a:rPr lang="en-US" dirty="0" err="1"/>
              <a:t>détaille</a:t>
            </a:r>
            <a:r>
              <a:rPr lang="en-US" dirty="0"/>
              <a:t> </a:t>
            </a:r>
            <a:r>
              <a:rPr lang="en-US" dirty="0" err="1"/>
              <a:t>maintenant</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20</a:t>
            </a:fld>
            <a:endParaRPr lang="fr-TN"/>
          </a:p>
        </p:txBody>
      </p:sp>
    </p:spTree>
    <p:extLst>
      <p:ext uri="{BB962C8B-B14F-4D97-AF65-F5344CB8AC3E}">
        <p14:creationId xmlns:p14="http://schemas.microsoft.com/office/powerpoint/2010/main" val="32892927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Cette </a:t>
            </a:r>
            <a:r>
              <a:rPr lang="en-US" dirty="0" err="1"/>
              <a:t>génération</a:t>
            </a:r>
            <a:r>
              <a:rPr lang="en-US" dirty="0"/>
              <a:t> </a:t>
            </a:r>
            <a:r>
              <a:rPr lang="en-US" dirty="0" err="1"/>
              <a:t>s'appuie</a:t>
            </a:r>
            <a:r>
              <a:rPr lang="en-US" dirty="0"/>
              <a:t> sur </a:t>
            </a:r>
            <a:r>
              <a:rPr lang="en-US" dirty="0" err="1"/>
              <a:t>une</a:t>
            </a:r>
            <a:r>
              <a:rPr lang="en-US" dirty="0"/>
              <a:t> cascade à trois </a:t>
            </a:r>
            <a:r>
              <a:rPr lang="en-US" dirty="0" err="1"/>
              <a:t>paliers</a:t>
            </a:r>
            <a:r>
              <a:rPr lang="en-US" dirty="0"/>
              <a:t> : Gemini </a:t>
            </a:r>
            <a:r>
              <a:rPr lang="en-US" dirty="0" err="1"/>
              <a:t>en</a:t>
            </a:r>
            <a:r>
              <a:rPr lang="en-US" dirty="0"/>
              <a:t> </a:t>
            </a:r>
            <a:r>
              <a:rPr lang="en-US" dirty="0" err="1"/>
              <a:t>primaire</a:t>
            </a:r>
            <a:r>
              <a:rPr lang="en-US" dirty="0"/>
              <a:t> dans le cloud, Mistral </a:t>
            </a:r>
            <a:r>
              <a:rPr lang="en-US" dirty="0" err="1"/>
              <a:t>en</a:t>
            </a:r>
            <a:r>
              <a:rPr lang="en-US" dirty="0"/>
              <a:t> secours, et Llama 3.2 </a:t>
            </a:r>
            <a:r>
              <a:rPr lang="en-US" dirty="0" err="1"/>
              <a:t>en</a:t>
            </a:r>
            <a:r>
              <a:rPr lang="en-US" dirty="0"/>
              <a:t> local </a:t>
            </a:r>
            <a:r>
              <a:rPr lang="en-US" dirty="0" err="1"/>
              <a:t>comme</a:t>
            </a:r>
            <a:r>
              <a:rPr lang="en-US" dirty="0"/>
              <a:t> dernier </a:t>
            </a:r>
            <a:r>
              <a:rPr lang="en-US" dirty="0" err="1"/>
              <a:t>recours</a:t>
            </a:r>
            <a:r>
              <a:rPr lang="en-US" dirty="0"/>
              <a:t> — </a:t>
            </a:r>
            <a:r>
              <a:rPr lang="en-US" dirty="0" err="1"/>
              <a:t>garantissant</a:t>
            </a:r>
            <a:r>
              <a:rPr lang="en-US" dirty="0"/>
              <a:t> la </a:t>
            </a:r>
            <a:r>
              <a:rPr lang="en-US" dirty="0" err="1"/>
              <a:t>continuité</a:t>
            </a:r>
            <a:r>
              <a:rPr lang="en-US" dirty="0"/>
              <a:t> du service </a:t>
            </a:r>
            <a:r>
              <a:rPr lang="en-US" dirty="0" err="1"/>
              <a:t>même</a:t>
            </a:r>
            <a:r>
              <a:rPr lang="en-US" dirty="0"/>
              <a:t> </a:t>
            </a:r>
            <a:r>
              <a:rPr lang="en-US" dirty="0" err="1"/>
              <a:t>en</a:t>
            </a:r>
            <a:r>
              <a:rPr lang="en-US" dirty="0"/>
              <a:t> </a:t>
            </a:r>
            <a:r>
              <a:rPr lang="en-US" dirty="0" err="1"/>
              <a:t>cas</a:t>
            </a:r>
            <a:r>
              <a:rPr lang="en-US" dirty="0"/>
              <a:t> de panne </a:t>
            </a:r>
            <a:r>
              <a:rPr lang="en-US" dirty="0" err="1"/>
              <a:t>totale</a:t>
            </a:r>
            <a:r>
              <a:rPr lang="en-US" dirty="0"/>
              <a:t> des deux </a:t>
            </a:r>
            <a:r>
              <a:rPr lang="en-US" dirty="0" err="1"/>
              <a:t>fournisseurs</a:t>
            </a:r>
            <a:r>
              <a:rPr lang="en-US" dirty="0"/>
              <a:t> cloud. Une </a:t>
            </a:r>
            <a:r>
              <a:rPr lang="en-US" dirty="0" err="1"/>
              <a:t>fois</a:t>
            </a:r>
            <a:r>
              <a:rPr lang="en-US" dirty="0"/>
              <a:t> le module </a:t>
            </a:r>
            <a:r>
              <a:rPr lang="en-US" dirty="0" err="1"/>
              <a:t>généré</a:t>
            </a:r>
            <a:r>
              <a:rPr lang="en-US" dirty="0"/>
              <a:t>, encore faut-il </a:t>
            </a:r>
            <a:r>
              <a:rPr lang="en-US" dirty="0" err="1"/>
              <a:t>garantir</a:t>
            </a:r>
            <a:r>
              <a:rPr lang="en-US" dirty="0"/>
              <a:t> </a:t>
            </a:r>
            <a:r>
              <a:rPr lang="en-US" dirty="0" err="1"/>
              <a:t>qu'il</a:t>
            </a:r>
            <a:r>
              <a:rPr lang="en-US" dirty="0"/>
              <a:t> </a:t>
            </a:r>
            <a:r>
              <a:rPr lang="en-US" dirty="0" err="1"/>
              <a:t>atteint</a:t>
            </a:r>
            <a:r>
              <a:rPr lang="en-US" dirty="0"/>
              <a:t> la bonne </a:t>
            </a:r>
            <a:r>
              <a:rPr lang="en-US" dirty="0" err="1"/>
              <a:t>personne</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21</a:t>
            </a:fld>
            <a:endParaRPr lang="fr-TN"/>
          </a:p>
        </p:txBody>
      </p:sp>
    </p:spTree>
    <p:extLst>
      <p:ext uri="{BB962C8B-B14F-4D97-AF65-F5344CB8AC3E}">
        <p14:creationId xmlns:p14="http://schemas.microsoft.com/office/powerpoint/2010/main" val="6614465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L'accès</a:t>
            </a:r>
            <a:r>
              <a:rPr lang="en-US" dirty="0"/>
              <a:t> au module </a:t>
            </a:r>
            <a:r>
              <a:rPr lang="en-US" dirty="0" err="1"/>
              <a:t>reste</a:t>
            </a:r>
            <a:r>
              <a:rPr lang="en-US" dirty="0"/>
              <a:t> </a:t>
            </a:r>
            <a:r>
              <a:rPr lang="en-US" dirty="0" err="1"/>
              <a:t>strictement</a:t>
            </a:r>
            <a:r>
              <a:rPr lang="en-US" dirty="0"/>
              <a:t> </a:t>
            </a:r>
            <a:r>
              <a:rPr lang="en-US" dirty="0" err="1"/>
              <a:t>contrôlé</a:t>
            </a:r>
            <a:r>
              <a:rPr lang="en-US" dirty="0"/>
              <a:t> : un </a:t>
            </a:r>
            <a:r>
              <a:rPr lang="en-US" dirty="0" err="1"/>
              <a:t>identifiant</a:t>
            </a:r>
            <a:r>
              <a:rPr lang="en-US" dirty="0"/>
              <a:t> inconnu est </a:t>
            </a:r>
            <a:r>
              <a:rPr lang="en-US" dirty="0" err="1"/>
              <a:t>rejeté</a:t>
            </a:r>
            <a:r>
              <a:rPr lang="en-US" dirty="0"/>
              <a:t>, et </a:t>
            </a:r>
            <a:r>
              <a:rPr lang="en-US" dirty="0" err="1"/>
              <a:t>même</a:t>
            </a:r>
            <a:r>
              <a:rPr lang="en-US" dirty="0"/>
              <a:t> un </a:t>
            </a:r>
            <a:r>
              <a:rPr lang="en-US" dirty="0" err="1"/>
              <a:t>employé</a:t>
            </a:r>
            <a:r>
              <a:rPr lang="en-US" dirty="0"/>
              <a:t> avec un </a:t>
            </a:r>
            <a:r>
              <a:rPr lang="en-US" dirty="0" err="1"/>
              <a:t>identifiant</a:t>
            </a:r>
            <a:r>
              <a:rPr lang="en-US" dirty="0"/>
              <a:t> </a:t>
            </a:r>
            <a:r>
              <a:rPr lang="en-US" dirty="0" err="1"/>
              <a:t>valide</a:t>
            </a:r>
            <a:r>
              <a:rPr lang="en-US" dirty="0"/>
              <a:t> ne </a:t>
            </a:r>
            <a:r>
              <a:rPr lang="en-US" dirty="0" err="1"/>
              <a:t>peut</a:t>
            </a:r>
            <a:r>
              <a:rPr lang="en-US" dirty="0"/>
              <a:t> </a:t>
            </a:r>
            <a:r>
              <a:rPr lang="en-US" dirty="0" err="1"/>
              <a:t>accéder</a:t>
            </a:r>
            <a:r>
              <a:rPr lang="en-US" dirty="0"/>
              <a:t> au </a:t>
            </a:r>
            <a:r>
              <a:rPr lang="en-US" dirty="0" err="1"/>
              <a:t>contenu</a:t>
            </a:r>
            <a:r>
              <a:rPr lang="en-US" dirty="0"/>
              <a:t> </a:t>
            </a:r>
            <a:r>
              <a:rPr lang="en-US" dirty="0" err="1"/>
              <a:t>s'il</a:t>
            </a:r>
            <a:r>
              <a:rPr lang="en-US" dirty="0"/>
              <a:t> </a:t>
            </a:r>
            <a:r>
              <a:rPr lang="en-US" dirty="0" err="1"/>
              <a:t>n'est</a:t>
            </a:r>
            <a:r>
              <a:rPr lang="en-US" dirty="0"/>
              <a:t> pas dans le </a:t>
            </a:r>
            <a:r>
              <a:rPr lang="en-US" dirty="0" err="1"/>
              <a:t>périmètre</a:t>
            </a:r>
            <a:r>
              <a:rPr lang="en-US" dirty="0"/>
              <a:t> de diffusion </a:t>
            </a:r>
            <a:r>
              <a:rPr lang="en-US" dirty="0" err="1"/>
              <a:t>choisi</a:t>
            </a:r>
            <a:r>
              <a:rPr lang="en-US" dirty="0"/>
              <a:t> par </a:t>
            </a:r>
            <a:r>
              <a:rPr lang="en-US" dirty="0" err="1"/>
              <a:t>l'administrateur</a:t>
            </a:r>
            <a:r>
              <a:rPr lang="en-US" dirty="0"/>
              <a:t>. Passons </a:t>
            </a:r>
            <a:r>
              <a:rPr lang="en-US" dirty="0" err="1"/>
              <a:t>maintenant</a:t>
            </a:r>
            <a:r>
              <a:rPr lang="en-US" dirty="0"/>
              <a:t> au dernier sprint, </a:t>
            </a:r>
            <a:r>
              <a:rPr lang="en-US" dirty="0" err="1"/>
              <a:t>celui</a:t>
            </a:r>
            <a:r>
              <a:rPr lang="en-US" dirty="0"/>
              <a:t> qui </a:t>
            </a:r>
            <a:r>
              <a:rPr lang="en-US" dirty="0" err="1"/>
              <a:t>orchestre</a:t>
            </a:r>
            <a:r>
              <a:rPr lang="en-US" dirty="0"/>
              <a:t> </a:t>
            </a:r>
            <a:r>
              <a:rPr lang="en-US" dirty="0" err="1"/>
              <a:t>l'ensemble</a:t>
            </a:r>
            <a:r>
              <a:rPr lang="en-US" dirty="0"/>
              <a:t> de la </a:t>
            </a:r>
            <a:r>
              <a:rPr lang="en-US" dirty="0" err="1"/>
              <a:t>réponse</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22</a:t>
            </a:fld>
            <a:endParaRPr lang="fr-TN"/>
          </a:p>
        </p:txBody>
      </p:sp>
    </p:spTree>
    <p:extLst>
      <p:ext uri="{BB962C8B-B14F-4D97-AF65-F5344CB8AC3E}">
        <p14:creationId xmlns:p14="http://schemas.microsoft.com/office/powerpoint/2010/main" val="34400720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 </a:t>
            </a:r>
            <a:r>
              <a:rPr lang="en-US" dirty="0" err="1"/>
              <a:t>sixième</a:t>
            </a:r>
            <a:r>
              <a:rPr lang="en-US" dirty="0"/>
              <a:t> et dernier sprint </a:t>
            </a:r>
            <a:r>
              <a:rPr lang="en-US" dirty="0" err="1"/>
              <a:t>clôt</a:t>
            </a:r>
            <a:r>
              <a:rPr lang="en-US" dirty="0"/>
              <a:t> la </a:t>
            </a:r>
            <a:r>
              <a:rPr lang="en-US" dirty="0" err="1"/>
              <a:t>chaîne</a:t>
            </a:r>
            <a:r>
              <a:rPr lang="en-US" dirty="0"/>
              <a:t> avec </a:t>
            </a:r>
            <a:r>
              <a:rPr lang="en-US" dirty="0" err="1"/>
              <a:t>l'orchestration</a:t>
            </a:r>
            <a:r>
              <a:rPr lang="en-US" dirty="0"/>
              <a:t> SOAR. Il distingue deux </a:t>
            </a:r>
            <a:r>
              <a:rPr lang="en-US" dirty="0" err="1"/>
              <a:t>moteurs</a:t>
            </a:r>
            <a:r>
              <a:rPr lang="en-US" dirty="0"/>
              <a:t> : soar.py, qui </a:t>
            </a:r>
            <a:r>
              <a:rPr lang="en-US" dirty="0" err="1"/>
              <a:t>corrèle</a:t>
            </a:r>
            <a:r>
              <a:rPr lang="en-US" dirty="0"/>
              <a:t> et </a:t>
            </a:r>
            <a:r>
              <a:rPr lang="en-US" dirty="0" err="1"/>
              <a:t>décide</a:t>
            </a:r>
            <a:r>
              <a:rPr lang="en-US" dirty="0"/>
              <a:t> </a:t>
            </a:r>
            <a:r>
              <a:rPr lang="en-US" dirty="0" err="1"/>
              <a:t>en</a:t>
            </a:r>
            <a:r>
              <a:rPr lang="en-US" dirty="0"/>
              <a:t> </a:t>
            </a:r>
            <a:r>
              <a:rPr lang="en-US" dirty="0" err="1"/>
              <a:t>autonomie</a:t>
            </a:r>
            <a:r>
              <a:rPr lang="en-US" dirty="0"/>
              <a:t> </a:t>
            </a:r>
            <a:r>
              <a:rPr lang="en-US" dirty="0" err="1"/>
              <a:t>complète</a:t>
            </a:r>
            <a:r>
              <a:rPr lang="en-US" dirty="0"/>
              <a:t>, et agent_soar.py, qui </a:t>
            </a:r>
            <a:r>
              <a:rPr lang="en-US" dirty="0" err="1"/>
              <a:t>n'exécute</a:t>
            </a:r>
            <a:r>
              <a:rPr lang="en-US" dirty="0"/>
              <a:t> </a:t>
            </a:r>
            <a:r>
              <a:rPr lang="en-US" dirty="0" err="1"/>
              <a:t>que</a:t>
            </a:r>
            <a:r>
              <a:rPr lang="en-US" dirty="0"/>
              <a:t> sur </a:t>
            </a:r>
            <a:r>
              <a:rPr lang="en-US" dirty="0" err="1"/>
              <a:t>ordre</a:t>
            </a:r>
            <a:r>
              <a:rPr lang="en-US" dirty="0"/>
              <a:t> </a:t>
            </a:r>
            <a:r>
              <a:rPr lang="en-US" dirty="0" err="1"/>
              <a:t>explicite</a:t>
            </a:r>
            <a:r>
              <a:rPr lang="en-US" dirty="0"/>
              <a:t> — </a:t>
            </a:r>
            <a:r>
              <a:rPr lang="en-US" dirty="0" err="1"/>
              <a:t>qu'il</a:t>
            </a:r>
            <a:r>
              <a:rPr lang="en-US" dirty="0"/>
              <a:t> </a:t>
            </a:r>
            <a:r>
              <a:rPr lang="en-US" dirty="0" err="1"/>
              <a:t>vienne</a:t>
            </a:r>
            <a:r>
              <a:rPr lang="en-US" dirty="0"/>
              <a:t> d'un </a:t>
            </a:r>
            <a:r>
              <a:rPr lang="en-US" dirty="0" err="1"/>
              <a:t>administrateur</a:t>
            </a:r>
            <a:r>
              <a:rPr lang="en-US" dirty="0"/>
              <a:t> </a:t>
            </a:r>
            <a:r>
              <a:rPr lang="en-US" dirty="0" err="1"/>
              <a:t>ou</a:t>
            </a:r>
            <a:r>
              <a:rPr lang="en-US" dirty="0"/>
              <a:t> du mode auto-</a:t>
            </a:r>
            <a:r>
              <a:rPr lang="en-US" dirty="0" err="1"/>
              <a:t>pilote</a:t>
            </a:r>
            <a:r>
              <a:rPr lang="en-US" dirty="0"/>
              <a:t>. </a:t>
            </a:r>
            <a:r>
              <a:rPr lang="en-US" dirty="0" err="1"/>
              <a:t>Voyons</a:t>
            </a:r>
            <a:r>
              <a:rPr lang="en-US" dirty="0"/>
              <a:t> </a:t>
            </a:r>
            <a:r>
              <a:rPr lang="en-US" dirty="0" err="1"/>
              <a:t>d'abord</a:t>
            </a:r>
            <a:r>
              <a:rPr lang="en-US" dirty="0"/>
              <a:t> comment soar.py </a:t>
            </a:r>
            <a:r>
              <a:rPr lang="en-US" dirty="0" err="1"/>
              <a:t>prend</a:t>
            </a:r>
            <a:r>
              <a:rPr lang="en-US" dirty="0"/>
              <a:t> </a:t>
            </a:r>
            <a:r>
              <a:rPr lang="en-US" dirty="0" err="1"/>
              <a:t>sa</a:t>
            </a:r>
            <a:r>
              <a:rPr lang="en-US" dirty="0"/>
              <a:t> </a:t>
            </a:r>
            <a:r>
              <a:rPr lang="en-US" dirty="0" err="1"/>
              <a:t>décision</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23</a:t>
            </a:fld>
            <a:endParaRPr lang="fr-TN"/>
          </a:p>
        </p:txBody>
      </p:sp>
    </p:spTree>
    <p:extLst>
      <p:ext uri="{BB962C8B-B14F-4D97-AF65-F5344CB8AC3E}">
        <p14:creationId xmlns:p14="http://schemas.microsoft.com/office/powerpoint/2010/main" val="23926144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Avant toute action, </a:t>
            </a:r>
            <a:r>
              <a:rPr lang="en-US" dirty="0" err="1"/>
              <a:t>chaque</a:t>
            </a:r>
            <a:r>
              <a:rPr lang="en-US" dirty="0"/>
              <a:t> </a:t>
            </a:r>
            <a:r>
              <a:rPr lang="en-US" dirty="0" err="1"/>
              <a:t>alerte</a:t>
            </a:r>
            <a:r>
              <a:rPr lang="en-US" dirty="0"/>
              <a:t> passe par la politique Zero Trust, </a:t>
            </a:r>
            <a:r>
              <a:rPr lang="en-US" dirty="0" err="1"/>
              <a:t>puis</a:t>
            </a:r>
            <a:r>
              <a:rPr lang="en-US" dirty="0"/>
              <a:t> par </a:t>
            </a:r>
            <a:r>
              <a:rPr lang="en-US" dirty="0" err="1"/>
              <a:t>une</a:t>
            </a:r>
            <a:r>
              <a:rPr lang="en-US" dirty="0"/>
              <a:t> </a:t>
            </a:r>
            <a:r>
              <a:rPr lang="en-US" dirty="0" err="1"/>
              <a:t>fenêtre</a:t>
            </a:r>
            <a:r>
              <a:rPr lang="en-US" dirty="0"/>
              <a:t> de corrélation de </a:t>
            </a:r>
            <a:r>
              <a:rPr lang="en-US" dirty="0" err="1"/>
              <a:t>trente</a:t>
            </a:r>
            <a:r>
              <a:rPr lang="en-US" dirty="0"/>
              <a:t> </a:t>
            </a:r>
            <a:r>
              <a:rPr lang="en-US" dirty="0" err="1"/>
              <a:t>secondes</a:t>
            </a:r>
            <a:r>
              <a:rPr lang="en-US" dirty="0"/>
              <a:t> entre les deux sources de </a:t>
            </a:r>
            <a:r>
              <a:rPr lang="en-US" dirty="0" err="1"/>
              <a:t>détection</a:t>
            </a:r>
            <a:r>
              <a:rPr lang="en-US" dirty="0"/>
              <a:t>. </a:t>
            </a:r>
            <a:r>
              <a:rPr lang="en-US" dirty="0" err="1"/>
              <a:t>C'est</a:t>
            </a:r>
            <a:r>
              <a:rPr lang="en-US" dirty="0"/>
              <a:t> </a:t>
            </a:r>
            <a:r>
              <a:rPr lang="en-US" dirty="0" err="1"/>
              <a:t>cette</a:t>
            </a:r>
            <a:r>
              <a:rPr lang="en-US" dirty="0"/>
              <a:t> corrélation, et non </a:t>
            </a:r>
            <a:r>
              <a:rPr lang="en-US" dirty="0" err="1"/>
              <a:t>une</a:t>
            </a:r>
            <a:r>
              <a:rPr lang="en-US" dirty="0"/>
              <a:t> </a:t>
            </a:r>
            <a:r>
              <a:rPr lang="en-US" dirty="0" err="1"/>
              <a:t>alerte</a:t>
            </a:r>
            <a:r>
              <a:rPr lang="en-US" dirty="0"/>
              <a:t> </a:t>
            </a:r>
            <a:r>
              <a:rPr lang="en-US" dirty="0" err="1"/>
              <a:t>isolée</a:t>
            </a:r>
            <a:r>
              <a:rPr lang="en-US" dirty="0"/>
              <a:t>, qui </a:t>
            </a:r>
            <a:r>
              <a:rPr lang="en-US" dirty="0" err="1"/>
              <a:t>déclenche</a:t>
            </a:r>
            <a:r>
              <a:rPr lang="en-US" dirty="0"/>
              <a:t> un </a:t>
            </a:r>
            <a:r>
              <a:rPr lang="en-US" dirty="0" err="1"/>
              <a:t>blocage</a:t>
            </a:r>
            <a:r>
              <a:rPr lang="en-US" dirty="0"/>
              <a:t> autonome. Cette </a:t>
            </a:r>
            <a:r>
              <a:rPr lang="en-US" dirty="0" err="1"/>
              <a:t>décision</a:t>
            </a:r>
            <a:r>
              <a:rPr lang="en-US" dirty="0"/>
              <a:t> est ensuite </a:t>
            </a:r>
            <a:r>
              <a:rPr lang="en-US" dirty="0" err="1"/>
              <a:t>transmise</a:t>
            </a:r>
            <a:r>
              <a:rPr lang="en-US" dirty="0"/>
              <a:t> à un second </a:t>
            </a:r>
            <a:r>
              <a:rPr lang="en-US" dirty="0" err="1"/>
              <a:t>moteur</a:t>
            </a:r>
            <a:r>
              <a:rPr lang="en-US" dirty="0"/>
              <a:t>, </a:t>
            </a:r>
            <a:r>
              <a:rPr lang="en-US" dirty="0" err="1"/>
              <a:t>dont</a:t>
            </a:r>
            <a:r>
              <a:rPr lang="en-US" dirty="0"/>
              <a:t> le </a:t>
            </a:r>
            <a:r>
              <a:rPr lang="en-US" dirty="0" err="1"/>
              <a:t>rôle</a:t>
            </a:r>
            <a:r>
              <a:rPr lang="en-US" dirty="0"/>
              <a:t> est bien distinct.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24</a:t>
            </a:fld>
            <a:endParaRPr lang="fr-TN"/>
          </a:p>
        </p:txBody>
      </p:sp>
    </p:spTree>
    <p:extLst>
      <p:ext uri="{BB962C8B-B14F-4D97-AF65-F5344CB8AC3E}">
        <p14:creationId xmlns:p14="http://schemas.microsoft.com/office/powerpoint/2010/main" val="1601124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Cette </a:t>
            </a:r>
            <a:r>
              <a:rPr lang="en-US" dirty="0" err="1"/>
              <a:t>séparation</a:t>
            </a:r>
            <a:r>
              <a:rPr lang="en-US" dirty="0"/>
              <a:t> </a:t>
            </a:r>
            <a:r>
              <a:rPr lang="en-US" dirty="0" err="1"/>
              <a:t>garantit</a:t>
            </a:r>
            <a:r>
              <a:rPr lang="en-US" dirty="0"/>
              <a:t> </a:t>
            </a:r>
            <a:r>
              <a:rPr lang="en-US" dirty="0" err="1"/>
              <a:t>qu'un</a:t>
            </a:r>
            <a:r>
              <a:rPr lang="en-US" dirty="0"/>
              <a:t> humain, </a:t>
            </a:r>
            <a:r>
              <a:rPr lang="en-US" dirty="0" err="1"/>
              <a:t>ou</a:t>
            </a:r>
            <a:r>
              <a:rPr lang="en-US" dirty="0"/>
              <a:t> </a:t>
            </a:r>
            <a:r>
              <a:rPr lang="en-US" dirty="0" err="1"/>
              <a:t>une</a:t>
            </a:r>
            <a:r>
              <a:rPr lang="en-US" dirty="0"/>
              <a:t> </a:t>
            </a:r>
            <a:r>
              <a:rPr lang="en-US" dirty="0" err="1"/>
              <a:t>règle</a:t>
            </a:r>
            <a:r>
              <a:rPr lang="en-US" dirty="0"/>
              <a:t> </a:t>
            </a:r>
            <a:r>
              <a:rPr lang="en-US" dirty="0" err="1"/>
              <a:t>explicite</a:t>
            </a:r>
            <a:r>
              <a:rPr lang="en-US" dirty="0"/>
              <a:t> du mode auto-</a:t>
            </a:r>
            <a:r>
              <a:rPr lang="en-US" dirty="0" err="1"/>
              <a:t>pilote</a:t>
            </a:r>
            <a:r>
              <a:rPr lang="en-US" dirty="0"/>
              <a:t>, </a:t>
            </a:r>
            <a:r>
              <a:rPr lang="en-US" dirty="0" err="1"/>
              <a:t>reste</a:t>
            </a:r>
            <a:r>
              <a:rPr lang="en-US" dirty="0"/>
              <a:t> </a:t>
            </a:r>
            <a:r>
              <a:rPr lang="en-US" dirty="0" err="1"/>
              <a:t>toujours</a:t>
            </a:r>
            <a:r>
              <a:rPr lang="en-US" dirty="0"/>
              <a:t> le seul point </a:t>
            </a:r>
            <a:r>
              <a:rPr lang="en-US" dirty="0" err="1"/>
              <a:t>d'origine</a:t>
            </a:r>
            <a:r>
              <a:rPr lang="en-US" dirty="0"/>
              <a:t> </a:t>
            </a:r>
            <a:r>
              <a:rPr lang="en-US" dirty="0" err="1"/>
              <a:t>d'une</a:t>
            </a:r>
            <a:r>
              <a:rPr lang="en-US" dirty="0"/>
              <a:t> action sur </a:t>
            </a:r>
            <a:r>
              <a:rPr lang="en-US" dirty="0" err="1"/>
              <a:t>l'infrastructure</a:t>
            </a:r>
            <a:r>
              <a:rPr lang="en-US" dirty="0"/>
              <a:t> — </a:t>
            </a:r>
            <a:r>
              <a:rPr lang="en-US" dirty="0" err="1"/>
              <a:t>même</a:t>
            </a:r>
            <a:r>
              <a:rPr lang="en-US" dirty="0"/>
              <a:t> </a:t>
            </a:r>
            <a:r>
              <a:rPr lang="en-US" dirty="0" err="1"/>
              <a:t>lorsque</a:t>
            </a:r>
            <a:r>
              <a:rPr lang="en-US" dirty="0"/>
              <a:t> la </a:t>
            </a:r>
            <a:r>
              <a:rPr lang="en-US" dirty="0" err="1"/>
              <a:t>détection</a:t>
            </a:r>
            <a:r>
              <a:rPr lang="en-US" dirty="0"/>
              <a:t> </a:t>
            </a:r>
            <a:r>
              <a:rPr lang="en-US" dirty="0" err="1"/>
              <a:t>elle-même</a:t>
            </a:r>
            <a:r>
              <a:rPr lang="en-US" dirty="0"/>
              <a:t> est </a:t>
            </a:r>
            <a:r>
              <a:rPr lang="en-US" dirty="0" err="1"/>
              <a:t>entièrement</a:t>
            </a:r>
            <a:r>
              <a:rPr lang="en-US" dirty="0"/>
              <a:t> </a:t>
            </a:r>
            <a:r>
              <a:rPr lang="en-US" dirty="0" err="1"/>
              <a:t>automatisée</a:t>
            </a:r>
            <a:r>
              <a:rPr lang="en-US" dirty="0"/>
              <a:t>. </a:t>
            </a:r>
            <a:r>
              <a:rPr lang="en-US" dirty="0" err="1"/>
              <a:t>Terminons</a:t>
            </a:r>
            <a:r>
              <a:rPr lang="en-US" dirty="0"/>
              <a:t> </a:t>
            </a:r>
            <a:r>
              <a:rPr lang="en-US" dirty="0" err="1"/>
              <a:t>ce</a:t>
            </a:r>
            <a:r>
              <a:rPr lang="en-US" dirty="0"/>
              <a:t> sprint par les </a:t>
            </a:r>
            <a:r>
              <a:rPr lang="en-US" dirty="0" err="1"/>
              <a:t>mécanismes</a:t>
            </a:r>
            <a:r>
              <a:rPr lang="en-US" dirty="0"/>
              <a:t> qui </a:t>
            </a:r>
            <a:r>
              <a:rPr lang="en-US" dirty="0" err="1"/>
              <a:t>assurent</a:t>
            </a:r>
            <a:r>
              <a:rPr lang="en-US" dirty="0"/>
              <a:t> </a:t>
            </a:r>
            <a:r>
              <a:rPr lang="en-US" dirty="0" err="1"/>
              <a:t>sa</a:t>
            </a:r>
            <a:r>
              <a:rPr lang="en-US" dirty="0"/>
              <a:t> </a:t>
            </a:r>
            <a:r>
              <a:rPr lang="en-US" dirty="0" err="1"/>
              <a:t>résilience</a:t>
            </a:r>
            <a:r>
              <a:rPr lang="en-US" dirty="0"/>
              <a:t> </a:t>
            </a:r>
            <a:r>
              <a:rPr lang="en-US" dirty="0" err="1"/>
              <a:t>opérationnelle</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25</a:t>
            </a:fld>
            <a:endParaRPr lang="fr-TN"/>
          </a:p>
        </p:txBody>
      </p:sp>
    </p:spTree>
    <p:extLst>
      <p:ext uri="{BB962C8B-B14F-4D97-AF65-F5344CB8AC3E}">
        <p14:creationId xmlns:p14="http://schemas.microsoft.com/office/powerpoint/2010/main" val="34305971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 score composite </a:t>
            </a:r>
            <a:r>
              <a:rPr lang="en-US" dirty="0" err="1"/>
              <a:t>pondère</a:t>
            </a:r>
            <a:r>
              <a:rPr lang="en-US" dirty="0"/>
              <a:t> les trois sources de </a:t>
            </a:r>
            <a:r>
              <a:rPr lang="en-US" dirty="0" err="1"/>
              <a:t>détection</a:t>
            </a:r>
            <a:r>
              <a:rPr lang="en-US" dirty="0"/>
              <a:t> pour alimenter le mode auto-</a:t>
            </a:r>
            <a:r>
              <a:rPr lang="en-US" dirty="0" err="1"/>
              <a:t>pilote</a:t>
            </a:r>
            <a:r>
              <a:rPr lang="en-US" dirty="0"/>
              <a:t>, </a:t>
            </a:r>
            <a:r>
              <a:rPr lang="en-US" dirty="0" err="1"/>
              <a:t>garantissant</a:t>
            </a:r>
            <a:r>
              <a:rPr lang="en-US" dirty="0"/>
              <a:t> </a:t>
            </a:r>
            <a:r>
              <a:rPr lang="en-US" dirty="0" err="1"/>
              <a:t>une</a:t>
            </a:r>
            <a:r>
              <a:rPr lang="en-US" dirty="0"/>
              <a:t> </a:t>
            </a:r>
            <a:r>
              <a:rPr lang="en-US" dirty="0" err="1"/>
              <a:t>réponse</a:t>
            </a:r>
            <a:r>
              <a:rPr lang="en-US" dirty="0"/>
              <a:t> sans </a:t>
            </a:r>
            <a:r>
              <a:rPr lang="en-US" dirty="0" err="1"/>
              <a:t>délai</a:t>
            </a:r>
            <a:r>
              <a:rPr lang="en-US" dirty="0"/>
              <a:t> </a:t>
            </a:r>
            <a:r>
              <a:rPr lang="en-US" dirty="0" err="1"/>
              <a:t>même</a:t>
            </a:r>
            <a:r>
              <a:rPr lang="en-US" dirty="0"/>
              <a:t> sans supervision humaine. Trois </a:t>
            </a:r>
            <a:r>
              <a:rPr lang="en-US" dirty="0" err="1"/>
              <a:t>mécanismes</a:t>
            </a:r>
            <a:r>
              <a:rPr lang="en-US" dirty="0"/>
              <a:t> </a:t>
            </a:r>
            <a:r>
              <a:rPr lang="en-US" dirty="0" err="1"/>
              <a:t>renforcent</a:t>
            </a:r>
            <a:r>
              <a:rPr lang="en-US" dirty="0"/>
              <a:t> </a:t>
            </a:r>
            <a:r>
              <a:rPr lang="en-US" dirty="0" err="1"/>
              <a:t>cette</a:t>
            </a:r>
            <a:r>
              <a:rPr lang="en-US" dirty="0"/>
              <a:t> </a:t>
            </a:r>
            <a:r>
              <a:rPr lang="en-US" dirty="0" err="1"/>
              <a:t>résilience</a:t>
            </a:r>
            <a:r>
              <a:rPr lang="en-US" dirty="0"/>
              <a:t> : un watchdog qui </a:t>
            </a:r>
            <a:r>
              <a:rPr lang="en-US" dirty="0" err="1"/>
              <a:t>détecte</a:t>
            </a:r>
            <a:r>
              <a:rPr lang="en-US" dirty="0"/>
              <a:t> </a:t>
            </a:r>
            <a:r>
              <a:rPr lang="en-US" dirty="0" err="1"/>
              <a:t>une</a:t>
            </a:r>
            <a:r>
              <a:rPr lang="en-US" dirty="0"/>
              <a:t> panne de </a:t>
            </a:r>
            <a:r>
              <a:rPr lang="en-US" dirty="0" err="1"/>
              <a:t>nœud</a:t>
            </a:r>
            <a:r>
              <a:rPr lang="en-US" dirty="0"/>
              <a:t> </a:t>
            </a:r>
            <a:r>
              <a:rPr lang="en-US" dirty="0" err="1"/>
              <a:t>en</a:t>
            </a:r>
            <a:r>
              <a:rPr lang="en-US" dirty="0"/>
              <a:t> </a:t>
            </a:r>
            <a:r>
              <a:rPr lang="en-US" dirty="0" err="1"/>
              <a:t>moins</a:t>
            </a:r>
            <a:r>
              <a:rPr lang="en-US" dirty="0"/>
              <a:t> de quinze </a:t>
            </a:r>
            <a:r>
              <a:rPr lang="en-US" dirty="0" err="1"/>
              <a:t>secondes</a:t>
            </a:r>
            <a:r>
              <a:rPr lang="en-US" dirty="0"/>
              <a:t>, </a:t>
            </a:r>
            <a:r>
              <a:rPr lang="en-US" dirty="0" err="1"/>
              <a:t>une</a:t>
            </a:r>
            <a:r>
              <a:rPr lang="en-US" dirty="0"/>
              <a:t> reconnexion Kafka </a:t>
            </a:r>
            <a:r>
              <a:rPr lang="en-US" dirty="0" err="1"/>
              <a:t>automatique</a:t>
            </a:r>
            <a:r>
              <a:rPr lang="en-US" dirty="0"/>
              <a:t>, et un </a:t>
            </a:r>
            <a:r>
              <a:rPr lang="en-US" dirty="0" err="1"/>
              <a:t>bouclier</a:t>
            </a:r>
            <a:r>
              <a:rPr lang="en-US" dirty="0"/>
              <a:t> anti-DDoS. Ceci </a:t>
            </a:r>
            <a:r>
              <a:rPr lang="en-US" dirty="0" err="1"/>
              <a:t>achève</a:t>
            </a:r>
            <a:r>
              <a:rPr lang="en-US" dirty="0"/>
              <a:t> la </a:t>
            </a:r>
            <a:r>
              <a:rPr lang="en-US" dirty="0" err="1"/>
              <a:t>présentation</a:t>
            </a:r>
            <a:r>
              <a:rPr lang="en-US" dirty="0"/>
              <a:t> des six sprints. Je </a:t>
            </a:r>
            <a:r>
              <a:rPr lang="en-US" dirty="0" err="1"/>
              <a:t>termine</a:t>
            </a:r>
            <a:r>
              <a:rPr lang="en-US" dirty="0"/>
              <a:t> à </a:t>
            </a:r>
            <a:r>
              <a:rPr lang="en-US" dirty="0" err="1"/>
              <a:t>présent</a:t>
            </a:r>
            <a:r>
              <a:rPr lang="en-US" dirty="0"/>
              <a:t> sur les perspectives et la conclusion de </a:t>
            </a:r>
            <a:r>
              <a:rPr lang="en-US" dirty="0" err="1"/>
              <a:t>ce</a:t>
            </a:r>
            <a:r>
              <a:rPr lang="en-US" dirty="0"/>
              <a:t> travail.</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26</a:t>
            </a:fld>
            <a:endParaRPr lang="fr-TN"/>
          </a:p>
        </p:txBody>
      </p:sp>
    </p:spTree>
    <p:extLst>
      <p:ext uri="{BB962C8B-B14F-4D97-AF65-F5344CB8AC3E}">
        <p14:creationId xmlns:p14="http://schemas.microsoft.com/office/powerpoint/2010/main" val="41483984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Avant </a:t>
            </a:r>
            <a:r>
              <a:rPr lang="en-US" dirty="0" err="1"/>
              <a:t>d'entrer</a:t>
            </a:r>
            <a:r>
              <a:rPr lang="en-US" dirty="0"/>
              <a:t> dans le </a:t>
            </a:r>
            <a:r>
              <a:rPr lang="en-US" dirty="0" err="1"/>
              <a:t>détail</a:t>
            </a:r>
            <a:r>
              <a:rPr lang="en-US" dirty="0"/>
              <a:t> des sprints, un mot sur </a:t>
            </a:r>
            <a:r>
              <a:rPr lang="en-US" dirty="0" err="1"/>
              <a:t>l'environnement</a:t>
            </a:r>
            <a:r>
              <a:rPr lang="en-US" dirty="0"/>
              <a:t> </a:t>
            </a:r>
            <a:r>
              <a:rPr lang="en-US" dirty="0" err="1"/>
              <a:t>logiciel</a:t>
            </a:r>
            <a:r>
              <a:rPr lang="en-US" dirty="0"/>
              <a:t> et </a:t>
            </a:r>
            <a:r>
              <a:rPr lang="en-US" dirty="0" err="1"/>
              <a:t>l'architecture</a:t>
            </a:r>
            <a:r>
              <a:rPr lang="en-US" dirty="0"/>
              <a:t> </a:t>
            </a:r>
            <a:r>
              <a:rPr lang="en-US" dirty="0" err="1"/>
              <a:t>globale</a:t>
            </a:r>
            <a:r>
              <a:rPr lang="en-US" dirty="0"/>
              <a:t> du </a:t>
            </a:r>
            <a:r>
              <a:rPr lang="en-US" dirty="0" err="1"/>
              <a:t>système</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27</a:t>
            </a:fld>
            <a:endParaRPr lang="fr-TN"/>
          </a:p>
        </p:txBody>
      </p:sp>
    </p:spTree>
    <p:extLst>
      <p:ext uri="{BB962C8B-B14F-4D97-AF65-F5344CB8AC3E}">
        <p14:creationId xmlns:p14="http://schemas.microsoft.com/office/powerpoint/2010/main" val="20519174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Voici</a:t>
            </a:r>
            <a:r>
              <a:rPr lang="en-US" dirty="0"/>
              <a:t> </a:t>
            </a:r>
            <a:r>
              <a:rPr lang="en-US" dirty="0" err="1"/>
              <a:t>d'abord</a:t>
            </a:r>
            <a:r>
              <a:rPr lang="en-US" dirty="0"/>
              <a:t> </a:t>
            </a:r>
            <a:r>
              <a:rPr lang="en-US" dirty="0" err="1"/>
              <a:t>l'environnement</a:t>
            </a:r>
            <a:r>
              <a:rPr lang="en-US" dirty="0"/>
              <a:t> technique </a:t>
            </a:r>
            <a:r>
              <a:rPr lang="en-US" dirty="0" err="1"/>
              <a:t>utilisé</a:t>
            </a:r>
            <a:r>
              <a:rPr lang="en-US" dirty="0"/>
              <a:t>, </a:t>
            </a:r>
            <a:r>
              <a:rPr lang="en-US" dirty="0" err="1"/>
              <a:t>puis</a:t>
            </a:r>
            <a:r>
              <a:rPr lang="en-US" dirty="0"/>
              <a:t> </a:t>
            </a:r>
            <a:r>
              <a:rPr lang="en-US" dirty="0" err="1"/>
              <a:t>l'architecture</a:t>
            </a:r>
            <a:r>
              <a:rPr lang="en-US" dirty="0"/>
              <a:t> de </a:t>
            </a:r>
            <a:r>
              <a:rPr lang="en-US" dirty="0" err="1"/>
              <a:t>déploiement</a:t>
            </a:r>
            <a:r>
              <a:rPr lang="en-US" dirty="0"/>
              <a:t> qui </a:t>
            </a:r>
            <a:r>
              <a:rPr lang="en-US" dirty="0" err="1"/>
              <a:t>en</a:t>
            </a:r>
            <a:r>
              <a:rPr lang="en-US" dirty="0"/>
              <a:t> </a:t>
            </a:r>
            <a:r>
              <a:rPr lang="en-US" dirty="0" err="1"/>
              <a:t>découle</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28</a:t>
            </a:fld>
            <a:endParaRPr lang="fr-TN"/>
          </a:p>
        </p:txBody>
      </p:sp>
    </p:spTree>
    <p:extLst>
      <p:ext uri="{BB962C8B-B14F-4D97-AF65-F5344CB8AC3E}">
        <p14:creationId xmlns:p14="http://schemas.microsoft.com/office/powerpoint/2010/main" val="243310995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NG-IDPS combine des </a:t>
            </a:r>
            <a:r>
              <a:rPr lang="en-US" dirty="0" err="1"/>
              <a:t>outils</a:t>
            </a:r>
            <a:r>
              <a:rPr lang="en-US" dirty="0"/>
              <a:t> open-source </a:t>
            </a:r>
            <a:r>
              <a:rPr lang="en-US" dirty="0" err="1"/>
              <a:t>reconnus</a:t>
            </a:r>
            <a:r>
              <a:rPr lang="en-US" dirty="0"/>
              <a:t> : Suricata et </a:t>
            </a:r>
            <a:r>
              <a:rPr lang="en-US" dirty="0" err="1"/>
              <a:t>Scapy</a:t>
            </a:r>
            <a:r>
              <a:rPr lang="en-US" dirty="0"/>
              <a:t> pour la capture, Kafka pour la </a:t>
            </a:r>
            <a:r>
              <a:rPr lang="en-US" dirty="0" err="1"/>
              <a:t>messagerie</a:t>
            </a:r>
            <a:r>
              <a:rPr lang="en-US" dirty="0"/>
              <a:t>, </a:t>
            </a:r>
            <a:r>
              <a:rPr lang="en-US" dirty="0" err="1"/>
              <a:t>PyTorch</a:t>
            </a:r>
            <a:r>
              <a:rPr lang="en-US" dirty="0"/>
              <a:t> pour le </a:t>
            </a:r>
            <a:r>
              <a:rPr lang="en-US" dirty="0" err="1"/>
              <a:t>modèle</a:t>
            </a:r>
            <a:r>
              <a:rPr lang="en-US" dirty="0"/>
              <a:t> LSTM-VAE, </a:t>
            </a:r>
            <a:r>
              <a:rPr lang="en-US" dirty="0" err="1"/>
              <a:t>Ollama</a:t>
            </a:r>
            <a:r>
              <a:rPr lang="en-US" dirty="0"/>
              <a:t> et Llama 3 pour </a:t>
            </a:r>
            <a:r>
              <a:rPr lang="en-US" dirty="0" err="1"/>
              <a:t>l'intelligence</a:t>
            </a:r>
            <a:r>
              <a:rPr lang="en-US" dirty="0"/>
              <a:t> locale, Node.js et Express </a:t>
            </a:r>
            <a:r>
              <a:rPr lang="en-US" dirty="0" err="1"/>
              <a:t>côté</a:t>
            </a:r>
            <a:r>
              <a:rPr lang="en-US" dirty="0"/>
              <a:t> backend SOAR, et Next.js pour le tableau de bord.</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29</a:t>
            </a:fld>
            <a:endParaRPr lang="fr-TN"/>
          </a:p>
        </p:txBody>
      </p:sp>
    </p:spTree>
    <p:extLst>
      <p:ext uri="{BB962C8B-B14F-4D97-AF65-F5344CB8AC3E}">
        <p14:creationId xmlns:p14="http://schemas.microsoft.com/office/powerpoint/2010/main" val="17188827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Cet </a:t>
            </a:r>
            <a:r>
              <a:rPr lang="en-US" dirty="0" err="1"/>
              <a:t>environnement</a:t>
            </a:r>
            <a:r>
              <a:rPr lang="en-US" dirty="0"/>
              <a:t> se </a:t>
            </a:r>
            <a:r>
              <a:rPr lang="en-US" dirty="0" err="1"/>
              <a:t>déploie</a:t>
            </a:r>
            <a:r>
              <a:rPr lang="en-US" dirty="0"/>
              <a:t> sur quatre </a:t>
            </a:r>
            <a:r>
              <a:rPr lang="en-US" dirty="0" err="1"/>
              <a:t>nœuds</a:t>
            </a:r>
            <a:r>
              <a:rPr lang="en-US" dirty="0"/>
              <a:t> </a:t>
            </a:r>
            <a:r>
              <a:rPr lang="en-US" dirty="0" err="1"/>
              <a:t>spécialisés</a:t>
            </a:r>
            <a:r>
              <a:rPr lang="en-US" dirty="0"/>
              <a:t>. VM-Edge capture le </a:t>
            </a:r>
            <a:r>
              <a:rPr lang="en-US" dirty="0" err="1"/>
              <a:t>trafic</a:t>
            </a:r>
            <a:r>
              <a:rPr lang="en-US" dirty="0"/>
              <a:t> avec Suricata. VM-ML </a:t>
            </a:r>
            <a:r>
              <a:rPr lang="en-US" dirty="0" err="1"/>
              <a:t>héberge</a:t>
            </a:r>
            <a:r>
              <a:rPr lang="en-US" dirty="0"/>
              <a:t> le broker Kafka et le </a:t>
            </a:r>
            <a:r>
              <a:rPr lang="en-US" dirty="0" err="1"/>
              <a:t>moteur</a:t>
            </a:r>
            <a:r>
              <a:rPr lang="en-US" dirty="0"/>
              <a:t> de </a:t>
            </a:r>
            <a:r>
              <a:rPr lang="en-US" dirty="0" err="1"/>
              <a:t>détection</a:t>
            </a:r>
            <a:r>
              <a:rPr lang="en-US" dirty="0"/>
              <a:t> </a:t>
            </a:r>
            <a:r>
              <a:rPr lang="en-US" dirty="0" err="1"/>
              <a:t>comportementale</a:t>
            </a:r>
            <a:r>
              <a:rPr lang="en-US" dirty="0"/>
              <a:t>. VM-Response </a:t>
            </a:r>
            <a:r>
              <a:rPr lang="en-US" dirty="0" err="1"/>
              <a:t>exécute</a:t>
            </a:r>
            <a:r>
              <a:rPr lang="en-US" dirty="0"/>
              <a:t> les agents </a:t>
            </a:r>
            <a:r>
              <a:rPr lang="en-US" dirty="0" err="1"/>
              <a:t>d'intelligence</a:t>
            </a:r>
            <a:r>
              <a:rPr lang="en-US" dirty="0"/>
              <a:t> </a:t>
            </a:r>
            <a:r>
              <a:rPr lang="en-US" dirty="0" err="1"/>
              <a:t>artificielle</a:t>
            </a:r>
            <a:r>
              <a:rPr lang="en-US" dirty="0"/>
              <a:t> et la </a:t>
            </a:r>
            <a:r>
              <a:rPr lang="en-US" dirty="0" err="1"/>
              <a:t>remédiation</a:t>
            </a:r>
            <a:r>
              <a:rPr lang="en-US" dirty="0"/>
              <a:t>. Et </a:t>
            </a:r>
            <a:r>
              <a:rPr lang="en-US" dirty="0" err="1"/>
              <a:t>l'hôte</a:t>
            </a:r>
            <a:r>
              <a:rPr lang="en-US" dirty="0"/>
              <a:t> </a:t>
            </a:r>
            <a:r>
              <a:rPr lang="en-US" dirty="0" err="1"/>
              <a:t>héberge</a:t>
            </a:r>
            <a:r>
              <a:rPr lang="en-US" dirty="0"/>
              <a:t> le backend, le dashboard et le </a:t>
            </a:r>
            <a:r>
              <a:rPr lang="en-US" dirty="0" err="1"/>
              <a:t>modèle</a:t>
            </a:r>
            <a:r>
              <a:rPr lang="en-US" dirty="0"/>
              <a:t> LLM local. </a:t>
            </a:r>
            <a:r>
              <a:rPr lang="en-US" dirty="0" err="1"/>
              <a:t>Chaque</a:t>
            </a:r>
            <a:r>
              <a:rPr lang="en-US" dirty="0"/>
              <a:t> flux de données </a:t>
            </a:r>
            <a:r>
              <a:rPr lang="en-US" dirty="0" err="1"/>
              <a:t>transite</a:t>
            </a:r>
            <a:r>
              <a:rPr lang="en-US" dirty="0"/>
              <a:t> par des </a:t>
            </a:r>
            <a:r>
              <a:rPr lang="en-US" dirty="0" err="1"/>
              <a:t>canaux</a:t>
            </a:r>
            <a:r>
              <a:rPr lang="en-US" dirty="0"/>
              <a:t> bien </a:t>
            </a:r>
            <a:r>
              <a:rPr lang="en-US" dirty="0" err="1"/>
              <a:t>définis</a:t>
            </a:r>
            <a:r>
              <a:rPr lang="en-US" dirty="0"/>
              <a:t> : Kafka pour les données, Socket.IO pour les </a:t>
            </a:r>
            <a:r>
              <a:rPr lang="en-US" dirty="0" err="1"/>
              <a:t>commandes</a:t>
            </a:r>
            <a:r>
              <a:rPr lang="en-US" dirty="0"/>
              <a:t>. Cette architecture a </a:t>
            </a:r>
            <a:r>
              <a:rPr lang="en-US" dirty="0" err="1"/>
              <a:t>été</a:t>
            </a:r>
            <a:r>
              <a:rPr lang="en-US" dirty="0"/>
              <a:t> mise </a:t>
            </a:r>
            <a:r>
              <a:rPr lang="en-US" dirty="0" err="1"/>
              <a:t>en</a:t>
            </a:r>
            <a:r>
              <a:rPr lang="en-US" dirty="0"/>
              <a:t> </a:t>
            </a:r>
            <a:r>
              <a:rPr lang="en-US" dirty="0" err="1"/>
              <a:t>œuvre</a:t>
            </a:r>
            <a:r>
              <a:rPr lang="en-US" dirty="0"/>
              <a:t> </a:t>
            </a:r>
            <a:r>
              <a:rPr lang="en-US" dirty="0" err="1"/>
              <a:t>progressivement</a:t>
            </a:r>
            <a:r>
              <a:rPr lang="en-US" dirty="0"/>
              <a:t>, sprint après sprint, </a:t>
            </a:r>
            <a:r>
              <a:rPr lang="en-US" dirty="0" err="1"/>
              <a:t>selon</a:t>
            </a:r>
            <a:r>
              <a:rPr lang="en-US" dirty="0"/>
              <a:t> la </a:t>
            </a:r>
            <a:r>
              <a:rPr lang="en-US" dirty="0" err="1"/>
              <a:t>méthodologie</a:t>
            </a:r>
            <a:r>
              <a:rPr lang="en-US" dirty="0"/>
              <a:t> </a:t>
            </a:r>
            <a:r>
              <a:rPr lang="en-US" dirty="0" err="1"/>
              <a:t>que</a:t>
            </a:r>
            <a:r>
              <a:rPr lang="en-US" dirty="0"/>
              <a:t> je </a:t>
            </a:r>
            <a:r>
              <a:rPr lang="en-US" dirty="0" err="1"/>
              <a:t>vais</a:t>
            </a:r>
            <a:r>
              <a:rPr lang="en-US" dirty="0"/>
              <a:t> </a:t>
            </a:r>
            <a:r>
              <a:rPr lang="en-US" dirty="0" err="1"/>
              <a:t>maintenant</a:t>
            </a:r>
            <a:r>
              <a:rPr lang="en-US" dirty="0"/>
              <a:t> </a:t>
            </a:r>
            <a:r>
              <a:rPr lang="en-US" dirty="0" err="1"/>
              <a:t>détailler</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30</a:t>
            </a:fld>
            <a:endParaRPr lang="fr-TN"/>
          </a:p>
        </p:txBody>
      </p:sp>
    </p:spTree>
    <p:extLst>
      <p:ext uri="{BB962C8B-B14F-4D97-AF65-F5344CB8AC3E}">
        <p14:creationId xmlns:p14="http://schemas.microsoft.com/office/powerpoint/2010/main" val="5074345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Voyons</a:t>
            </a:r>
            <a:r>
              <a:rPr lang="en-US" dirty="0"/>
              <a:t> </a:t>
            </a:r>
            <a:r>
              <a:rPr lang="en-US" dirty="0" err="1"/>
              <a:t>maintenant</a:t>
            </a:r>
            <a:r>
              <a:rPr lang="en-US" dirty="0"/>
              <a:t> comment </a:t>
            </a:r>
            <a:r>
              <a:rPr lang="en-US" dirty="0" err="1"/>
              <a:t>ce</a:t>
            </a:r>
            <a:r>
              <a:rPr lang="en-US" dirty="0"/>
              <a:t> travail a </a:t>
            </a:r>
            <a:r>
              <a:rPr lang="en-US" dirty="0" err="1"/>
              <a:t>été</a:t>
            </a:r>
            <a:r>
              <a:rPr lang="en-US" dirty="0"/>
              <a:t> </a:t>
            </a:r>
            <a:r>
              <a:rPr lang="en-US" dirty="0" err="1"/>
              <a:t>organisé</a:t>
            </a:r>
            <a:r>
              <a:rPr lang="en-US" dirty="0"/>
              <a:t> dans le temps.</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31</a:t>
            </a:fld>
            <a:endParaRPr lang="fr-TN"/>
          </a:p>
        </p:txBody>
      </p:sp>
    </p:spTree>
    <p:extLst>
      <p:ext uri="{BB962C8B-B14F-4D97-AF65-F5344CB8AC3E}">
        <p14:creationId xmlns:p14="http://schemas.microsoft.com/office/powerpoint/2010/main" val="206762007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En conclusion, NG-IDPS </a:t>
            </a:r>
            <a:r>
              <a:rPr lang="en-US" dirty="0" err="1"/>
              <a:t>démontre</a:t>
            </a:r>
            <a:r>
              <a:rPr lang="en-US" dirty="0"/>
              <a:t> </a:t>
            </a:r>
            <a:r>
              <a:rPr lang="en-US" dirty="0" err="1"/>
              <a:t>qu'une</a:t>
            </a:r>
            <a:r>
              <a:rPr lang="en-US" dirty="0"/>
              <a:t> </a:t>
            </a:r>
            <a:r>
              <a:rPr lang="en-US" dirty="0" err="1"/>
              <a:t>chaîne</a:t>
            </a:r>
            <a:r>
              <a:rPr lang="en-US" dirty="0"/>
              <a:t> </a:t>
            </a:r>
            <a:r>
              <a:rPr lang="en-US" dirty="0" err="1"/>
              <a:t>complète</a:t>
            </a:r>
            <a:r>
              <a:rPr lang="en-US" dirty="0"/>
              <a:t> — </a:t>
            </a:r>
            <a:r>
              <a:rPr lang="en-US" dirty="0" err="1"/>
              <a:t>détection</a:t>
            </a:r>
            <a:r>
              <a:rPr lang="en-US" dirty="0"/>
              <a:t> par signatures, </a:t>
            </a:r>
            <a:r>
              <a:rPr lang="en-US" dirty="0" err="1"/>
              <a:t>détection</a:t>
            </a:r>
            <a:r>
              <a:rPr lang="en-US" dirty="0"/>
              <a:t> </a:t>
            </a:r>
            <a:r>
              <a:rPr lang="en-US" dirty="0" err="1"/>
              <a:t>comportementale</a:t>
            </a:r>
            <a:r>
              <a:rPr lang="en-US" dirty="0"/>
              <a:t>, renseignement, </a:t>
            </a:r>
            <a:r>
              <a:rPr lang="en-US" dirty="0" err="1"/>
              <a:t>réponse</a:t>
            </a:r>
            <a:r>
              <a:rPr lang="en-US" dirty="0"/>
              <a:t> </a:t>
            </a:r>
            <a:r>
              <a:rPr lang="en-US" dirty="0" err="1"/>
              <a:t>orchestrée</a:t>
            </a:r>
            <a:r>
              <a:rPr lang="en-US" dirty="0"/>
              <a:t> et supervision SOC — </a:t>
            </a:r>
            <a:r>
              <a:rPr lang="en-US" dirty="0" err="1"/>
              <a:t>peut</a:t>
            </a:r>
            <a:r>
              <a:rPr lang="en-US" dirty="0"/>
              <a:t> </a:t>
            </a:r>
            <a:r>
              <a:rPr lang="en-US" dirty="0" err="1"/>
              <a:t>fonctionner</a:t>
            </a:r>
            <a:r>
              <a:rPr lang="en-US" dirty="0"/>
              <a:t> de façon autonome et </a:t>
            </a:r>
            <a:r>
              <a:rPr lang="en-US" dirty="0" err="1"/>
              <a:t>supervisable</a:t>
            </a:r>
            <a:r>
              <a:rPr lang="en-US" dirty="0"/>
              <a:t>, sur des </a:t>
            </a:r>
            <a:r>
              <a:rPr lang="en-US" dirty="0" err="1"/>
              <a:t>composants</a:t>
            </a:r>
            <a:r>
              <a:rPr lang="en-US" dirty="0"/>
              <a:t> </a:t>
            </a:r>
            <a:r>
              <a:rPr lang="en-US" dirty="0" err="1"/>
              <a:t>libres</a:t>
            </a:r>
            <a:r>
              <a:rPr lang="en-US" dirty="0"/>
              <a:t> et des </a:t>
            </a:r>
            <a:r>
              <a:rPr lang="en-US" dirty="0" err="1"/>
              <a:t>modèles</a:t>
            </a:r>
            <a:r>
              <a:rPr lang="en-US" dirty="0"/>
              <a:t> de </a:t>
            </a:r>
            <a:r>
              <a:rPr lang="en-US" dirty="0" err="1"/>
              <a:t>langage</a:t>
            </a:r>
            <a:r>
              <a:rPr lang="en-US" dirty="0"/>
              <a:t> auto-</a:t>
            </a:r>
            <a:r>
              <a:rPr lang="en-US" dirty="0" err="1"/>
              <a:t>hébergés</a:t>
            </a:r>
            <a:r>
              <a:rPr lang="en-US" dirty="0"/>
              <a:t>, </a:t>
            </a:r>
            <a:r>
              <a:rPr lang="en-US" dirty="0" err="1"/>
              <a:t>offrant</a:t>
            </a:r>
            <a:r>
              <a:rPr lang="en-US" dirty="0"/>
              <a:t> </a:t>
            </a:r>
            <a:r>
              <a:rPr lang="en-US" dirty="0" err="1"/>
              <a:t>une</a:t>
            </a:r>
            <a:r>
              <a:rPr lang="en-US" dirty="0"/>
              <a:t> base </a:t>
            </a:r>
            <a:r>
              <a:rPr lang="en-US" dirty="0" err="1"/>
              <a:t>crédible</a:t>
            </a:r>
            <a:r>
              <a:rPr lang="en-US" dirty="0"/>
              <a:t> de </a:t>
            </a:r>
            <a:r>
              <a:rPr lang="en-US" dirty="0" err="1"/>
              <a:t>cyberdéfense</a:t>
            </a:r>
            <a:r>
              <a:rPr lang="en-US" dirty="0"/>
              <a:t> proactive pour les </a:t>
            </a:r>
            <a:r>
              <a:rPr lang="en-US" dirty="0" err="1"/>
              <a:t>organisations</a:t>
            </a:r>
            <a:r>
              <a:rPr lang="en-US" dirty="0"/>
              <a:t> sans SOC permanent.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32</a:t>
            </a:fld>
            <a:endParaRPr lang="fr-TN"/>
          </a:p>
        </p:txBody>
      </p:sp>
    </p:spTree>
    <p:extLst>
      <p:ext uri="{BB962C8B-B14F-4D97-AF65-F5344CB8AC3E}">
        <p14:creationId xmlns:p14="http://schemas.microsoft.com/office/powerpoint/2010/main" val="2131402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Quatre axes </a:t>
            </a:r>
            <a:r>
              <a:rPr lang="en-US" dirty="0" err="1"/>
              <a:t>permettraient</a:t>
            </a:r>
            <a:r>
              <a:rPr lang="en-US" dirty="0"/>
              <a:t> de faire </a:t>
            </a:r>
            <a:r>
              <a:rPr lang="en-US" dirty="0" err="1"/>
              <a:t>évoluer</a:t>
            </a:r>
            <a:r>
              <a:rPr lang="en-US" dirty="0"/>
              <a:t> NG-IDPS vers </a:t>
            </a:r>
            <a:r>
              <a:rPr lang="en-US" dirty="0" err="1"/>
              <a:t>une</a:t>
            </a:r>
            <a:r>
              <a:rPr lang="en-US" dirty="0"/>
              <a:t> </a:t>
            </a:r>
            <a:r>
              <a:rPr lang="en-US" dirty="0" err="1"/>
              <a:t>échelle</a:t>
            </a:r>
            <a:r>
              <a:rPr lang="en-US" dirty="0"/>
              <a:t> supérieure. La </a:t>
            </a:r>
            <a:r>
              <a:rPr lang="en-US" dirty="0" err="1"/>
              <a:t>conteneurisation</a:t>
            </a:r>
            <a:r>
              <a:rPr lang="en-US" dirty="0"/>
              <a:t> sous Docker et Kubernetes, pour </a:t>
            </a:r>
            <a:r>
              <a:rPr lang="en-US" dirty="0" err="1"/>
              <a:t>l'auto</a:t>
            </a:r>
            <a:r>
              <a:rPr lang="en-US" dirty="0"/>
              <a:t>-scaling de </a:t>
            </a:r>
            <a:r>
              <a:rPr lang="en-US" dirty="0" err="1"/>
              <a:t>l'inférence</a:t>
            </a:r>
            <a:r>
              <a:rPr lang="en-US" dirty="0"/>
              <a:t>. </a:t>
            </a:r>
            <a:r>
              <a:rPr lang="en-US" dirty="0" err="1"/>
              <a:t>L'intégration</a:t>
            </a:r>
            <a:r>
              <a:rPr lang="en-US" dirty="0"/>
              <a:t> XDR, pour </a:t>
            </a:r>
            <a:r>
              <a:rPr lang="en-US" dirty="0" err="1"/>
              <a:t>corréler</a:t>
            </a:r>
            <a:r>
              <a:rPr lang="en-US" dirty="0"/>
              <a:t> avec </a:t>
            </a:r>
            <a:r>
              <a:rPr lang="en-US" dirty="0" err="1"/>
              <a:t>d'autres</a:t>
            </a:r>
            <a:r>
              <a:rPr lang="en-US" dirty="0"/>
              <a:t> couches de sécurité. </a:t>
            </a:r>
            <a:r>
              <a:rPr lang="en-US" dirty="0" err="1"/>
              <a:t>L'interopérabilité</a:t>
            </a:r>
            <a:r>
              <a:rPr lang="en-US" dirty="0"/>
              <a:t> SOAR, pour </a:t>
            </a:r>
            <a:r>
              <a:rPr lang="en-US" dirty="0" err="1"/>
              <a:t>piloter</a:t>
            </a:r>
            <a:r>
              <a:rPr lang="en-US" dirty="0"/>
              <a:t> </a:t>
            </a:r>
            <a:r>
              <a:rPr lang="en-US" dirty="0" err="1"/>
              <a:t>ou</a:t>
            </a:r>
            <a:r>
              <a:rPr lang="en-US" dirty="0"/>
              <a:t> </a:t>
            </a:r>
            <a:r>
              <a:rPr lang="en-US" dirty="0" err="1"/>
              <a:t>être</a:t>
            </a:r>
            <a:r>
              <a:rPr lang="en-US" dirty="0"/>
              <a:t> </a:t>
            </a:r>
            <a:r>
              <a:rPr lang="en-US" dirty="0" err="1"/>
              <a:t>piloté</a:t>
            </a:r>
            <a:r>
              <a:rPr lang="en-US" dirty="0"/>
              <a:t> par des </a:t>
            </a:r>
            <a:r>
              <a:rPr lang="en-US" dirty="0" err="1"/>
              <a:t>plateformes</a:t>
            </a:r>
            <a:r>
              <a:rPr lang="en-US" dirty="0"/>
              <a:t> </a:t>
            </a:r>
            <a:r>
              <a:rPr lang="en-US" dirty="0" err="1"/>
              <a:t>d'orchestration</a:t>
            </a:r>
            <a:r>
              <a:rPr lang="en-US" dirty="0"/>
              <a:t> du </a:t>
            </a:r>
            <a:r>
              <a:rPr lang="en-US" dirty="0" err="1"/>
              <a:t>marché</a:t>
            </a:r>
            <a:r>
              <a:rPr lang="en-US" dirty="0"/>
              <a:t>. Et </a:t>
            </a:r>
            <a:r>
              <a:rPr lang="en-US" dirty="0" err="1"/>
              <a:t>l'évolution</a:t>
            </a:r>
            <a:r>
              <a:rPr lang="en-US" dirty="0"/>
              <a:t> vers des </a:t>
            </a:r>
            <a:r>
              <a:rPr lang="en-US" dirty="0" err="1"/>
              <a:t>modèles</a:t>
            </a:r>
            <a:r>
              <a:rPr lang="en-US" dirty="0"/>
              <a:t> de </a:t>
            </a:r>
            <a:r>
              <a:rPr lang="en-US" dirty="0" err="1"/>
              <a:t>langage</a:t>
            </a:r>
            <a:r>
              <a:rPr lang="en-US" dirty="0"/>
              <a:t> plus </a:t>
            </a:r>
            <a:r>
              <a:rPr lang="en-US" dirty="0" err="1"/>
              <a:t>puissants</a:t>
            </a:r>
            <a:r>
              <a:rPr lang="en-US" dirty="0"/>
              <a:t>, </a:t>
            </a:r>
            <a:r>
              <a:rPr lang="en-US" dirty="0" err="1"/>
              <a:t>dès</a:t>
            </a:r>
            <a:r>
              <a:rPr lang="en-US" dirty="0"/>
              <a:t> </a:t>
            </a:r>
            <a:r>
              <a:rPr lang="en-US" dirty="0" err="1"/>
              <a:t>lors</a:t>
            </a:r>
            <a:r>
              <a:rPr lang="en-US" dirty="0"/>
              <a:t> </a:t>
            </a:r>
            <a:r>
              <a:rPr lang="en-US" dirty="0" err="1"/>
              <a:t>que</a:t>
            </a:r>
            <a:r>
              <a:rPr lang="en-US" dirty="0"/>
              <a:t> les </a:t>
            </a:r>
            <a:r>
              <a:rPr lang="en-US" dirty="0" err="1"/>
              <a:t>ressources</a:t>
            </a:r>
            <a:r>
              <a:rPr lang="en-US" dirty="0"/>
              <a:t> </a:t>
            </a:r>
            <a:r>
              <a:rPr lang="en-US" dirty="0" err="1"/>
              <a:t>matérielles</a:t>
            </a:r>
            <a:r>
              <a:rPr lang="en-US" dirty="0"/>
              <a:t> le </a:t>
            </a:r>
            <a:r>
              <a:rPr lang="en-US" dirty="0" err="1"/>
              <a:t>permettront</a:t>
            </a:r>
            <a:r>
              <a:rPr lang="en-US" dirty="0"/>
              <a:t>.</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33</a:t>
            </a:fld>
            <a:endParaRPr lang="fr-TN"/>
          </a:p>
        </p:txBody>
      </p:sp>
    </p:spTree>
    <p:extLst>
      <p:ext uri="{BB962C8B-B14F-4D97-AF65-F5344CB8AC3E}">
        <p14:creationId xmlns:p14="http://schemas.microsoft.com/office/powerpoint/2010/main" val="37000565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Je vous </a:t>
            </a:r>
            <a:r>
              <a:rPr lang="en-US" dirty="0" err="1"/>
              <a:t>remercie</a:t>
            </a:r>
            <a:r>
              <a:rPr lang="en-US" dirty="0"/>
              <a:t> de votre attention, et je suis prêt à </a:t>
            </a:r>
            <a:r>
              <a:rPr lang="en-US" dirty="0" err="1"/>
              <a:t>répondre</a:t>
            </a:r>
            <a:r>
              <a:rPr lang="en-US" dirty="0"/>
              <a:t> à </a:t>
            </a:r>
            <a:r>
              <a:rPr lang="en-US" dirty="0" err="1"/>
              <a:t>vos</a:t>
            </a:r>
            <a:r>
              <a:rPr lang="en-US" dirty="0"/>
              <a:t> questions.</a:t>
            </a:r>
          </a:p>
          <a:p>
            <a:endParaRPr lang="en-US" dirty="0"/>
          </a:p>
        </p:txBody>
      </p:sp>
      <p:sp>
        <p:nvSpPr>
          <p:cNvPr id="4" name="Slide Number Placeholder 3"/>
          <p:cNvSpPr>
            <a:spLocks noGrp="1"/>
          </p:cNvSpPr>
          <p:nvPr>
            <p:ph type="sldNum" sz="quarter" idx="5"/>
          </p:nvPr>
        </p:nvSpPr>
        <p:spPr/>
        <p:txBody>
          <a:bodyPr/>
          <a:lstStyle/>
          <a:p>
            <a:fld id="{13416125-8C64-4F60-9C47-92B1855ADCC6}" type="slidenum">
              <a:rPr lang="fr-TN" smtClean="0"/>
              <a:t>34</a:t>
            </a:fld>
            <a:endParaRPr lang="fr-TN"/>
          </a:p>
        </p:txBody>
      </p:sp>
    </p:spTree>
    <p:extLst>
      <p:ext uri="{BB962C8B-B14F-4D97-AF65-F5344CB8AC3E}">
        <p14:creationId xmlns:p14="http://schemas.microsoft.com/office/powerpoint/2010/main" val="2388799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2.svg"/><Relationship Id="rId4" Type="http://schemas.openxmlformats.org/officeDocument/2006/relationships/image" Target="../media/image4.svg"/><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sv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0F7FE"/>
        </a:solidFill>
        <a:effectLst/>
      </p:bgPr>
    </p:bg>
    <p:spTree>
      <p:nvGrpSpPr>
        <p:cNvPr id="1" name=""/>
        <p:cNvGrpSpPr/>
        <p:nvPr/>
      </p:nvGrpSpPr>
      <p:grpSpPr>
        <a:xfrm>
          <a:off x="0" y="0"/>
          <a:ext cx="0" cy="0"/>
          <a:chOff x="0" y="0"/>
          <a:chExt cx="0" cy="0"/>
        </a:xfrm>
      </p:grpSpPr>
      <p:sp>
        <p:nvSpPr>
          <p:cNvPr id="22" name="TextBox 2">
            <a:extLst>
              <a:ext uri="{FF2B5EF4-FFF2-40B4-BE49-F238E27FC236}">
                <a16:creationId xmlns:a16="http://schemas.microsoft.com/office/drawing/2014/main" id="{AE9CA437-38B7-E56F-F11B-521B19A9132E}"/>
              </a:ext>
            </a:extLst>
          </p:cNvPr>
          <p:cNvSpPr txBox="1"/>
          <p:nvPr/>
        </p:nvSpPr>
        <p:spPr>
          <a:xfrm>
            <a:off x="18764584" y="357867"/>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1</a:t>
            </a:r>
          </a:p>
        </p:txBody>
      </p:sp>
      <p:sp>
        <p:nvSpPr>
          <p:cNvPr id="24" name="TextBox 4">
            <a:extLst>
              <a:ext uri="{FF2B5EF4-FFF2-40B4-BE49-F238E27FC236}">
                <a16:creationId xmlns:a16="http://schemas.microsoft.com/office/drawing/2014/main" id="{4D7C700C-D747-AD56-403A-63ED46A66F3A}"/>
              </a:ext>
            </a:extLst>
          </p:cNvPr>
          <p:cNvSpPr txBox="1"/>
          <p:nvPr/>
        </p:nvSpPr>
        <p:spPr>
          <a:xfrm>
            <a:off x="24378868" y="357867"/>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2</a:t>
            </a:r>
          </a:p>
        </p:txBody>
      </p:sp>
      <p:sp>
        <p:nvSpPr>
          <p:cNvPr id="2" name="Freeform 2"/>
          <p:cNvSpPr/>
          <p:nvPr/>
        </p:nvSpPr>
        <p:spPr>
          <a:xfrm>
            <a:off x="878514" y="357867"/>
            <a:ext cx="2304716" cy="1840963"/>
          </a:xfrm>
          <a:custGeom>
            <a:avLst/>
            <a:gdLst/>
            <a:ahLst/>
            <a:cxnLst/>
            <a:rect l="l" t="t" r="r" b="b"/>
            <a:pathLst>
              <a:path w="2304716" h="1840963">
                <a:moveTo>
                  <a:pt x="0" y="0"/>
                </a:moveTo>
                <a:lnTo>
                  <a:pt x="2304716" y="0"/>
                </a:lnTo>
                <a:lnTo>
                  <a:pt x="2304716" y="1840962"/>
                </a:lnTo>
                <a:lnTo>
                  <a:pt x="0" y="1840962"/>
                </a:lnTo>
                <a:lnTo>
                  <a:pt x="0" y="0"/>
                </a:lnTo>
                <a:close/>
              </a:path>
            </a:pathLst>
          </a:custGeom>
          <a:blipFill>
            <a:blip r:embed="rId3"/>
            <a:stretch>
              <a:fillRect/>
            </a:stretch>
          </a:blipFill>
        </p:spPr>
        <p:txBody>
          <a:bodyPr/>
          <a:lstStyle/>
          <a:p>
            <a:endParaRPr lang="fr-TN"/>
          </a:p>
        </p:txBody>
      </p:sp>
      <p:sp>
        <p:nvSpPr>
          <p:cNvPr id="3" name="Freeform 3"/>
          <p:cNvSpPr/>
          <p:nvPr/>
        </p:nvSpPr>
        <p:spPr>
          <a:xfrm>
            <a:off x="15098908" y="-5198"/>
            <a:ext cx="2104457" cy="2939283"/>
          </a:xfrm>
          <a:custGeom>
            <a:avLst/>
            <a:gdLst/>
            <a:ahLst/>
            <a:cxnLst/>
            <a:rect l="l" t="t" r="r" b="b"/>
            <a:pathLst>
              <a:path w="2104457" h="2939283">
                <a:moveTo>
                  <a:pt x="0" y="0"/>
                </a:moveTo>
                <a:lnTo>
                  <a:pt x="2104457" y="0"/>
                </a:lnTo>
                <a:lnTo>
                  <a:pt x="2104457" y="2939283"/>
                </a:lnTo>
                <a:lnTo>
                  <a:pt x="0" y="293928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fr-TN"/>
          </a:p>
        </p:txBody>
      </p:sp>
      <p:sp>
        <p:nvSpPr>
          <p:cNvPr id="4" name="TextBox 4"/>
          <p:cNvSpPr txBox="1"/>
          <p:nvPr/>
        </p:nvSpPr>
        <p:spPr>
          <a:xfrm>
            <a:off x="5235819" y="970259"/>
            <a:ext cx="7810500" cy="861518"/>
          </a:xfrm>
          <a:prstGeom prst="rect">
            <a:avLst/>
          </a:prstGeom>
        </p:spPr>
        <p:txBody>
          <a:bodyPr wrap="square" lIns="0" tIns="0" rIns="0" bIns="0" rtlCol="0" anchor="t">
            <a:spAutoFit/>
          </a:bodyPr>
          <a:lstStyle/>
          <a:p>
            <a:pPr marL="0" lvl="0" indent="0" algn="ctr">
              <a:lnSpc>
                <a:spcPts val="3541"/>
              </a:lnSpc>
              <a:spcBef>
                <a:spcPct val="0"/>
              </a:spcBef>
            </a:pPr>
            <a:r>
              <a:rPr lang="en-US" sz="2529" b="1" u="none" strike="noStrike" spc="-159">
                <a:solidFill>
                  <a:srgbClr val="1A1A2E"/>
                </a:solidFill>
                <a:latin typeface="Times New Roman" panose="02020603050405020304" pitchFamily="18" charset="0"/>
                <a:ea typeface="Proxima Nova Bold"/>
                <a:cs typeface="Times New Roman" panose="02020603050405020304" pitchFamily="18" charset="0"/>
                <a:sym typeface="Proxima Nova Bold"/>
              </a:rPr>
              <a:t>UNIVERSITÉ DE MONASTIR </a:t>
            </a:r>
          </a:p>
          <a:p>
            <a:pPr marL="0" lvl="0" indent="0" algn="ctr">
              <a:lnSpc>
                <a:spcPts val="3541"/>
              </a:lnSpc>
              <a:spcBef>
                <a:spcPct val="0"/>
              </a:spcBef>
            </a:pPr>
            <a:r>
              <a:rPr lang="en-US" sz="2529" b="1" u="none" strike="noStrike" spc="-159">
                <a:solidFill>
                  <a:srgbClr val="1A1A2E"/>
                </a:solidFill>
                <a:latin typeface="Times New Roman" panose="02020603050405020304" pitchFamily="18" charset="0"/>
                <a:ea typeface="Proxima Nova Bold"/>
                <a:cs typeface="Times New Roman" panose="02020603050405020304" pitchFamily="18" charset="0"/>
                <a:sym typeface="Proxima Nova Bold"/>
              </a:rPr>
              <a:t> INSTITUT SUPÉRIEUR D'INFORMATIQUE DE MAHDIA </a:t>
            </a:r>
          </a:p>
        </p:txBody>
      </p:sp>
      <p:sp>
        <p:nvSpPr>
          <p:cNvPr id="5" name="TextBox 5"/>
          <p:cNvSpPr txBox="1"/>
          <p:nvPr/>
        </p:nvSpPr>
        <p:spPr>
          <a:xfrm>
            <a:off x="4757622" y="2904907"/>
            <a:ext cx="11701578" cy="1439818"/>
          </a:xfrm>
          <a:prstGeom prst="rect">
            <a:avLst/>
          </a:prstGeom>
        </p:spPr>
        <p:txBody>
          <a:bodyPr wrap="square" lIns="0" tIns="0" rIns="0" bIns="0" rtlCol="0" anchor="t">
            <a:spAutoFit/>
          </a:bodyPr>
          <a:lstStyle/>
          <a:p>
            <a:pPr marL="0" lvl="0" indent="0" algn="l">
              <a:lnSpc>
                <a:spcPts val="5631"/>
              </a:lnSpc>
              <a:spcBef>
                <a:spcPct val="0"/>
              </a:spcBef>
            </a:pPr>
            <a:r>
              <a:rPr lang="en-US" sz="6399" b="1" u="none" strike="noStrike" spc="-403">
                <a:solidFill>
                  <a:srgbClr val="7030A0"/>
                </a:solidFill>
                <a:latin typeface="Times New Roman" panose="02020603050405020304" pitchFamily="18" charset="0"/>
                <a:ea typeface="Proxima Nova Bold"/>
                <a:cs typeface="Times New Roman" panose="02020603050405020304" pitchFamily="18" charset="0"/>
                <a:sym typeface="Proxima Nova Bold"/>
              </a:rPr>
              <a:t>PROJET DE FIN D'ÉTUDES</a:t>
            </a:r>
          </a:p>
          <a:p>
            <a:pPr algn="l">
              <a:lnSpc>
                <a:spcPts val="5631"/>
              </a:lnSpc>
            </a:pPr>
            <a:endParaRPr lang="en-US" sz="6399" b="1" u="none" strike="noStrike" spc="-403">
              <a:solidFill>
                <a:srgbClr val="1A1A2E"/>
              </a:solidFill>
              <a:latin typeface="Proxima Nova Bold"/>
              <a:ea typeface="Proxima Nova Bold"/>
              <a:cs typeface="Proxima Nova Bold"/>
              <a:sym typeface="Proxima Nova Bold"/>
            </a:endParaRPr>
          </a:p>
        </p:txBody>
      </p:sp>
      <p:sp>
        <p:nvSpPr>
          <p:cNvPr id="6" name="TextBox 6"/>
          <p:cNvSpPr txBox="1"/>
          <p:nvPr/>
        </p:nvSpPr>
        <p:spPr>
          <a:xfrm>
            <a:off x="9601906" y="7649588"/>
            <a:ext cx="7601459" cy="1830950"/>
          </a:xfrm>
          <a:prstGeom prst="rect">
            <a:avLst/>
          </a:prstGeom>
        </p:spPr>
        <p:txBody>
          <a:bodyPr wrap="square" lIns="0" tIns="0" rIns="0" bIns="0" rtlCol="0" anchor="t">
            <a:spAutoFit/>
          </a:bodyPr>
          <a:lstStyle/>
          <a:p>
            <a:pPr marL="0" lvl="0" indent="0" algn="ctr">
              <a:lnSpc>
                <a:spcPct val="150000"/>
              </a:lnSpc>
              <a:spcBef>
                <a:spcPct val="0"/>
              </a:spcBef>
            </a:pPr>
            <a:r>
              <a:rPr lang="en-US" sz="2760" b="1" u="none" strike="noStrike" dirty="0" err="1">
                <a:solidFill>
                  <a:srgbClr val="7030A0"/>
                </a:solidFill>
                <a:latin typeface="Proxima Nova Bold"/>
                <a:ea typeface="Proxima Nova Bold"/>
                <a:cs typeface="Proxima Nova Bold"/>
                <a:sym typeface="Proxima Nova Bold"/>
              </a:rPr>
              <a:t>Président</a:t>
            </a:r>
            <a:r>
              <a:rPr lang="en-US" sz="2760" b="1" dirty="0">
                <a:solidFill>
                  <a:srgbClr val="7030A0"/>
                </a:solidFill>
                <a:latin typeface="Proxima Nova Bold"/>
                <a:ea typeface="Proxima Nova Bold"/>
                <a:cs typeface="Proxima Nova Bold"/>
                <a:sym typeface="Proxima Nova Bold"/>
              </a:rPr>
              <a:t>: </a:t>
            </a:r>
            <a:r>
              <a:rPr lang="en-US" sz="2760" b="1" u="none" strike="noStrike" dirty="0">
                <a:solidFill>
                  <a:srgbClr val="1A1A2E"/>
                </a:solidFill>
                <a:latin typeface="Proxima Nova Bold"/>
                <a:ea typeface="Proxima Nova Bold"/>
                <a:cs typeface="Proxima Nova Bold"/>
                <a:sym typeface="Proxima Nova Bold"/>
              </a:rPr>
              <a:t>Walid </a:t>
            </a:r>
            <a:r>
              <a:rPr lang="en-US" sz="2760" b="1" u="none" strike="noStrike" dirty="0" err="1">
                <a:solidFill>
                  <a:srgbClr val="1A1A2E"/>
                </a:solidFill>
                <a:latin typeface="Proxima Nova Bold"/>
                <a:ea typeface="Proxima Nova Bold"/>
                <a:cs typeface="Proxima Nova Bold"/>
                <a:sym typeface="Proxima Nova Bold"/>
              </a:rPr>
              <a:t>Hassairi</a:t>
            </a:r>
            <a:r>
              <a:rPr lang="en-US" sz="2760" b="1" u="none" strike="noStrike" dirty="0">
                <a:solidFill>
                  <a:srgbClr val="1A1A2E"/>
                </a:solidFill>
                <a:latin typeface="Proxima Nova Bold"/>
                <a:ea typeface="Proxima Nova Bold"/>
                <a:cs typeface="Proxima Nova Bold"/>
                <a:sym typeface="Proxima Nova Bold"/>
              </a:rPr>
              <a:t>  </a:t>
            </a:r>
          </a:p>
          <a:p>
            <a:pPr algn="ctr">
              <a:lnSpc>
                <a:spcPct val="150000"/>
              </a:lnSpc>
              <a:spcBef>
                <a:spcPct val="0"/>
              </a:spcBef>
            </a:pPr>
            <a:r>
              <a:rPr lang="en-US" sz="2760" b="1" dirty="0">
                <a:solidFill>
                  <a:srgbClr val="7030A0"/>
                </a:solidFill>
                <a:latin typeface="Proxima Nova Bold"/>
                <a:ea typeface="Proxima Nova Bold"/>
                <a:cs typeface="Proxima Nova Bold"/>
                <a:sym typeface="Proxima Nova Bold"/>
              </a:rPr>
              <a:t>Rapporteur: </a:t>
            </a:r>
            <a:r>
              <a:rPr lang="en-US" sz="2760" b="1" dirty="0">
                <a:solidFill>
                  <a:srgbClr val="1A1A2E"/>
                </a:solidFill>
                <a:latin typeface="Proxima Nova Bold"/>
                <a:ea typeface="Proxima Nova Bold"/>
                <a:cs typeface="Proxima Nova Bold"/>
                <a:sym typeface="Proxima Nova Bold"/>
              </a:rPr>
              <a:t>Tarek M. Hamdani</a:t>
            </a:r>
          </a:p>
          <a:p>
            <a:pPr algn="ctr">
              <a:lnSpc>
                <a:spcPct val="150000"/>
              </a:lnSpc>
              <a:spcBef>
                <a:spcPct val="0"/>
              </a:spcBef>
            </a:pPr>
            <a:r>
              <a:rPr lang="en-US" sz="2760" b="1" dirty="0" err="1">
                <a:solidFill>
                  <a:srgbClr val="7030A0"/>
                </a:solidFill>
                <a:latin typeface="Proxima Nova Bold"/>
                <a:ea typeface="Proxima Nova Bold"/>
                <a:cs typeface="Proxima Nova Bold"/>
                <a:sym typeface="Proxima Nova Bold"/>
              </a:rPr>
              <a:t>Encadrant</a:t>
            </a:r>
            <a:r>
              <a:rPr lang="en-US" sz="2760" b="1" dirty="0">
                <a:solidFill>
                  <a:srgbClr val="7030A0"/>
                </a:solidFill>
                <a:latin typeface="Proxima Nova Bold"/>
                <a:ea typeface="Proxima Nova Bold"/>
                <a:cs typeface="Proxima Nova Bold"/>
                <a:sym typeface="Proxima Nova Bold"/>
              </a:rPr>
              <a:t> </a:t>
            </a:r>
            <a:r>
              <a:rPr lang="en-US" sz="2760" b="1" dirty="0" err="1">
                <a:solidFill>
                  <a:srgbClr val="7030A0"/>
                </a:solidFill>
                <a:latin typeface="Proxima Nova Bold"/>
                <a:ea typeface="Proxima Nova Bold"/>
                <a:cs typeface="Proxima Nova Bold"/>
                <a:sym typeface="Proxima Nova Bold"/>
              </a:rPr>
              <a:t>Académique</a:t>
            </a:r>
            <a:r>
              <a:rPr lang="en-US" sz="2760" b="1" dirty="0">
                <a:solidFill>
                  <a:srgbClr val="7030A0"/>
                </a:solidFill>
                <a:latin typeface="Proxima Nova Bold"/>
                <a:ea typeface="Proxima Nova Bold"/>
                <a:cs typeface="Proxima Nova Bold"/>
                <a:sym typeface="Proxima Nova Bold"/>
              </a:rPr>
              <a:t>: </a:t>
            </a:r>
            <a:r>
              <a:rPr lang="en-US" sz="2760" b="1" dirty="0">
                <a:solidFill>
                  <a:srgbClr val="1A1A2E"/>
                </a:solidFill>
                <a:latin typeface="Proxima Nova Bold"/>
                <a:ea typeface="Proxima Nova Bold"/>
                <a:cs typeface="Proxima Nova Bold"/>
                <a:sym typeface="Proxima Nova Bold"/>
              </a:rPr>
              <a:t>Hamdi </a:t>
            </a:r>
            <a:r>
              <a:rPr lang="en-US" sz="2760" b="1" dirty="0" err="1">
                <a:solidFill>
                  <a:srgbClr val="1A1A2E"/>
                </a:solidFill>
                <a:latin typeface="Proxima Nova Bold"/>
                <a:ea typeface="Proxima Nova Bold"/>
                <a:cs typeface="Proxima Nova Bold"/>
                <a:sym typeface="Proxima Nova Bold"/>
              </a:rPr>
              <a:t>Aloulou</a:t>
            </a:r>
            <a:r>
              <a:rPr lang="en-US" sz="2760" b="1" dirty="0">
                <a:solidFill>
                  <a:srgbClr val="1A1A2E"/>
                </a:solidFill>
                <a:latin typeface="Proxima Nova Bold"/>
                <a:ea typeface="Proxima Nova Bold"/>
                <a:cs typeface="Proxima Nova Bold"/>
                <a:sym typeface="Proxima Nova Bold"/>
              </a:rPr>
              <a:t> </a:t>
            </a:r>
          </a:p>
        </p:txBody>
      </p:sp>
      <p:sp>
        <p:nvSpPr>
          <p:cNvPr id="7" name="TextBox 7"/>
          <p:cNvSpPr txBox="1"/>
          <p:nvPr/>
        </p:nvSpPr>
        <p:spPr>
          <a:xfrm>
            <a:off x="325730" y="7968136"/>
            <a:ext cx="5715000" cy="1193853"/>
          </a:xfrm>
          <a:prstGeom prst="rect">
            <a:avLst/>
          </a:prstGeom>
        </p:spPr>
        <p:txBody>
          <a:bodyPr wrap="square" lIns="0" tIns="0" rIns="0" bIns="0" rtlCol="0" anchor="t">
            <a:spAutoFit/>
          </a:bodyPr>
          <a:lstStyle/>
          <a:p>
            <a:pPr marL="0" lvl="0" indent="0" algn="ctr">
              <a:lnSpc>
                <a:spcPct val="150000"/>
              </a:lnSpc>
              <a:spcBef>
                <a:spcPct val="0"/>
              </a:spcBef>
            </a:pPr>
            <a:r>
              <a:rPr lang="en-US" sz="2760" b="1" u="none" strike="noStrike" dirty="0" err="1">
                <a:solidFill>
                  <a:srgbClr val="7030A0"/>
                </a:solidFill>
                <a:latin typeface="Proxima Nova Bold"/>
                <a:ea typeface="Proxima Nova Bold"/>
                <a:cs typeface="Proxima Nova Bold"/>
                <a:sym typeface="Proxima Nova Bold"/>
              </a:rPr>
              <a:t>Elaboré</a:t>
            </a:r>
            <a:r>
              <a:rPr lang="en-US" sz="2760" b="1" u="none" strike="noStrike" dirty="0">
                <a:solidFill>
                  <a:srgbClr val="7030A0"/>
                </a:solidFill>
                <a:latin typeface="Proxima Nova Bold"/>
                <a:ea typeface="Proxima Nova Bold"/>
                <a:cs typeface="Proxima Nova Bold"/>
                <a:sym typeface="Proxima Nova Bold"/>
              </a:rPr>
              <a:t> par </a:t>
            </a:r>
          </a:p>
          <a:p>
            <a:pPr marL="0" lvl="0" indent="0" algn="ctr">
              <a:lnSpc>
                <a:spcPct val="150000"/>
              </a:lnSpc>
              <a:spcBef>
                <a:spcPct val="0"/>
              </a:spcBef>
            </a:pPr>
            <a:r>
              <a:rPr lang="en-US" sz="2760" b="1" u="none" strike="noStrike" dirty="0">
                <a:solidFill>
                  <a:srgbClr val="1A1A2E"/>
                </a:solidFill>
                <a:latin typeface="Proxima Nova Bold"/>
                <a:ea typeface="Proxima Nova Bold"/>
                <a:cs typeface="Proxima Nova Bold"/>
                <a:sym typeface="Proxima Nova Bold"/>
              </a:rPr>
              <a:t>Aziz Dhifaoui</a:t>
            </a:r>
          </a:p>
        </p:txBody>
      </p:sp>
      <p:grpSp>
        <p:nvGrpSpPr>
          <p:cNvPr id="21" name="Group 20">
            <a:extLst>
              <a:ext uri="{FF2B5EF4-FFF2-40B4-BE49-F238E27FC236}">
                <a16:creationId xmlns:a16="http://schemas.microsoft.com/office/drawing/2014/main" id="{9F4B961C-F7CE-0AED-6873-B89DE8E52681}"/>
              </a:ext>
            </a:extLst>
          </p:cNvPr>
          <p:cNvGrpSpPr/>
          <p:nvPr/>
        </p:nvGrpSpPr>
        <p:grpSpPr>
          <a:xfrm>
            <a:off x="1330901" y="4330437"/>
            <a:ext cx="15626198" cy="2667000"/>
            <a:chOff x="1638964" y="4152900"/>
            <a:chExt cx="15626198" cy="2667000"/>
          </a:xfrm>
        </p:grpSpPr>
        <p:sp>
          <p:nvSpPr>
            <p:cNvPr id="9" name="TextBox 9"/>
            <p:cNvSpPr txBox="1"/>
            <p:nvPr/>
          </p:nvSpPr>
          <p:spPr>
            <a:xfrm>
              <a:off x="1644826" y="4513597"/>
              <a:ext cx="15620336" cy="641201"/>
            </a:xfrm>
            <a:prstGeom prst="rect">
              <a:avLst/>
            </a:prstGeom>
          </p:spPr>
          <p:txBody>
            <a:bodyPr lIns="0" tIns="0" rIns="0" bIns="0" rtlCol="0" anchor="t">
              <a:spAutoFit/>
            </a:bodyPr>
            <a:lstStyle/>
            <a:p>
              <a:pPr marL="0" lvl="0" indent="0" algn="ctr">
                <a:lnSpc>
                  <a:spcPts val="4950"/>
                </a:lnSpc>
                <a:spcBef>
                  <a:spcPct val="0"/>
                </a:spcBef>
              </a:pPr>
              <a:r>
                <a:rPr lang="en-US" sz="5000" b="1" u="none" strike="noStrike" spc="460">
                  <a:solidFill>
                    <a:srgbClr val="1A1A2E"/>
                  </a:solidFill>
                  <a:latin typeface="Times New Roman" panose="02020603050405020304" pitchFamily="18" charset="0"/>
                  <a:ea typeface="Proxima Nova Bold"/>
                  <a:cs typeface="Times New Roman" panose="02020603050405020304" pitchFamily="18" charset="0"/>
                  <a:sym typeface="Proxima Nova Bold"/>
                </a:rPr>
                <a:t>NG-IDPS</a:t>
              </a:r>
            </a:p>
          </p:txBody>
        </p:sp>
        <p:cxnSp>
          <p:nvCxnSpPr>
            <p:cNvPr id="11" name="Connecteur droit 10">
              <a:extLst>
                <a:ext uri="{FF2B5EF4-FFF2-40B4-BE49-F238E27FC236}">
                  <a16:creationId xmlns:a16="http://schemas.microsoft.com/office/drawing/2014/main" id="{0687CFB5-5A1D-B465-AC8F-BD86BEB17E83}"/>
                </a:ext>
              </a:extLst>
            </p:cNvPr>
            <p:cNvCxnSpPr>
              <a:cxnSpLocks/>
            </p:cNvCxnSpPr>
            <p:nvPr/>
          </p:nvCxnSpPr>
          <p:spPr>
            <a:xfrm>
              <a:off x="2438400" y="6819900"/>
              <a:ext cx="14097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BB81C65F-3BF5-F09E-DB58-CE221D560A9A}"/>
                </a:ext>
              </a:extLst>
            </p:cNvPr>
            <p:cNvCxnSpPr>
              <a:cxnSpLocks/>
            </p:cNvCxnSpPr>
            <p:nvPr/>
          </p:nvCxnSpPr>
          <p:spPr>
            <a:xfrm>
              <a:off x="2362200" y="4152900"/>
              <a:ext cx="14097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TextBox 9">
              <a:extLst>
                <a:ext uri="{FF2B5EF4-FFF2-40B4-BE49-F238E27FC236}">
                  <a16:creationId xmlns:a16="http://schemas.microsoft.com/office/drawing/2014/main" id="{A5BBFCBE-DE03-4891-476E-D97F12333D1D}"/>
                </a:ext>
              </a:extLst>
            </p:cNvPr>
            <p:cNvSpPr txBox="1"/>
            <p:nvPr/>
          </p:nvSpPr>
          <p:spPr>
            <a:xfrm>
              <a:off x="1638964" y="5224102"/>
              <a:ext cx="15620336" cy="1231106"/>
            </a:xfrm>
            <a:prstGeom prst="rect">
              <a:avLst/>
            </a:prstGeom>
          </p:spPr>
          <p:txBody>
            <a:bodyPr lIns="0" tIns="0" rIns="0" bIns="0" rtlCol="0" anchor="t">
              <a:spAutoFit/>
            </a:bodyPr>
            <a:lstStyle/>
            <a:p>
              <a:pPr algn="ctr"/>
              <a:r>
                <a:rPr lang="fr-FR" sz="4000" i="1" dirty="0">
                  <a:latin typeface="Times New Roman" panose="02020603050405020304" pitchFamily="18" charset="0"/>
                  <a:cs typeface="Times New Roman" panose="02020603050405020304" pitchFamily="18" charset="0"/>
                </a:rPr>
                <a:t>Plateforme autonome de cyberdéfense pour la détection et la prévention </a:t>
              </a:r>
            </a:p>
            <a:p>
              <a:pPr algn="ctr"/>
              <a:r>
                <a:rPr lang="fr-FR" sz="4000" i="1" dirty="0">
                  <a:latin typeface="Times New Roman" panose="02020603050405020304" pitchFamily="18" charset="0"/>
                  <a:cs typeface="Times New Roman" panose="02020603050405020304" pitchFamily="18" charset="0"/>
                </a:rPr>
                <a:t>des cyberattaques</a:t>
              </a:r>
              <a:endParaRPr lang="en-US" sz="4000" dirty="0">
                <a:effectLst/>
                <a:latin typeface="Times New Roman" panose="02020603050405020304" pitchFamily="18" charset="0"/>
                <a:cs typeface="Times New Roman" panose="02020603050405020304" pitchFamily="18" charset="0"/>
              </a:endParaRPr>
            </a:p>
          </p:txBody>
        </p:sp>
      </p:grpSp>
      <p:grpSp>
        <p:nvGrpSpPr>
          <p:cNvPr id="8" name="Group 35">
            <a:extLst>
              <a:ext uri="{FF2B5EF4-FFF2-40B4-BE49-F238E27FC236}">
                <a16:creationId xmlns:a16="http://schemas.microsoft.com/office/drawing/2014/main" id="{057DA8C9-9613-7640-03E5-966BFDF7A573}"/>
              </a:ext>
            </a:extLst>
          </p:cNvPr>
          <p:cNvGrpSpPr/>
          <p:nvPr/>
        </p:nvGrpSpPr>
        <p:grpSpPr>
          <a:xfrm>
            <a:off x="-6791911" y="5405937"/>
            <a:ext cx="5179224" cy="3425824"/>
            <a:chOff x="1293392" y="5531853"/>
            <a:chExt cx="5179224" cy="3425824"/>
          </a:xfrm>
        </p:grpSpPr>
        <p:sp>
          <p:nvSpPr>
            <p:cNvPr id="10" name="TextBox 3">
              <a:extLst>
                <a:ext uri="{FF2B5EF4-FFF2-40B4-BE49-F238E27FC236}">
                  <a16:creationId xmlns:a16="http://schemas.microsoft.com/office/drawing/2014/main" id="{2FED3554-3F1B-2250-62B6-D23BA2D73922}"/>
                </a:ext>
              </a:extLst>
            </p:cNvPr>
            <p:cNvSpPr txBox="1"/>
            <p:nvPr/>
          </p:nvSpPr>
          <p:spPr>
            <a:xfrm>
              <a:off x="1293392" y="5531853"/>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4</a:t>
              </a:r>
            </a:p>
          </p:txBody>
        </p:sp>
        <p:sp>
          <p:nvSpPr>
            <p:cNvPr id="13" name="TextBox 17">
              <a:extLst>
                <a:ext uri="{FF2B5EF4-FFF2-40B4-BE49-F238E27FC236}">
                  <a16:creationId xmlns:a16="http://schemas.microsoft.com/office/drawing/2014/main" id="{FF388A8B-C31A-C5AF-A8F2-066682EE7904}"/>
                </a:ext>
              </a:extLst>
            </p:cNvPr>
            <p:cNvSpPr txBox="1"/>
            <p:nvPr/>
          </p:nvSpPr>
          <p:spPr>
            <a:xfrm>
              <a:off x="4101216" y="7658260"/>
              <a:ext cx="2371400" cy="1032719"/>
            </a:xfrm>
            <a:prstGeom prst="rect">
              <a:avLst/>
            </a:prstGeom>
          </p:spPr>
          <p:txBody>
            <a:bodyPr lIns="0" tIns="0" rIns="0" bIns="0" rtlCol="0" anchor="t">
              <a:spAutoFit/>
            </a:bodyPr>
            <a:lstStyle/>
            <a:p>
              <a:pPr algn="ctr">
                <a:lnSpc>
                  <a:spcPts val="4200"/>
                </a:lnSpc>
                <a:spcBef>
                  <a:spcPct val="0"/>
                </a:spcBef>
              </a:pPr>
              <a:r>
                <a:rPr lang="en-US" sz="3000" b="1">
                  <a:solidFill>
                    <a:srgbClr val="000000"/>
                  </a:solidFill>
                  <a:latin typeface="Times New Roman Bold"/>
                  <a:ea typeface="Times New Roman Bold"/>
                  <a:cs typeface="Times New Roman Bold"/>
                  <a:sym typeface="Times New Roman Bold"/>
                </a:rPr>
                <a:t>Conclusion et Perspectives</a:t>
              </a:r>
            </a:p>
          </p:txBody>
        </p:sp>
      </p:grpSp>
      <p:sp>
        <p:nvSpPr>
          <p:cNvPr id="17" name="TextBox 10">
            <a:extLst>
              <a:ext uri="{FF2B5EF4-FFF2-40B4-BE49-F238E27FC236}">
                <a16:creationId xmlns:a16="http://schemas.microsoft.com/office/drawing/2014/main" id="{769AEC90-52CF-E932-7B71-12D4B9756DC6}"/>
              </a:ext>
            </a:extLst>
          </p:cNvPr>
          <p:cNvSpPr txBox="1"/>
          <p:nvPr/>
        </p:nvSpPr>
        <p:spPr>
          <a:xfrm>
            <a:off x="-14690735" y="5848268"/>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0F7FE"/>
        </a:solidFill>
        <a:effectLst/>
      </p:bgPr>
    </p:bg>
    <p:spTree>
      <p:nvGrpSpPr>
        <p:cNvPr id="1" name=""/>
        <p:cNvGrpSpPr/>
        <p:nvPr/>
      </p:nvGrpSpPr>
      <p:grpSpPr>
        <a:xfrm>
          <a:off x="0" y="0"/>
          <a:ext cx="0" cy="0"/>
          <a:chOff x="0" y="0"/>
          <a:chExt cx="0" cy="0"/>
        </a:xfrm>
      </p:grpSpPr>
      <p:sp>
        <p:nvSpPr>
          <p:cNvPr id="2" name="TextBox 2"/>
          <p:cNvSpPr txBox="1"/>
          <p:nvPr/>
        </p:nvSpPr>
        <p:spPr>
          <a:xfrm>
            <a:off x="2686328" y="2184176"/>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1</a:t>
            </a:r>
          </a:p>
        </p:txBody>
      </p:sp>
      <p:sp>
        <p:nvSpPr>
          <p:cNvPr id="4" name="TextBox 4"/>
          <p:cNvSpPr txBox="1"/>
          <p:nvPr/>
        </p:nvSpPr>
        <p:spPr>
          <a:xfrm>
            <a:off x="10347664" y="2013026"/>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2</a:t>
            </a:r>
          </a:p>
        </p:txBody>
      </p:sp>
      <p:sp>
        <p:nvSpPr>
          <p:cNvPr id="6" name="Freeform 6"/>
          <p:cNvSpPr/>
          <p:nvPr/>
        </p:nvSpPr>
        <p:spPr>
          <a:xfrm rot="-10800000">
            <a:off x="2859756" y="3024740"/>
            <a:ext cx="2634396" cy="2634396"/>
          </a:xfrm>
          <a:custGeom>
            <a:avLst/>
            <a:gdLst/>
            <a:ahLst/>
            <a:cxnLst/>
            <a:rect l="l" t="t" r="r" b="b"/>
            <a:pathLst>
              <a:path w="2634396" h="2634396">
                <a:moveTo>
                  <a:pt x="0" y="0"/>
                </a:moveTo>
                <a:lnTo>
                  <a:pt x="2634396" y="0"/>
                </a:lnTo>
                <a:lnTo>
                  <a:pt x="2634396" y="2634396"/>
                </a:lnTo>
                <a:lnTo>
                  <a:pt x="0" y="2634396"/>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fr-TN"/>
          </a:p>
        </p:txBody>
      </p:sp>
      <p:sp>
        <p:nvSpPr>
          <p:cNvPr id="8" name="Freeform 8"/>
          <p:cNvSpPr/>
          <p:nvPr/>
        </p:nvSpPr>
        <p:spPr>
          <a:xfrm rot="-10800000">
            <a:off x="10570228" y="2853590"/>
            <a:ext cx="2585260" cy="2585260"/>
          </a:xfrm>
          <a:custGeom>
            <a:avLst/>
            <a:gdLst/>
            <a:ahLst/>
            <a:cxnLst/>
            <a:rect l="l" t="t" r="r" b="b"/>
            <a:pathLst>
              <a:path w="2585260" h="2585260">
                <a:moveTo>
                  <a:pt x="0" y="0"/>
                </a:moveTo>
                <a:lnTo>
                  <a:pt x="2585260" y="0"/>
                </a:lnTo>
                <a:lnTo>
                  <a:pt x="2585260" y="2585260"/>
                </a:lnTo>
                <a:lnTo>
                  <a:pt x="0" y="258526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fr-TN"/>
          </a:p>
        </p:txBody>
      </p:sp>
      <p:grpSp>
        <p:nvGrpSpPr>
          <p:cNvPr id="14" name="Group 14"/>
          <p:cNvGrpSpPr/>
          <p:nvPr/>
        </p:nvGrpSpPr>
        <p:grpSpPr>
          <a:xfrm>
            <a:off x="5040652" y="3958966"/>
            <a:ext cx="3158953" cy="1393464"/>
            <a:chOff x="0" y="0"/>
            <a:chExt cx="4211938" cy="1857953"/>
          </a:xfrm>
        </p:grpSpPr>
        <p:sp>
          <p:nvSpPr>
            <p:cNvPr id="15" name="TextBox 15"/>
            <p:cNvSpPr txBox="1"/>
            <p:nvPr/>
          </p:nvSpPr>
          <p:spPr>
            <a:xfrm>
              <a:off x="0" y="-85725"/>
              <a:ext cx="4211938" cy="695325"/>
            </a:xfrm>
            <a:prstGeom prst="rect">
              <a:avLst/>
            </a:prstGeom>
          </p:spPr>
          <p:txBody>
            <a:bodyPr lIns="0" tIns="0" rIns="0" bIns="0" rtlCol="0" anchor="t">
              <a:spAutoFit/>
            </a:bodyPr>
            <a:lstStyle/>
            <a:p>
              <a:pPr algn="ctr">
                <a:lnSpc>
                  <a:spcPts val="4200"/>
                </a:lnSpc>
                <a:spcBef>
                  <a:spcPct val="0"/>
                </a:spcBef>
              </a:pPr>
              <a:r>
                <a:rPr lang="en-US" sz="3000" b="1" dirty="0">
                  <a:solidFill>
                    <a:srgbClr val="000000"/>
                  </a:solidFill>
                  <a:latin typeface="Times New Roman Bold"/>
                  <a:ea typeface="Times New Roman Bold"/>
                  <a:cs typeface="Times New Roman Bold"/>
                  <a:sym typeface="Times New Roman Bold"/>
                </a:rPr>
                <a:t>Introduction</a:t>
              </a:r>
            </a:p>
          </p:txBody>
        </p:sp>
        <p:sp>
          <p:nvSpPr>
            <p:cNvPr id="16" name="TextBox 16"/>
            <p:cNvSpPr txBox="1"/>
            <p:nvPr/>
          </p:nvSpPr>
          <p:spPr>
            <a:xfrm>
              <a:off x="181013" y="1521403"/>
              <a:ext cx="2794000" cy="336550"/>
            </a:xfrm>
            <a:prstGeom prst="rect">
              <a:avLst/>
            </a:prstGeom>
          </p:spPr>
          <p:txBody>
            <a:bodyPr lIns="0" tIns="0" rIns="0" bIns="0" rtlCol="0" anchor="t">
              <a:spAutoFit/>
            </a:bodyPr>
            <a:lstStyle/>
            <a:p>
              <a:pPr algn="ctr">
                <a:lnSpc>
                  <a:spcPts val="1919"/>
                </a:lnSpc>
              </a:pPr>
              <a:endParaRPr/>
            </a:p>
          </p:txBody>
        </p:sp>
      </p:grpSp>
      <p:grpSp>
        <p:nvGrpSpPr>
          <p:cNvPr id="18" name="Group 18"/>
          <p:cNvGrpSpPr/>
          <p:nvPr/>
        </p:nvGrpSpPr>
        <p:grpSpPr>
          <a:xfrm>
            <a:off x="12583988" y="3663207"/>
            <a:ext cx="3701993" cy="1571328"/>
            <a:chOff x="0" y="-85725"/>
            <a:chExt cx="4935991" cy="2095103"/>
          </a:xfrm>
        </p:grpSpPr>
        <p:sp>
          <p:nvSpPr>
            <p:cNvPr id="19" name="TextBox 19"/>
            <p:cNvSpPr txBox="1"/>
            <p:nvPr/>
          </p:nvSpPr>
          <p:spPr>
            <a:xfrm>
              <a:off x="0" y="-85725"/>
              <a:ext cx="4935991" cy="2095103"/>
            </a:xfrm>
            <a:prstGeom prst="rect">
              <a:avLst/>
            </a:prstGeom>
          </p:spPr>
          <p:txBody>
            <a:bodyPr lIns="0" tIns="0" rIns="0" bIns="0" rtlCol="0" anchor="t">
              <a:spAutoFit/>
            </a:bodyPr>
            <a:lstStyle/>
            <a:p>
              <a:pPr algn="ctr">
                <a:lnSpc>
                  <a:spcPts val="4200"/>
                </a:lnSpc>
                <a:spcBef>
                  <a:spcPct val="0"/>
                </a:spcBef>
              </a:pPr>
              <a:r>
                <a:rPr lang="fr-FR" sz="3000" b="1" dirty="0">
                  <a:solidFill>
                    <a:srgbClr val="000000"/>
                  </a:solidFill>
                  <a:latin typeface="Times New Roman Bold"/>
                  <a:ea typeface="Times New Roman Bold"/>
                  <a:cs typeface="Times New Roman Bold"/>
                  <a:sym typeface="Times New Roman Bold"/>
                </a:rPr>
                <a:t>Méthodologie</a:t>
              </a:r>
            </a:p>
            <a:p>
              <a:pPr algn="ctr">
                <a:lnSpc>
                  <a:spcPts val="4200"/>
                </a:lnSpc>
                <a:spcBef>
                  <a:spcPct val="0"/>
                </a:spcBef>
              </a:pPr>
              <a:r>
                <a:rPr lang="fr-FR" sz="3000" b="1" dirty="0">
                  <a:solidFill>
                    <a:srgbClr val="000000"/>
                  </a:solidFill>
                  <a:latin typeface="Times New Roman Bold"/>
                  <a:ea typeface="Times New Roman Bold"/>
                  <a:cs typeface="Times New Roman Bold"/>
                  <a:sym typeface="Times New Roman Bold"/>
                </a:rPr>
                <a:t> et déroulement </a:t>
              </a:r>
            </a:p>
            <a:p>
              <a:pPr algn="ctr">
                <a:lnSpc>
                  <a:spcPts val="4200"/>
                </a:lnSpc>
                <a:spcBef>
                  <a:spcPct val="0"/>
                </a:spcBef>
              </a:pPr>
              <a:r>
                <a:rPr lang="fr-FR" sz="3000" b="1" dirty="0">
                  <a:solidFill>
                    <a:srgbClr val="000000"/>
                  </a:solidFill>
                  <a:latin typeface="Times New Roman Bold"/>
                  <a:ea typeface="Times New Roman Bold"/>
                  <a:cs typeface="Times New Roman Bold"/>
                  <a:sym typeface="Times New Roman Bold"/>
                </a:rPr>
                <a:t>des sprints</a:t>
              </a:r>
              <a:endParaRPr lang="en-US" sz="3000" b="1" dirty="0">
                <a:solidFill>
                  <a:srgbClr val="000000"/>
                </a:solidFill>
                <a:latin typeface="Times New Roman Bold"/>
                <a:ea typeface="Times New Roman Bold"/>
                <a:cs typeface="Times New Roman Bold"/>
                <a:sym typeface="Times New Roman Bold"/>
              </a:endParaRPr>
            </a:p>
          </p:txBody>
        </p:sp>
        <p:sp>
          <p:nvSpPr>
            <p:cNvPr id="20" name="TextBox 20"/>
            <p:cNvSpPr txBox="1"/>
            <p:nvPr/>
          </p:nvSpPr>
          <p:spPr>
            <a:xfrm>
              <a:off x="0" y="780034"/>
              <a:ext cx="3395923" cy="336550"/>
            </a:xfrm>
            <a:prstGeom prst="rect">
              <a:avLst/>
            </a:prstGeom>
          </p:spPr>
          <p:txBody>
            <a:bodyPr lIns="0" tIns="0" rIns="0" bIns="0" rtlCol="0" anchor="t">
              <a:spAutoFit/>
            </a:bodyPr>
            <a:lstStyle/>
            <a:p>
              <a:pPr algn="ctr">
                <a:lnSpc>
                  <a:spcPts val="1919"/>
                </a:lnSpc>
              </a:pPr>
              <a:endParaRPr/>
            </a:p>
          </p:txBody>
        </p:sp>
      </p:grpSp>
      <p:sp>
        <p:nvSpPr>
          <p:cNvPr id="24" name="TextBox 24"/>
          <p:cNvSpPr txBox="1"/>
          <p:nvPr/>
        </p:nvSpPr>
        <p:spPr>
          <a:xfrm>
            <a:off x="6084735" y="911743"/>
            <a:ext cx="7127941" cy="776623"/>
          </a:xfrm>
          <a:prstGeom prst="rect">
            <a:avLst/>
          </a:prstGeom>
        </p:spPr>
        <p:txBody>
          <a:bodyPr wrap="square" lIns="0" tIns="0" rIns="0" bIns="0" rtlCol="0" anchor="t">
            <a:spAutoFit/>
          </a:bodyPr>
          <a:lstStyle/>
          <a:p>
            <a:pPr algn="ctr">
              <a:lnSpc>
                <a:spcPts val="6604"/>
              </a:lnSpc>
              <a:spcBef>
                <a:spcPct val="0"/>
              </a:spcBef>
            </a:pPr>
            <a:r>
              <a:rPr lang="en-US" sz="4717" b="1" dirty="0">
                <a:solidFill>
                  <a:srgbClr val="1C1F54"/>
                </a:solidFill>
                <a:latin typeface="Times New Roman Bold"/>
                <a:ea typeface="Times New Roman Bold"/>
                <a:cs typeface="Times New Roman Bold"/>
                <a:sym typeface="Times New Roman Bold"/>
              </a:rPr>
              <a:t>Plan de la </a:t>
            </a:r>
            <a:r>
              <a:rPr lang="en-US" sz="4717" b="1" dirty="0" err="1">
                <a:solidFill>
                  <a:srgbClr val="1C1F54"/>
                </a:solidFill>
                <a:latin typeface="Times New Roman Bold"/>
                <a:ea typeface="Times New Roman Bold"/>
                <a:cs typeface="Times New Roman Bold"/>
                <a:sym typeface="Times New Roman Bold"/>
              </a:rPr>
              <a:t>présentation</a:t>
            </a:r>
            <a:endParaRPr lang="en-US" sz="4717" b="1" dirty="0">
              <a:solidFill>
                <a:srgbClr val="1C1F54"/>
              </a:solidFill>
              <a:latin typeface="Times New Roman Bold"/>
              <a:ea typeface="Times New Roman Bold"/>
              <a:cs typeface="Times New Roman Bold"/>
              <a:sym typeface="Times New Roman Bold"/>
            </a:endParaRPr>
          </a:p>
        </p:txBody>
      </p:sp>
      <p:grpSp>
        <p:nvGrpSpPr>
          <p:cNvPr id="36" name="Group 35">
            <a:extLst>
              <a:ext uri="{FF2B5EF4-FFF2-40B4-BE49-F238E27FC236}">
                <a16:creationId xmlns:a16="http://schemas.microsoft.com/office/drawing/2014/main" id="{22C4F8A4-42EA-6796-EE38-742A219F73EA}"/>
              </a:ext>
            </a:extLst>
          </p:cNvPr>
          <p:cNvGrpSpPr/>
          <p:nvPr/>
        </p:nvGrpSpPr>
        <p:grpSpPr>
          <a:xfrm>
            <a:off x="10088397" y="5405937"/>
            <a:ext cx="5443916" cy="3913080"/>
            <a:chOff x="1028700" y="5531853"/>
            <a:chExt cx="5443916" cy="3913080"/>
          </a:xfrm>
        </p:grpSpPr>
        <p:sp>
          <p:nvSpPr>
            <p:cNvPr id="3" name="TextBox 3"/>
            <p:cNvSpPr txBox="1"/>
            <p:nvPr/>
          </p:nvSpPr>
          <p:spPr>
            <a:xfrm>
              <a:off x="1293392" y="5531853"/>
              <a:ext cx="2543132" cy="3425824"/>
            </a:xfrm>
            <a:prstGeom prst="rect">
              <a:avLst/>
            </a:prstGeom>
          </p:spPr>
          <p:txBody>
            <a:bodyPr lIns="0" tIns="0" rIns="0" bIns="0" rtlCol="0" anchor="t">
              <a:spAutoFit/>
            </a:bodyPr>
            <a:lstStyle/>
            <a:p>
              <a:pPr algn="ctr">
                <a:lnSpc>
                  <a:spcPts val="28000"/>
                </a:lnSpc>
                <a:spcBef>
                  <a:spcPct val="0"/>
                </a:spcBef>
              </a:pPr>
              <a:r>
                <a:rPr lang="en-US" sz="20000" b="1" dirty="0">
                  <a:solidFill>
                    <a:srgbClr val="6C63FF"/>
                  </a:solidFill>
                  <a:latin typeface="Bricolage Grotesque Bold"/>
                  <a:ea typeface="Bricolage Grotesque Bold"/>
                  <a:cs typeface="Bricolage Grotesque Bold"/>
                  <a:sym typeface="Bricolage Grotesque Bold"/>
                </a:rPr>
                <a:t>4</a:t>
              </a:r>
            </a:p>
          </p:txBody>
        </p:sp>
        <p:sp>
          <p:nvSpPr>
            <p:cNvPr id="7" name="Freeform 7"/>
            <p:cNvSpPr/>
            <p:nvPr/>
          </p:nvSpPr>
          <p:spPr>
            <a:xfrm rot="10800000">
              <a:off x="1028700" y="6372417"/>
              <a:ext cx="3072516" cy="3072516"/>
            </a:xfrm>
            <a:custGeom>
              <a:avLst/>
              <a:gdLst/>
              <a:ahLst/>
              <a:cxnLst/>
              <a:rect l="l" t="t" r="r" b="b"/>
              <a:pathLst>
                <a:path w="3072516" h="3072516">
                  <a:moveTo>
                    <a:pt x="0" y="0"/>
                  </a:moveTo>
                  <a:lnTo>
                    <a:pt x="3072516" y="0"/>
                  </a:lnTo>
                  <a:lnTo>
                    <a:pt x="3072516" y="3072516"/>
                  </a:lnTo>
                  <a:lnTo>
                    <a:pt x="0" y="307251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fr-TN" dirty="0"/>
            </a:p>
          </p:txBody>
        </p:sp>
        <p:sp>
          <p:nvSpPr>
            <p:cNvPr id="17" name="TextBox 17"/>
            <p:cNvSpPr txBox="1"/>
            <p:nvPr/>
          </p:nvSpPr>
          <p:spPr>
            <a:xfrm>
              <a:off x="4101216" y="7658260"/>
              <a:ext cx="2371400" cy="1032719"/>
            </a:xfrm>
            <a:prstGeom prst="rect">
              <a:avLst/>
            </a:prstGeom>
          </p:spPr>
          <p:txBody>
            <a:bodyPr lIns="0" tIns="0" rIns="0" bIns="0" rtlCol="0" anchor="t">
              <a:spAutoFit/>
            </a:bodyPr>
            <a:lstStyle/>
            <a:p>
              <a:pPr algn="ctr">
                <a:lnSpc>
                  <a:spcPts val="4200"/>
                </a:lnSpc>
                <a:spcBef>
                  <a:spcPct val="0"/>
                </a:spcBef>
              </a:pPr>
              <a:r>
                <a:rPr lang="en-US" sz="3000" b="1" dirty="0">
                  <a:solidFill>
                    <a:srgbClr val="000000"/>
                  </a:solidFill>
                  <a:latin typeface="Times New Roman Bold"/>
                  <a:ea typeface="Times New Roman Bold"/>
                  <a:cs typeface="Times New Roman Bold"/>
                  <a:sym typeface="Times New Roman Bold"/>
                </a:rPr>
                <a:t>Conclusion et Perspectives</a:t>
              </a:r>
            </a:p>
          </p:txBody>
        </p:sp>
        <p:sp>
          <p:nvSpPr>
            <p:cNvPr id="25" name="Freeform 25"/>
            <p:cNvSpPr/>
            <p:nvPr/>
          </p:nvSpPr>
          <p:spPr>
            <a:xfrm>
              <a:off x="4859802" y="6896260"/>
              <a:ext cx="762000" cy="762000"/>
            </a:xfrm>
            <a:custGeom>
              <a:avLst/>
              <a:gdLst/>
              <a:ahLst/>
              <a:cxnLst/>
              <a:rect l="l" t="t" r="r" b="b"/>
              <a:pathLst>
                <a:path w="762000" h="762000">
                  <a:moveTo>
                    <a:pt x="0" y="0"/>
                  </a:moveTo>
                  <a:lnTo>
                    <a:pt x="762000" y="0"/>
                  </a:lnTo>
                  <a:lnTo>
                    <a:pt x="762000" y="762000"/>
                  </a:lnTo>
                  <a:lnTo>
                    <a:pt x="0" y="762000"/>
                  </a:lnTo>
                  <a:lnTo>
                    <a:pt x="0" y="0"/>
                  </a:lnTo>
                  <a:close/>
                </a:path>
              </a:pathLst>
            </a:custGeom>
            <a:blipFill>
              <a:blip r:embed="rId5"/>
              <a:stretch>
                <a:fillRect/>
              </a:stretch>
            </a:blipFill>
          </p:spPr>
          <p:txBody>
            <a:bodyPr/>
            <a:lstStyle/>
            <a:p>
              <a:endParaRPr lang="fr-TN"/>
            </a:p>
          </p:txBody>
        </p:sp>
      </p:grpSp>
      <p:grpSp>
        <p:nvGrpSpPr>
          <p:cNvPr id="37" name="Group 36">
            <a:extLst>
              <a:ext uri="{FF2B5EF4-FFF2-40B4-BE49-F238E27FC236}">
                <a16:creationId xmlns:a16="http://schemas.microsoft.com/office/drawing/2014/main" id="{68B2DFD3-6949-FDA2-B802-1D49BCA7A1C2}"/>
              </a:ext>
            </a:extLst>
          </p:cNvPr>
          <p:cNvGrpSpPr/>
          <p:nvPr/>
        </p:nvGrpSpPr>
        <p:grpSpPr>
          <a:xfrm>
            <a:off x="2454265" y="5848268"/>
            <a:ext cx="5550389" cy="3474960"/>
            <a:chOff x="12523367" y="2168784"/>
            <a:chExt cx="5550389" cy="3474960"/>
          </a:xfrm>
        </p:grpSpPr>
        <p:sp>
          <p:nvSpPr>
            <p:cNvPr id="10" name="TextBox 10"/>
            <p:cNvSpPr txBox="1"/>
            <p:nvPr/>
          </p:nvSpPr>
          <p:spPr>
            <a:xfrm>
              <a:off x="12523367" y="2168784"/>
              <a:ext cx="2543132" cy="3425824"/>
            </a:xfrm>
            <a:prstGeom prst="rect">
              <a:avLst/>
            </a:prstGeom>
          </p:spPr>
          <p:txBody>
            <a:bodyPr lIns="0" tIns="0" rIns="0" bIns="0" rtlCol="0" anchor="t">
              <a:spAutoFit/>
            </a:bodyPr>
            <a:lstStyle/>
            <a:p>
              <a:pPr algn="ctr">
                <a:lnSpc>
                  <a:spcPts val="28000"/>
                </a:lnSpc>
                <a:spcBef>
                  <a:spcPct val="0"/>
                </a:spcBef>
              </a:pPr>
              <a:r>
                <a:rPr lang="en-US" sz="20000" b="1" dirty="0">
                  <a:solidFill>
                    <a:srgbClr val="6C63FF"/>
                  </a:solidFill>
                  <a:latin typeface="Bricolage Grotesque Bold"/>
                  <a:ea typeface="Bricolage Grotesque Bold"/>
                  <a:cs typeface="Bricolage Grotesque Bold"/>
                  <a:sym typeface="Bricolage Grotesque Bold"/>
                </a:rPr>
                <a:t>3</a:t>
              </a:r>
            </a:p>
          </p:txBody>
        </p:sp>
        <p:sp>
          <p:nvSpPr>
            <p:cNvPr id="12" name="Freeform 12"/>
            <p:cNvSpPr/>
            <p:nvPr/>
          </p:nvSpPr>
          <p:spPr>
            <a:xfrm rot="-10800000">
              <a:off x="12696795" y="3009348"/>
              <a:ext cx="2634396" cy="2634396"/>
            </a:xfrm>
            <a:custGeom>
              <a:avLst/>
              <a:gdLst/>
              <a:ahLst/>
              <a:cxnLst/>
              <a:rect l="l" t="t" r="r" b="b"/>
              <a:pathLst>
                <a:path w="2634396" h="2634396">
                  <a:moveTo>
                    <a:pt x="0" y="0"/>
                  </a:moveTo>
                  <a:lnTo>
                    <a:pt x="2634396" y="0"/>
                  </a:lnTo>
                  <a:lnTo>
                    <a:pt x="2634396" y="2634396"/>
                  </a:lnTo>
                  <a:lnTo>
                    <a:pt x="0" y="263439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fr-TN"/>
            </a:p>
          </p:txBody>
        </p:sp>
        <p:sp>
          <p:nvSpPr>
            <p:cNvPr id="22" name="TextBox 22"/>
            <p:cNvSpPr txBox="1"/>
            <p:nvPr/>
          </p:nvSpPr>
          <p:spPr>
            <a:xfrm>
              <a:off x="15092294" y="3857849"/>
              <a:ext cx="2981462" cy="1032719"/>
            </a:xfrm>
            <a:prstGeom prst="rect">
              <a:avLst/>
            </a:prstGeom>
          </p:spPr>
          <p:txBody>
            <a:bodyPr lIns="0" tIns="0" rIns="0" bIns="0" rtlCol="0" anchor="t">
              <a:spAutoFit/>
            </a:bodyPr>
            <a:lstStyle/>
            <a:p>
              <a:pPr algn="ctr">
                <a:lnSpc>
                  <a:spcPts val="4200"/>
                </a:lnSpc>
                <a:spcBef>
                  <a:spcPct val="0"/>
                </a:spcBef>
              </a:pPr>
              <a:r>
                <a:rPr lang="en-US" sz="3000" b="1" dirty="0" err="1">
                  <a:solidFill>
                    <a:srgbClr val="000000"/>
                  </a:solidFill>
                  <a:latin typeface="Times New Roman Bold"/>
                  <a:ea typeface="Times New Roman Bold"/>
                  <a:cs typeface="Times New Roman Bold"/>
                  <a:sym typeface="Times New Roman Bold"/>
                </a:rPr>
                <a:t>Déploiement</a:t>
              </a:r>
              <a:r>
                <a:rPr lang="en-US" sz="3000" b="1" dirty="0">
                  <a:solidFill>
                    <a:srgbClr val="000000"/>
                  </a:solidFill>
                  <a:latin typeface="Times New Roman Bold"/>
                  <a:ea typeface="Times New Roman Bold"/>
                  <a:cs typeface="Times New Roman Bold"/>
                  <a:sym typeface="Times New Roman Bold"/>
                </a:rPr>
                <a:t> et </a:t>
              </a:r>
              <a:r>
                <a:rPr lang="en-US" sz="3000" b="1" dirty="0" err="1">
                  <a:solidFill>
                    <a:srgbClr val="000000"/>
                  </a:solidFill>
                  <a:latin typeface="Times New Roman Bold"/>
                  <a:ea typeface="Times New Roman Bold"/>
                  <a:cs typeface="Times New Roman Bold"/>
                  <a:sym typeface="Times New Roman Bold"/>
                </a:rPr>
                <a:t>réalisation</a:t>
              </a:r>
              <a:endParaRPr lang="en-US" sz="3000" b="1" dirty="0">
                <a:solidFill>
                  <a:srgbClr val="000000"/>
                </a:solidFill>
                <a:latin typeface="Times New Roman Bold"/>
                <a:ea typeface="Times New Roman Bold"/>
                <a:cs typeface="Times New Roman Bold"/>
                <a:sym typeface="Times New Roman Bold"/>
              </a:endParaRPr>
            </a:p>
          </p:txBody>
        </p:sp>
        <p:sp>
          <p:nvSpPr>
            <p:cNvPr id="26" name="Freeform 26"/>
            <p:cNvSpPr/>
            <p:nvPr/>
          </p:nvSpPr>
          <p:spPr>
            <a:xfrm>
              <a:off x="16207473" y="3009347"/>
              <a:ext cx="762000" cy="762000"/>
            </a:xfrm>
            <a:custGeom>
              <a:avLst/>
              <a:gdLst/>
              <a:ahLst/>
              <a:cxnLst/>
              <a:rect l="l" t="t" r="r" b="b"/>
              <a:pathLst>
                <a:path w="762000" h="762000">
                  <a:moveTo>
                    <a:pt x="0" y="0"/>
                  </a:moveTo>
                  <a:lnTo>
                    <a:pt x="762000" y="0"/>
                  </a:lnTo>
                  <a:lnTo>
                    <a:pt x="762000" y="762000"/>
                  </a:lnTo>
                  <a:lnTo>
                    <a:pt x="0" y="762000"/>
                  </a:lnTo>
                  <a:lnTo>
                    <a:pt x="0" y="0"/>
                  </a:lnTo>
                  <a:close/>
                </a:path>
              </a:pathLst>
            </a:custGeom>
            <a:blipFill>
              <a:blip r:embed="rId6"/>
              <a:stretch>
                <a:fillRect/>
              </a:stretch>
            </a:blipFill>
          </p:spPr>
          <p:txBody>
            <a:bodyPr/>
            <a:lstStyle/>
            <a:p>
              <a:endParaRPr lang="fr-TN"/>
            </a:p>
          </p:txBody>
        </p:sp>
      </p:grpSp>
      <p:sp>
        <p:nvSpPr>
          <p:cNvPr id="27" name="Freeform 27"/>
          <p:cNvSpPr/>
          <p:nvPr/>
        </p:nvSpPr>
        <p:spPr>
          <a:xfrm>
            <a:off x="14046075" y="2811744"/>
            <a:ext cx="762000" cy="762000"/>
          </a:xfrm>
          <a:custGeom>
            <a:avLst/>
            <a:gdLst/>
            <a:ahLst/>
            <a:cxnLst/>
            <a:rect l="l" t="t" r="r" b="b"/>
            <a:pathLst>
              <a:path w="762000" h="762000">
                <a:moveTo>
                  <a:pt x="0" y="0"/>
                </a:moveTo>
                <a:lnTo>
                  <a:pt x="762000" y="0"/>
                </a:lnTo>
                <a:lnTo>
                  <a:pt x="762000" y="762000"/>
                </a:lnTo>
                <a:lnTo>
                  <a:pt x="0" y="762000"/>
                </a:lnTo>
                <a:lnTo>
                  <a:pt x="0" y="0"/>
                </a:lnTo>
                <a:close/>
              </a:path>
            </a:pathLst>
          </a:custGeom>
          <a:blipFill>
            <a:blip r:embed="rId7"/>
            <a:stretch>
              <a:fillRect/>
            </a:stretch>
          </a:blipFill>
        </p:spPr>
        <p:txBody>
          <a:bodyPr/>
          <a:lstStyle/>
          <a:p>
            <a:endParaRPr lang="fr-TN"/>
          </a:p>
        </p:txBody>
      </p:sp>
      <p:sp>
        <p:nvSpPr>
          <p:cNvPr id="30" name="Freeform 30"/>
          <p:cNvSpPr/>
          <p:nvPr/>
        </p:nvSpPr>
        <p:spPr>
          <a:xfrm>
            <a:off x="6239129" y="3024740"/>
            <a:ext cx="762000" cy="762000"/>
          </a:xfrm>
          <a:custGeom>
            <a:avLst/>
            <a:gdLst/>
            <a:ahLst/>
            <a:cxnLst/>
            <a:rect l="l" t="t" r="r" b="b"/>
            <a:pathLst>
              <a:path w="762000" h="762000">
                <a:moveTo>
                  <a:pt x="0" y="0"/>
                </a:moveTo>
                <a:lnTo>
                  <a:pt x="762000" y="0"/>
                </a:lnTo>
                <a:lnTo>
                  <a:pt x="762000" y="762000"/>
                </a:lnTo>
                <a:lnTo>
                  <a:pt x="0" y="762000"/>
                </a:lnTo>
                <a:lnTo>
                  <a:pt x="0" y="0"/>
                </a:lnTo>
                <a:close/>
              </a:path>
            </a:pathLst>
          </a:custGeom>
          <a:blipFill>
            <a:blip r:embed="rId8"/>
            <a:stretch>
              <a:fillRect/>
            </a:stretch>
          </a:blipFill>
        </p:spPr>
        <p:txBody>
          <a:bodyPr/>
          <a:lstStyle/>
          <a:p>
            <a:endParaRPr lang="fr-TN"/>
          </a:p>
        </p:txBody>
      </p:sp>
      <p:sp>
        <p:nvSpPr>
          <p:cNvPr id="31" name="Freeform 2">
            <a:extLst>
              <a:ext uri="{FF2B5EF4-FFF2-40B4-BE49-F238E27FC236}">
                <a16:creationId xmlns:a16="http://schemas.microsoft.com/office/drawing/2014/main" id="{27322D33-A55F-65AC-7F8F-BBBAB70046BD}"/>
              </a:ext>
            </a:extLst>
          </p:cNvPr>
          <p:cNvSpPr/>
          <p:nvPr/>
        </p:nvSpPr>
        <p:spPr>
          <a:xfrm>
            <a:off x="-3276600" y="343213"/>
            <a:ext cx="2304716" cy="1840963"/>
          </a:xfrm>
          <a:custGeom>
            <a:avLst/>
            <a:gdLst/>
            <a:ahLst/>
            <a:cxnLst/>
            <a:rect l="l" t="t" r="r" b="b"/>
            <a:pathLst>
              <a:path w="2304716" h="1840963">
                <a:moveTo>
                  <a:pt x="0" y="0"/>
                </a:moveTo>
                <a:lnTo>
                  <a:pt x="2304716" y="0"/>
                </a:lnTo>
                <a:lnTo>
                  <a:pt x="2304716" y="1840962"/>
                </a:lnTo>
                <a:lnTo>
                  <a:pt x="0" y="1840962"/>
                </a:lnTo>
                <a:lnTo>
                  <a:pt x="0" y="0"/>
                </a:lnTo>
                <a:close/>
              </a:path>
            </a:pathLst>
          </a:custGeom>
          <a:blipFill>
            <a:blip r:embed="rId9"/>
            <a:stretch>
              <a:fillRect/>
            </a:stretch>
          </a:blipFill>
        </p:spPr>
        <p:txBody>
          <a:bodyPr/>
          <a:lstStyle/>
          <a:p>
            <a:endParaRPr lang="fr-TN"/>
          </a:p>
        </p:txBody>
      </p:sp>
      <p:sp>
        <p:nvSpPr>
          <p:cNvPr id="32" name="Freeform 3">
            <a:extLst>
              <a:ext uri="{FF2B5EF4-FFF2-40B4-BE49-F238E27FC236}">
                <a16:creationId xmlns:a16="http://schemas.microsoft.com/office/drawing/2014/main" id="{6D83E0AB-E97B-1E66-0FEA-7183122481A4}"/>
              </a:ext>
            </a:extLst>
          </p:cNvPr>
          <p:cNvSpPr/>
          <p:nvPr/>
        </p:nvSpPr>
        <p:spPr>
          <a:xfrm>
            <a:off x="19536343" y="0"/>
            <a:ext cx="2104457" cy="2939283"/>
          </a:xfrm>
          <a:custGeom>
            <a:avLst/>
            <a:gdLst/>
            <a:ahLst/>
            <a:cxnLst/>
            <a:rect l="l" t="t" r="r" b="b"/>
            <a:pathLst>
              <a:path w="2104457" h="2939283">
                <a:moveTo>
                  <a:pt x="0" y="0"/>
                </a:moveTo>
                <a:lnTo>
                  <a:pt x="2104457" y="0"/>
                </a:lnTo>
                <a:lnTo>
                  <a:pt x="2104457" y="2939283"/>
                </a:lnTo>
                <a:lnTo>
                  <a:pt x="0" y="2939283"/>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fr-TN"/>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3C666-69F1-B975-907E-ADFD7D4F2DB2}"/>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DDEB7E10-4B46-4462-8358-48026B915860}"/>
              </a:ext>
            </a:extLst>
          </p:cNvPr>
          <p:cNvSpPr/>
          <p:nvPr/>
        </p:nvSpPr>
        <p:spPr>
          <a:xfrm>
            <a:off x="0" y="0"/>
            <a:ext cx="18288000" cy="10287000"/>
          </a:xfrm>
          <a:prstGeom prst="rect">
            <a:avLst/>
          </a:prstGeom>
          <a:solidFill>
            <a:srgbClr val="EBD6FB"/>
          </a:solidFill>
        </p:spPr>
        <p:txBody>
          <a:bodyPr/>
          <a:lstStyle/>
          <a:p>
            <a:endParaRPr lang="fr-TN">
              <a:solidFill>
                <a:srgbClr val="9964CC"/>
              </a:solidFill>
            </a:endParaRPr>
          </a:p>
        </p:txBody>
      </p:sp>
      <p:sp>
        <p:nvSpPr>
          <p:cNvPr id="3" name="TextBox 3">
            <a:extLst>
              <a:ext uri="{FF2B5EF4-FFF2-40B4-BE49-F238E27FC236}">
                <a16:creationId xmlns:a16="http://schemas.microsoft.com/office/drawing/2014/main" id="{A04570A9-F31B-43CE-F2FF-7FA944EE3677}"/>
              </a:ext>
            </a:extLst>
          </p:cNvPr>
          <p:cNvSpPr txBox="1"/>
          <p:nvPr/>
        </p:nvSpPr>
        <p:spPr>
          <a:xfrm>
            <a:off x="1047750" y="3162301"/>
            <a:ext cx="3067050" cy="307200"/>
          </a:xfrm>
          <a:prstGeom prst="rect">
            <a:avLst/>
          </a:prstGeom>
        </p:spPr>
        <p:txBody>
          <a:bodyPr wrap="square" lIns="0" tIns="0" rIns="0" bIns="0" rtlCol="0" anchor="t">
            <a:spAutoFit/>
          </a:bodyPr>
          <a:lstStyle/>
          <a:p>
            <a:pPr algn="l">
              <a:lnSpc>
                <a:spcPts val="2100"/>
              </a:lnSpc>
            </a:pPr>
            <a:r>
              <a:rPr lang="en-US" sz="3500" b="1" spc="270">
                <a:solidFill>
                  <a:srgbClr val="9964CC"/>
                </a:solidFill>
                <a:latin typeface="Times New Roman Bold"/>
                <a:ea typeface="Times New Roman Bold"/>
                <a:cs typeface="Times New Roman Bold"/>
                <a:sym typeface="Times New Roman Bold"/>
              </a:rPr>
              <a:t>SECTION 01</a:t>
            </a:r>
          </a:p>
        </p:txBody>
      </p:sp>
      <p:sp>
        <p:nvSpPr>
          <p:cNvPr id="4" name="TextBox 4">
            <a:extLst>
              <a:ext uri="{FF2B5EF4-FFF2-40B4-BE49-F238E27FC236}">
                <a16:creationId xmlns:a16="http://schemas.microsoft.com/office/drawing/2014/main" id="{DAF88712-4B95-0771-E190-43BAC07A9CA0}"/>
              </a:ext>
            </a:extLst>
          </p:cNvPr>
          <p:cNvSpPr txBox="1"/>
          <p:nvPr/>
        </p:nvSpPr>
        <p:spPr>
          <a:xfrm>
            <a:off x="1047750" y="3838575"/>
            <a:ext cx="11430000" cy="1090042"/>
          </a:xfrm>
          <a:prstGeom prst="rect">
            <a:avLst/>
          </a:prstGeom>
        </p:spPr>
        <p:txBody>
          <a:bodyPr lIns="0" tIns="0" rIns="0" bIns="0" rtlCol="0" anchor="t">
            <a:spAutoFit/>
          </a:bodyPr>
          <a:lstStyle/>
          <a:p>
            <a:pPr algn="l">
              <a:lnSpc>
                <a:spcPts val="8496"/>
              </a:lnSpc>
            </a:pPr>
            <a:r>
              <a:rPr lang="en-US" sz="8850" b="1" spc="-265" dirty="0">
                <a:latin typeface="Times New Roman Bold"/>
                <a:ea typeface="Times New Roman Bold"/>
                <a:cs typeface="Times New Roman Bold"/>
                <a:sym typeface="Times New Roman Bold"/>
              </a:rPr>
              <a:t>Introduction</a:t>
            </a:r>
          </a:p>
        </p:txBody>
      </p:sp>
      <p:sp>
        <p:nvSpPr>
          <p:cNvPr id="5" name="TextBox 5">
            <a:extLst>
              <a:ext uri="{FF2B5EF4-FFF2-40B4-BE49-F238E27FC236}">
                <a16:creationId xmlns:a16="http://schemas.microsoft.com/office/drawing/2014/main" id="{0A65C2FD-6780-BADA-F771-2FC009B28FD5}"/>
              </a:ext>
            </a:extLst>
          </p:cNvPr>
          <p:cNvSpPr txBox="1"/>
          <p:nvPr/>
        </p:nvSpPr>
        <p:spPr>
          <a:xfrm>
            <a:off x="1052830" y="5708471"/>
            <a:ext cx="8382000" cy="1341714"/>
          </a:xfrm>
          <a:prstGeom prst="rect">
            <a:avLst/>
          </a:prstGeom>
        </p:spPr>
        <p:txBody>
          <a:bodyPr lIns="0" tIns="0" rIns="0" bIns="0" rtlCol="0" anchor="t">
            <a:spAutoFit/>
          </a:bodyPr>
          <a:lstStyle/>
          <a:p>
            <a:pPr marL="518160" lvl="1" indent="-259080" algn="l">
              <a:lnSpc>
                <a:spcPts val="3600"/>
              </a:lnSpc>
              <a:buClr>
                <a:srgbClr val="9964CC"/>
              </a:buClr>
              <a:buFont typeface="Arial"/>
              <a:buChar char="•"/>
            </a:pPr>
            <a:r>
              <a:rPr lang="en-US" sz="2400" dirty="0">
                <a:latin typeface="Times New Roman"/>
                <a:ea typeface="Times New Roman"/>
                <a:cs typeface="Times New Roman"/>
                <a:sym typeface="Times New Roman"/>
              </a:rPr>
              <a:t>Problématique </a:t>
            </a:r>
          </a:p>
          <a:p>
            <a:pPr marL="518160" lvl="1" indent="-259080" algn="l">
              <a:lnSpc>
                <a:spcPts val="3600"/>
              </a:lnSpc>
              <a:buClr>
                <a:srgbClr val="9964CC"/>
              </a:buClr>
              <a:buFont typeface="Arial"/>
              <a:buChar char="•"/>
            </a:pPr>
            <a:r>
              <a:rPr lang="en-US" sz="2400" dirty="0">
                <a:latin typeface="Times New Roman"/>
                <a:ea typeface="Times New Roman"/>
                <a:cs typeface="Times New Roman"/>
                <a:sym typeface="Times New Roman"/>
              </a:rPr>
              <a:t>Étude de l'Existant </a:t>
            </a:r>
          </a:p>
          <a:p>
            <a:pPr marL="518160" lvl="1" indent="-259080">
              <a:lnSpc>
                <a:spcPts val="3600"/>
              </a:lnSpc>
              <a:buClr>
                <a:srgbClr val="9964CC"/>
              </a:buClr>
              <a:buFont typeface="Arial"/>
              <a:buChar char="•"/>
            </a:pPr>
            <a:r>
              <a:rPr lang="en-US" sz="2400" dirty="0">
                <a:latin typeface="Times New Roman" panose="02020603050405020304" pitchFamily="18" charset="0"/>
                <a:ea typeface="Calibri" pitchFamily="34" charset="-122"/>
                <a:cs typeface="Times New Roman" panose="02020603050405020304" pitchFamily="18" charset="0"/>
              </a:rPr>
              <a:t>positionnement de la solution NG-IDPS</a:t>
            </a:r>
            <a:endParaRPr lang="en-US" sz="2400" dirty="0">
              <a:latin typeface="Times New Roman" panose="02020603050405020304" pitchFamily="18" charset="0"/>
              <a:ea typeface="Times New Roman"/>
              <a:cs typeface="Times New Roman" panose="02020603050405020304" pitchFamily="18" charset="0"/>
              <a:sym typeface="Times New Roman"/>
            </a:endParaRPr>
          </a:p>
        </p:txBody>
      </p:sp>
      <p:sp>
        <p:nvSpPr>
          <p:cNvPr id="6" name="TextBox 6">
            <a:extLst>
              <a:ext uri="{FF2B5EF4-FFF2-40B4-BE49-F238E27FC236}">
                <a16:creationId xmlns:a16="http://schemas.microsoft.com/office/drawing/2014/main" id="{FADD1EA1-6690-2A81-B28D-C17BDCFBC9AE}"/>
              </a:ext>
            </a:extLst>
          </p:cNvPr>
          <p:cNvSpPr txBox="1"/>
          <p:nvPr/>
        </p:nvSpPr>
        <p:spPr>
          <a:xfrm>
            <a:off x="12206478" y="7050185"/>
            <a:ext cx="6081522" cy="4494115"/>
          </a:xfrm>
          <a:prstGeom prst="rect">
            <a:avLst/>
          </a:prstGeom>
        </p:spPr>
        <p:txBody>
          <a:bodyPr wrap="square" lIns="0" tIns="0" rIns="0" bIns="0" rtlCol="0" anchor="t">
            <a:spAutoFit/>
          </a:bodyPr>
          <a:lstStyle/>
          <a:p>
            <a:pPr algn="l">
              <a:lnSpc>
                <a:spcPts val="33600"/>
              </a:lnSpc>
            </a:pPr>
            <a:r>
              <a:rPr lang="en-US" sz="42000" b="1" spc="-1680">
                <a:solidFill>
                  <a:srgbClr val="9964CC"/>
                </a:solidFill>
                <a:latin typeface="Times New Roman Bold"/>
                <a:ea typeface="Times New Roman Bold"/>
                <a:cs typeface="Times New Roman Bold"/>
                <a:sym typeface="Times New Roman Bold"/>
              </a:rPr>
              <a:t>01</a:t>
            </a:r>
          </a:p>
        </p:txBody>
      </p:sp>
      <p:sp>
        <p:nvSpPr>
          <p:cNvPr id="7" name="TextBox 2">
            <a:extLst>
              <a:ext uri="{FF2B5EF4-FFF2-40B4-BE49-F238E27FC236}">
                <a16:creationId xmlns:a16="http://schemas.microsoft.com/office/drawing/2014/main" id="{27364897-2B66-FDC2-FDD0-33C44D7E23B9}"/>
              </a:ext>
            </a:extLst>
          </p:cNvPr>
          <p:cNvSpPr txBox="1"/>
          <p:nvPr/>
        </p:nvSpPr>
        <p:spPr>
          <a:xfrm>
            <a:off x="14706600" y="11077478"/>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Times New Roman" panose="02020603050405020304" pitchFamily="18" charset="0"/>
                <a:sym typeface="Bricolage Grotesque Bold"/>
              </a:rPr>
              <a:t>1</a:t>
            </a:r>
          </a:p>
        </p:txBody>
      </p:sp>
      <p:cxnSp>
        <p:nvCxnSpPr>
          <p:cNvPr id="10" name="Connecteur droit 9">
            <a:extLst>
              <a:ext uri="{FF2B5EF4-FFF2-40B4-BE49-F238E27FC236}">
                <a16:creationId xmlns:a16="http://schemas.microsoft.com/office/drawing/2014/main" id="{BA331637-84A5-BC98-C952-76515A501E5B}"/>
              </a:ext>
            </a:extLst>
          </p:cNvPr>
          <p:cNvCxnSpPr>
            <a:cxnSpLocks/>
          </p:cNvCxnSpPr>
          <p:nvPr/>
        </p:nvCxnSpPr>
        <p:spPr>
          <a:xfrm>
            <a:off x="1066800" y="5143500"/>
            <a:ext cx="1188000" cy="0"/>
          </a:xfrm>
          <a:prstGeom prst="line">
            <a:avLst/>
          </a:prstGeom>
          <a:ln>
            <a:solidFill>
              <a:srgbClr val="9964CC"/>
            </a:solidFill>
          </a:ln>
        </p:spPr>
        <p:style>
          <a:lnRef idx="2">
            <a:schemeClr val="dk1"/>
          </a:lnRef>
          <a:fillRef idx="0">
            <a:schemeClr val="dk1"/>
          </a:fillRef>
          <a:effectRef idx="1">
            <a:schemeClr val="dk1"/>
          </a:effectRef>
          <a:fontRef idx="minor">
            <a:schemeClr val="tx1"/>
          </a:fontRef>
        </p:style>
      </p:cxnSp>
      <p:pic>
        <p:nvPicPr>
          <p:cNvPr id="35" name="Image 34">
            <a:extLst>
              <a:ext uri="{FF2B5EF4-FFF2-40B4-BE49-F238E27FC236}">
                <a16:creationId xmlns:a16="http://schemas.microsoft.com/office/drawing/2014/main" id="{F3F49777-961F-DA3D-41D6-FDEA8519B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266700"/>
            <a:ext cx="11824800" cy="7883200"/>
          </a:xfrm>
          <a:prstGeom prst="rect">
            <a:avLst/>
          </a:prstGeom>
        </p:spPr>
      </p:pic>
    </p:spTree>
    <p:extLst>
      <p:ext uri="{BB962C8B-B14F-4D97-AF65-F5344CB8AC3E}">
        <p14:creationId xmlns:p14="http://schemas.microsoft.com/office/powerpoint/2010/main" val="32697267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F7FE"/>
        </a:solidFill>
        <a:effectLst/>
      </p:bgPr>
    </p:bg>
    <p:spTree>
      <p:nvGrpSpPr>
        <p:cNvPr id="1" name=""/>
        <p:cNvGrpSpPr/>
        <p:nvPr/>
      </p:nvGrpSpPr>
      <p:grpSpPr>
        <a:xfrm>
          <a:off x="0" y="0"/>
          <a:ext cx="0" cy="0"/>
          <a:chOff x="0" y="0"/>
          <a:chExt cx="0" cy="0"/>
        </a:xfrm>
      </p:grpSpPr>
      <p:sp>
        <p:nvSpPr>
          <p:cNvPr id="2" name="TextBox 2"/>
          <p:cNvSpPr txBox="1"/>
          <p:nvPr/>
        </p:nvSpPr>
        <p:spPr>
          <a:xfrm>
            <a:off x="6799829" y="750555"/>
            <a:ext cx="4688341" cy="776623"/>
          </a:xfrm>
          <a:prstGeom prst="rect">
            <a:avLst/>
          </a:prstGeom>
        </p:spPr>
        <p:txBody>
          <a:bodyPr wrap="square" lIns="0" tIns="0" rIns="0" bIns="0" rtlCol="0" anchor="t">
            <a:spAutoFit/>
          </a:bodyPr>
          <a:lstStyle/>
          <a:p>
            <a:pPr algn="ctr">
              <a:lnSpc>
                <a:spcPts val="6604"/>
              </a:lnSpc>
              <a:spcBef>
                <a:spcPct val="0"/>
              </a:spcBef>
            </a:pPr>
            <a:r>
              <a:rPr lang="en-US" sz="4717" b="1" dirty="0">
                <a:solidFill>
                  <a:srgbClr val="1C1F54"/>
                </a:solidFill>
                <a:latin typeface="Times New Roman Bold"/>
                <a:ea typeface="Times New Roman Bold"/>
                <a:cs typeface="Times New Roman Bold"/>
                <a:sym typeface="Times New Roman Bold"/>
              </a:rPr>
              <a:t>Problématique</a:t>
            </a:r>
          </a:p>
        </p:txBody>
      </p:sp>
      <p:grpSp>
        <p:nvGrpSpPr>
          <p:cNvPr id="16" name="Group 16"/>
          <p:cNvGrpSpPr/>
          <p:nvPr/>
        </p:nvGrpSpPr>
        <p:grpSpPr>
          <a:xfrm>
            <a:off x="9601200" y="2284257"/>
            <a:ext cx="7176760" cy="1339504"/>
            <a:chOff x="0" y="-295101"/>
            <a:chExt cx="9569012" cy="1786005"/>
          </a:xfrm>
        </p:grpSpPr>
        <p:grpSp>
          <p:nvGrpSpPr>
            <p:cNvPr id="17" name="Group 17"/>
            <p:cNvGrpSpPr/>
            <p:nvPr/>
          </p:nvGrpSpPr>
          <p:grpSpPr>
            <a:xfrm>
              <a:off x="0" y="-295101"/>
              <a:ext cx="1219200" cy="1514301"/>
              <a:chOff x="0" y="-57150"/>
              <a:chExt cx="236113" cy="293263"/>
            </a:xfrm>
          </p:grpSpPr>
          <p:sp>
            <p:nvSpPr>
              <p:cNvPr id="18" name="Freeform 18"/>
              <p:cNvSpPr/>
              <p:nvPr/>
            </p:nvSpPr>
            <p:spPr>
              <a:xfrm>
                <a:off x="0" y="0"/>
                <a:ext cx="236113" cy="236113"/>
              </a:xfrm>
              <a:custGeom>
                <a:avLst/>
                <a:gdLst/>
                <a:ahLst/>
                <a:cxnLst/>
                <a:rect l="l" t="t" r="r" b="b"/>
                <a:pathLst>
                  <a:path w="236113" h="236113">
                    <a:moveTo>
                      <a:pt x="118057" y="0"/>
                    </a:moveTo>
                    <a:lnTo>
                      <a:pt x="118057" y="0"/>
                    </a:lnTo>
                    <a:cubicBezTo>
                      <a:pt x="183258" y="0"/>
                      <a:pt x="236113" y="52856"/>
                      <a:pt x="236113" y="118057"/>
                    </a:cubicBezTo>
                    <a:lnTo>
                      <a:pt x="236113" y="118057"/>
                    </a:lnTo>
                    <a:cubicBezTo>
                      <a:pt x="236113" y="183258"/>
                      <a:pt x="183258" y="236113"/>
                      <a:pt x="118057" y="236113"/>
                    </a:cubicBezTo>
                    <a:lnTo>
                      <a:pt x="118057" y="236113"/>
                    </a:lnTo>
                    <a:cubicBezTo>
                      <a:pt x="52856" y="236113"/>
                      <a:pt x="0" y="183258"/>
                      <a:pt x="0" y="118057"/>
                    </a:cubicBezTo>
                    <a:lnTo>
                      <a:pt x="0" y="118057"/>
                    </a:lnTo>
                    <a:cubicBezTo>
                      <a:pt x="0" y="52856"/>
                      <a:pt x="52856" y="0"/>
                      <a:pt x="118057" y="0"/>
                    </a:cubicBezTo>
                    <a:close/>
                  </a:path>
                </a:pathLst>
              </a:custGeom>
              <a:solidFill>
                <a:srgbClr val="FF6584"/>
              </a:solidFill>
            </p:spPr>
            <p:txBody>
              <a:bodyPr/>
              <a:lstStyle/>
              <a:p>
                <a:endParaRPr lang="fr-TN"/>
              </a:p>
            </p:txBody>
          </p:sp>
          <p:sp>
            <p:nvSpPr>
              <p:cNvPr id="19" name="TextBox 19"/>
              <p:cNvSpPr txBox="1"/>
              <p:nvPr/>
            </p:nvSpPr>
            <p:spPr>
              <a:xfrm>
                <a:off x="0" y="-57150"/>
                <a:ext cx="236113" cy="293263"/>
              </a:xfrm>
              <a:prstGeom prst="rect">
                <a:avLst/>
              </a:prstGeom>
            </p:spPr>
            <p:txBody>
              <a:bodyPr lIns="50800" tIns="50800" rIns="50800" bIns="50800" rtlCol="0" anchor="ctr"/>
              <a:lstStyle/>
              <a:p>
                <a:pPr algn="ctr">
                  <a:lnSpc>
                    <a:spcPts val="2519"/>
                  </a:lnSpc>
                </a:pPr>
                <a:endParaRPr/>
              </a:p>
            </p:txBody>
          </p:sp>
        </p:grpSp>
        <p:sp>
          <p:nvSpPr>
            <p:cNvPr id="20" name="TextBox 20"/>
            <p:cNvSpPr txBox="1"/>
            <p:nvPr/>
          </p:nvSpPr>
          <p:spPr>
            <a:xfrm>
              <a:off x="1833245" y="-45212"/>
              <a:ext cx="6251121" cy="556683"/>
            </a:xfrm>
            <a:prstGeom prst="rect">
              <a:avLst/>
            </a:prstGeom>
          </p:spPr>
          <p:txBody>
            <a:bodyPr lIns="0" tIns="0" rIns="0" bIns="0" rtlCol="0" anchor="t">
              <a:spAutoFit/>
            </a:bodyPr>
            <a:lstStyle/>
            <a:p>
              <a:pPr algn="l">
                <a:lnSpc>
                  <a:spcPts val="3499"/>
                </a:lnSpc>
                <a:spcBef>
                  <a:spcPct val="0"/>
                </a:spcBef>
              </a:pPr>
              <a:r>
                <a:rPr lang="en-US" sz="2499" b="1">
                  <a:solidFill>
                    <a:srgbClr val="1A1A2E"/>
                  </a:solidFill>
                  <a:latin typeface="Times New Roman Bold"/>
                  <a:ea typeface="Times New Roman Bold"/>
                  <a:cs typeface="Times New Roman Bold"/>
                  <a:sym typeface="Times New Roman Bold"/>
                </a:rPr>
                <a:t>Latence</a:t>
              </a:r>
            </a:p>
          </p:txBody>
        </p:sp>
        <p:sp>
          <p:nvSpPr>
            <p:cNvPr id="21" name="TextBox 21"/>
            <p:cNvSpPr txBox="1"/>
            <p:nvPr/>
          </p:nvSpPr>
          <p:spPr>
            <a:xfrm>
              <a:off x="1833245" y="553212"/>
              <a:ext cx="7735767" cy="937692"/>
            </a:xfrm>
            <a:prstGeom prst="rect">
              <a:avLst/>
            </a:prstGeom>
          </p:spPr>
          <p:txBody>
            <a:bodyPr lIns="0" tIns="0" rIns="0" bIns="0" rtlCol="0" anchor="t">
              <a:spAutoFit/>
            </a:bodyPr>
            <a:lstStyle/>
            <a:p>
              <a:pPr>
                <a:lnSpc>
                  <a:spcPct val="118000"/>
                </a:lnSpc>
              </a:pPr>
              <a:r>
                <a:rPr lang="en-US" sz="2000" dirty="0" err="1">
                  <a:latin typeface="Times New Roman" panose="02020603050405020304" pitchFamily="18" charset="0"/>
                  <a:ea typeface="Calibri" pitchFamily="34" charset="-122"/>
                  <a:cs typeface="Times New Roman" panose="02020603050405020304" pitchFamily="18" charset="0"/>
                </a:rPr>
                <a:t>Produire</a:t>
              </a:r>
              <a:r>
                <a:rPr lang="en-US" sz="2000" dirty="0">
                  <a:latin typeface="Times New Roman" panose="02020603050405020304" pitchFamily="18" charset="0"/>
                  <a:ea typeface="Calibri" pitchFamily="34" charset="-122"/>
                  <a:cs typeface="Times New Roman" panose="02020603050405020304" pitchFamily="18" charset="0"/>
                </a:rPr>
                <a:t> </a:t>
              </a:r>
              <a:r>
                <a:rPr lang="en-US" sz="2000" dirty="0" err="1">
                  <a:latin typeface="Times New Roman" panose="02020603050405020304" pitchFamily="18" charset="0"/>
                  <a:ea typeface="Calibri" pitchFamily="34" charset="-122"/>
                  <a:cs typeface="Times New Roman" panose="02020603050405020304" pitchFamily="18" charset="0"/>
                </a:rPr>
                <a:t>une</a:t>
              </a:r>
              <a:r>
                <a:rPr lang="en-US" sz="2000" dirty="0">
                  <a:latin typeface="Times New Roman" panose="02020603050405020304" pitchFamily="18" charset="0"/>
                  <a:ea typeface="Calibri" pitchFamily="34" charset="-122"/>
                  <a:cs typeface="Times New Roman" panose="02020603050405020304" pitchFamily="18" charset="0"/>
                </a:rPr>
                <a:t> </a:t>
              </a:r>
              <a:r>
                <a:rPr lang="en-US" sz="2000" dirty="0" err="1">
                  <a:latin typeface="Times New Roman" panose="02020603050405020304" pitchFamily="18" charset="0"/>
                  <a:ea typeface="Calibri" pitchFamily="34" charset="-122"/>
                  <a:cs typeface="Times New Roman" panose="02020603050405020304" pitchFamily="18" charset="0"/>
                </a:rPr>
                <a:t>décision</a:t>
              </a:r>
              <a:r>
                <a:rPr lang="en-US" sz="2000" dirty="0">
                  <a:latin typeface="Times New Roman" panose="02020603050405020304" pitchFamily="18" charset="0"/>
                  <a:ea typeface="Calibri" pitchFamily="34" charset="-122"/>
                  <a:cs typeface="Times New Roman" panose="02020603050405020304" pitchFamily="18" charset="0"/>
                </a:rPr>
                <a:t> dans un </a:t>
              </a:r>
              <a:r>
                <a:rPr lang="en-US" sz="2000" dirty="0" err="1">
                  <a:latin typeface="Times New Roman" panose="02020603050405020304" pitchFamily="18" charset="0"/>
                  <a:ea typeface="Calibri" pitchFamily="34" charset="-122"/>
                  <a:cs typeface="Times New Roman" panose="02020603050405020304" pitchFamily="18" charset="0"/>
                </a:rPr>
                <a:t>délai</a:t>
              </a:r>
              <a:r>
                <a:rPr lang="en-US" sz="2000" dirty="0">
                  <a:latin typeface="Times New Roman" panose="02020603050405020304" pitchFamily="18" charset="0"/>
                  <a:ea typeface="Calibri" pitchFamily="34" charset="-122"/>
                  <a:cs typeface="Times New Roman" panose="02020603050405020304" pitchFamily="18" charset="0"/>
                </a:rPr>
                <a:t> compatible avec </a:t>
              </a:r>
            </a:p>
            <a:p>
              <a:pPr>
                <a:lnSpc>
                  <a:spcPct val="118000"/>
                </a:lnSpc>
              </a:pPr>
              <a:r>
                <a:rPr lang="en-US" sz="2000" dirty="0" err="1">
                  <a:latin typeface="Times New Roman" panose="02020603050405020304" pitchFamily="18" charset="0"/>
                  <a:ea typeface="Calibri" pitchFamily="34" charset="-122"/>
                  <a:cs typeface="Times New Roman" panose="02020603050405020304" pitchFamily="18" charset="0"/>
                </a:rPr>
                <a:t>une</a:t>
              </a:r>
              <a:r>
                <a:rPr lang="en-US" sz="2000" dirty="0">
                  <a:latin typeface="Times New Roman" panose="02020603050405020304" pitchFamily="18" charset="0"/>
                  <a:ea typeface="Calibri" pitchFamily="34" charset="-122"/>
                  <a:cs typeface="Times New Roman" panose="02020603050405020304" pitchFamily="18" charset="0"/>
                </a:rPr>
                <a:t> </a:t>
              </a:r>
              <a:r>
                <a:rPr lang="en-US" sz="2000" dirty="0" err="1">
                  <a:latin typeface="Times New Roman" panose="02020603050405020304" pitchFamily="18" charset="0"/>
                  <a:ea typeface="Calibri" pitchFamily="34" charset="-122"/>
                  <a:cs typeface="Times New Roman" panose="02020603050405020304" pitchFamily="18" charset="0"/>
                </a:rPr>
                <a:t>détection</a:t>
              </a:r>
              <a:r>
                <a:rPr lang="en-US" sz="2000" dirty="0">
                  <a:latin typeface="Times New Roman" panose="02020603050405020304" pitchFamily="18" charset="0"/>
                  <a:ea typeface="Calibri" pitchFamily="34" charset="-122"/>
                  <a:cs typeface="Times New Roman" panose="02020603050405020304" pitchFamily="18" charset="0"/>
                </a:rPr>
                <a:t> quasi temps </a:t>
              </a:r>
              <a:r>
                <a:rPr lang="en-US" sz="2000" dirty="0" err="1">
                  <a:latin typeface="Times New Roman" panose="02020603050405020304" pitchFamily="18" charset="0"/>
                  <a:ea typeface="Calibri" pitchFamily="34" charset="-122"/>
                  <a:cs typeface="Times New Roman" panose="02020603050405020304" pitchFamily="18" charset="0"/>
                </a:rPr>
                <a:t>réel</a:t>
              </a:r>
              <a:r>
                <a:rPr lang="en-US" sz="2000" dirty="0">
                  <a:latin typeface="Times New Roman" panose="02020603050405020304" pitchFamily="18" charset="0"/>
                  <a:ea typeface="Calibri" pitchFamily="34" charset="-122"/>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p:txBody>
        </p:sp>
      </p:grpSp>
      <p:grpSp>
        <p:nvGrpSpPr>
          <p:cNvPr id="22" name="Group 22"/>
          <p:cNvGrpSpPr/>
          <p:nvPr/>
        </p:nvGrpSpPr>
        <p:grpSpPr>
          <a:xfrm>
            <a:off x="9601200" y="3920512"/>
            <a:ext cx="7176759" cy="1141125"/>
            <a:chOff x="0" y="-147551"/>
            <a:chExt cx="9569011" cy="1521500"/>
          </a:xfrm>
        </p:grpSpPr>
        <p:grpSp>
          <p:nvGrpSpPr>
            <p:cNvPr id="23" name="Group 23"/>
            <p:cNvGrpSpPr/>
            <p:nvPr/>
          </p:nvGrpSpPr>
          <p:grpSpPr>
            <a:xfrm>
              <a:off x="0" y="-147551"/>
              <a:ext cx="1219200" cy="1366751"/>
              <a:chOff x="0" y="-28575"/>
              <a:chExt cx="236113" cy="264688"/>
            </a:xfrm>
          </p:grpSpPr>
          <p:sp>
            <p:nvSpPr>
              <p:cNvPr id="24" name="Freeform 24"/>
              <p:cNvSpPr/>
              <p:nvPr/>
            </p:nvSpPr>
            <p:spPr>
              <a:xfrm>
                <a:off x="0" y="0"/>
                <a:ext cx="236113" cy="236113"/>
              </a:xfrm>
              <a:custGeom>
                <a:avLst/>
                <a:gdLst/>
                <a:ahLst/>
                <a:cxnLst/>
                <a:rect l="l" t="t" r="r" b="b"/>
                <a:pathLst>
                  <a:path w="236113" h="236113">
                    <a:moveTo>
                      <a:pt x="118057" y="0"/>
                    </a:moveTo>
                    <a:lnTo>
                      <a:pt x="118057" y="0"/>
                    </a:lnTo>
                    <a:cubicBezTo>
                      <a:pt x="183258" y="0"/>
                      <a:pt x="236113" y="52856"/>
                      <a:pt x="236113" y="118057"/>
                    </a:cubicBezTo>
                    <a:lnTo>
                      <a:pt x="236113" y="118057"/>
                    </a:lnTo>
                    <a:cubicBezTo>
                      <a:pt x="236113" y="183258"/>
                      <a:pt x="183258" y="236113"/>
                      <a:pt x="118057" y="236113"/>
                    </a:cubicBezTo>
                    <a:lnTo>
                      <a:pt x="118057" y="236113"/>
                    </a:lnTo>
                    <a:cubicBezTo>
                      <a:pt x="52856" y="236113"/>
                      <a:pt x="0" y="183258"/>
                      <a:pt x="0" y="118057"/>
                    </a:cubicBezTo>
                    <a:lnTo>
                      <a:pt x="0" y="118057"/>
                    </a:lnTo>
                    <a:cubicBezTo>
                      <a:pt x="0" y="52856"/>
                      <a:pt x="52856" y="0"/>
                      <a:pt x="118057" y="0"/>
                    </a:cubicBezTo>
                    <a:close/>
                  </a:path>
                </a:pathLst>
              </a:custGeom>
              <a:solidFill>
                <a:srgbClr val="CC6499"/>
              </a:solidFill>
            </p:spPr>
            <p:txBody>
              <a:bodyPr/>
              <a:lstStyle/>
              <a:p>
                <a:endParaRPr lang="fr-TN"/>
              </a:p>
            </p:txBody>
          </p:sp>
          <p:sp>
            <p:nvSpPr>
              <p:cNvPr id="25" name="TextBox 25"/>
              <p:cNvSpPr txBox="1"/>
              <p:nvPr/>
            </p:nvSpPr>
            <p:spPr>
              <a:xfrm>
                <a:off x="0" y="-28575"/>
                <a:ext cx="236113" cy="264688"/>
              </a:xfrm>
              <a:prstGeom prst="rect">
                <a:avLst/>
              </a:prstGeom>
            </p:spPr>
            <p:txBody>
              <a:bodyPr lIns="50800" tIns="50800" rIns="50800" bIns="50800" rtlCol="0" anchor="ctr"/>
              <a:lstStyle/>
              <a:p>
                <a:pPr algn="ctr">
                  <a:lnSpc>
                    <a:spcPts val="2519"/>
                  </a:lnSpc>
                </a:pPr>
                <a:endParaRPr/>
              </a:p>
            </p:txBody>
          </p:sp>
        </p:grpSp>
        <p:sp>
          <p:nvSpPr>
            <p:cNvPr id="26" name="TextBox 26"/>
            <p:cNvSpPr txBox="1"/>
            <p:nvPr/>
          </p:nvSpPr>
          <p:spPr>
            <a:xfrm>
              <a:off x="1833245" y="-45212"/>
              <a:ext cx="6251121" cy="556683"/>
            </a:xfrm>
            <a:prstGeom prst="rect">
              <a:avLst/>
            </a:prstGeom>
          </p:spPr>
          <p:txBody>
            <a:bodyPr lIns="0" tIns="0" rIns="0" bIns="0" rtlCol="0" anchor="t">
              <a:spAutoFit/>
            </a:bodyPr>
            <a:lstStyle/>
            <a:p>
              <a:pPr algn="l">
                <a:lnSpc>
                  <a:spcPts val="3499"/>
                </a:lnSpc>
                <a:spcBef>
                  <a:spcPct val="0"/>
                </a:spcBef>
              </a:pPr>
              <a:r>
                <a:rPr lang="en-US" sz="2499" b="1">
                  <a:solidFill>
                    <a:srgbClr val="1A1A2E"/>
                  </a:solidFill>
                  <a:latin typeface="Times New Roman Bold"/>
                  <a:ea typeface="Times New Roman Bold"/>
                  <a:cs typeface="Times New Roman Bold"/>
                  <a:sym typeface="Times New Roman Bold"/>
                </a:rPr>
                <a:t>Faux Positifs</a:t>
              </a:r>
            </a:p>
          </p:txBody>
        </p:sp>
        <p:sp>
          <p:nvSpPr>
            <p:cNvPr id="27" name="TextBox 27"/>
            <p:cNvSpPr txBox="1"/>
            <p:nvPr/>
          </p:nvSpPr>
          <p:spPr>
            <a:xfrm>
              <a:off x="1833245" y="553212"/>
              <a:ext cx="7735766" cy="820737"/>
            </a:xfrm>
            <a:prstGeom prst="rect">
              <a:avLst/>
            </a:prstGeom>
          </p:spPr>
          <p:txBody>
            <a:bodyPr wrap="square" lIns="0" tIns="0" rIns="0" bIns="0" rtlCol="0" anchor="t">
              <a:spAutoFit/>
            </a:bodyPr>
            <a:lstStyle/>
            <a:p>
              <a:pPr algn="l">
                <a:lnSpc>
                  <a:spcPts val="2400"/>
                </a:lnSpc>
              </a:pPr>
              <a:r>
                <a:rPr lang="fr-FR" sz="2000">
                  <a:solidFill>
                    <a:srgbClr val="1A1A2E"/>
                  </a:solidFill>
                  <a:latin typeface="Times New Roman"/>
                  <a:ea typeface="Times New Roman"/>
                  <a:cs typeface="Times New Roman"/>
                  <a:sym typeface="Times New Roman"/>
                </a:rPr>
                <a:t>Calibrer la détection comportementale pour limiter </a:t>
              </a:r>
            </a:p>
            <a:p>
              <a:pPr algn="l">
                <a:lnSpc>
                  <a:spcPts val="2400"/>
                </a:lnSpc>
              </a:pPr>
              <a:r>
                <a:rPr lang="fr-FR" sz="2000">
                  <a:solidFill>
                    <a:srgbClr val="1A1A2E"/>
                  </a:solidFill>
                  <a:latin typeface="Times New Roman"/>
                  <a:ea typeface="Times New Roman"/>
                  <a:cs typeface="Times New Roman"/>
                  <a:sym typeface="Times New Roman"/>
                </a:rPr>
                <a:t>les fausses alertes sans perdre en sensibilité.</a:t>
              </a:r>
            </a:p>
          </p:txBody>
        </p:sp>
      </p:grpSp>
      <p:grpSp>
        <p:nvGrpSpPr>
          <p:cNvPr id="28" name="Group 28"/>
          <p:cNvGrpSpPr/>
          <p:nvPr/>
        </p:nvGrpSpPr>
        <p:grpSpPr>
          <a:xfrm>
            <a:off x="9601200" y="5363142"/>
            <a:ext cx="7076171" cy="1141125"/>
            <a:chOff x="0" y="-147551"/>
            <a:chExt cx="9434894" cy="1521500"/>
          </a:xfrm>
        </p:grpSpPr>
        <p:grpSp>
          <p:nvGrpSpPr>
            <p:cNvPr id="29" name="Group 29"/>
            <p:cNvGrpSpPr/>
            <p:nvPr/>
          </p:nvGrpSpPr>
          <p:grpSpPr>
            <a:xfrm>
              <a:off x="0" y="-147551"/>
              <a:ext cx="1219200" cy="1366751"/>
              <a:chOff x="0" y="-28575"/>
              <a:chExt cx="236113" cy="264688"/>
            </a:xfrm>
          </p:grpSpPr>
          <p:sp>
            <p:nvSpPr>
              <p:cNvPr id="30" name="Freeform 30"/>
              <p:cNvSpPr/>
              <p:nvPr/>
            </p:nvSpPr>
            <p:spPr>
              <a:xfrm>
                <a:off x="0" y="0"/>
                <a:ext cx="236113" cy="236113"/>
              </a:xfrm>
              <a:custGeom>
                <a:avLst/>
                <a:gdLst/>
                <a:ahLst/>
                <a:cxnLst/>
                <a:rect l="l" t="t" r="r" b="b"/>
                <a:pathLst>
                  <a:path w="236113" h="236113">
                    <a:moveTo>
                      <a:pt x="118057" y="0"/>
                    </a:moveTo>
                    <a:lnTo>
                      <a:pt x="118057" y="0"/>
                    </a:lnTo>
                    <a:cubicBezTo>
                      <a:pt x="183258" y="0"/>
                      <a:pt x="236113" y="52856"/>
                      <a:pt x="236113" y="118057"/>
                    </a:cubicBezTo>
                    <a:lnTo>
                      <a:pt x="236113" y="118057"/>
                    </a:lnTo>
                    <a:cubicBezTo>
                      <a:pt x="236113" y="183258"/>
                      <a:pt x="183258" y="236113"/>
                      <a:pt x="118057" y="236113"/>
                    </a:cubicBezTo>
                    <a:lnTo>
                      <a:pt x="118057" y="236113"/>
                    </a:lnTo>
                    <a:cubicBezTo>
                      <a:pt x="52856" y="236113"/>
                      <a:pt x="0" y="183258"/>
                      <a:pt x="0" y="118057"/>
                    </a:cubicBezTo>
                    <a:lnTo>
                      <a:pt x="0" y="118057"/>
                    </a:lnTo>
                    <a:cubicBezTo>
                      <a:pt x="0" y="52856"/>
                      <a:pt x="52856" y="0"/>
                      <a:pt x="118057" y="0"/>
                    </a:cubicBezTo>
                    <a:close/>
                  </a:path>
                </a:pathLst>
              </a:custGeom>
              <a:solidFill>
                <a:srgbClr val="9964CC"/>
              </a:solidFill>
            </p:spPr>
            <p:txBody>
              <a:bodyPr/>
              <a:lstStyle/>
              <a:p>
                <a:endParaRPr lang="fr-TN"/>
              </a:p>
            </p:txBody>
          </p:sp>
          <p:sp>
            <p:nvSpPr>
              <p:cNvPr id="31" name="TextBox 31"/>
              <p:cNvSpPr txBox="1"/>
              <p:nvPr/>
            </p:nvSpPr>
            <p:spPr>
              <a:xfrm>
                <a:off x="0" y="-28575"/>
                <a:ext cx="236113" cy="264688"/>
              </a:xfrm>
              <a:prstGeom prst="rect">
                <a:avLst/>
              </a:prstGeom>
            </p:spPr>
            <p:txBody>
              <a:bodyPr lIns="50800" tIns="50800" rIns="50800" bIns="50800" rtlCol="0" anchor="ctr"/>
              <a:lstStyle/>
              <a:p>
                <a:pPr algn="ctr">
                  <a:lnSpc>
                    <a:spcPts val="2519"/>
                  </a:lnSpc>
                </a:pPr>
                <a:endParaRPr/>
              </a:p>
            </p:txBody>
          </p:sp>
        </p:grpSp>
        <p:sp>
          <p:nvSpPr>
            <p:cNvPr id="32" name="TextBox 32"/>
            <p:cNvSpPr txBox="1"/>
            <p:nvPr/>
          </p:nvSpPr>
          <p:spPr>
            <a:xfrm>
              <a:off x="1833245" y="-45212"/>
              <a:ext cx="6251121" cy="556683"/>
            </a:xfrm>
            <a:prstGeom prst="rect">
              <a:avLst/>
            </a:prstGeom>
          </p:spPr>
          <p:txBody>
            <a:bodyPr lIns="0" tIns="0" rIns="0" bIns="0" rtlCol="0" anchor="t">
              <a:spAutoFit/>
            </a:bodyPr>
            <a:lstStyle/>
            <a:p>
              <a:pPr algn="l">
                <a:lnSpc>
                  <a:spcPts val="3499"/>
                </a:lnSpc>
                <a:spcBef>
                  <a:spcPct val="0"/>
                </a:spcBef>
              </a:pPr>
              <a:r>
                <a:rPr lang="en-US" sz="2499" b="1">
                  <a:solidFill>
                    <a:srgbClr val="1A1A2E"/>
                  </a:solidFill>
                  <a:latin typeface="Times New Roman Bold"/>
                  <a:ea typeface="Times New Roman Bold"/>
                  <a:cs typeface="Times New Roman Bold"/>
                  <a:sym typeface="Times New Roman Bold"/>
                </a:rPr>
                <a:t>Comportements inconnus</a:t>
              </a:r>
            </a:p>
          </p:txBody>
        </p:sp>
        <p:sp>
          <p:nvSpPr>
            <p:cNvPr id="33" name="TextBox 33"/>
            <p:cNvSpPr txBox="1"/>
            <p:nvPr/>
          </p:nvSpPr>
          <p:spPr>
            <a:xfrm>
              <a:off x="1833245" y="553212"/>
              <a:ext cx="7601649" cy="820737"/>
            </a:xfrm>
            <a:prstGeom prst="rect">
              <a:avLst/>
            </a:prstGeom>
          </p:spPr>
          <p:txBody>
            <a:bodyPr wrap="square" lIns="0" tIns="0" rIns="0" bIns="0" rtlCol="0" anchor="t">
              <a:spAutoFit/>
            </a:bodyPr>
            <a:lstStyle/>
            <a:p>
              <a:pPr algn="l">
                <a:lnSpc>
                  <a:spcPts val="2400"/>
                </a:lnSpc>
              </a:pPr>
              <a:r>
                <a:rPr lang="fr-FR" sz="2000">
                  <a:solidFill>
                    <a:srgbClr val="1A1A2E"/>
                  </a:solidFill>
                  <a:latin typeface="Times New Roman"/>
                  <a:ea typeface="Times New Roman"/>
                  <a:cs typeface="Times New Roman"/>
                  <a:sym typeface="Times New Roman"/>
                </a:rPr>
                <a:t>Compléter la détection par signatures par une approche comportementale non supervisée.</a:t>
              </a:r>
            </a:p>
          </p:txBody>
        </p:sp>
      </p:grpSp>
      <p:grpSp>
        <p:nvGrpSpPr>
          <p:cNvPr id="34" name="Group 34"/>
          <p:cNvGrpSpPr/>
          <p:nvPr/>
        </p:nvGrpSpPr>
        <p:grpSpPr>
          <a:xfrm>
            <a:off x="9607718" y="6915653"/>
            <a:ext cx="7283209" cy="1141125"/>
            <a:chOff x="0" y="-147551"/>
            <a:chExt cx="9710944" cy="1521500"/>
          </a:xfrm>
        </p:grpSpPr>
        <p:grpSp>
          <p:nvGrpSpPr>
            <p:cNvPr id="35" name="Group 35"/>
            <p:cNvGrpSpPr/>
            <p:nvPr/>
          </p:nvGrpSpPr>
          <p:grpSpPr>
            <a:xfrm>
              <a:off x="0" y="-147551"/>
              <a:ext cx="1219200" cy="1366751"/>
              <a:chOff x="0" y="-28575"/>
              <a:chExt cx="236113" cy="264688"/>
            </a:xfrm>
          </p:grpSpPr>
          <p:sp>
            <p:nvSpPr>
              <p:cNvPr id="36" name="Freeform 36"/>
              <p:cNvSpPr/>
              <p:nvPr/>
            </p:nvSpPr>
            <p:spPr>
              <a:xfrm>
                <a:off x="0" y="0"/>
                <a:ext cx="236113" cy="236113"/>
              </a:xfrm>
              <a:custGeom>
                <a:avLst/>
                <a:gdLst/>
                <a:ahLst/>
                <a:cxnLst/>
                <a:rect l="l" t="t" r="r" b="b"/>
                <a:pathLst>
                  <a:path w="236113" h="236113">
                    <a:moveTo>
                      <a:pt x="118057" y="0"/>
                    </a:moveTo>
                    <a:lnTo>
                      <a:pt x="118057" y="0"/>
                    </a:lnTo>
                    <a:cubicBezTo>
                      <a:pt x="183258" y="0"/>
                      <a:pt x="236113" y="52856"/>
                      <a:pt x="236113" y="118057"/>
                    </a:cubicBezTo>
                    <a:lnTo>
                      <a:pt x="236113" y="118057"/>
                    </a:lnTo>
                    <a:cubicBezTo>
                      <a:pt x="236113" y="183258"/>
                      <a:pt x="183258" y="236113"/>
                      <a:pt x="118057" y="236113"/>
                    </a:cubicBezTo>
                    <a:lnTo>
                      <a:pt x="118057" y="236113"/>
                    </a:lnTo>
                    <a:cubicBezTo>
                      <a:pt x="52856" y="236113"/>
                      <a:pt x="0" y="183258"/>
                      <a:pt x="0" y="118057"/>
                    </a:cubicBezTo>
                    <a:lnTo>
                      <a:pt x="0" y="118057"/>
                    </a:lnTo>
                    <a:cubicBezTo>
                      <a:pt x="0" y="52856"/>
                      <a:pt x="52856" y="0"/>
                      <a:pt x="118057" y="0"/>
                    </a:cubicBezTo>
                    <a:close/>
                  </a:path>
                </a:pathLst>
              </a:custGeom>
              <a:solidFill>
                <a:srgbClr val="6C63FF"/>
              </a:solidFill>
            </p:spPr>
            <p:txBody>
              <a:bodyPr/>
              <a:lstStyle/>
              <a:p>
                <a:endParaRPr lang="fr-TN"/>
              </a:p>
            </p:txBody>
          </p:sp>
          <p:sp>
            <p:nvSpPr>
              <p:cNvPr id="37" name="TextBox 37"/>
              <p:cNvSpPr txBox="1"/>
              <p:nvPr/>
            </p:nvSpPr>
            <p:spPr>
              <a:xfrm>
                <a:off x="0" y="-28575"/>
                <a:ext cx="236113" cy="264688"/>
              </a:xfrm>
              <a:prstGeom prst="rect">
                <a:avLst/>
              </a:prstGeom>
            </p:spPr>
            <p:txBody>
              <a:bodyPr lIns="50800" tIns="50800" rIns="50800" bIns="50800" rtlCol="0" anchor="ctr"/>
              <a:lstStyle/>
              <a:p>
                <a:pPr algn="ctr">
                  <a:lnSpc>
                    <a:spcPts val="2519"/>
                  </a:lnSpc>
                </a:pPr>
                <a:endParaRPr/>
              </a:p>
            </p:txBody>
          </p:sp>
        </p:grpSp>
        <p:sp>
          <p:nvSpPr>
            <p:cNvPr id="38" name="TextBox 38"/>
            <p:cNvSpPr txBox="1"/>
            <p:nvPr/>
          </p:nvSpPr>
          <p:spPr>
            <a:xfrm>
              <a:off x="1833245" y="-45212"/>
              <a:ext cx="6251121" cy="556683"/>
            </a:xfrm>
            <a:prstGeom prst="rect">
              <a:avLst/>
            </a:prstGeom>
          </p:spPr>
          <p:txBody>
            <a:bodyPr lIns="0" tIns="0" rIns="0" bIns="0" rtlCol="0" anchor="t">
              <a:spAutoFit/>
            </a:bodyPr>
            <a:lstStyle/>
            <a:p>
              <a:pPr algn="l">
                <a:lnSpc>
                  <a:spcPts val="3499"/>
                </a:lnSpc>
                <a:spcBef>
                  <a:spcPct val="0"/>
                </a:spcBef>
              </a:pPr>
              <a:r>
                <a:rPr lang="en-US" sz="2499" b="1">
                  <a:solidFill>
                    <a:srgbClr val="1A1A2E"/>
                  </a:solidFill>
                  <a:latin typeface="Times New Roman Bold"/>
                  <a:ea typeface="Times New Roman Bold"/>
                  <a:cs typeface="Times New Roman Bold"/>
                  <a:sym typeface="Times New Roman Bold"/>
                </a:rPr>
                <a:t>Accessibilité</a:t>
              </a:r>
            </a:p>
          </p:txBody>
        </p:sp>
        <p:sp>
          <p:nvSpPr>
            <p:cNvPr id="39" name="TextBox 39"/>
            <p:cNvSpPr txBox="1"/>
            <p:nvPr/>
          </p:nvSpPr>
          <p:spPr>
            <a:xfrm>
              <a:off x="1833245" y="553212"/>
              <a:ext cx="7877699" cy="820737"/>
            </a:xfrm>
            <a:prstGeom prst="rect">
              <a:avLst/>
            </a:prstGeom>
          </p:spPr>
          <p:txBody>
            <a:bodyPr wrap="square" lIns="0" tIns="0" rIns="0" bIns="0" rtlCol="0" anchor="t">
              <a:spAutoFit/>
            </a:bodyPr>
            <a:lstStyle/>
            <a:p>
              <a:pPr algn="l">
                <a:lnSpc>
                  <a:spcPts val="2400"/>
                </a:lnSpc>
              </a:pPr>
              <a:r>
                <a:rPr lang="fr-FR" sz="2000">
                  <a:solidFill>
                    <a:srgbClr val="1A1A2E"/>
                  </a:solidFill>
                  <a:latin typeface="Times New Roman"/>
                  <a:ea typeface="Times New Roman"/>
                  <a:cs typeface="Times New Roman"/>
                  <a:sym typeface="Times New Roman"/>
                </a:rPr>
                <a:t>Concevoir une architecture open-source et auto-hébergée, sans dépendance à un éditeur.</a:t>
              </a:r>
            </a:p>
          </p:txBody>
        </p:sp>
      </p:grpSp>
      <p:sp>
        <p:nvSpPr>
          <p:cNvPr id="44" name="TextBox 44"/>
          <p:cNvSpPr txBox="1"/>
          <p:nvPr/>
        </p:nvSpPr>
        <p:spPr>
          <a:xfrm>
            <a:off x="9532781" y="2655760"/>
            <a:ext cx="1031684" cy="547370"/>
          </a:xfrm>
          <a:prstGeom prst="rect">
            <a:avLst/>
          </a:prstGeom>
        </p:spPr>
        <p:txBody>
          <a:bodyPr lIns="0" tIns="0" rIns="0" bIns="0" rtlCol="0" anchor="t">
            <a:spAutoFit/>
          </a:bodyPr>
          <a:lstStyle/>
          <a:p>
            <a:pPr algn="ctr">
              <a:lnSpc>
                <a:spcPts val="4480"/>
              </a:lnSpc>
              <a:spcBef>
                <a:spcPct val="0"/>
              </a:spcBef>
            </a:pPr>
            <a:r>
              <a:rPr lang="en-US" sz="3200" b="1">
                <a:solidFill>
                  <a:srgbClr val="F0F7FE"/>
                </a:solidFill>
                <a:latin typeface="Bricolage Grotesque Bold"/>
                <a:ea typeface="Bricolage Grotesque Bold"/>
                <a:cs typeface="Bricolage Grotesque Bold"/>
                <a:sym typeface="Bricolage Grotesque Bold"/>
              </a:rPr>
              <a:t>01</a:t>
            </a:r>
          </a:p>
        </p:txBody>
      </p:sp>
      <p:sp>
        <p:nvSpPr>
          <p:cNvPr id="45" name="TextBox 45"/>
          <p:cNvSpPr txBox="1"/>
          <p:nvPr/>
        </p:nvSpPr>
        <p:spPr>
          <a:xfrm>
            <a:off x="9532781" y="4181352"/>
            <a:ext cx="1031684" cy="547370"/>
          </a:xfrm>
          <a:prstGeom prst="rect">
            <a:avLst/>
          </a:prstGeom>
        </p:spPr>
        <p:txBody>
          <a:bodyPr lIns="0" tIns="0" rIns="0" bIns="0" rtlCol="0" anchor="t">
            <a:spAutoFit/>
          </a:bodyPr>
          <a:lstStyle/>
          <a:p>
            <a:pPr algn="ctr">
              <a:lnSpc>
                <a:spcPts val="4480"/>
              </a:lnSpc>
              <a:spcBef>
                <a:spcPct val="0"/>
              </a:spcBef>
            </a:pPr>
            <a:r>
              <a:rPr lang="en-US" sz="3200" b="1">
                <a:solidFill>
                  <a:srgbClr val="F0F7FE"/>
                </a:solidFill>
                <a:latin typeface="Bricolage Grotesque Bold"/>
                <a:ea typeface="Bricolage Grotesque Bold"/>
                <a:cs typeface="Bricolage Grotesque Bold"/>
                <a:sym typeface="Bricolage Grotesque Bold"/>
              </a:rPr>
              <a:t>02</a:t>
            </a:r>
          </a:p>
        </p:txBody>
      </p:sp>
      <p:sp>
        <p:nvSpPr>
          <p:cNvPr id="46" name="TextBox 46"/>
          <p:cNvSpPr txBox="1"/>
          <p:nvPr/>
        </p:nvSpPr>
        <p:spPr>
          <a:xfrm>
            <a:off x="9532781" y="5623982"/>
            <a:ext cx="1031684" cy="547370"/>
          </a:xfrm>
          <a:prstGeom prst="rect">
            <a:avLst/>
          </a:prstGeom>
        </p:spPr>
        <p:txBody>
          <a:bodyPr lIns="0" tIns="0" rIns="0" bIns="0" rtlCol="0" anchor="t">
            <a:spAutoFit/>
          </a:bodyPr>
          <a:lstStyle/>
          <a:p>
            <a:pPr algn="ctr">
              <a:lnSpc>
                <a:spcPts val="4480"/>
              </a:lnSpc>
              <a:spcBef>
                <a:spcPct val="0"/>
              </a:spcBef>
            </a:pPr>
            <a:r>
              <a:rPr lang="en-US" sz="3200" b="1">
                <a:solidFill>
                  <a:srgbClr val="F0F7FE"/>
                </a:solidFill>
                <a:latin typeface="Bricolage Grotesque Bold"/>
                <a:ea typeface="Bricolage Grotesque Bold"/>
                <a:cs typeface="Bricolage Grotesque Bold"/>
                <a:sym typeface="Bricolage Grotesque Bold"/>
              </a:rPr>
              <a:t>03</a:t>
            </a:r>
          </a:p>
        </p:txBody>
      </p:sp>
      <p:sp>
        <p:nvSpPr>
          <p:cNvPr id="47" name="TextBox 47"/>
          <p:cNvSpPr txBox="1"/>
          <p:nvPr/>
        </p:nvSpPr>
        <p:spPr>
          <a:xfrm>
            <a:off x="9539299" y="7176494"/>
            <a:ext cx="1031684" cy="547370"/>
          </a:xfrm>
          <a:prstGeom prst="rect">
            <a:avLst/>
          </a:prstGeom>
        </p:spPr>
        <p:txBody>
          <a:bodyPr lIns="0" tIns="0" rIns="0" bIns="0" rtlCol="0" anchor="t">
            <a:spAutoFit/>
          </a:bodyPr>
          <a:lstStyle/>
          <a:p>
            <a:pPr algn="ctr">
              <a:lnSpc>
                <a:spcPts val="4480"/>
              </a:lnSpc>
              <a:spcBef>
                <a:spcPct val="0"/>
              </a:spcBef>
            </a:pPr>
            <a:r>
              <a:rPr lang="en-US" sz="3200" b="1">
                <a:solidFill>
                  <a:srgbClr val="F0F7FE"/>
                </a:solidFill>
                <a:latin typeface="Bricolage Grotesque Bold"/>
                <a:ea typeface="Bricolage Grotesque Bold"/>
                <a:cs typeface="Bricolage Grotesque Bold"/>
                <a:sym typeface="Bricolage Grotesque Bold"/>
              </a:rPr>
              <a:t>04</a:t>
            </a:r>
          </a:p>
        </p:txBody>
      </p:sp>
      <p:grpSp>
        <p:nvGrpSpPr>
          <p:cNvPr id="48" name="Group 34">
            <a:extLst>
              <a:ext uri="{FF2B5EF4-FFF2-40B4-BE49-F238E27FC236}">
                <a16:creationId xmlns:a16="http://schemas.microsoft.com/office/drawing/2014/main" id="{FBEA7B57-8320-8F0C-1660-81044F7119FB}"/>
              </a:ext>
            </a:extLst>
          </p:cNvPr>
          <p:cNvGrpSpPr/>
          <p:nvPr/>
        </p:nvGrpSpPr>
        <p:grpSpPr>
          <a:xfrm>
            <a:off x="9601200" y="8345996"/>
            <a:ext cx="7283208" cy="1141125"/>
            <a:chOff x="0" y="-147551"/>
            <a:chExt cx="9710944" cy="1521500"/>
          </a:xfrm>
        </p:grpSpPr>
        <p:grpSp>
          <p:nvGrpSpPr>
            <p:cNvPr id="49" name="Group 35">
              <a:extLst>
                <a:ext uri="{FF2B5EF4-FFF2-40B4-BE49-F238E27FC236}">
                  <a16:creationId xmlns:a16="http://schemas.microsoft.com/office/drawing/2014/main" id="{A8FD82A8-BEF3-3734-30B4-BA89D5C4E1CD}"/>
                </a:ext>
              </a:extLst>
            </p:cNvPr>
            <p:cNvGrpSpPr/>
            <p:nvPr/>
          </p:nvGrpSpPr>
          <p:grpSpPr>
            <a:xfrm>
              <a:off x="0" y="-147551"/>
              <a:ext cx="1219200" cy="1366751"/>
              <a:chOff x="0" y="-28575"/>
              <a:chExt cx="236113" cy="264688"/>
            </a:xfrm>
          </p:grpSpPr>
          <p:sp>
            <p:nvSpPr>
              <p:cNvPr id="52" name="Freeform 36">
                <a:extLst>
                  <a:ext uri="{FF2B5EF4-FFF2-40B4-BE49-F238E27FC236}">
                    <a16:creationId xmlns:a16="http://schemas.microsoft.com/office/drawing/2014/main" id="{939E23F2-F045-5E1A-D29E-05F1DC924471}"/>
                  </a:ext>
                </a:extLst>
              </p:cNvPr>
              <p:cNvSpPr/>
              <p:nvPr/>
            </p:nvSpPr>
            <p:spPr>
              <a:xfrm>
                <a:off x="0" y="0"/>
                <a:ext cx="236113" cy="236113"/>
              </a:xfrm>
              <a:custGeom>
                <a:avLst/>
                <a:gdLst/>
                <a:ahLst/>
                <a:cxnLst/>
                <a:rect l="l" t="t" r="r" b="b"/>
                <a:pathLst>
                  <a:path w="236113" h="236113">
                    <a:moveTo>
                      <a:pt x="118057" y="0"/>
                    </a:moveTo>
                    <a:lnTo>
                      <a:pt x="118057" y="0"/>
                    </a:lnTo>
                    <a:cubicBezTo>
                      <a:pt x="183258" y="0"/>
                      <a:pt x="236113" y="52856"/>
                      <a:pt x="236113" y="118057"/>
                    </a:cubicBezTo>
                    <a:lnTo>
                      <a:pt x="236113" y="118057"/>
                    </a:lnTo>
                    <a:cubicBezTo>
                      <a:pt x="236113" y="183258"/>
                      <a:pt x="183258" y="236113"/>
                      <a:pt x="118057" y="236113"/>
                    </a:cubicBezTo>
                    <a:lnTo>
                      <a:pt x="118057" y="236113"/>
                    </a:lnTo>
                    <a:cubicBezTo>
                      <a:pt x="52856" y="236113"/>
                      <a:pt x="0" y="183258"/>
                      <a:pt x="0" y="118057"/>
                    </a:cubicBezTo>
                    <a:lnTo>
                      <a:pt x="0" y="118057"/>
                    </a:lnTo>
                    <a:cubicBezTo>
                      <a:pt x="0" y="52856"/>
                      <a:pt x="52856" y="0"/>
                      <a:pt x="118057" y="0"/>
                    </a:cubicBezTo>
                    <a:close/>
                  </a:path>
                </a:pathLst>
              </a:custGeom>
              <a:solidFill>
                <a:srgbClr val="002060"/>
              </a:solidFill>
            </p:spPr>
            <p:txBody>
              <a:bodyPr/>
              <a:lstStyle/>
              <a:p>
                <a:endParaRPr lang="fr-TN">
                  <a:solidFill>
                    <a:srgbClr val="7030A0"/>
                  </a:solidFill>
                </a:endParaRPr>
              </a:p>
            </p:txBody>
          </p:sp>
          <p:sp>
            <p:nvSpPr>
              <p:cNvPr id="53" name="TextBox 37">
                <a:extLst>
                  <a:ext uri="{FF2B5EF4-FFF2-40B4-BE49-F238E27FC236}">
                    <a16:creationId xmlns:a16="http://schemas.microsoft.com/office/drawing/2014/main" id="{EEFE8A51-8E4D-447A-9E1C-331CCF8DF8F0}"/>
                  </a:ext>
                </a:extLst>
              </p:cNvPr>
              <p:cNvSpPr txBox="1"/>
              <p:nvPr/>
            </p:nvSpPr>
            <p:spPr>
              <a:xfrm>
                <a:off x="0" y="-28575"/>
                <a:ext cx="236113" cy="264688"/>
              </a:xfrm>
              <a:prstGeom prst="rect">
                <a:avLst/>
              </a:prstGeom>
            </p:spPr>
            <p:txBody>
              <a:bodyPr lIns="50800" tIns="50800" rIns="50800" bIns="50800" rtlCol="0" anchor="ctr"/>
              <a:lstStyle/>
              <a:p>
                <a:pPr algn="ctr">
                  <a:lnSpc>
                    <a:spcPts val="2519"/>
                  </a:lnSpc>
                </a:pPr>
                <a:endParaRPr/>
              </a:p>
            </p:txBody>
          </p:sp>
        </p:grpSp>
        <p:sp>
          <p:nvSpPr>
            <p:cNvPr id="50" name="TextBox 38">
              <a:extLst>
                <a:ext uri="{FF2B5EF4-FFF2-40B4-BE49-F238E27FC236}">
                  <a16:creationId xmlns:a16="http://schemas.microsoft.com/office/drawing/2014/main" id="{0EE0831C-527F-869A-6C83-8C8382E2DE4E}"/>
                </a:ext>
              </a:extLst>
            </p:cNvPr>
            <p:cNvSpPr txBox="1"/>
            <p:nvPr/>
          </p:nvSpPr>
          <p:spPr>
            <a:xfrm>
              <a:off x="1833245" y="-45212"/>
              <a:ext cx="6251120" cy="556683"/>
            </a:xfrm>
            <a:prstGeom prst="rect">
              <a:avLst/>
            </a:prstGeom>
          </p:spPr>
          <p:txBody>
            <a:bodyPr lIns="0" tIns="0" rIns="0" bIns="0" rtlCol="0" anchor="t">
              <a:spAutoFit/>
            </a:bodyPr>
            <a:lstStyle/>
            <a:p>
              <a:pPr algn="l">
                <a:lnSpc>
                  <a:spcPts val="3499"/>
                </a:lnSpc>
                <a:spcBef>
                  <a:spcPct val="0"/>
                </a:spcBef>
              </a:pPr>
              <a:r>
                <a:rPr lang="en-US" sz="2499" b="1">
                  <a:solidFill>
                    <a:srgbClr val="1A1A2E"/>
                  </a:solidFill>
                  <a:latin typeface="Times New Roman Bold"/>
                  <a:ea typeface="Times New Roman Bold"/>
                  <a:cs typeface="Times New Roman Bold"/>
                  <a:sym typeface="Times New Roman Bold"/>
                </a:rPr>
                <a:t>Continuité de la réponse</a:t>
              </a:r>
            </a:p>
          </p:txBody>
        </p:sp>
        <p:sp>
          <p:nvSpPr>
            <p:cNvPr id="51" name="TextBox 39">
              <a:extLst>
                <a:ext uri="{FF2B5EF4-FFF2-40B4-BE49-F238E27FC236}">
                  <a16:creationId xmlns:a16="http://schemas.microsoft.com/office/drawing/2014/main" id="{C53DE424-5C81-6CBF-4F36-F8FC4B7066B2}"/>
                </a:ext>
              </a:extLst>
            </p:cNvPr>
            <p:cNvSpPr txBox="1"/>
            <p:nvPr/>
          </p:nvSpPr>
          <p:spPr>
            <a:xfrm>
              <a:off x="1833245" y="553212"/>
              <a:ext cx="7877699" cy="820737"/>
            </a:xfrm>
            <a:prstGeom prst="rect">
              <a:avLst/>
            </a:prstGeom>
          </p:spPr>
          <p:txBody>
            <a:bodyPr wrap="square" lIns="0" tIns="0" rIns="0" bIns="0" rtlCol="0" anchor="t">
              <a:spAutoFit/>
            </a:bodyPr>
            <a:lstStyle/>
            <a:p>
              <a:pPr algn="l">
                <a:lnSpc>
                  <a:spcPts val="2400"/>
                </a:lnSpc>
              </a:pPr>
              <a:r>
                <a:rPr lang="fr-FR" sz="2000">
                  <a:solidFill>
                    <a:srgbClr val="1A1A2E"/>
                  </a:solidFill>
                  <a:latin typeface="Times New Roman"/>
                  <a:ea typeface="Times New Roman"/>
                  <a:cs typeface="Times New Roman"/>
                  <a:sym typeface="Times New Roman"/>
                </a:rPr>
                <a:t>Automatiser la mitigation 24/7 tout en gardant traçabilité, audit et moindre privilège.</a:t>
              </a:r>
            </a:p>
          </p:txBody>
        </p:sp>
      </p:grpSp>
      <p:sp>
        <p:nvSpPr>
          <p:cNvPr id="54" name="TextBox 47">
            <a:extLst>
              <a:ext uri="{FF2B5EF4-FFF2-40B4-BE49-F238E27FC236}">
                <a16:creationId xmlns:a16="http://schemas.microsoft.com/office/drawing/2014/main" id="{6E07FB1E-7096-0453-C1BB-BE00F0FE16BD}"/>
              </a:ext>
            </a:extLst>
          </p:cNvPr>
          <p:cNvSpPr txBox="1"/>
          <p:nvPr/>
        </p:nvSpPr>
        <p:spPr>
          <a:xfrm>
            <a:off x="9532781" y="8606837"/>
            <a:ext cx="1031684" cy="547370"/>
          </a:xfrm>
          <a:prstGeom prst="rect">
            <a:avLst/>
          </a:prstGeom>
        </p:spPr>
        <p:txBody>
          <a:bodyPr lIns="0" tIns="0" rIns="0" bIns="0" rtlCol="0" anchor="t">
            <a:spAutoFit/>
          </a:bodyPr>
          <a:lstStyle/>
          <a:p>
            <a:pPr algn="ctr">
              <a:lnSpc>
                <a:spcPts val="4480"/>
              </a:lnSpc>
              <a:spcBef>
                <a:spcPct val="0"/>
              </a:spcBef>
            </a:pPr>
            <a:r>
              <a:rPr lang="en-US" sz="3200" b="1">
                <a:solidFill>
                  <a:srgbClr val="F0F7FE"/>
                </a:solidFill>
                <a:latin typeface="Bricolage Grotesque Bold"/>
                <a:ea typeface="Bricolage Grotesque Bold"/>
                <a:cs typeface="Bricolage Grotesque Bold"/>
                <a:sym typeface="Bricolage Grotesque Bold"/>
              </a:rPr>
              <a:t>05</a:t>
            </a:r>
          </a:p>
        </p:txBody>
      </p:sp>
      <p:pic>
        <p:nvPicPr>
          <p:cNvPr id="58" name="Picture 57">
            <a:extLst>
              <a:ext uri="{FF2B5EF4-FFF2-40B4-BE49-F238E27FC236}">
                <a16:creationId xmlns:a16="http://schemas.microsoft.com/office/drawing/2014/main" id="{1F0AC385-F4E4-6115-80B9-62DFE224946F}"/>
              </a:ext>
            </a:extLst>
          </p:cNvPr>
          <p:cNvPicPr>
            <a:picLocks noChangeAspect="1"/>
          </p:cNvPicPr>
          <p:nvPr/>
        </p:nvPicPr>
        <p:blipFill>
          <a:blip r:embed="rId3">
            <a:extLst>
              <a:ext uri="{28A0092B-C50C-407E-A947-70E740481C1C}">
                <a14:useLocalDpi xmlns:a14="http://schemas.microsoft.com/office/drawing/2010/main" val="0"/>
              </a:ext>
            </a:extLst>
          </a:blip>
          <a:srcRect l="7980" t="4546" r="9607" b="8710"/>
          <a:stretch>
            <a:fillRect/>
          </a:stretch>
        </p:blipFill>
        <p:spPr>
          <a:xfrm>
            <a:off x="1938838" y="2962783"/>
            <a:ext cx="5908275" cy="5951076"/>
          </a:xfrm>
          <a:prstGeom prst="rect">
            <a:avLst/>
          </a:prstGeom>
        </p:spPr>
      </p:pic>
      <p:sp>
        <p:nvSpPr>
          <p:cNvPr id="4" name="Freeform 7">
            <a:extLst>
              <a:ext uri="{FF2B5EF4-FFF2-40B4-BE49-F238E27FC236}">
                <a16:creationId xmlns:a16="http://schemas.microsoft.com/office/drawing/2014/main" id="{83692EE3-17A4-EF1D-BCA5-46B0C6C39B9E}"/>
              </a:ext>
            </a:extLst>
          </p:cNvPr>
          <p:cNvSpPr>
            <a:spLocks/>
          </p:cNvSpPr>
          <p:nvPr/>
        </p:nvSpPr>
        <p:spPr>
          <a:xfrm>
            <a:off x="-393602" y="9487121"/>
            <a:ext cx="393602" cy="931106"/>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4"/>
                </a:ext>
              </a:extLst>
            </a:blip>
            <a:stretch>
              <a:fillRect l="67" t="-188" r="-67" b="-414"/>
            </a:stretch>
          </a:blipFill>
        </p:spPr>
        <p:txBody>
          <a:bodyPr/>
          <a:lstStyle/>
          <a:p>
            <a:endParaRPr lang="fr-TN"/>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0F7FE"/>
        </a:solidFill>
        <a:effectLst/>
      </p:bgPr>
    </p:bg>
    <p:spTree>
      <p:nvGrpSpPr>
        <p:cNvPr id="1" name=""/>
        <p:cNvGrpSpPr/>
        <p:nvPr/>
      </p:nvGrpSpPr>
      <p:grpSpPr>
        <a:xfrm>
          <a:off x="0" y="0"/>
          <a:ext cx="0" cy="0"/>
          <a:chOff x="0" y="0"/>
          <a:chExt cx="0" cy="0"/>
        </a:xfrm>
      </p:grpSpPr>
      <p:sp>
        <p:nvSpPr>
          <p:cNvPr id="2" name="TextBox 2"/>
          <p:cNvSpPr txBox="1"/>
          <p:nvPr/>
        </p:nvSpPr>
        <p:spPr>
          <a:xfrm>
            <a:off x="6294175" y="921251"/>
            <a:ext cx="6206067" cy="776623"/>
          </a:xfrm>
          <a:prstGeom prst="rect">
            <a:avLst/>
          </a:prstGeom>
        </p:spPr>
        <p:txBody>
          <a:bodyPr wrap="square" lIns="0" tIns="0" rIns="0" bIns="0" rtlCol="0" anchor="t">
            <a:spAutoFit/>
          </a:bodyPr>
          <a:lstStyle/>
          <a:p>
            <a:pPr algn="ctr">
              <a:lnSpc>
                <a:spcPts val="6604"/>
              </a:lnSpc>
              <a:spcBef>
                <a:spcPct val="0"/>
              </a:spcBef>
            </a:pPr>
            <a:r>
              <a:rPr lang="en-US" sz="4717" b="1" dirty="0">
                <a:solidFill>
                  <a:srgbClr val="1C1F54"/>
                </a:solidFill>
                <a:latin typeface="Times New Roman Bold"/>
                <a:ea typeface="Times New Roman Bold"/>
                <a:cs typeface="Times New Roman Bold"/>
                <a:sym typeface="Times New Roman Bold"/>
              </a:rPr>
              <a:t>Étude de </a:t>
            </a:r>
            <a:r>
              <a:rPr lang="en-US" sz="4717" b="1" dirty="0" err="1">
                <a:solidFill>
                  <a:srgbClr val="1C1F54"/>
                </a:solidFill>
                <a:latin typeface="Times New Roman Bold"/>
                <a:ea typeface="Times New Roman Bold"/>
                <a:cs typeface="Times New Roman Bold"/>
                <a:sym typeface="Times New Roman Bold"/>
              </a:rPr>
              <a:t>l’existant</a:t>
            </a:r>
            <a:endParaRPr lang="en-US" sz="4717" b="1" dirty="0">
              <a:solidFill>
                <a:srgbClr val="1C1F54"/>
              </a:solidFill>
              <a:latin typeface="Times New Roman Bold"/>
              <a:ea typeface="Times New Roman Bold"/>
              <a:cs typeface="Times New Roman Bold"/>
              <a:sym typeface="Times New Roman Bold"/>
            </a:endParaRPr>
          </a:p>
        </p:txBody>
      </p:sp>
      <p:sp>
        <p:nvSpPr>
          <p:cNvPr id="9" name="TextBox 4">
            <a:extLst>
              <a:ext uri="{FF2B5EF4-FFF2-40B4-BE49-F238E27FC236}">
                <a16:creationId xmlns:a16="http://schemas.microsoft.com/office/drawing/2014/main" id="{566C17D7-C103-5A89-89DC-8B86C4A41BAB}"/>
              </a:ext>
            </a:extLst>
          </p:cNvPr>
          <p:cNvSpPr txBox="1"/>
          <p:nvPr/>
        </p:nvSpPr>
        <p:spPr>
          <a:xfrm>
            <a:off x="18716354" y="532939"/>
            <a:ext cx="8012972" cy="776623"/>
          </a:xfrm>
          <a:prstGeom prst="rect">
            <a:avLst/>
          </a:prstGeom>
        </p:spPr>
        <p:txBody>
          <a:bodyPr wrap="square" lIns="0" tIns="0" rIns="0" bIns="0" rtlCol="0" anchor="t">
            <a:spAutoFit/>
          </a:bodyPr>
          <a:lstStyle/>
          <a:p>
            <a:pPr algn="ctr">
              <a:lnSpc>
                <a:spcPts val="6604"/>
              </a:lnSpc>
              <a:spcBef>
                <a:spcPct val="0"/>
              </a:spcBef>
            </a:pPr>
            <a:r>
              <a:rPr lang="en-US" sz="4717" b="1" dirty="0">
                <a:solidFill>
                  <a:srgbClr val="E63950"/>
                </a:solidFill>
                <a:latin typeface="Times New Roman Bold"/>
                <a:ea typeface="Times New Roman Bold"/>
                <a:cs typeface="Times New Roman Bold"/>
                <a:sym typeface="Times New Roman Bold"/>
              </a:rPr>
              <a:t>Notre solution — NG-IDPS</a:t>
            </a:r>
          </a:p>
        </p:txBody>
      </p:sp>
      <p:sp>
        <p:nvSpPr>
          <p:cNvPr id="11" name="TextBox 10">
            <a:extLst>
              <a:ext uri="{FF2B5EF4-FFF2-40B4-BE49-F238E27FC236}">
                <a16:creationId xmlns:a16="http://schemas.microsoft.com/office/drawing/2014/main" id="{CD7077F5-6C57-E7AC-0CA2-F970F739FE6A}"/>
              </a:ext>
            </a:extLst>
          </p:cNvPr>
          <p:cNvSpPr txBox="1"/>
          <p:nvPr/>
        </p:nvSpPr>
        <p:spPr>
          <a:xfrm>
            <a:off x="634933" y="5283996"/>
            <a:ext cx="359021" cy="646331"/>
          </a:xfrm>
          <a:prstGeom prst="rect">
            <a:avLst/>
          </a:prstGeom>
          <a:noFill/>
        </p:spPr>
        <p:txBody>
          <a:bodyPr wrap="square" rtlCol="0">
            <a:spAutoFit/>
          </a:bodyPr>
          <a:lstStyle/>
          <a:p>
            <a:r>
              <a:rPr lang="fr-FR" sz="3600" b="1" dirty="0">
                <a:solidFill>
                  <a:srgbClr val="00B050"/>
                </a:solidFill>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54E1E62-D5E7-31F8-F438-F8A3C3AF6098}"/>
              </a:ext>
            </a:extLst>
          </p:cNvPr>
          <p:cNvSpPr txBox="1"/>
          <p:nvPr/>
        </p:nvSpPr>
        <p:spPr>
          <a:xfrm>
            <a:off x="681252" y="6368884"/>
            <a:ext cx="359022" cy="769441"/>
          </a:xfrm>
          <a:prstGeom prst="rect">
            <a:avLst/>
          </a:prstGeom>
          <a:noFill/>
        </p:spPr>
        <p:txBody>
          <a:bodyPr wrap="square" rtlCol="0">
            <a:spAutoFit/>
          </a:bodyPr>
          <a:lstStyle/>
          <a:p>
            <a:r>
              <a:rPr lang="fr-FR" sz="4400" b="1" dirty="0">
                <a:solidFill>
                  <a:srgbClr val="FF0000"/>
                </a:solidFill>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32" name="Freeform 7">
            <a:extLst>
              <a:ext uri="{FF2B5EF4-FFF2-40B4-BE49-F238E27FC236}">
                <a16:creationId xmlns:a16="http://schemas.microsoft.com/office/drawing/2014/main" id="{AF103C7E-9A1C-64D6-C4DA-C5C9F9C11A95}"/>
              </a:ext>
            </a:extLst>
          </p:cNvPr>
          <p:cNvSpPr>
            <a:spLocks/>
          </p:cNvSpPr>
          <p:nvPr/>
        </p:nvSpPr>
        <p:spPr>
          <a:xfrm>
            <a:off x="616028" y="2676468"/>
            <a:ext cx="5171730" cy="5298489"/>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3"/>
                </a:ext>
              </a:extLst>
            </a:blip>
            <a:stretch>
              <a:fillRect l="67" t="-188" r="-67" b="-414"/>
            </a:stretch>
          </a:blipFill>
        </p:spPr>
        <p:txBody>
          <a:bodyPr/>
          <a:lstStyle/>
          <a:p>
            <a:endParaRPr lang="fr-TN" dirty="0"/>
          </a:p>
        </p:txBody>
      </p:sp>
      <p:pic>
        <p:nvPicPr>
          <p:cNvPr id="34" name="Picture 33">
            <a:extLst>
              <a:ext uri="{FF2B5EF4-FFF2-40B4-BE49-F238E27FC236}">
                <a16:creationId xmlns:a16="http://schemas.microsoft.com/office/drawing/2014/main" id="{0FAE5135-755F-E0B0-61BA-8480B6F524AC}"/>
              </a:ext>
            </a:extLst>
          </p:cNvPr>
          <p:cNvPicPr>
            <a:picLocks noChangeAspect="1"/>
          </p:cNvPicPr>
          <p:nvPr/>
        </p:nvPicPr>
        <p:blipFill>
          <a:blip r:embed="rId4">
            <a:extLst>
              <a:ext uri="{28A0092B-C50C-407E-A947-70E740481C1C}">
                <a14:useLocalDpi xmlns:a14="http://schemas.microsoft.com/office/drawing/2010/main" val="0"/>
              </a:ext>
            </a:extLst>
          </a:blip>
          <a:srcRect l="31781" t="9926" r="31392" b="24139"/>
          <a:stretch>
            <a:fillRect/>
          </a:stretch>
        </p:blipFill>
        <p:spPr>
          <a:xfrm>
            <a:off x="3875233" y="3027202"/>
            <a:ext cx="1604989" cy="1526945"/>
          </a:xfrm>
          <a:prstGeom prst="rect">
            <a:avLst/>
          </a:prstGeom>
        </p:spPr>
      </p:pic>
      <p:pic>
        <p:nvPicPr>
          <p:cNvPr id="36" name="Picture 35">
            <a:extLst>
              <a:ext uri="{FF2B5EF4-FFF2-40B4-BE49-F238E27FC236}">
                <a16:creationId xmlns:a16="http://schemas.microsoft.com/office/drawing/2014/main" id="{6CDE2212-D62A-66DD-2320-4EADDB644858}"/>
              </a:ext>
            </a:extLst>
          </p:cNvPr>
          <p:cNvPicPr>
            <a:picLocks noChangeAspect="1"/>
          </p:cNvPicPr>
          <p:nvPr/>
        </p:nvPicPr>
        <p:blipFill>
          <a:blip r:embed="rId5">
            <a:extLst>
              <a:ext uri="{28A0092B-C50C-407E-A947-70E740481C1C}">
                <a14:useLocalDpi xmlns:a14="http://schemas.microsoft.com/office/drawing/2010/main" val="0"/>
              </a:ext>
            </a:extLst>
          </a:blip>
          <a:srcRect t="22953" b="20158"/>
          <a:stretch>
            <a:fillRect/>
          </a:stretch>
        </p:blipFill>
        <p:spPr>
          <a:xfrm>
            <a:off x="993954" y="3027202"/>
            <a:ext cx="2639103" cy="1530510"/>
          </a:xfrm>
          <a:prstGeom prst="rect">
            <a:avLst/>
          </a:prstGeom>
        </p:spPr>
      </p:pic>
      <p:cxnSp>
        <p:nvCxnSpPr>
          <p:cNvPr id="38" name="Straight Connector 37">
            <a:extLst>
              <a:ext uri="{FF2B5EF4-FFF2-40B4-BE49-F238E27FC236}">
                <a16:creationId xmlns:a16="http://schemas.microsoft.com/office/drawing/2014/main" id="{3E30191A-356B-C9D5-9C42-3763898F50FD}"/>
              </a:ext>
            </a:extLst>
          </p:cNvPr>
          <p:cNvCxnSpPr>
            <a:cxnSpLocks/>
          </p:cNvCxnSpPr>
          <p:nvPr/>
        </p:nvCxnSpPr>
        <p:spPr>
          <a:xfrm>
            <a:off x="634933" y="4737726"/>
            <a:ext cx="5112675" cy="0"/>
          </a:xfrm>
          <a:prstGeom prst="line">
            <a:avLst/>
          </a:prstGeom>
          <a:ln w="57150">
            <a:solidFill>
              <a:srgbClr val="D6CAEE"/>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5365AE76-1C90-C129-AA74-0C794C9B53F4}"/>
              </a:ext>
            </a:extLst>
          </p:cNvPr>
          <p:cNvSpPr txBox="1"/>
          <p:nvPr/>
        </p:nvSpPr>
        <p:spPr>
          <a:xfrm>
            <a:off x="903435" y="5373121"/>
            <a:ext cx="4844173" cy="830997"/>
          </a:xfrm>
          <a:prstGeom prst="rect">
            <a:avLst/>
          </a:prstGeom>
          <a:noFill/>
        </p:spPr>
        <p:txBody>
          <a:bodyPr wrap="square">
            <a:spAutoFit/>
          </a:bodyPr>
          <a:lstStyle/>
          <a:p>
            <a:r>
              <a:rPr lang="fr-FR" sz="2400" dirty="0">
                <a:latin typeface="Times New Roman" panose="02020603050405020304" pitchFamily="18" charset="0"/>
                <a:cs typeface="Times New Roman" panose="02020603050405020304" pitchFamily="18" charset="0"/>
              </a:rPr>
              <a:t> Détection par signatures et analyse de protocole, légère et éprouvée</a:t>
            </a:r>
            <a:endParaRPr lang="en-US" dirty="0"/>
          </a:p>
        </p:txBody>
      </p:sp>
      <p:sp>
        <p:nvSpPr>
          <p:cNvPr id="43" name="TextBox 42">
            <a:extLst>
              <a:ext uri="{FF2B5EF4-FFF2-40B4-BE49-F238E27FC236}">
                <a16:creationId xmlns:a16="http://schemas.microsoft.com/office/drawing/2014/main" id="{1588C8F7-9B54-FE9E-B891-DC0E4F4FDFF6}"/>
              </a:ext>
            </a:extLst>
          </p:cNvPr>
          <p:cNvSpPr txBox="1"/>
          <p:nvPr/>
        </p:nvSpPr>
        <p:spPr>
          <a:xfrm>
            <a:off x="928835" y="6589428"/>
            <a:ext cx="4818773" cy="830997"/>
          </a:xfrm>
          <a:prstGeom prst="rect">
            <a:avLst/>
          </a:prstGeom>
          <a:noFill/>
        </p:spPr>
        <p:txBody>
          <a:bodyPr wrap="square">
            <a:spAutoFit/>
          </a:bodyPr>
          <a:lstStyle/>
          <a:p>
            <a:r>
              <a:rPr lang="fr-FR" sz="2400" dirty="0">
                <a:latin typeface="Times New Roman" panose="02020603050405020304" pitchFamily="18" charset="0"/>
                <a:cs typeface="Times New Roman" panose="02020603050405020304" pitchFamily="18" charset="0"/>
              </a:rPr>
              <a:t>Aucun comportemental natif, aucune orchestration intégrée</a:t>
            </a:r>
            <a:endParaRPr lang="en-US" dirty="0"/>
          </a:p>
        </p:txBody>
      </p:sp>
      <p:sp>
        <p:nvSpPr>
          <p:cNvPr id="46" name="TextBox 45">
            <a:extLst>
              <a:ext uri="{FF2B5EF4-FFF2-40B4-BE49-F238E27FC236}">
                <a16:creationId xmlns:a16="http://schemas.microsoft.com/office/drawing/2014/main" id="{C7434241-C51A-ECC3-CDD2-FA999725A9FB}"/>
              </a:ext>
            </a:extLst>
          </p:cNvPr>
          <p:cNvSpPr txBox="1"/>
          <p:nvPr/>
        </p:nvSpPr>
        <p:spPr>
          <a:xfrm>
            <a:off x="6552785" y="5283590"/>
            <a:ext cx="359021" cy="646331"/>
          </a:xfrm>
          <a:prstGeom prst="rect">
            <a:avLst/>
          </a:prstGeom>
          <a:noFill/>
        </p:spPr>
        <p:txBody>
          <a:bodyPr wrap="square" rtlCol="0">
            <a:spAutoFit/>
          </a:bodyPr>
          <a:lstStyle/>
          <a:p>
            <a:r>
              <a:rPr lang="fr-FR" sz="3600" b="1" dirty="0">
                <a:solidFill>
                  <a:srgbClr val="00B050"/>
                </a:solidFill>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47" name="TextBox 46">
            <a:extLst>
              <a:ext uri="{FF2B5EF4-FFF2-40B4-BE49-F238E27FC236}">
                <a16:creationId xmlns:a16="http://schemas.microsoft.com/office/drawing/2014/main" id="{FBC776A0-0D2A-258C-79DB-93556FE98495}"/>
              </a:ext>
            </a:extLst>
          </p:cNvPr>
          <p:cNvSpPr txBox="1"/>
          <p:nvPr/>
        </p:nvSpPr>
        <p:spPr>
          <a:xfrm>
            <a:off x="6663509" y="6395040"/>
            <a:ext cx="359022" cy="769441"/>
          </a:xfrm>
          <a:prstGeom prst="rect">
            <a:avLst/>
          </a:prstGeom>
          <a:noFill/>
        </p:spPr>
        <p:txBody>
          <a:bodyPr wrap="square" rtlCol="0">
            <a:spAutoFit/>
          </a:bodyPr>
          <a:lstStyle/>
          <a:p>
            <a:r>
              <a:rPr lang="fr-FR" sz="4400" b="1" dirty="0">
                <a:solidFill>
                  <a:srgbClr val="FF0000"/>
                </a:solidFill>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48" name="Freeform 7">
            <a:extLst>
              <a:ext uri="{FF2B5EF4-FFF2-40B4-BE49-F238E27FC236}">
                <a16:creationId xmlns:a16="http://schemas.microsoft.com/office/drawing/2014/main" id="{9AA99E48-F83C-E015-8EDF-E9EB36AF412F}"/>
              </a:ext>
            </a:extLst>
          </p:cNvPr>
          <p:cNvSpPr>
            <a:spLocks/>
          </p:cNvSpPr>
          <p:nvPr/>
        </p:nvSpPr>
        <p:spPr>
          <a:xfrm>
            <a:off x="6558135" y="2676468"/>
            <a:ext cx="5171730" cy="5298489"/>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3"/>
                </a:ext>
              </a:extLst>
            </a:blip>
            <a:stretch>
              <a:fillRect l="67" t="-188" r="-67" b="-414"/>
            </a:stretch>
          </a:blipFill>
        </p:spPr>
        <p:txBody>
          <a:bodyPr/>
          <a:lstStyle/>
          <a:p>
            <a:endParaRPr lang="fr-TN" dirty="0"/>
          </a:p>
        </p:txBody>
      </p:sp>
      <p:cxnSp>
        <p:nvCxnSpPr>
          <p:cNvPr id="51" name="Straight Connector 50">
            <a:extLst>
              <a:ext uri="{FF2B5EF4-FFF2-40B4-BE49-F238E27FC236}">
                <a16:creationId xmlns:a16="http://schemas.microsoft.com/office/drawing/2014/main" id="{82B38CDA-DAF5-1B2F-3349-46B3A50EDBEF}"/>
              </a:ext>
            </a:extLst>
          </p:cNvPr>
          <p:cNvCxnSpPr>
            <a:cxnSpLocks/>
          </p:cNvCxnSpPr>
          <p:nvPr/>
        </p:nvCxnSpPr>
        <p:spPr>
          <a:xfrm>
            <a:off x="6577040" y="4737726"/>
            <a:ext cx="5112675" cy="0"/>
          </a:xfrm>
          <a:prstGeom prst="line">
            <a:avLst/>
          </a:prstGeom>
          <a:ln w="57150">
            <a:solidFill>
              <a:srgbClr val="D6CAEE"/>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DF81C4D4-E360-E441-A7D9-435DABD6D221}"/>
              </a:ext>
            </a:extLst>
          </p:cNvPr>
          <p:cNvSpPr txBox="1"/>
          <p:nvPr/>
        </p:nvSpPr>
        <p:spPr>
          <a:xfrm>
            <a:off x="6821287" y="5372715"/>
            <a:ext cx="4844173" cy="830997"/>
          </a:xfrm>
          <a:prstGeom prst="rect">
            <a:avLst/>
          </a:prstGeom>
          <a:noFill/>
        </p:spPr>
        <p:txBody>
          <a:bodyPr wrap="square">
            <a:spAutoFit/>
          </a:bodyPr>
          <a:lstStyle/>
          <a:p>
            <a:r>
              <a:rPr lang="fr-FR" sz="2400" dirty="0">
                <a:latin typeface="Times New Roman" panose="02020603050405020304" pitchFamily="18" charset="0"/>
                <a:cs typeface="Times New Roman" panose="02020603050405020304" pitchFamily="18" charset="0"/>
              </a:rPr>
              <a:t> Corrélation et orchestration SOAR matures</a:t>
            </a:r>
            <a:endParaRPr lang="en-US" dirty="0"/>
          </a:p>
        </p:txBody>
      </p:sp>
      <p:sp>
        <p:nvSpPr>
          <p:cNvPr id="53" name="TextBox 52">
            <a:extLst>
              <a:ext uri="{FF2B5EF4-FFF2-40B4-BE49-F238E27FC236}">
                <a16:creationId xmlns:a16="http://schemas.microsoft.com/office/drawing/2014/main" id="{AE50C998-7DE2-3BEC-6517-4C3FB7D8E72A}"/>
              </a:ext>
            </a:extLst>
          </p:cNvPr>
          <p:cNvSpPr txBox="1"/>
          <p:nvPr/>
        </p:nvSpPr>
        <p:spPr>
          <a:xfrm>
            <a:off x="6911092" y="6615584"/>
            <a:ext cx="4818773" cy="830997"/>
          </a:xfrm>
          <a:prstGeom prst="rect">
            <a:avLst/>
          </a:prstGeom>
          <a:noFill/>
        </p:spPr>
        <p:txBody>
          <a:bodyPr wrap="square">
            <a:spAutoFit/>
          </a:bodyPr>
          <a:lstStyle/>
          <a:p>
            <a:r>
              <a:rPr lang="fr-FR" sz="2400" dirty="0">
                <a:latin typeface="Times New Roman" panose="02020603050405020304" pitchFamily="18" charset="0"/>
                <a:cs typeface="Times New Roman" panose="02020603050405020304" pitchFamily="18" charset="0"/>
              </a:rPr>
              <a:t>Coût de licence élevé, dépendance cloud ou éditeur</a:t>
            </a:r>
            <a:endParaRPr lang="en-US" dirty="0"/>
          </a:p>
        </p:txBody>
      </p:sp>
      <p:sp>
        <p:nvSpPr>
          <p:cNvPr id="55" name="TextBox 54">
            <a:extLst>
              <a:ext uri="{FF2B5EF4-FFF2-40B4-BE49-F238E27FC236}">
                <a16:creationId xmlns:a16="http://schemas.microsoft.com/office/drawing/2014/main" id="{AE5BC651-C497-5E31-A061-AA91B3A266AA}"/>
              </a:ext>
            </a:extLst>
          </p:cNvPr>
          <p:cNvSpPr txBox="1"/>
          <p:nvPr/>
        </p:nvSpPr>
        <p:spPr>
          <a:xfrm>
            <a:off x="12494892" y="5256932"/>
            <a:ext cx="359021" cy="646331"/>
          </a:xfrm>
          <a:prstGeom prst="rect">
            <a:avLst/>
          </a:prstGeom>
          <a:noFill/>
        </p:spPr>
        <p:txBody>
          <a:bodyPr wrap="square" rtlCol="0">
            <a:spAutoFit/>
          </a:bodyPr>
          <a:lstStyle/>
          <a:p>
            <a:r>
              <a:rPr lang="fr-FR" sz="3600" b="1" dirty="0">
                <a:solidFill>
                  <a:srgbClr val="00B050"/>
                </a:solidFill>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56" name="TextBox 55">
            <a:extLst>
              <a:ext uri="{FF2B5EF4-FFF2-40B4-BE49-F238E27FC236}">
                <a16:creationId xmlns:a16="http://schemas.microsoft.com/office/drawing/2014/main" id="{679CA944-52C7-C06D-0809-D0479211FBB7}"/>
              </a:ext>
            </a:extLst>
          </p:cNvPr>
          <p:cNvSpPr txBox="1"/>
          <p:nvPr/>
        </p:nvSpPr>
        <p:spPr>
          <a:xfrm>
            <a:off x="12605616" y="6368382"/>
            <a:ext cx="359022" cy="769441"/>
          </a:xfrm>
          <a:prstGeom prst="rect">
            <a:avLst/>
          </a:prstGeom>
          <a:noFill/>
        </p:spPr>
        <p:txBody>
          <a:bodyPr wrap="square" rtlCol="0">
            <a:spAutoFit/>
          </a:bodyPr>
          <a:lstStyle/>
          <a:p>
            <a:r>
              <a:rPr lang="fr-FR" sz="4400" b="1" dirty="0">
                <a:solidFill>
                  <a:srgbClr val="FF0000"/>
                </a:solidFill>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p:txBody>
      </p:sp>
      <p:sp>
        <p:nvSpPr>
          <p:cNvPr id="57" name="Freeform 7">
            <a:extLst>
              <a:ext uri="{FF2B5EF4-FFF2-40B4-BE49-F238E27FC236}">
                <a16:creationId xmlns:a16="http://schemas.microsoft.com/office/drawing/2014/main" id="{A8630360-BF84-B9C2-B836-CD02912446F9}"/>
              </a:ext>
            </a:extLst>
          </p:cNvPr>
          <p:cNvSpPr>
            <a:spLocks/>
          </p:cNvSpPr>
          <p:nvPr/>
        </p:nvSpPr>
        <p:spPr>
          <a:xfrm>
            <a:off x="12500242" y="2649810"/>
            <a:ext cx="5171730" cy="5298489"/>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3"/>
                </a:ext>
              </a:extLst>
            </a:blip>
            <a:stretch>
              <a:fillRect l="67" t="-188" r="-67" b="-414"/>
            </a:stretch>
          </a:blipFill>
        </p:spPr>
        <p:txBody>
          <a:bodyPr/>
          <a:lstStyle/>
          <a:p>
            <a:endParaRPr lang="fr-TN" dirty="0"/>
          </a:p>
        </p:txBody>
      </p:sp>
      <p:cxnSp>
        <p:nvCxnSpPr>
          <p:cNvPr id="60" name="Straight Connector 59">
            <a:extLst>
              <a:ext uri="{FF2B5EF4-FFF2-40B4-BE49-F238E27FC236}">
                <a16:creationId xmlns:a16="http://schemas.microsoft.com/office/drawing/2014/main" id="{153A4FD4-500E-6354-4FBA-3DBC56694EB9}"/>
              </a:ext>
            </a:extLst>
          </p:cNvPr>
          <p:cNvCxnSpPr>
            <a:cxnSpLocks/>
          </p:cNvCxnSpPr>
          <p:nvPr/>
        </p:nvCxnSpPr>
        <p:spPr>
          <a:xfrm>
            <a:off x="12519147" y="4711068"/>
            <a:ext cx="5112675" cy="0"/>
          </a:xfrm>
          <a:prstGeom prst="line">
            <a:avLst/>
          </a:prstGeom>
          <a:ln w="57150">
            <a:solidFill>
              <a:srgbClr val="D6CAEE"/>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A33D799-5923-1BF4-BA2B-159DCFE00BD0}"/>
              </a:ext>
            </a:extLst>
          </p:cNvPr>
          <p:cNvSpPr txBox="1"/>
          <p:nvPr/>
        </p:nvSpPr>
        <p:spPr>
          <a:xfrm>
            <a:off x="12763394" y="5346057"/>
            <a:ext cx="4844173" cy="830997"/>
          </a:xfrm>
          <a:prstGeom prst="rect">
            <a:avLst/>
          </a:prstGeom>
          <a:noFill/>
        </p:spPr>
        <p:txBody>
          <a:bodyPr wrap="square">
            <a:spAutoFit/>
          </a:bodyPr>
          <a:lstStyle/>
          <a:p>
            <a:r>
              <a:rPr lang="fr-FR" sz="2400" dirty="0">
                <a:latin typeface="Times New Roman" panose="02020603050405020304" pitchFamily="18" charset="0"/>
                <a:cs typeface="Times New Roman" panose="02020603050405020304" pitchFamily="18" charset="0"/>
              </a:rPr>
              <a:t> Détection comportementale par IA avancée performante</a:t>
            </a:r>
            <a:endParaRPr lang="en-US" dirty="0"/>
          </a:p>
        </p:txBody>
      </p:sp>
      <p:sp>
        <p:nvSpPr>
          <p:cNvPr id="62" name="TextBox 61">
            <a:extLst>
              <a:ext uri="{FF2B5EF4-FFF2-40B4-BE49-F238E27FC236}">
                <a16:creationId xmlns:a16="http://schemas.microsoft.com/office/drawing/2014/main" id="{AEA3B7C8-D88D-75C8-F540-9569A1B53DA4}"/>
              </a:ext>
            </a:extLst>
          </p:cNvPr>
          <p:cNvSpPr txBox="1"/>
          <p:nvPr/>
        </p:nvSpPr>
        <p:spPr>
          <a:xfrm>
            <a:off x="12853199" y="6588926"/>
            <a:ext cx="4818773" cy="830997"/>
          </a:xfrm>
          <a:prstGeom prst="rect">
            <a:avLst/>
          </a:prstGeom>
          <a:noFill/>
        </p:spPr>
        <p:txBody>
          <a:bodyPr wrap="square">
            <a:spAutoFit/>
          </a:bodyPr>
          <a:lstStyle/>
          <a:p>
            <a:r>
              <a:rPr lang="fr-FR" sz="2400" dirty="0">
                <a:latin typeface="Times New Roman" panose="02020603050405020304" pitchFamily="18" charset="0"/>
                <a:cs typeface="Times New Roman" panose="02020603050405020304" pitchFamily="18" charset="0"/>
              </a:rPr>
              <a:t>Boîte noire propriétaire, modèle non auto-hébergeable</a:t>
            </a:r>
            <a:endParaRPr lang="en-US" dirty="0"/>
          </a:p>
        </p:txBody>
      </p:sp>
      <p:grpSp>
        <p:nvGrpSpPr>
          <p:cNvPr id="72" name="Group 71">
            <a:extLst>
              <a:ext uri="{FF2B5EF4-FFF2-40B4-BE49-F238E27FC236}">
                <a16:creationId xmlns:a16="http://schemas.microsoft.com/office/drawing/2014/main" id="{5C9C63EE-FB04-2E72-F185-B40EC57688F8}"/>
              </a:ext>
            </a:extLst>
          </p:cNvPr>
          <p:cNvGrpSpPr/>
          <p:nvPr/>
        </p:nvGrpSpPr>
        <p:grpSpPr>
          <a:xfrm>
            <a:off x="6623359" y="3243526"/>
            <a:ext cx="4898416" cy="1107996"/>
            <a:chOff x="6623359" y="3192682"/>
            <a:chExt cx="4898416" cy="1107996"/>
          </a:xfrm>
        </p:grpSpPr>
        <p:pic>
          <p:nvPicPr>
            <p:cNvPr id="64" name="Picture 63">
              <a:extLst>
                <a:ext uri="{FF2B5EF4-FFF2-40B4-BE49-F238E27FC236}">
                  <a16:creationId xmlns:a16="http://schemas.microsoft.com/office/drawing/2014/main" id="{B16AC589-3BC2-E13B-016C-2969EA401315}"/>
                </a:ext>
              </a:extLst>
            </p:cNvPr>
            <p:cNvPicPr>
              <a:picLocks noChangeAspect="1"/>
            </p:cNvPicPr>
            <p:nvPr/>
          </p:nvPicPr>
          <p:blipFill>
            <a:blip r:embed="rId6">
              <a:extLst>
                <a:ext uri="{28A0092B-C50C-407E-A947-70E740481C1C}">
                  <a14:useLocalDpi xmlns:a14="http://schemas.microsoft.com/office/drawing/2010/main" val="0"/>
                </a:ext>
              </a:extLst>
            </a:blip>
            <a:srcRect l="2597" t="36258" r="12717" b="34622"/>
            <a:stretch>
              <a:fillRect/>
            </a:stretch>
          </p:blipFill>
          <p:spPr>
            <a:xfrm>
              <a:off x="6623359" y="3266342"/>
              <a:ext cx="2322502" cy="798610"/>
            </a:xfrm>
            <a:prstGeom prst="rect">
              <a:avLst/>
            </a:prstGeom>
          </p:spPr>
        </p:pic>
        <p:pic>
          <p:nvPicPr>
            <p:cNvPr id="66" name="Picture 65">
              <a:extLst>
                <a:ext uri="{FF2B5EF4-FFF2-40B4-BE49-F238E27FC236}">
                  <a16:creationId xmlns:a16="http://schemas.microsoft.com/office/drawing/2014/main" id="{F74291FA-14F2-342C-00B9-1F66E44F7E17}"/>
                </a:ext>
              </a:extLst>
            </p:cNvPr>
            <p:cNvPicPr>
              <a:picLocks noChangeAspect="1"/>
            </p:cNvPicPr>
            <p:nvPr/>
          </p:nvPicPr>
          <p:blipFill>
            <a:blip r:embed="rId7">
              <a:extLst>
                <a:ext uri="{28A0092B-C50C-407E-A947-70E740481C1C}">
                  <a14:useLocalDpi xmlns:a14="http://schemas.microsoft.com/office/drawing/2010/main" val="0"/>
                </a:ext>
              </a:extLst>
            </a:blip>
            <a:srcRect l="15147" t="33148" r="15653" b="35282"/>
            <a:stretch>
              <a:fillRect/>
            </a:stretch>
          </p:blipFill>
          <p:spPr>
            <a:xfrm>
              <a:off x="9548006" y="3480217"/>
              <a:ext cx="1973769" cy="652839"/>
            </a:xfrm>
            <a:prstGeom prst="rect">
              <a:avLst/>
            </a:prstGeom>
          </p:spPr>
        </p:pic>
        <p:sp>
          <p:nvSpPr>
            <p:cNvPr id="67" name="TextBox 66">
              <a:extLst>
                <a:ext uri="{FF2B5EF4-FFF2-40B4-BE49-F238E27FC236}">
                  <a16:creationId xmlns:a16="http://schemas.microsoft.com/office/drawing/2014/main" id="{9B6D1786-B478-0D3C-3519-F34E80403B78}"/>
                </a:ext>
              </a:extLst>
            </p:cNvPr>
            <p:cNvSpPr txBox="1"/>
            <p:nvPr/>
          </p:nvSpPr>
          <p:spPr>
            <a:xfrm>
              <a:off x="8974437" y="3192682"/>
              <a:ext cx="511679" cy="1107996"/>
            </a:xfrm>
            <a:prstGeom prst="rect">
              <a:avLst/>
            </a:prstGeom>
            <a:noFill/>
          </p:spPr>
          <p:txBody>
            <a:bodyPr wrap="none" rtlCol="0">
              <a:spAutoFit/>
            </a:bodyPr>
            <a:lstStyle/>
            <a:p>
              <a:r>
                <a:rPr lang="fr-FR" sz="6600" dirty="0">
                  <a:solidFill>
                    <a:srgbClr val="D6CAEE"/>
                  </a:solidFill>
                </a:rPr>
                <a:t>/</a:t>
              </a:r>
              <a:endParaRPr lang="en-US" sz="6600" dirty="0">
                <a:solidFill>
                  <a:srgbClr val="D6CAEE"/>
                </a:solidFill>
              </a:endParaRPr>
            </a:p>
          </p:txBody>
        </p:sp>
      </p:grpSp>
      <p:pic>
        <p:nvPicPr>
          <p:cNvPr id="71" name="Picture 70">
            <a:extLst>
              <a:ext uri="{FF2B5EF4-FFF2-40B4-BE49-F238E27FC236}">
                <a16:creationId xmlns:a16="http://schemas.microsoft.com/office/drawing/2014/main" id="{7A719345-F8F4-2A88-33AB-633588FF44E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2728669" y="3522489"/>
            <a:ext cx="4714875" cy="550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0F7FE"/>
        </a:solidFill>
        <a:effectLst/>
      </p:bgPr>
    </p:bg>
    <p:spTree>
      <p:nvGrpSpPr>
        <p:cNvPr id="1" name=""/>
        <p:cNvGrpSpPr/>
        <p:nvPr/>
      </p:nvGrpSpPr>
      <p:grpSpPr>
        <a:xfrm>
          <a:off x="0" y="0"/>
          <a:ext cx="0" cy="0"/>
          <a:chOff x="0" y="0"/>
          <a:chExt cx="0" cy="0"/>
        </a:xfrm>
      </p:grpSpPr>
      <p:sp>
        <p:nvSpPr>
          <p:cNvPr id="4" name="TextBox 4"/>
          <p:cNvSpPr txBox="1"/>
          <p:nvPr/>
        </p:nvSpPr>
        <p:spPr>
          <a:xfrm>
            <a:off x="5137514" y="1068142"/>
            <a:ext cx="8012972" cy="776623"/>
          </a:xfrm>
          <a:prstGeom prst="rect">
            <a:avLst/>
          </a:prstGeom>
        </p:spPr>
        <p:txBody>
          <a:bodyPr wrap="square" lIns="0" tIns="0" rIns="0" bIns="0" rtlCol="0" anchor="t">
            <a:spAutoFit/>
          </a:bodyPr>
          <a:lstStyle/>
          <a:p>
            <a:pPr algn="ctr">
              <a:lnSpc>
                <a:spcPts val="6604"/>
              </a:lnSpc>
              <a:spcBef>
                <a:spcPct val="0"/>
              </a:spcBef>
            </a:pPr>
            <a:r>
              <a:rPr lang="en-US" sz="4717" b="1" dirty="0">
                <a:solidFill>
                  <a:srgbClr val="1C1F54"/>
                </a:solidFill>
                <a:latin typeface="Times New Roman" panose="02020603050405020304" pitchFamily="18" charset="0"/>
                <a:ea typeface="Times New Roman Bold"/>
                <a:cs typeface="Times New Roman" panose="02020603050405020304" pitchFamily="18" charset="0"/>
                <a:sym typeface="Times New Roman Bold"/>
              </a:rPr>
              <a:t>Notre solution</a:t>
            </a:r>
          </a:p>
        </p:txBody>
      </p:sp>
      <p:sp>
        <p:nvSpPr>
          <p:cNvPr id="5" name="TextBox 5"/>
          <p:cNvSpPr txBox="1"/>
          <p:nvPr/>
        </p:nvSpPr>
        <p:spPr>
          <a:xfrm>
            <a:off x="1303325" y="1377087"/>
            <a:ext cx="46796" cy="95026"/>
          </a:xfrm>
          <a:prstGeom prst="rect">
            <a:avLst/>
          </a:prstGeom>
        </p:spPr>
        <p:txBody>
          <a:bodyPr lIns="0" tIns="0" rIns="0" bIns="0" rtlCol="0" anchor="t">
            <a:spAutoFit/>
          </a:bodyPr>
          <a:lstStyle/>
          <a:p>
            <a:pPr algn="l">
              <a:lnSpc>
                <a:spcPts val="839"/>
              </a:lnSpc>
            </a:pPr>
            <a:r>
              <a:rPr lang="en-US" sz="600">
                <a:solidFill>
                  <a:srgbClr val="6B7A99"/>
                </a:solidFill>
                <a:latin typeface="Times New Roman" panose="02020603050405020304" pitchFamily="18" charset="0"/>
                <a:ea typeface="DejaVu Sans Light"/>
                <a:cs typeface="Times New Roman" panose="02020603050405020304" pitchFamily="18" charset="0"/>
                <a:sym typeface="DejaVu Sans Light"/>
              </a:rPr>
              <a:t> </a:t>
            </a:r>
          </a:p>
        </p:txBody>
      </p:sp>
      <p:sp>
        <p:nvSpPr>
          <p:cNvPr id="6" name="TextBox 6"/>
          <p:cNvSpPr txBox="1"/>
          <p:nvPr/>
        </p:nvSpPr>
        <p:spPr>
          <a:xfrm>
            <a:off x="3105712" y="1377087"/>
            <a:ext cx="46796" cy="95026"/>
          </a:xfrm>
          <a:prstGeom prst="rect">
            <a:avLst/>
          </a:prstGeom>
        </p:spPr>
        <p:txBody>
          <a:bodyPr lIns="0" tIns="0" rIns="0" bIns="0" rtlCol="0" anchor="t">
            <a:spAutoFit/>
          </a:bodyPr>
          <a:lstStyle/>
          <a:p>
            <a:pPr algn="l">
              <a:lnSpc>
                <a:spcPts val="839"/>
              </a:lnSpc>
            </a:pPr>
            <a:r>
              <a:rPr lang="en-US" sz="600">
                <a:solidFill>
                  <a:srgbClr val="6B7A99"/>
                </a:solidFill>
                <a:latin typeface="Times New Roman" panose="02020603050405020304" pitchFamily="18" charset="0"/>
                <a:ea typeface="DejaVu Sans Light"/>
                <a:cs typeface="Times New Roman" panose="02020603050405020304" pitchFamily="18" charset="0"/>
                <a:sym typeface="DejaVu Sans Light"/>
              </a:rPr>
              <a:t> </a:t>
            </a:r>
          </a:p>
        </p:txBody>
      </p:sp>
      <p:sp>
        <p:nvSpPr>
          <p:cNvPr id="21" name="TextBox 6">
            <a:extLst>
              <a:ext uri="{FF2B5EF4-FFF2-40B4-BE49-F238E27FC236}">
                <a16:creationId xmlns:a16="http://schemas.microsoft.com/office/drawing/2014/main" id="{854C2670-60FC-8749-D517-220D1D07B373}"/>
              </a:ext>
            </a:extLst>
          </p:cNvPr>
          <p:cNvSpPr txBox="1"/>
          <p:nvPr/>
        </p:nvSpPr>
        <p:spPr>
          <a:xfrm>
            <a:off x="-1012222" y="-2247058"/>
            <a:ext cx="6081522" cy="4494115"/>
          </a:xfrm>
          <a:prstGeom prst="rect">
            <a:avLst/>
          </a:prstGeom>
        </p:spPr>
        <p:txBody>
          <a:bodyPr wrap="square" lIns="0" tIns="0" rIns="0" bIns="0" rtlCol="0" anchor="t">
            <a:spAutoFit/>
          </a:bodyPr>
          <a:lstStyle/>
          <a:p>
            <a:pPr algn="l">
              <a:lnSpc>
                <a:spcPts val="33600"/>
              </a:lnSpc>
            </a:pPr>
            <a:r>
              <a:rPr lang="en-US" sz="42000" b="1" spc="-1680" dirty="0">
                <a:gradFill>
                  <a:gsLst>
                    <a:gs pos="0">
                      <a:srgbClr val="FFFFFF">
                        <a:alpha val="7000"/>
                      </a:srgbClr>
                    </a:gs>
                    <a:gs pos="100000">
                      <a:srgbClr val="FFFFFF">
                        <a:alpha val="7000"/>
                      </a:srgbClr>
                    </a:gs>
                  </a:gsLst>
                  <a:lin ang="16200000"/>
                </a:gradFill>
                <a:latin typeface="Times New Roman Bold"/>
                <a:ea typeface="Times New Roman Bold"/>
                <a:cs typeface="Times New Roman Bold"/>
                <a:sym typeface="Times New Roman Bold"/>
              </a:rPr>
              <a:t>02</a:t>
            </a:r>
          </a:p>
        </p:txBody>
      </p:sp>
      <p:sp>
        <p:nvSpPr>
          <p:cNvPr id="7" name="Freeform 7"/>
          <p:cNvSpPr/>
          <p:nvPr/>
        </p:nvSpPr>
        <p:spPr>
          <a:xfrm>
            <a:off x="1747175" y="2576434"/>
            <a:ext cx="4671648" cy="2073488"/>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3"/>
                </a:ext>
              </a:extLst>
            </a:blip>
            <a:stretch>
              <a:fillRect l="67" t="-188" r="-67" b="-414"/>
            </a:stretch>
          </a:blipFill>
        </p:spPr>
        <p:txBody>
          <a:bodyPr/>
          <a:lstStyle/>
          <a:p>
            <a:endParaRPr lang="fr-TN" dirty="0">
              <a:latin typeface="Times New Roman" panose="02020603050405020304" pitchFamily="18" charset="0"/>
              <a:cs typeface="Times New Roman" panose="02020603050405020304" pitchFamily="18" charset="0"/>
            </a:endParaRPr>
          </a:p>
        </p:txBody>
      </p:sp>
      <p:sp>
        <p:nvSpPr>
          <p:cNvPr id="10" name="TextBox 10"/>
          <p:cNvSpPr txBox="1"/>
          <p:nvPr/>
        </p:nvSpPr>
        <p:spPr>
          <a:xfrm>
            <a:off x="2019691" y="2786438"/>
            <a:ext cx="2895079" cy="320601"/>
          </a:xfrm>
          <a:prstGeom prst="rect">
            <a:avLst/>
          </a:prstGeom>
        </p:spPr>
        <p:txBody>
          <a:bodyPr wrap="square" lIns="0" tIns="0" rIns="0" bIns="0" rtlCol="0" anchor="t">
            <a:spAutoFit/>
          </a:bodyPr>
          <a:lstStyle/>
          <a:p>
            <a:pPr algn="l">
              <a:lnSpc>
                <a:spcPts val="2544"/>
              </a:lnSpc>
            </a:pPr>
            <a:r>
              <a:rPr lang="en-US" sz="2600" b="1" spc="167" dirty="0">
                <a:solidFill>
                  <a:srgbClr val="101A30"/>
                </a:solidFill>
                <a:latin typeface="Times New Roman" panose="02020603050405020304" pitchFamily="18" charset="0"/>
                <a:ea typeface="Liberation Sans Bold"/>
                <a:cs typeface="Times New Roman" panose="02020603050405020304" pitchFamily="18" charset="0"/>
                <a:sym typeface="Liberation Sans Bold"/>
              </a:rPr>
              <a:t>Détection </a:t>
            </a:r>
            <a:r>
              <a:rPr lang="en-US" sz="2600" b="1" spc="167" dirty="0" err="1">
                <a:solidFill>
                  <a:srgbClr val="101A30"/>
                </a:solidFill>
                <a:latin typeface="Times New Roman" panose="02020603050405020304" pitchFamily="18" charset="0"/>
                <a:ea typeface="Liberation Sans Bold"/>
                <a:cs typeface="Times New Roman" panose="02020603050405020304" pitchFamily="18" charset="0"/>
                <a:sym typeface="Liberation Sans Bold"/>
              </a:rPr>
              <a:t>hybride</a:t>
            </a:r>
            <a:endParaRPr lang="en-US" sz="2600" b="1" spc="167" dirty="0">
              <a:solidFill>
                <a:srgbClr val="101A30"/>
              </a:solidFill>
              <a:latin typeface="Times New Roman" panose="02020603050405020304" pitchFamily="18" charset="0"/>
              <a:ea typeface="Liberation Sans Bold"/>
              <a:cs typeface="Times New Roman" panose="02020603050405020304" pitchFamily="18" charset="0"/>
              <a:sym typeface="Liberation Sans Bold"/>
            </a:endParaRPr>
          </a:p>
        </p:txBody>
      </p:sp>
      <p:sp>
        <p:nvSpPr>
          <p:cNvPr id="15" name="TextBox 15"/>
          <p:cNvSpPr txBox="1"/>
          <p:nvPr/>
        </p:nvSpPr>
        <p:spPr>
          <a:xfrm>
            <a:off x="2019691" y="3174626"/>
            <a:ext cx="4126615" cy="1262333"/>
          </a:xfrm>
          <a:prstGeom prst="rect">
            <a:avLst/>
          </a:prstGeom>
        </p:spPr>
        <p:txBody>
          <a:bodyPr wrap="square" lIns="0" tIns="0" rIns="0" bIns="0" rtlCol="0" anchor="t">
            <a:spAutoFit/>
          </a:bodyPr>
          <a:lstStyle/>
          <a:p>
            <a:pPr algn="l">
              <a:lnSpc>
                <a:spcPts val="2544"/>
              </a:lnSpc>
            </a:pPr>
            <a:r>
              <a:rPr lang="fr-FR" sz="2000" dirty="0" err="1">
                <a:solidFill>
                  <a:srgbClr val="6B7A99"/>
                </a:solidFill>
                <a:latin typeface="Times New Roman" panose="02020603050405020304" pitchFamily="18" charset="0"/>
                <a:ea typeface="DejaVu Sans Light"/>
                <a:cs typeface="Times New Roman" panose="02020603050405020304" pitchFamily="18" charset="0"/>
                <a:sym typeface="DejaVu Sans Light"/>
              </a:rPr>
              <a:t>Suricata</a:t>
            </a: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 (signatures) + LSTM-VAE (comportemental non supervisé) pour couvrir les menaces connues </a:t>
            </a:r>
          </a:p>
          <a:p>
            <a:pPr algn="l">
              <a:lnSpc>
                <a:spcPts val="2544"/>
              </a:lnSpc>
            </a:pP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et les </a:t>
            </a:r>
            <a:r>
              <a:rPr lang="fr-FR" sz="2000" dirty="0" err="1">
                <a:solidFill>
                  <a:srgbClr val="6B7A99"/>
                </a:solidFill>
                <a:latin typeface="Times New Roman" panose="02020603050405020304" pitchFamily="18" charset="0"/>
                <a:ea typeface="DejaVu Sans Light"/>
                <a:cs typeface="Times New Roman" panose="02020603050405020304" pitchFamily="18" charset="0"/>
                <a:sym typeface="DejaVu Sans Light"/>
              </a:rPr>
              <a:t>zero-day</a:t>
            </a: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a:t>
            </a:r>
          </a:p>
        </p:txBody>
      </p:sp>
      <p:sp>
        <p:nvSpPr>
          <p:cNvPr id="25" name="Freeform 7">
            <a:extLst>
              <a:ext uri="{FF2B5EF4-FFF2-40B4-BE49-F238E27FC236}">
                <a16:creationId xmlns:a16="http://schemas.microsoft.com/office/drawing/2014/main" id="{5447A711-0D89-8AF9-FED8-B72D6EB15638}"/>
              </a:ext>
            </a:extLst>
          </p:cNvPr>
          <p:cNvSpPr/>
          <p:nvPr/>
        </p:nvSpPr>
        <p:spPr>
          <a:xfrm>
            <a:off x="1747175" y="6664338"/>
            <a:ext cx="4551189" cy="2073488"/>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3"/>
                </a:ext>
              </a:extLst>
            </a:blip>
            <a:stretch>
              <a:fillRect l="67" t="-188" r="-67" b="-414"/>
            </a:stretch>
          </a:blipFill>
        </p:spPr>
        <p:txBody>
          <a:bodyPr/>
          <a:lstStyle/>
          <a:p>
            <a:endParaRPr lang="fr-TN">
              <a:latin typeface="Times New Roman" panose="02020603050405020304" pitchFamily="18" charset="0"/>
              <a:cs typeface="Times New Roman" panose="02020603050405020304" pitchFamily="18" charset="0"/>
            </a:endParaRPr>
          </a:p>
        </p:txBody>
      </p:sp>
      <p:sp>
        <p:nvSpPr>
          <p:cNvPr id="27" name="TextBox 10">
            <a:extLst>
              <a:ext uri="{FF2B5EF4-FFF2-40B4-BE49-F238E27FC236}">
                <a16:creationId xmlns:a16="http://schemas.microsoft.com/office/drawing/2014/main" id="{DDCDD000-547B-6F2A-941C-9E4E46B3FCFB}"/>
              </a:ext>
            </a:extLst>
          </p:cNvPr>
          <p:cNvSpPr txBox="1"/>
          <p:nvPr/>
        </p:nvSpPr>
        <p:spPr>
          <a:xfrm>
            <a:off x="2174221" y="6869051"/>
            <a:ext cx="3298324" cy="320601"/>
          </a:xfrm>
          <a:prstGeom prst="rect">
            <a:avLst/>
          </a:prstGeom>
        </p:spPr>
        <p:txBody>
          <a:bodyPr wrap="square" lIns="0" tIns="0" rIns="0" bIns="0" rtlCol="0" anchor="t">
            <a:spAutoFit/>
          </a:bodyPr>
          <a:lstStyle/>
          <a:p>
            <a:pPr algn="l">
              <a:lnSpc>
                <a:spcPts val="2544"/>
              </a:lnSpc>
            </a:pPr>
            <a:r>
              <a:rPr lang="en-US" sz="2600" b="1" spc="167" dirty="0">
                <a:solidFill>
                  <a:srgbClr val="101A30"/>
                </a:solidFill>
                <a:latin typeface="Times New Roman" panose="02020603050405020304" pitchFamily="18" charset="0"/>
                <a:ea typeface="Liberation Sans Bold"/>
                <a:cs typeface="Times New Roman" panose="02020603050405020304" pitchFamily="18" charset="0"/>
                <a:sym typeface="Liberation Sans Bold"/>
              </a:rPr>
              <a:t>SOAR multi-</a:t>
            </a:r>
            <a:r>
              <a:rPr lang="en-US" sz="2600" b="1" spc="167" dirty="0" err="1">
                <a:solidFill>
                  <a:srgbClr val="101A30"/>
                </a:solidFill>
                <a:latin typeface="Times New Roman" panose="02020603050405020304" pitchFamily="18" charset="0"/>
                <a:ea typeface="Liberation Sans Bold"/>
                <a:cs typeface="Times New Roman" panose="02020603050405020304" pitchFamily="18" charset="0"/>
                <a:sym typeface="Liberation Sans Bold"/>
              </a:rPr>
              <a:t>paliers</a:t>
            </a:r>
            <a:endParaRPr lang="en-US" sz="2600" b="1" spc="167" dirty="0">
              <a:solidFill>
                <a:srgbClr val="101A30"/>
              </a:solidFill>
              <a:latin typeface="Times New Roman" panose="02020603050405020304" pitchFamily="18" charset="0"/>
              <a:ea typeface="Liberation Sans Bold"/>
              <a:cs typeface="Times New Roman" panose="02020603050405020304" pitchFamily="18" charset="0"/>
              <a:sym typeface="Liberation Sans Bold"/>
            </a:endParaRPr>
          </a:p>
        </p:txBody>
      </p:sp>
      <p:sp>
        <p:nvSpPr>
          <p:cNvPr id="29" name="TextBox 15">
            <a:extLst>
              <a:ext uri="{FF2B5EF4-FFF2-40B4-BE49-F238E27FC236}">
                <a16:creationId xmlns:a16="http://schemas.microsoft.com/office/drawing/2014/main" id="{88B538CF-BE48-2744-9FF1-9B068975514D}"/>
              </a:ext>
            </a:extLst>
          </p:cNvPr>
          <p:cNvSpPr txBox="1"/>
          <p:nvPr/>
        </p:nvSpPr>
        <p:spPr>
          <a:xfrm>
            <a:off x="2174221" y="7306805"/>
            <a:ext cx="3677939" cy="1258934"/>
          </a:xfrm>
          <a:prstGeom prst="rect">
            <a:avLst/>
          </a:prstGeom>
        </p:spPr>
        <p:txBody>
          <a:bodyPr wrap="square" lIns="0" tIns="0" rIns="0" bIns="0" rtlCol="0" anchor="t">
            <a:spAutoFit/>
          </a:bodyPr>
          <a:lstStyle/>
          <a:p>
            <a:pPr algn="l">
              <a:lnSpc>
                <a:spcPts val="2544"/>
              </a:lnSpc>
            </a:pPr>
            <a:r>
              <a:rPr lang="fr-FR" sz="1817" dirty="0">
                <a:solidFill>
                  <a:srgbClr val="6B7A99"/>
                </a:solidFill>
                <a:latin typeface="Times New Roman" panose="02020603050405020304" pitchFamily="18" charset="0"/>
                <a:ea typeface="DejaVu Sans Light"/>
                <a:cs typeface="Times New Roman" panose="02020603050405020304" pitchFamily="18" charset="0"/>
                <a:sym typeface="DejaVu Sans Light"/>
              </a:rPr>
              <a:t>Corrélation, score composite </a:t>
            </a:r>
          </a:p>
          <a:p>
            <a:pPr algn="l">
              <a:lnSpc>
                <a:spcPts val="2544"/>
              </a:lnSpc>
            </a:pPr>
            <a:r>
              <a:rPr lang="fr-FR" sz="1817" dirty="0">
                <a:solidFill>
                  <a:srgbClr val="6B7A99"/>
                </a:solidFill>
                <a:latin typeface="Times New Roman" panose="02020603050405020304" pitchFamily="18" charset="0"/>
                <a:ea typeface="DejaVu Sans Light"/>
                <a:cs typeface="Times New Roman" panose="02020603050405020304" pitchFamily="18" charset="0"/>
                <a:sym typeface="DejaVu Sans Light"/>
              </a:rPr>
              <a:t>de menace et blocage iptables autonome, avec supervision humaine possible.</a:t>
            </a:r>
          </a:p>
        </p:txBody>
      </p:sp>
      <p:sp>
        <p:nvSpPr>
          <p:cNvPr id="31" name="Freeform 7">
            <a:extLst>
              <a:ext uri="{FF2B5EF4-FFF2-40B4-BE49-F238E27FC236}">
                <a16:creationId xmlns:a16="http://schemas.microsoft.com/office/drawing/2014/main" id="{7A8EC5AA-ACDE-9347-A4DD-0EEEFD4E7058}"/>
              </a:ext>
            </a:extLst>
          </p:cNvPr>
          <p:cNvSpPr/>
          <p:nvPr/>
        </p:nvSpPr>
        <p:spPr>
          <a:xfrm>
            <a:off x="11727773" y="2576434"/>
            <a:ext cx="4638473" cy="2073488"/>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3"/>
                </a:ext>
              </a:extLst>
            </a:blip>
            <a:stretch>
              <a:fillRect l="67" t="-188" r="-67" b="-414"/>
            </a:stretch>
          </a:blipFill>
        </p:spPr>
        <p:txBody>
          <a:bodyPr/>
          <a:lstStyle/>
          <a:p>
            <a:endParaRPr lang="fr-TN">
              <a:latin typeface="Times New Roman" panose="02020603050405020304" pitchFamily="18" charset="0"/>
              <a:cs typeface="Times New Roman" panose="02020603050405020304" pitchFamily="18" charset="0"/>
            </a:endParaRPr>
          </a:p>
        </p:txBody>
      </p:sp>
      <p:sp>
        <p:nvSpPr>
          <p:cNvPr id="33" name="TextBox 10">
            <a:extLst>
              <a:ext uri="{FF2B5EF4-FFF2-40B4-BE49-F238E27FC236}">
                <a16:creationId xmlns:a16="http://schemas.microsoft.com/office/drawing/2014/main" id="{CBD61239-7148-CA8E-D03B-C508A294EDF8}"/>
              </a:ext>
            </a:extLst>
          </p:cNvPr>
          <p:cNvSpPr txBox="1"/>
          <p:nvPr/>
        </p:nvSpPr>
        <p:spPr>
          <a:xfrm>
            <a:off x="12012319" y="2851274"/>
            <a:ext cx="4069379" cy="320601"/>
          </a:xfrm>
          <a:prstGeom prst="rect">
            <a:avLst/>
          </a:prstGeom>
        </p:spPr>
        <p:txBody>
          <a:bodyPr wrap="square" lIns="0" tIns="0" rIns="0" bIns="0" rtlCol="0" anchor="t">
            <a:spAutoFit/>
          </a:bodyPr>
          <a:lstStyle/>
          <a:p>
            <a:pPr algn="l">
              <a:lnSpc>
                <a:spcPts val="2544"/>
              </a:lnSpc>
            </a:pPr>
            <a:r>
              <a:rPr lang="en-US" sz="2600" b="1" spc="167" dirty="0" err="1">
                <a:solidFill>
                  <a:srgbClr val="101A30"/>
                </a:solidFill>
                <a:latin typeface="Times New Roman" panose="02020603050405020304" pitchFamily="18" charset="0"/>
                <a:ea typeface="Liberation Sans Bold"/>
                <a:cs typeface="Times New Roman" panose="02020603050405020304" pitchFamily="18" charset="0"/>
                <a:sym typeface="Liberation Sans Bold"/>
              </a:rPr>
              <a:t>Analyse</a:t>
            </a:r>
            <a:r>
              <a:rPr lang="en-US" sz="2600" b="1" spc="167" dirty="0">
                <a:solidFill>
                  <a:srgbClr val="101A30"/>
                </a:solidFill>
                <a:latin typeface="Times New Roman" panose="02020603050405020304" pitchFamily="18" charset="0"/>
                <a:ea typeface="Liberation Sans Bold"/>
                <a:cs typeface="Times New Roman" panose="02020603050405020304" pitchFamily="18" charset="0"/>
                <a:sym typeface="Liberation Sans Bold"/>
              </a:rPr>
              <a:t> cognitive locale</a:t>
            </a:r>
          </a:p>
        </p:txBody>
      </p:sp>
      <p:sp>
        <p:nvSpPr>
          <p:cNvPr id="35" name="TextBox 15">
            <a:extLst>
              <a:ext uri="{FF2B5EF4-FFF2-40B4-BE49-F238E27FC236}">
                <a16:creationId xmlns:a16="http://schemas.microsoft.com/office/drawing/2014/main" id="{4B9CEB1C-8AC2-82BC-3E43-B519C665C06C}"/>
              </a:ext>
            </a:extLst>
          </p:cNvPr>
          <p:cNvSpPr txBox="1"/>
          <p:nvPr/>
        </p:nvSpPr>
        <p:spPr>
          <a:xfrm>
            <a:off x="12020340" y="3337651"/>
            <a:ext cx="4126615" cy="936282"/>
          </a:xfrm>
          <a:prstGeom prst="rect">
            <a:avLst/>
          </a:prstGeom>
        </p:spPr>
        <p:txBody>
          <a:bodyPr wrap="square" lIns="0" tIns="0" rIns="0" bIns="0" rtlCol="0" anchor="t">
            <a:spAutoFit/>
          </a:bodyPr>
          <a:lstStyle/>
          <a:p>
            <a:pPr algn="l">
              <a:lnSpc>
                <a:spcPts val="2544"/>
              </a:lnSpc>
            </a:pP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Un LLM (</a:t>
            </a:r>
            <a:r>
              <a:rPr lang="fr-FR" sz="2000" dirty="0" err="1">
                <a:solidFill>
                  <a:srgbClr val="6B7A99"/>
                </a:solidFill>
                <a:latin typeface="Times New Roman" panose="02020603050405020304" pitchFamily="18" charset="0"/>
                <a:ea typeface="DejaVu Sans Light"/>
                <a:cs typeface="Times New Roman" panose="02020603050405020304" pitchFamily="18" charset="0"/>
                <a:sym typeface="DejaVu Sans Light"/>
              </a:rPr>
              <a:t>Ollama</a:t>
            </a: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 / Llama 3) génère</a:t>
            </a:r>
          </a:p>
          <a:p>
            <a:pPr algn="l">
              <a:lnSpc>
                <a:spcPts val="2544"/>
              </a:lnSpc>
            </a:pP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 un diagnostic structuré en 7 champs</a:t>
            </a:r>
          </a:p>
          <a:p>
            <a:pPr algn="l">
              <a:lnSpc>
                <a:spcPts val="2544"/>
              </a:lnSpc>
            </a:pP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sans dépendance cloud obligatoire.</a:t>
            </a:r>
          </a:p>
        </p:txBody>
      </p:sp>
      <p:sp>
        <p:nvSpPr>
          <p:cNvPr id="37" name="Freeform 7">
            <a:extLst>
              <a:ext uri="{FF2B5EF4-FFF2-40B4-BE49-F238E27FC236}">
                <a16:creationId xmlns:a16="http://schemas.microsoft.com/office/drawing/2014/main" id="{8C1B675B-2D18-70A7-A0AE-98DB1F57F35D}"/>
              </a:ext>
            </a:extLst>
          </p:cNvPr>
          <p:cNvSpPr/>
          <p:nvPr/>
        </p:nvSpPr>
        <p:spPr>
          <a:xfrm>
            <a:off x="11641099" y="6822570"/>
            <a:ext cx="4900333" cy="2073488"/>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3"/>
                </a:ext>
              </a:extLst>
            </a:blip>
            <a:stretch>
              <a:fillRect l="67" t="-188" r="-67" b="-414"/>
            </a:stretch>
          </a:blipFill>
        </p:spPr>
        <p:txBody>
          <a:bodyPr/>
          <a:lstStyle/>
          <a:p>
            <a:endParaRPr lang="fr-TN" dirty="0">
              <a:latin typeface="Times New Roman" panose="02020603050405020304" pitchFamily="18" charset="0"/>
              <a:cs typeface="Times New Roman" panose="02020603050405020304" pitchFamily="18" charset="0"/>
            </a:endParaRPr>
          </a:p>
        </p:txBody>
      </p:sp>
      <p:sp>
        <p:nvSpPr>
          <p:cNvPr id="39" name="TextBox 10">
            <a:extLst>
              <a:ext uri="{FF2B5EF4-FFF2-40B4-BE49-F238E27FC236}">
                <a16:creationId xmlns:a16="http://schemas.microsoft.com/office/drawing/2014/main" id="{E33BECD6-9586-EFFD-62EB-11B2F5D73D6E}"/>
              </a:ext>
            </a:extLst>
          </p:cNvPr>
          <p:cNvSpPr txBox="1"/>
          <p:nvPr/>
        </p:nvSpPr>
        <p:spPr>
          <a:xfrm>
            <a:off x="11875251" y="7029351"/>
            <a:ext cx="4638472" cy="320601"/>
          </a:xfrm>
          <a:prstGeom prst="rect">
            <a:avLst/>
          </a:prstGeom>
        </p:spPr>
        <p:txBody>
          <a:bodyPr wrap="square" lIns="0" tIns="0" rIns="0" bIns="0" rtlCol="0" anchor="t">
            <a:spAutoFit/>
          </a:bodyPr>
          <a:lstStyle/>
          <a:p>
            <a:pPr algn="l">
              <a:lnSpc>
                <a:spcPts val="2544"/>
              </a:lnSpc>
            </a:pPr>
            <a:r>
              <a:rPr lang="en-US" sz="2600" b="1" spc="167" dirty="0">
                <a:solidFill>
                  <a:srgbClr val="101A30"/>
                </a:solidFill>
                <a:latin typeface="Times New Roman" panose="02020603050405020304" pitchFamily="18" charset="0"/>
                <a:ea typeface="Liberation Sans Bold"/>
                <a:cs typeface="Times New Roman" panose="02020603050405020304" pitchFamily="18" charset="0"/>
                <a:sym typeface="Liberation Sans Bold"/>
              </a:rPr>
              <a:t>Renseignement </a:t>
            </a:r>
            <a:r>
              <a:rPr lang="en-US" sz="1600" b="1" spc="167" dirty="0">
                <a:solidFill>
                  <a:srgbClr val="101A30"/>
                </a:solidFill>
                <a:latin typeface="Times New Roman" panose="02020603050405020304" pitchFamily="18" charset="0"/>
                <a:ea typeface="Liberation Sans Bold"/>
                <a:cs typeface="Times New Roman" panose="02020603050405020304" pitchFamily="18" charset="0"/>
                <a:sym typeface="Liberation Sans Bold"/>
              </a:rPr>
              <a:t>&amp;</a:t>
            </a:r>
            <a:r>
              <a:rPr lang="en-US" sz="2600" b="1" spc="167" dirty="0">
                <a:solidFill>
                  <a:srgbClr val="101A30"/>
                </a:solidFill>
                <a:latin typeface="Times New Roman" panose="02020603050405020304" pitchFamily="18" charset="0"/>
                <a:ea typeface="Liberation Sans Bold"/>
                <a:cs typeface="Times New Roman" panose="02020603050405020304" pitchFamily="18" charset="0"/>
                <a:sym typeface="Liberation Sans Bold"/>
              </a:rPr>
              <a:t> formation</a:t>
            </a:r>
          </a:p>
        </p:txBody>
      </p:sp>
      <p:sp>
        <p:nvSpPr>
          <p:cNvPr id="41" name="TextBox 15">
            <a:extLst>
              <a:ext uri="{FF2B5EF4-FFF2-40B4-BE49-F238E27FC236}">
                <a16:creationId xmlns:a16="http://schemas.microsoft.com/office/drawing/2014/main" id="{9A3412E0-6026-1EAC-8F23-211D5864CF7C}"/>
              </a:ext>
            </a:extLst>
          </p:cNvPr>
          <p:cNvSpPr txBox="1"/>
          <p:nvPr/>
        </p:nvSpPr>
        <p:spPr>
          <a:xfrm>
            <a:off x="12103470" y="7468131"/>
            <a:ext cx="4126615" cy="936282"/>
          </a:xfrm>
          <a:prstGeom prst="rect">
            <a:avLst/>
          </a:prstGeom>
        </p:spPr>
        <p:txBody>
          <a:bodyPr wrap="square" lIns="0" tIns="0" rIns="0" bIns="0" rtlCol="0" anchor="t">
            <a:spAutoFit/>
          </a:bodyPr>
          <a:lstStyle/>
          <a:p>
            <a:pPr algn="l">
              <a:lnSpc>
                <a:spcPts val="2544"/>
              </a:lnSpc>
            </a:pP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Veille CTI, règles </a:t>
            </a:r>
            <a:r>
              <a:rPr lang="fr-FR" sz="2000" dirty="0" err="1">
                <a:solidFill>
                  <a:srgbClr val="6B7A99"/>
                </a:solidFill>
                <a:latin typeface="Times New Roman" panose="02020603050405020304" pitchFamily="18" charset="0"/>
                <a:ea typeface="DejaVu Sans Light"/>
                <a:cs typeface="Times New Roman" panose="02020603050405020304" pitchFamily="18" charset="0"/>
                <a:sym typeface="DejaVu Sans Light"/>
              </a:rPr>
              <a:t>Suricata</a:t>
            </a: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 candidates </a:t>
            </a:r>
          </a:p>
          <a:p>
            <a:pPr algn="l">
              <a:lnSpc>
                <a:spcPts val="2544"/>
              </a:lnSpc>
            </a:pP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et parcours de sensibilisation ciblés </a:t>
            </a:r>
          </a:p>
          <a:p>
            <a:pPr algn="l">
              <a:lnSpc>
                <a:spcPts val="2544"/>
              </a:lnSpc>
            </a:pPr>
            <a:r>
              <a:rPr lang="fr-FR" sz="2000" dirty="0">
                <a:solidFill>
                  <a:srgbClr val="6B7A99"/>
                </a:solidFill>
                <a:latin typeface="Times New Roman" panose="02020603050405020304" pitchFamily="18" charset="0"/>
                <a:ea typeface="DejaVu Sans Light"/>
                <a:cs typeface="Times New Roman" panose="02020603050405020304" pitchFamily="18" charset="0"/>
                <a:sym typeface="DejaVu Sans Light"/>
              </a:rPr>
              <a:t>pour le facteur humain.</a:t>
            </a:r>
          </a:p>
        </p:txBody>
      </p:sp>
      <p:pic>
        <p:nvPicPr>
          <p:cNvPr id="8" name="Picture 7">
            <a:extLst>
              <a:ext uri="{FF2B5EF4-FFF2-40B4-BE49-F238E27FC236}">
                <a16:creationId xmlns:a16="http://schemas.microsoft.com/office/drawing/2014/main" id="{B475555A-6E4E-8A76-028C-AB06725F7F42}"/>
              </a:ext>
            </a:extLst>
          </p:cNvPr>
          <p:cNvPicPr>
            <a:picLocks noChangeAspect="1"/>
          </p:cNvPicPr>
          <p:nvPr/>
        </p:nvPicPr>
        <p:blipFill>
          <a:blip r:embed="rId4" cstate="print">
            <a:extLst>
              <a:ext uri="{28A0092B-C50C-407E-A947-70E740481C1C}">
                <a14:useLocalDpi xmlns:a14="http://schemas.microsoft.com/office/drawing/2010/main" val="0"/>
              </a:ext>
            </a:extLst>
          </a:blip>
          <a:srcRect l="28744" t="5676" r="29335" b="16981"/>
          <a:stretch>
            <a:fillRect/>
          </a:stretch>
        </p:blipFill>
        <p:spPr>
          <a:xfrm>
            <a:off x="7467130" y="2959698"/>
            <a:ext cx="3353739" cy="4367604"/>
          </a:xfrm>
          <a:prstGeom prst="rect">
            <a:avLst/>
          </a:prstGeom>
        </p:spPr>
      </p:pic>
      <p:sp>
        <p:nvSpPr>
          <p:cNvPr id="11" name="TextBox 10">
            <a:extLst>
              <a:ext uri="{FF2B5EF4-FFF2-40B4-BE49-F238E27FC236}">
                <a16:creationId xmlns:a16="http://schemas.microsoft.com/office/drawing/2014/main" id="{A1B51532-0872-ED17-CC31-F350D44D8994}"/>
              </a:ext>
            </a:extLst>
          </p:cNvPr>
          <p:cNvSpPr txBox="1"/>
          <p:nvPr/>
        </p:nvSpPr>
        <p:spPr>
          <a:xfrm>
            <a:off x="7728991" y="7162529"/>
            <a:ext cx="2830016" cy="861774"/>
          </a:xfrm>
          <a:prstGeom prst="rect">
            <a:avLst/>
          </a:prstGeom>
          <a:noFill/>
        </p:spPr>
        <p:txBody>
          <a:bodyPr wrap="square">
            <a:spAutoFit/>
          </a:bodyPr>
          <a:lstStyle/>
          <a:p>
            <a:pPr algn="ctr"/>
            <a:r>
              <a:rPr lang="fr-FR" sz="5000" b="1" dirty="0">
                <a:solidFill>
                  <a:srgbClr val="E6395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NG-IDPS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0F7FE"/>
        </a:solidFill>
        <a:effectLst/>
      </p:bgPr>
    </p:bg>
    <p:spTree>
      <p:nvGrpSpPr>
        <p:cNvPr id="1" name="">
          <a:extLst>
            <a:ext uri="{FF2B5EF4-FFF2-40B4-BE49-F238E27FC236}">
              <a16:creationId xmlns:a16="http://schemas.microsoft.com/office/drawing/2014/main" id="{2F9579B4-808D-14C0-37C8-0DA2B1707F9A}"/>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602BE063-6CB5-8D76-E021-9D8BFDA206EF}"/>
              </a:ext>
            </a:extLst>
          </p:cNvPr>
          <p:cNvSpPr txBox="1"/>
          <p:nvPr/>
        </p:nvSpPr>
        <p:spPr>
          <a:xfrm>
            <a:off x="6076655" y="1098579"/>
            <a:ext cx="7356640" cy="776623"/>
          </a:xfrm>
          <a:prstGeom prst="rect">
            <a:avLst/>
          </a:prstGeom>
        </p:spPr>
        <p:txBody>
          <a:bodyPr wrap="square" lIns="0" tIns="0" rIns="0" bIns="0" rtlCol="0" anchor="t">
            <a:spAutoFit/>
          </a:bodyPr>
          <a:lstStyle/>
          <a:p>
            <a:pPr algn="ctr">
              <a:lnSpc>
                <a:spcPts val="6604"/>
              </a:lnSpc>
              <a:spcBef>
                <a:spcPct val="0"/>
              </a:spcBef>
            </a:pPr>
            <a:r>
              <a:rPr lang="fr-FR" sz="4717" b="1" dirty="0">
                <a:solidFill>
                  <a:srgbClr val="1C1F54"/>
                </a:solidFill>
                <a:latin typeface="Times New Roman Bold"/>
                <a:ea typeface="Times New Roman Bold"/>
                <a:cs typeface="Times New Roman Bold"/>
                <a:sym typeface="Times New Roman Bold"/>
              </a:rPr>
              <a:t>Les besoins de notre </a:t>
            </a:r>
            <a:r>
              <a:rPr lang="en-US" sz="4717" b="1" dirty="0">
                <a:solidFill>
                  <a:srgbClr val="1C1F54"/>
                </a:solidFill>
                <a:latin typeface="Times New Roman" panose="02020603050405020304" pitchFamily="18" charset="0"/>
                <a:ea typeface="Times New Roman Bold"/>
                <a:cs typeface="Times New Roman" panose="02020603050405020304" pitchFamily="18" charset="0"/>
                <a:sym typeface="Times New Roman Bold"/>
              </a:rPr>
              <a:t>solution</a:t>
            </a:r>
            <a:endParaRPr lang="en-US" sz="4717" b="1" dirty="0">
              <a:solidFill>
                <a:srgbClr val="1C1F54"/>
              </a:solidFill>
              <a:latin typeface="Times New Roman Bold"/>
              <a:ea typeface="Times New Roman Bold"/>
              <a:cs typeface="Times New Roman Bold"/>
              <a:sym typeface="Times New Roman Bold"/>
            </a:endParaRPr>
          </a:p>
        </p:txBody>
      </p:sp>
      <p:sp>
        <p:nvSpPr>
          <p:cNvPr id="5" name="TextBox 5">
            <a:extLst>
              <a:ext uri="{FF2B5EF4-FFF2-40B4-BE49-F238E27FC236}">
                <a16:creationId xmlns:a16="http://schemas.microsoft.com/office/drawing/2014/main" id="{3A9A2F6A-48AE-CAED-3298-12CEDCAF12E1}"/>
              </a:ext>
            </a:extLst>
          </p:cNvPr>
          <p:cNvSpPr txBox="1"/>
          <p:nvPr/>
        </p:nvSpPr>
        <p:spPr>
          <a:xfrm>
            <a:off x="1303325" y="1377087"/>
            <a:ext cx="46796" cy="109804"/>
          </a:xfrm>
          <a:prstGeom prst="rect">
            <a:avLst/>
          </a:prstGeom>
        </p:spPr>
        <p:txBody>
          <a:bodyPr lIns="0" tIns="0" rIns="0" bIns="0" rtlCol="0" anchor="t">
            <a:spAutoFit/>
          </a:bodyPr>
          <a:lstStyle/>
          <a:p>
            <a:pPr algn="l">
              <a:lnSpc>
                <a:spcPts val="839"/>
              </a:lnSpc>
            </a:pPr>
            <a:r>
              <a:rPr lang="en-US" sz="600">
                <a:solidFill>
                  <a:srgbClr val="6B7A99"/>
                </a:solidFill>
                <a:latin typeface="DejaVu Sans Light"/>
                <a:ea typeface="DejaVu Sans Light"/>
                <a:cs typeface="DejaVu Sans Light"/>
                <a:sym typeface="DejaVu Sans Light"/>
              </a:rPr>
              <a:t> </a:t>
            </a:r>
          </a:p>
        </p:txBody>
      </p:sp>
      <p:sp>
        <p:nvSpPr>
          <p:cNvPr id="6" name="TextBox 6">
            <a:extLst>
              <a:ext uri="{FF2B5EF4-FFF2-40B4-BE49-F238E27FC236}">
                <a16:creationId xmlns:a16="http://schemas.microsoft.com/office/drawing/2014/main" id="{96699629-249E-87E3-EFF4-5ED9002C6264}"/>
              </a:ext>
            </a:extLst>
          </p:cNvPr>
          <p:cNvSpPr txBox="1"/>
          <p:nvPr/>
        </p:nvSpPr>
        <p:spPr>
          <a:xfrm>
            <a:off x="3105712" y="1377087"/>
            <a:ext cx="46796" cy="109804"/>
          </a:xfrm>
          <a:prstGeom prst="rect">
            <a:avLst/>
          </a:prstGeom>
        </p:spPr>
        <p:txBody>
          <a:bodyPr lIns="0" tIns="0" rIns="0" bIns="0" rtlCol="0" anchor="t">
            <a:spAutoFit/>
          </a:bodyPr>
          <a:lstStyle/>
          <a:p>
            <a:pPr algn="l">
              <a:lnSpc>
                <a:spcPts val="839"/>
              </a:lnSpc>
            </a:pPr>
            <a:r>
              <a:rPr lang="en-US" sz="600">
                <a:solidFill>
                  <a:srgbClr val="6B7A99"/>
                </a:solidFill>
                <a:latin typeface="DejaVu Sans Light"/>
                <a:ea typeface="DejaVu Sans Light"/>
                <a:cs typeface="DejaVu Sans Light"/>
                <a:sym typeface="DejaVu Sans Light"/>
              </a:rPr>
              <a:t> </a:t>
            </a:r>
          </a:p>
        </p:txBody>
      </p:sp>
      <p:sp>
        <p:nvSpPr>
          <p:cNvPr id="21" name="TextBox 6">
            <a:extLst>
              <a:ext uri="{FF2B5EF4-FFF2-40B4-BE49-F238E27FC236}">
                <a16:creationId xmlns:a16="http://schemas.microsoft.com/office/drawing/2014/main" id="{A23BE537-0046-BE08-5E94-3A9C1D105D5D}"/>
              </a:ext>
            </a:extLst>
          </p:cNvPr>
          <p:cNvSpPr txBox="1"/>
          <p:nvPr/>
        </p:nvSpPr>
        <p:spPr>
          <a:xfrm>
            <a:off x="-1012222" y="-2247058"/>
            <a:ext cx="6081522" cy="4494115"/>
          </a:xfrm>
          <a:prstGeom prst="rect">
            <a:avLst/>
          </a:prstGeom>
        </p:spPr>
        <p:txBody>
          <a:bodyPr wrap="square" lIns="0" tIns="0" rIns="0" bIns="0" rtlCol="0" anchor="t">
            <a:spAutoFit/>
          </a:bodyPr>
          <a:lstStyle/>
          <a:p>
            <a:pPr algn="l">
              <a:lnSpc>
                <a:spcPts val="33600"/>
              </a:lnSpc>
            </a:pPr>
            <a:r>
              <a:rPr lang="en-US" sz="42000" b="1" spc="-1680" dirty="0">
                <a:gradFill>
                  <a:gsLst>
                    <a:gs pos="0">
                      <a:srgbClr val="FFFFFF">
                        <a:alpha val="7000"/>
                      </a:srgbClr>
                    </a:gs>
                    <a:gs pos="100000">
                      <a:srgbClr val="FFFFFF">
                        <a:alpha val="7000"/>
                      </a:srgbClr>
                    </a:gs>
                  </a:gsLst>
                  <a:lin ang="16200000"/>
                </a:gradFill>
                <a:latin typeface="Times New Roman Bold"/>
                <a:ea typeface="Times New Roman Bold"/>
                <a:cs typeface="Times New Roman Bold"/>
                <a:sym typeface="Times New Roman Bold"/>
              </a:rPr>
              <a:t>02</a:t>
            </a:r>
          </a:p>
        </p:txBody>
      </p:sp>
      <p:grpSp>
        <p:nvGrpSpPr>
          <p:cNvPr id="9" name="Group 8">
            <a:extLst>
              <a:ext uri="{FF2B5EF4-FFF2-40B4-BE49-F238E27FC236}">
                <a16:creationId xmlns:a16="http://schemas.microsoft.com/office/drawing/2014/main" id="{35A068DD-79CE-D909-F955-DC7BC6726724}"/>
              </a:ext>
            </a:extLst>
          </p:cNvPr>
          <p:cNvGrpSpPr/>
          <p:nvPr/>
        </p:nvGrpSpPr>
        <p:grpSpPr>
          <a:xfrm>
            <a:off x="4170341" y="3359345"/>
            <a:ext cx="3353739" cy="5064605"/>
            <a:chOff x="7467130" y="2959698"/>
            <a:chExt cx="3353739" cy="5064605"/>
          </a:xfrm>
        </p:grpSpPr>
        <p:pic>
          <p:nvPicPr>
            <p:cNvPr id="8" name="Picture 7">
              <a:extLst>
                <a:ext uri="{FF2B5EF4-FFF2-40B4-BE49-F238E27FC236}">
                  <a16:creationId xmlns:a16="http://schemas.microsoft.com/office/drawing/2014/main" id="{DAF9BA3C-8BB3-8E95-BDC9-8EE30817AEC6}"/>
                </a:ext>
              </a:extLst>
            </p:cNvPr>
            <p:cNvPicPr>
              <a:picLocks noChangeAspect="1"/>
            </p:cNvPicPr>
            <p:nvPr/>
          </p:nvPicPr>
          <p:blipFill>
            <a:blip r:embed="rId3" cstate="print">
              <a:extLst>
                <a:ext uri="{28A0092B-C50C-407E-A947-70E740481C1C}">
                  <a14:useLocalDpi xmlns:a14="http://schemas.microsoft.com/office/drawing/2010/main" val="0"/>
                </a:ext>
              </a:extLst>
            </a:blip>
            <a:srcRect l="28744" t="5676" r="29335" b="16981"/>
            <a:stretch>
              <a:fillRect/>
            </a:stretch>
          </p:blipFill>
          <p:spPr>
            <a:xfrm>
              <a:off x="7467130" y="2959698"/>
              <a:ext cx="3353739" cy="4367604"/>
            </a:xfrm>
            <a:prstGeom prst="rect">
              <a:avLst/>
            </a:prstGeom>
          </p:spPr>
        </p:pic>
        <p:sp>
          <p:nvSpPr>
            <p:cNvPr id="11" name="TextBox 10">
              <a:extLst>
                <a:ext uri="{FF2B5EF4-FFF2-40B4-BE49-F238E27FC236}">
                  <a16:creationId xmlns:a16="http://schemas.microsoft.com/office/drawing/2014/main" id="{5B1C0C79-4DA4-3D83-6015-C18C7924DF4D}"/>
                </a:ext>
              </a:extLst>
            </p:cNvPr>
            <p:cNvSpPr txBox="1"/>
            <p:nvPr/>
          </p:nvSpPr>
          <p:spPr>
            <a:xfrm>
              <a:off x="7728991" y="7162529"/>
              <a:ext cx="2830016" cy="861774"/>
            </a:xfrm>
            <a:prstGeom prst="rect">
              <a:avLst/>
            </a:prstGeom>
            <a:noFill/>
          </p:spPr>
          <p:txBody>
            <a:bodyPr wrap="square">
              <a:spAutoFit/>
            </a:bodyPr>
            <a:lstStyle/>
            <a:p>
              <a:pPr algn="ctr"/>
              <a:r>
                <a:rPr lang="fr-FR" sz="5000" b="1">
                  <a:solidFill>
                    <a:srgbClr val="E6395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NG-IDPS</a:t>
              </a:r>
              <a:endParaRPr lang="fr-FR" sz="5000" b="1" dirty="0">
                <a:solidFill>
                  <a:srgbClr val="E6395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grpSp>
      <p:sp>
        <p:nvSpPr>
          <p:cNvPr id="7" name="Freeform 7">
            <a:extLst>
              <a:ext uri="{FF2B5EF4-FFF2-40B4-BE49-F238E27FC236}">
                <a16:creationId xmlns:a16="http://schemas.microsoft.com/office/drawing/2014/main" id="{44209119-0673-ECC9-DEB6-262066BC80A4}"/>
              </a:ext>
            </a:extLst>
          </p:cNvPr>
          <p:cNvSpPr/>
          <p:nvPr/>
        </p:nvSpPr>
        <p:spPr>
          <a:xfrm>
            <a:off x="9741120" y="4874294"/>
            <a:ext cx="5775968" cy="894454"/>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4"/>
                </a:ext>
              </a:extLst>
            </a:blip>
            <a:stretch>
              <a:fillRect l="67" t="-188" r="-67" b="-414"/>
            </a:stretch>
          </a:blipFill>
        </p:spPr>
        <p:txBody>
          <a:bodyPr/>
          <a:lstStyle/>
          <a:p>
            <a:endParaRPr lang="fr-TN"/>
          </a:p>
        </p:txBody>
      </p:sp>
      <p:sp>
        <p:nvSpPr>
          <p:cNvPr id="10" name="TextBox 10">
            <a:extLst>
              <a:ext uri="{FF2B5EF4-FFF2-40B4-BE49-F238E27FC236}">
                <a16:creationId xmlns:a16="http://schemas.microsoft.com/office/drawing/2014/main" id="{470260F1-7E31-7FAF-CF22-D38592B6C0C9}"/>
              </a:ext>
            </a:extLst>
          </p:cNvPr>
          <p:cNvSpPr txBox="1"/>
          <p:nvPr/>
        </p:nvSpPr>
        <p:spPr>
          <a:xfrm>
            <a:off x="9972184" y="5161220"/>
            <a:ext cx="3886695" cy="320601"/>
          </a:xfrm>
          <a:prstGeom prst="rect">
            <a:avLst/>
          </a:prstGeom>
        </p:spPr>
        <p:txBody>
          <a:bodyPr wrap="square" lIns="0" tIns="0" rIns="0" bIns="0" rtlCol="0" anchor="t">
            <a:spAutoFit/>
          </a:bodyPr>
          <a:lstStyle/>
          <a:p>
            <a:pPr algn="l">
              <a:lnSpc>
                <a:spcPts val="2544"/>
              </a:lnSpc>
            </a:pPr>
            <a:r>
              <a:rPr lang="en-US" sz="2600" b="1" spc="167" dirty="0">
                <a:latin typeface="Times New Roman" panose="02020603050405020304" pitchFamily="18" charset="0"/>
                <a:ea typeface="Liberation Sans Bold"/>
                <a:cs typeface="Times New Roman" panose="02020603050405020304" pitchFamily="18" charset="0"/>
                <a:sym typeface="Liberation Sans Bold"/>
              </a:rPr>
              <a:t>Supervision et pilotage</a:t>
            </a:r>
          </a:p>
        </p:txBody>
      </p:sp>
      <p:sp>
        <p:nvSpPr>
          <p:cNvPr id="3" name="Freeform 7">
            <a:extLst>
              <a:ext uri="{FF2B5EF4-FFF2-40B4-BE49-F238E27FC236}">
                <a16:creationId xmlns:a16="http://schemas.microsoft.com/office/drawing/2014/main" id="{72F51F86-E885-AC39-859C-6992C5252D30}"/>
              </a:ext>
            </a:extLst>
          </p:cNvPr>
          <p:cNvSpPr/>
          <p:nvPr/>
        </p:nvSpPr>
        <p:spPr>
          <a:xfrm>
            <a:off x="9741120" y="7098609"/>
            <a:ext cx="5775969" cy="894454"/>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4"/>
                </a:ext>
              </a:extLst>
            </a:blip>
            <a:stretch>
              <a:fillRect l="67" t="-188" r="-67" b="-414"/>
            </a:stretch>
          </a:blipFill>
        </p:spPr>
        <p:txBody>
          <a:bodyPr/>
          <a:lstStyle/>
          <a:p>
            <a:endParaRPr lang="fr-TN"/>
          </a:p>
        </p:txBody>
      </p:sp>
      <p:sp>
        <p:nvSpPr>
          <p:cNvPr id="12" name="TextBox 10">
            <a:extLst>
              <a:ext uri="{FF2B5EF4-FFF2-40B4-BE49-F238E27FC236}">
                <a16:creationId xmlns:a16="http://schemas.microsoft.com/office/drawing/2014/main" id="{DB794B12-F7B5-E4E7-A605-4B848C683865}"/>
              </a:ext>
            </a:extLst>
          </p:cNvPr>
          <p:cNvSpPr txBox="1"/>
          <p:nvPr/>
        </p:nvSpPr>
        <p:spPr>
          <a:xfrm>
            <a:off x="9972184" y="7385535"/>
            <a:ext cx="4528537" cy="320601"/>
          </a:xfrm>
          <a:prstGeom prst="rect">
            <a:avLst/>
          </a:prstGeom>
        </p:spPr>
        <p:txBody>
          <a:bodyPr wrap="square" lIns="0" tIns="0" rIns="0" bIns="0" rtlCol="0" anchor="t">
            <a:spAutoFit/>
          </a:bodyPr>
          <a:lstStyle/>
          <a:p>
            <a:pPr algn="ctr">
              <a:lnSpc>
                <a:spcPts val="2544"/>
              </a:lnSpc>
            </a:pPr>
            <a:r>
              <a:rPr lang="en-US" sz="2600" b="1" spc="167" dirty="0">
                <a:latin typeface="Times New Roman" panose="02020603050405020304" pitchFamily="18" charset="0"/>
                <a:ea typeface="Liberation Sans Bold"/>
                <a:cs typeface="Times New Roman" panose="02020603050405020304" pitchFamily="18" charset="0"/>
                <a:sym typeface="Liberation Sans Bold"/>
              </a:rPr>
              <a:t>Diagnostic et renseignement</a:t>
            </a:r>
          </a:p>
        </p:txBody>
      </p:sp>
      <p:sp>
        <p:nvSpPr>
          <p:cNvPr id="14" name="Freeform 7">
            <a:extLst>
              <a:ext uri="{FF2B5EF4-FFF2-40B4-BE49-F238E27FC236}">
                <a16:creationId xmlns:a16="http://schemas.microsoft.com/office/drawing/2014/main" id="{84647E15-281C-5D37-5F78-691A867B1073}"/>
              </a:ext>
            </a:extLst>
          </p:cNvPr>
          <p:cNvSpPr/>
          <p:nvPr/>
        </p:nvSpPr>
        <p:spPr>
          <a:xfrm>
            <a:off x="9741122" y="3778103"/>
            <a:ext cx="5775966" cy="894454"/>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4"/>
                </a:ext>
              </a:extLst>
            </a:blip>
            <a:stretch>
              <a:fillRect l="67" t="-188" r="-67" b="-414"/>
            </a:stretch>
          </a:blipFill>
        </p:spPr>
        <p:txBody>
          <a:bodyPr/>
          <a:lstStyle/>
          <a:p>
            <a:endParaRPr lang="fr-TN" dirty="0"/>
          </a:p>
        </p:txBody>
      </p:sp>
      <p:sp>
        <p:nvSpPr>
          <p:cNvPr id="17" name="TextBox 10">
            <a:extLst>
              <a:ext uri="{FF2B5EF4-FFF2-40B4-BE49-F238E27FC236}">
                <a16:creationId xmlns:a16="http://schemas.microsoft.com/office/drawing/2014/main" id="{63A228A6-08C5-4723-156A-87F1730B44FA}"/>
              </a:ext>
            </a:extLst>
          </p:cNvPr>
          <p:cNvSpPr txBox="1"/>
          <p:nvPr/>
        </p:nvSpPr>
        <p:spPr>
          <a:xfrm>
            <a:off x="9921839" y="4065029"/>
            <a:ext cx="5544902" cy="320601"/>
          </a:xfrm>
          <a:prstGeom prst="rect">
            <a:avLst/>
          </a:prstGeom>
        </p:spPr>
        <p:txBody>
          <a:bodyPr wrap="square" lIns="0" tIns="0" rIns="0" bIns="0" rtlCol="0" anchor="t">
            <a:spAutoFit/>
          </a:bodyPr>
          <a:lstStyle/>
          <a:p>
            <a:pPr algn="ctr">
              <a:lnSpc>
                <a:spcPts val="2544"/>
              </a:lnSpc>
            </a:pPr>
            <a:r>
              <a:rPr lang="en-US" sz="2600" b="1" spc="167" dirty="0">
                <a:latin typeface="Times New Roman" panose="02020603050405020304" pitchFamily="18" charset="0"/>
                <a:ea typeface="Liberation Sans Bold"/>
                <a:cs typeface="Times New Roman" panose="02020603050405020304" pitchFamily="18" charset="0"/>
                <a:sym typeface="Liberation Sans Bold"/>
              </a:rPr>
              <a:t>Détection et correlation </a:t>
            </a:r>
            <a:r>
              <a:rPr lang="en-US" sz="2600" b="1" spc="167" dirty="0" err="1">
                <a:latin typeface="Times New Roman" panose="02020603050405020304" pitchFamily="18" charset="0"/>
                <a:ea typeface="Liberation Sans Bold"/>
                <a:cs typeface="Times New Roman" panose="02020603050405020304" pitchFamily="18" charset="0"/>
                <a:sym typeface="Liberation Sans Bold"/>
              </a:rPr>
              <a:t>autonome</a:t>
            </a:r>
            <a:endParaRPr lang="en-US" sz="2600" b="1" spc="167" dirty="0">
              <a:latin typeface="Times New Roman" panose="02020603050405020304" pitchFamily="18" charset="0"/>
              <a:ea typeface="Liberation Sans Bold"/>
              <a:cs typeface="Times New Roman" panose="02020603050405020304" pitchFamily="18" charset="0"/>
              <a:sym typeface="Liberation Sans Bold"/>
            </a:endParaRPr>
          </a:p>
        </p:txBody>
      </p:sp>
      <p:sp>
        <p:nvSpPr>
          <p:cNvPr id="19" name="Freeform 7">
            <a:extLst>
              <a:ext uri="{FF2B5EF4-FFF2-40B4-BE49-F238E27FC236}">
                <a16:creationId xmlns:a16="http://schemas.microsoft.com/office/drawing/2014/main" id="{C9EF4436-2077-A98A-A60D-0641ADB6EA3C}"/>
              </a:ext>
            </a:extLst>
          </p:cNvPr>
          <p:cNvSpPr/>
          <p:nvPr/>
        </p:nvSpPr>
        <p:spPr>
          <a:xfrm>
            <a:off x="9741123" y="6002418"/>
            <a:ext cx="5775968" cy="894454"/>
          </a:xfrm>
          <a:custGeom>
            <a:avLst/>
            <a:gdLst/>
            <a:ahLst/>
            <a:cxnLst/>
            <a:rect l="l" t="t" r="r" b="b"/>
            <a:pathLst>
              <a:path w="5143406" h="1532864">
                <a:moveTo>
                  <a:pt x="0" y="0"/>
                </a:moveTo>
                <a:lnTo>
                  <a:pt x="5143406" y="0"/>
                </a:lnTo>
                <a:lnTo>
                  <a:pt x="5143406" y="1532865"/>
                </a:lnTo>
                <a:lnTo>
                  <a:pt x="0" y="1532865"/>
                </a:lnTo>
                <a:lnTo>
                  <a:pt x="0" y="0"/>
                </a:lnTo>
                <a:close/>
              </a:path>
            </a:pathLst>
          </a:custGeom>
          <a:blipFill>
            <a:blip>
              <a:extLst>
                <a:ext uri="{96DAC541-7B7A-43D3-8B79-37D633B846F1}">
                  <asvg:svgBlip xmlns:asvg="http://schemas.microsoft.com/office/drawing/2016/SVG/main" r:embed="rId4"/>
                </a:ext>
              </a:extLst>
            </a:blip>
            <a:stretch>
              <a:fillRect l="67" t="-188" r="-67" b="-414"/>
            </a:stretch>
          </a:blipFill>
        </p:spPr>
        <p:txBody>
          <a:bodyPr/>
          <a:lstStyle/>
          <a:p>
            <a:endParaRPr lang="fr-TN"/>
          </a:p>
        </p:txBody>
      </p:sp>
      <p:sp>
        <p:nvSpPr>
          <p:cNvPr id="22" name="TextBox 10">
            <a:extLst>
              <a:ext uri="{FF2B5EF4-FFF2-40B4-BE49-F238E27FC236}">
                <a16:creationId xmlns:a16="http://schemas.microsoft.com/office/drawing/2014/main" id="{F10F3CEC-1492-0064-C290-BE07E43F3F2A}"/>
              </a:ext>
            </a:extLst>
          </p:cNvPr>
          <p:cNvSpPr txBox="1"/>
          <p:nvPr/>
        </p:nvSpPr>
        <p:spPr>
          <a:xfrm>
            <a:off x="9972184" y="6273378"/>
            <a:ext cx="5444212" cy="320601"/>
          </a:xfrm>
          <a:prstGeom prst="rect">
            <a:avLst/>
          </a:prstGeom>
        </p:spPr>
        <p:txBody>
          <a:bodyPr wrap="square" lIns="0" tIns="0" rIns="0" bIns="0" rtlCol="0" anchor="t">
            <a:spAutoFit/>
          </a:bodyPr>
          <a:lstStyle/>
          <a:p>
            <a:pPr algn="ctr">
              <a:lnSpc>
                <a:spcPts val="2544"/>
              </a:lnSpc>
            </a:pPr>
            <a:r>
              <a:rPr lang="en-US" sz="2600" b="1" spc="167" dirty="0">
                <a:latin typeface="Times New Roman" panose="02020603050405020304" pitchFamily="18" charset="0"/>
                <a:ea typeface="Liberation Sans Bold"/>
                <a:cs typeface="Times New Roman" panose="02020603050405020304" pitchFamily="18" charset="0"/>
                <a:sym typeface="Liberation Sans Bold"/>
              </a:rPr>
              <a:t>Sensibilisation du facteur humain</a:t>
            </a:r>
          </a:p>
        </p:txBody>
      </p:sp>
      <p:sp>
        <p:nvSpPr>
          <p:cNvPr id="24" name="TextBox 23">
            <a:extLst>
              <a:ext uri="{FF2B5EF4-FFF2-40B4-BE49-F238E27FC236}">
                <a16:creationId xmlns:a16="http://schemas.microsoft.com/office/drawing/2014/main" id="{AB3CF10B-DED0-3C3C-D0B1-B96240618F77}"/>
              </a:ext>
            </a:extLst>
          </p:cNvPr>
          <p:cNvSpPr txBox="1"/>
          <p:nvPr/>
        </p:nvSpPr>
        <p:spPr>
          <a:xfrm>
            <a:off x="4867972" y="2028671"/>
            <a:ext cx="9774006" cy="430887"/>
          </a:xfrm>
          <a:prstGeom prst="rect">
            <a:avLst/>
          </a:prstGeom>
          <a:noFill/>
        </p:spPr>
        <p:txBody>
          <a:bodyPr wrap="square">
            <a:spAutoFit/>
          </a:bodyPr>
          <a:lstStyle/>
          <a:p>
            <a:r>
              <a:rPr lang="en-US" sz="2200" dirty="0">
                <a:latin typeface="Times New Roman" panose="02020603050405020304" pitchFamily="18" charset="0"/>
                <a:cs typeface="Times New Roman" panose="02020603050405020304" pitchFamily="18" charset="0"/>
              </a:rPr>
              <a:t>Pour </a:t>
            </a:r>
            <a:r>
              <a:rPr lang="en-US" sz="2200" dirty="0" err="1">
                <a:latin typeface="Times New Roman" panose="02020603050405020304" pitchFamily="18" charset="0"/>
                <a:cs typeface="Times New Roman" panose="02020603050405020304" pitchFamily="18" charset="0"/>
              </a:rPr>
              <a:t>remplir</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ce</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rôle</a:t>
            </a:r>
            <a:r>
              <a:rPr lang="en-US" sz="2200" dirty="0">
                <a:latin typeface="Times New Roman" panose="02020603050405020304" pitchFamily="18" charset="0"/>
                <a:cs typeface="Times New Roman" panose="02020603050405020304" pitchFamily="18" charset="0"/>
              </a:rPr>
              <a:t>, NG-IDPS doit </a:t>
            </a:r>
            <a:r>
              <a:rPr lang="en-US" sz="2200" dirty="0" err="1">
                <a:latin typeface="Times New Roman" panose="02020603050405020304" pitchFamily="18" charset="0"/>
                <a:cs typeface="Times New Roman" panose="02020603050405020304" pitchFamily="18" charset="0"/>
              </a:rPr>
              <a:t>répondre</a:t>
            </a:r>
            <a:r>
              <a:rPr lang="en-US" sz="2200" dirty="0">
                <a:latin typeface="Times New Roman" panose="02020603050405020304" pitchFamily="18" charset="0"/>
                <a:cs typeface="Times New Roman" panose="02020603050405020304" pitchFamily="18" charset="0"/>
              </a:rPr>
              <a:t> à quatre </a:t>
            </a:r>
            <a:r>
              <a:rPr lang="en-US" sz="2200" dirty="0" err="1">
                <a:latin typeface="Times New Roman" panose="02020603050405020304" pitchFamily="18" charset="0"/>
                <a:cs typeface="Times New Roman" panose="02020603050405020304" pitchFamily="18" charset="0"/>
              </a:rPr>
              <a:t>besoins</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fonctionnels</a:t>
            </a:r>
            <a:r>
              <a:rPr lang="en-US" sz="2200" dirty="0">
                <a:latin typeface="Times New Roman" panose="02020603050405020304" pitchFamily="18" charset="0"/>
                <a:cs typeface="Times New Roman" panose="02020603050405020304" pitchFamily="18" charset="0"/>
              </a:rPr>
              <a:t> </a:t>
            </a:r>
            <a:r>
              <a:rPr lang="en-US" sz="2200" dirty="0" err="1">
                <a:latin typeface="Times New Roman" panose="02020603050405020304" pitchFamily="18" charset="0"/>
                <a:cs typeface="Times New Roman" panose="02020603050405020304" pitchFamily="18" charset="0"/>
              </a:rPr>
              <a:t>essentiels</a:t>
            </a:r>
            <a:r>
              <a:rPr lang="en-US" sz="22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635312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E0255-3DC3-6E28-0976-93B092F57548}"/>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36EF8BD8-F48E-A7D3-81AF-3E8C929335DD}"/>
              </a:ext>
            </a:extLst>
          </p:cNvPr>
          <p:cNvSpPr>
            <a:spLocks noGrp="1" noRot="1" noMove="1" noResize="1" noEditPoints="1" noAdjustHandles="1" noChangeArrowheads="1" noChangeShapeType="1"/>
          </p:cNvSpPr>
          <p:nvPr/>
        </p:nvSpPr>
        <p:spPr>
          <a:xfrm>
            <a:off x="0" y="0"/>
            <a:ext cx="18288000" cy="10287000"/>
          </a:xfrm>
          <a:prstGeom prst="rect">
            <a:avLst/>
          </a:prstGeom>
          <a:solidFill>
            <a:srgbClr val="EBD6FB"/>
          </a:solidFill>
        </p:spPr>
        <p:txBody>
          <a:bodyPr/>
          <a:lstStyle/>
          <a:p>
            <a:endParaRPr lang="fr-TN">
              <a:solidFill>
                <a:srgbClr val="9964CC"/>
              </a:solidFill>
            </a:endParaRPr>
          </a:p>
        </p:txBody>
      </p:sp>
      <p:sp>
        <p:nvSpPr>
          <p:cNvPr id="3" name="TextBox 3">
            <a:extLst>
              <a:ext uri="{FF2B5EF4-FFF2-40B4-BE49-F238E27FC236}">
                <a16:creationId xmlns:a16="http://schemas.microsoft.com/office/drawing/2014/main" id="{B0FDCEDF-461D-2BA7-E317-3CE4DE08663B}"/>
              </a:ext>
            </a:extLst>
          </p:cNvPr>
          <p:cNvSpPr txBox="1"/>
          <p:nvPr/>
        </p:nvSpPr>
        <p:spPr>
          <a:xfrm>
            <a:off x="1047750" y="3162301"/>
            <a:ext cx="3067050" cy="307200"/>
          </a:xfrm>
          <a:prstGeom prst="rect">
            <a:avLst/>
          </a:prstGeom>
        </p:spPr>
        <p:txBody>
          <a:bodyPr wrap="square" lIns="0" tIns="0" rIns="0" bIns="0" rtlCol="0" anchor="t">
            <a:spAutoFit/>
          </a:bodyPr>
          <a:lstStyle/>
          <a:p>
            <a:pPr algn="l">
              <a:lnSpc>
                <a:spcPts val="2100"/>
              </a:lnSpc>
            </a:pPr>
            <a:r>
              <a:rPr lang="en-US" sz="3500" b="1" spc="270">
                <a:solidFill>
                  <a:srgbClr val="9964CC"/>
                </a:solidFill>
                <a:latin typeface="Times New Roman Bold"/>
                <a:ea typeface="Times New Roman Bold"/>
                <a:cs typeface="Times New Roman Bold"/>
                <a:sym typeface="Times New Roman Bold"/>
              </a:rPr>
              <a:t>SECTION 02</a:t>
            </a:r>
          </a:p>
        </p:txBody>
      </p:sp>
      <p:sp>
        <p:nvSpPr>
          <p:cNvPr id="4" name="TextBox 4">
            <a:extLst>
              <a:ext uri="{FF2B5EF4-FFF2-40B4-BE49-F238E27FC236}">
                <a16:creationId xmlns:a16="http://schemas.microsoft.com/office/drawing/2014/main" id="{21B97E42-2203-271B-3CE8-BB0827CBBF51}"/>
              </a:ext>
            </a:extLst>
          </p:cNvPr>
          <p:cNvSpPr txBox="1"/>
          <p:nvPr/>
        </p:nvSpPr>
        <p:spPr>
          <a:xfrm>
            <a:off x="1047750" y="3838575"/>
            <a:ext cx="11430000" cy="3270126"/>
          </a:xfrm>
          <a:prstGeom prst="rect">
            <a:avLst/>
          </a:prstGeom>
        </p:spPr>
        <p:txBody>
          <a:bodyPr lIns="0" tIns="0" rIns="0" bIns="0" rtlCol="0" anchor="t">
            <a:spAutoFit/>
          </a:bodyPr>
          <a:lstStyle/>
          <a:p>
            <a:pPr algn="l">
              <a:lnSpc>
                <a:spcPts val="8496"/>
              </a:lnSpc>
            </a:pPr>
            <a:r>
              <a:rPr lang="fr-FR" sz="8850" spc="-265" dirty="0">
                <a:latin typeface="Times New Roman Bold"/>
                <a:ea typeface="Times New Roman Bold"/>
                <a:cs typeface="Times New Roman Bold"/>
                <a:sym typeface="Times New Roman Bold"/>
              </a:rPr>
              <a:t>Méthodologie</a:t>
            </a:r>
          </a:p>
          <a:p>
            <a:pPr algn="l">
              <a:lnSpc>
                <a:spcPts val="8496"/>
              </a:lnSpc>
            </a:pPr>
            <a:r>
              <a:rPr lang="fr-FR" sz="8850" spc="-265" dirty="0">
                <a:latin typeface="Times New Roman Bold"/>
                <a:ea typeface="Times New Roman Bold"/>
                <a:cs typeface="Times New Roman Bold"/>
                <a:sym typeface="Times New Roman Bold"/>
              </a:rPr>
              <a:t>et déroulement </a:t>
            </a:r>
          </a:p>
          <a:p>
            <a:pPr algn="l">
              <a:lnSpc>
                <a:spcPts val="8496"/>
              </a:lnSpc>
            </a:pPr>
            <a:r>
              <a:rPr lang="fr-FR" sz="8850" spc="-265" dirty="0">
                <a:latin typeface="Times New Roman Bold"/>
                <a:ea typeface="Times New Roman Bold"/>
                <a:cs typeface="Times New Roman Bold"/>
                <a:sym typeface="Times New Roman Bold"/>
              </a:rPr>
              <a:t>des sprints</a:t>
            </a:r>
          </a:p>
        </p:txBody>
      </p:sp>
      <p:sp>
        <p:nvSpPr>
          <p:cNvPr id="6" name="TextBox 6">
            <a:extLst>
              <a:ext uri="{FF2B5EF4-FFF2-40B4-BE49-F238E27FC236}">
                <a16:creationId xmlns:a16="http://schemas.microsoft.com/office/drawing/2014/main" id="{9D1C56E2-7C9D-6A7B-1B8A-39300C2B5C44}"/>
              </a:ext>
            </a:extLst>
          </p:cNvPr>
          <p:cNvSpPr txBox="1"/>
          <p:nvPr/>
        </p:nvSpPr>
        <p:spPr>
          <a:xfrm>
            <a:off x="12206478" y="7050185"/>
            <a:ext cx="6081522" cy="4494115"/>
          </a:xfrm>
          <a:prstGeom prst="rect">
            <a:avLst/>
          </a:prstGeom>
        </p:spPr>
        <p:txBody>
          <a:bodyPr wrap="square" lIns="0" tIns="0" rIns="0" bIns="0" rtlCol="0" anchor="t">
            <a:spAutoFit/>
          </a:bodyPr>
          <a:lstStyle/>
          <a:p>
            <a:pPr algn="l">
              <a:lnSpc>
                <a:spcPts val="33600"/>
              </a:lnSpc>
            </a:pPr>
            <a:r>
              <a:rPr lang="en-US" sz="42000" b="1" spc="-1680">
                <a:solidFill>
                  <a:srgbClr val="9964CC"/>
                </a:solidFill>
                <a:latin typeface="Times New Roman Bold"/>
                <a:ea typeface="Times New Roman Bold"/>
                <a:cs typeface="Times New Roman Bold"/>
                <a:sym typeface="Times New Roman Bold"/>
              </a:rPr>
              <a:t>02</a:t>
            </a:r>
          </a:p>
        </p:txBody>
      </p:sp>
      <p:sp>
        <p:nvSpPr>
          <p:cNvPr id="7" name="TextBox 2">
            <a:extLst>
              <a:ext uri="{FF2B5EF4-FFF2-40B4-BE49-F238E27FC236}">
                <a16:creationId xmlns:a16="http://schemas.microsoft.com/office/drawing/2014/main" id="{54DC2023-1C23-C2CE-53D4-979C9B0085C6}"/>
              </a:ext>
            </a:extLst>
          </p:cNvPr>
          <p:cNvSpPr txBox="1"/>
          <p:nvPr/>
        </p:nvSpPr>
        <p:spPr>
          <a:xfrm>
            <a:off x="14706600" y="11077478"/>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Times New Roman" panose="02020603050405020304" pitchFamily="18" charset="0"/>
                <a:sym typeface="Bricolage Grotesque Bold"/>
              </a:rPr>
              <a:t>1</a:t>
            </a:r>
          </a:p>
        </p:txBody>
      </p:sp>
      <p:cxnSp>
        <p:nvCxnSpPr>
          <p:cNvPr id="8" name="Connecteur droit 7">
            <a:extLst>
              <a:ext uri="{FF2B5EF4-FFF2-40B4-BE49-F238E27FC236}">
                <a16:creationId xmlns:a16="http://schemas.microsoft.com/office/drawing/2014/main" id="{630AD2F1-EDFA-04BF-580A-5E4E964D1296}"/>
              </a:ext>
            </a:extLst>
          </p:cNvPr>
          <p:cNvCxnSpPr>
            <a:cxnSpLocks/>
          </p:cNvCxnSpPr>
          <p:nvPr/>
        </p:nvCxnSpPr>
        <p:spPr>
          <a:xfrm>
            <a:off x="17860471" y="-2552700"/>
            <a:ext cx="0" cy="16405860"/>
          </a:xfrm>
          <a:prstGeom prst="line">
            <a:avLst/>
          </a:prstGeom>
          <a:ln w="57150">
            <a:solidFill>
              <a:srgbClr val="7030A0"/>
            </a:solidFill>
          </a:ln>
        </p:spPr>
        <p:style>
          <a:lnRef idx="2">
            <a:schemeClr val="accent1"/>
          </a:lnRef>
          <a:fillRef idx="0">
            <a:schemeClr val="accent1"/>
          </a:fillRef>
          <a:effectRef idx="1">
            <a:schemeClr val="accent1"/>
          </a:effectRef>
          <a:fontRef idx="minor">
            <a:schemeClr val="tx1"/>
          </a:fontRef>
        </p:style>
      </p:cxnSp>
      <p:grpSp>
        <p:nvGrpSpPr>
          <p:cNvPr id="9" name="Groupe 8">
            <a:extLst>
              <a:ext uri="{FF2B5EF4-FFF2-40B4-BE49-F238E27FC236}">
                <a16:creationId xmlns:a16="http://schemas.microsoft.com/office/drawing/2014/main" id="{114F63EB-D790-FA81-1133-6448C38A3C59}"/>
              </a:ext>
            </a:extLst>
          </p:cNvPr>
          <p:cNvGrpSpPr/>
          <p:nvPr/>
        </p:nvGrpSpPr>
        <p:grpSpPr>
          <a:xfrm>
            <a:off x="17432943" y="-1529187"/>
            <a:ext cx="855057" cy="845229"/>
            <a:chOff x="2059401" y="468086"/>
            <a:chExt cx="570038" cy="563486"/>
          </a:xfrm>
        </p:grpSpPr>
        <p:sp>
          <p:nvSpPr>
            <p:cNvPr id="10" name="Ellipse 9">
              <a:extLst>
                <a:ext uri="{FF2B5EF4-FFF2-40B4-BE49-F238E27FC236}">
                  <a16:creationId xmlns:a16="http://schemas.microsoft.com/office/drawing/2014/main" id="{81C253D7-3C26-EA07-02BB-7263071F673F}"/>
                </a:ext>
              </a:extLst>
            </p:cNvPr>
            <p:cNvSpPr/>
            <p:nvPr/>
          </p:nvSpPr>
          <p:spPr>
            <a:xfrm>
              <a:off x="2059401" y="468086"/>
              <a:ext cx="570038" cy="563486"/>
            </a:xfrm>
            <a:prstGeom prst="ellipse">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sz="2700"/>
            </a:p>
          </p:txBody>
        </p:sp>
        <p:sp>
          <p:nvSpPr>
            <p:cNvPr id="11" name="ZoneTexte 10">
              <a:extLst>
                <a:ext uri="{FF2B5EF4-FFF2-40B4-BE49-F238E27FC236}">
                  <a16:creationId xmlns:a16="http://schemas.microsoft.com/office/drawing/2014/main" id="{3E6BB09C-576B-855F-821F-6C620378E4EB}"/>
                </a:ext>
              </a:extLst>
            </p:cNvPr>
            <p:cNvSpPr txBox="1"/>
            <p:nvPr/>
          </p:nvSpPr>
          <p:spPr>
            <a:xfrm>
              <a:off x="2175239" y="488109"/>
              <a:ext cx="338359" cy="523220"/>
            </a:xfrm>
            <a:prstGeom prst="rect">
              <a:avLst/>
            </a:prstGeom>
            <a:noFill/>
            <a:ln>
              <a:noFill/>
            </a:ln>
          </p:spPr>
          <p:txBody>
            <a:bodyPr wrap="square">
              <a:spAutoFit/>
            </a:bodyPr>
            <a:lstStyle/>
            <a:p>
              <a:r>
                <a:rPr lang="fr-FR" sz="4500" b="1">
                  <a:solidFill>
                    <a:schemeClr val="bg1"/>
                  </a:solidFill>
                  <a:effectLst>
                    <a:outerShdw blurRad="38100" dist="38100" dir="2700000" algn="tl">
                      <a:srgbClr val="000000">
                        <a:alpha val="43137"/>
                      </a:srgbClr>
                    </a:outerShdw>
                  </a:effectLst>
                </a:rPr>
                <a:t>1</a:t>
              </a:r>
            </a:p>
          </p:txBody>
        </p:sp>
      </p:grpSp>
      <p:pic>
        <p:nvPicPr>
          <p:cNvPr id="15" name="Image 23">
            <a:extLst>
              <a:ext uri="{FF2B5EF4-FFF2-40B4-BE49-F238E27FC236}">
                <a16:creationId xmlns:a16="http://schemas.microsoft.com/office/drawing/2014/main" id="{06EC385D-07F5-C187-12EA-C4BDBC4DC5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81523" y="-776584"/>
            <a:ext cx="14551058" cy="8184970"/>
          </a:xfrm>
          <a:prstGeom prst="rect">
            <a:avLst/>
          </a:prstGeom>
        </p:spPr>
      </p:pic>
    </p:spTree>
    <p:extLst>
      <p:ext uri="{BB962C8B-B14F-4D97-AF65-F5344CB8AC3E}">
        <p14:creationId xmlns:p14="http://schemas.microsoft.com/office/powerpoint/2010/main" val="4327762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BD6FB"/>
        </a:solidFill>
        <a:effectLst/>
      </p:bgPr>
    </p:bg>
    <p:spTree>
      <p:nvGrpSpPr>
        <p:cNvPr id="1" name="">
          <a:extLst>
            <a:ext uri="{FF2B5EF4-FFF2-40B4-BE49-F238E27FC236}">
              <a16:creationId xmlns:a16="http://schemas.microsoft.com/office/drawing/2014/main" id="{89173825-2598-E56D-1621-21A18B97D2A0}"/>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D73274B2-7515-479B-5ABE-DD2BD7181E97}"/>
              </a:ext>
            </a:extLst>
          </p:cNvPr>
          <p:cNvGrpSpPr/>
          <p:nvPr/>
        </p:nvGrpSpPr>
        <p:grpSpPr>
          <a:xfrm>
            <a:off x="914400" y="723900"/>
            <a:ext cx="13030200" cy="3810000"/>
            <a:chOff x="1219200" y="1333500"/>
            <a:chExt cx="13030200" cy="3810000"/>
          </a:xfrm>
        </p:grpSpPr>
        <p:sp>
          <p:nvSpPr>
            <p:cNvPr id="2" name="Rectangle: Rounded Corners 1">
              <a:extLst>
                <a:ext uri="{FF2B5EF4-FFF2-40B4-BE49-F238E27FC236}">
                  <a16:creationId xmlns:a16="http://schemas.microsoft.com/office/drawing/2014/main" id="{5AFA990B-C172-A93D-AEA5-207D99C04C4E}"/>
                </a:ext>
              </a:extLst>
            </p:cNvPr>
            <p:cNvSpPr/>
            <p:nvPr/>
          </p:nvSpPr>
          <p:spPr>
            <a:xfrm>
              <a:off x="1219200" y="1333500"/>
              <a:ext cx="13030200" cy="9144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3200">
                  <a:latin typeface="Times New Roman" panose="02020603050405020304" pitchFamily="18" charset="0"/>
                  <a:cs typeface="Times New Roman" panose="02020603050405020304" pitchFamily="18" charset="0"/>
                </a:rPr>
                <a:t>Release 1 – Détection</a:t>
              </a:r>
              <a:endParaRPr lang="en-US" sz="3200">
                <a:latin typeface="Times New Roman" panose="02020603050405020304" pitchFamily="18" charset="0"/>
                <a:cs typeface="Times New Roman" panose="02020603050405020304" pitchFamily="18" charset="0"/>
              </a:endParaRPr>
            </a:p>
          </p:txBody>
        </p:sp>
        <p:grpSp>
          <p:nvGrpSpPr>
            <p:cNvPr id="6" name="Group 5">
              <a:extLst>
                <a:ext uri="{FF2B5EF4-FFF2-40B4-BE49-F238E27FC236}">
                  <a16:creationId xmlns:a16="http://schemas.microsoft.com/office/drawing/2014/main" id="{E34B604F-3374-1953-4762-FBCE331AF3D2}"/>
                </a:ext>
              </a:extLst>
            </p:cNvPr>
            <p:cNvGrpSpPr/>
            <p:nvPr/>
          </p:nvGrpSpPr>
          <p:grpSpPr>
            <a:xfrm>
              <a:off x="1447800" y="2644139"/>
              <a:ext cx="6009538" cy="685800"/>
              <a:chOff x="1447800" y="3086100"/>
              <a:chExt cx="6009538" cy="685800"/>
            </a:xfrm>
          </p:grpSpPr>
          <p:sp>
            <p:nvSpPr>
              <p:cNvPr id="3" name="Oval 2">
                <a:extLst>
                  <a:ext uri="{FF2B5EF4-FFF2-40B4-BE49-F238E27FC236}">
                    <a16:creationId xmlns:a16="http://schemas.microsoft.com/office/drawing/2014/main" id="{577E39F8-7C7B-B8CE-C46B-9205AB59F062}"/>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1</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34381CF-12CB-DD40-37C3-CBA4C912558E}"/>
                  </a:ext>
                </a:extLst>
              </p:cNvPr>
              <p:cNvSpPr txBox="1"/>
              <p:nvPr/>
            </p:nvSpPr>
            <p:spPr>
              <a:xfrm>
                <a:off x="2438400" y="3169920"/>
                <a:ext cx="5018938" cy="553998"/>
              </a:xfrm>
              <a:prstGeom prst="rect">
                <a:avLst/>
              </a:prstGeom>
              <a:noFill/>
            </p:spPr>
            <p:txBody>
              <a:bodyPr wrap="none" rtlCol="0">
                <a:spAutoFit/>
              </a:bodyPr>
              <a:lstStyle/>
              <a:p>
                <a:r>
                  <a:rPr lang="en-US" sz="3000">
                    <a:latin typeface="Times New Roman" panose="02020603050405020304" pitchFamily="18" charset="0"/>
                    <a:cs typeface="Times New Roman" panose="02020603050405020304" pitchFamily="18" charset="0"/>
                  </a:rPr>
                  <a:t>Sprint 1 — Acquisition réseau</a:t>
                </a:r>
              </a:p>
            </p:txBody>
          </p:sp>
        </p:grpSp>
        <p:grpSp>
          <p:nvGrpSpPr>
            <p:cNvPr id="7" name="Group 6">
              <a:extLst>
                <a:ext uri="{FF2B5EF4-FFF2-40B4-BE49-F238E27FC236}">
                  <a16:creationId xmlns:a16="http://schemas.microsoft.com/office/drawing/2014/main" id="{B80F278E-FC8D-5C5B-F374-0CF90169258B}"/>
                </a:ext>
              </a:extLst>
            </p:cNvPr>
            <p:cNvGrpSpPr/>
            <p:nvPr/>
          </p:nvGrpSpPr>
          <p:grpSpPr>
            <a:xfrm>
              <a:off x="1447800" y="3573779"/>
              <a:ext cx="6062822" cy="685800"/>
              <a:chOff x="1447800" y="3086100"/>
              <a:chExt cx="6062822" cy="685800"/>
            </a:xfrm>
          </p:grpSpPr>
          <p:sp>
            <p:nvSpPr>
              <p:cNvPr id="8" name="Oval 7">
                <a:extLst>
                  <a:ext uri="{FF2B5EF4-FFF2-40B4-BE49-F238E27FC236}">
                    <a16:creationId xmlns:a16="http://schemas.microsoft.com/office/drawing/2014/main" id="{7559C696-82DF-750A-7FC9-B43AA3E7FC95}"/>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2</a:t>
                </a:r>
              </a:p>
            </p:txBody>
          </p:sp>
          <p:sp>
            <p:nvSpPr>
              <p:cNvPr id="9" name="TextBox 8">
                <a:extLst>
                  <a:ext uri="{FF2B5EF4-FFF2-40B4-BE49-F238E27FC236}">
                    <a16:creationId xmlns:a16="http://schemas.microsoft.com/office/drawing/2014/main" id="{84B7E943-2DBB-1757-9845-74C017227A5D}"/>
                  </a:ext>
                </a:extLst>
              </p:cNvPr>
              <p:cNvSpPr txBox="1"/>
              <p:nvPr/>
            </p:nvSpPr>
            <p:spPr>
              <a:xfrm>
                <a:off x="2438400" y="3169920"/>
                <a:ext cx="5072222" cy="553998"/>
              </a:xfrm>
              <a:prstGeom prst="rect">
                <a:avLst/>
              </a:prstGeom>
              <a:noFill/>
            </p:spPr>
            <p:txBody>
              <a:bodyPr wrap="none" rtlCol="0">
                <a:spAutoFit/>
              </a:bodyPr>
              <a:lstStyle/>
              <a:p>
                <a:r>
                  <a:rPr lang="en-US" sz="3000">
                    <a:latin typeface="Times New Roman" panose="02020603050405020304" pitchFamily="18" charset="0"/>
                    <a:cs typeface="Times New Roman" panose="02020603050405020304" pitchFamily="18" charset="0"/>
                  </a:rPr>
                  <a:t>Sprint 2 — Pipeline de données</a:t>
                </a:r>
              </a:p>
            </p:txBody>
          </p:sp>
        </p:grpSp>
        <p:grpSp>
          <p:nvGrpSpPr>
            <p:cNvPr id="10" name="Group 9">
              <a:extLst>
                <a:ext uri="{FF2B5EF4-FFF2-40B4-BE49-F238E27FC236}">
                  <a16:creationId xmlns:a16="http://schemas.microsoft.com/office/drawing/2014/main" id="{443BDFCF-4738-7AF2-A678-277CDD6FB6A3}"/>
                </a:ext>
              </a:extLst>
            </p:cNvPr>
            <p:cNvGrpSpPr/>
            <p:nvPr/>
          </p:nvGrpSpPr>
          <p:grpSpPr>
            <a:xfrm>
              <a:off x="1447800" y="4457700"/>
              <a:ext cx="7253853" cy="685800"/>
              <a:chOff x="1447800" y="3086100"/>
              <a:chExt cx="7253853" cy="685800"/>
            </a:xfrm>
          </p:grpSpPr>
          <p:sp>
            <p:nvSpPr>
              <p:cNvPr id="11" name="Oval 10">
                <a:extLst>
                  <a:ext uri="{FF2B5EF4-FFF2-40B4-BE49-F238E27FC236}">
                    <a16:creationId xmlns:a16="http://schemas.microsoft.com/office/drawing/2014/main" id="{FB4D5B9C-542A-1916-0824-AE439A905024}"/>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3</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1C129F1-417E-BA2B-2BB9-F9F386738B6F}"/>
                  </a:ext>
                </a:extLst>
              </p:cNvPr>
              <p:cNvSpPr txBox="1"/>
              <p:nvPr/>
            </p:nvSpPr>
            <p:spPr>
              <a:xfrm>
                <a:off x="2438400" y="3169920"/>
                <a:ext cx="6263253"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Sprint 3 — Détection </a:t>
                </a:r>
                <a:r>
                  <a:rPr lang="en-US" sz="3000" dirty="0" err="1">
                    <a:latin typeface="Times New Roman" panose="02020603050405020304" pitchFamily="18" charset="0"/>
                    <a:cs typeface="Times New Roman" panose="02020603050405020304" pitchFamily="18" charset="0"/>
                  </a:rPr>
                  <a:t>comportementale</a:t>
                </a:r>
                <a:endParaRPr lang="en-US" sz="3000" dirty="0">
                  <a:latin typeface="Times New Roman" panose="02020603050405020304" pitchFamily="18" charset="0"/>
                  <a:cs typeface="Times New Roman" panose="02020603050405020304" pitchFamily="18" charset="0"/>
                </a:endParaRPr>
              </a:p>
            </p:txBody>
          </p:sp>
        </p:grpSp>
      </p:grpSp>
      <p:grpSp>
        <p:nvGrpSpPr>
          <p:cNvPr id="14" name="Group 13">
            <a:extLst>
              <a:ext uri="{FF2B5EF4-FFF2-40B4-BE49-F238E27FC236}">
                <a16:creationId xmlns:a16="http://schemas.microsoft.com/office/drawing/2014/main" id="{F0207B56-C5F6-F894-4BF4-F1B5A4EA921E}"/>
              </a:ext>
            </a:extLst>
          </p:cNvPr>
          <p:cNvGrpSpPr/>
          <p:nvPr/>
        </p:nvGrpSpPr>
        <p:grpSpPr>
          <a:xfrm>
            <a:off x="914400" y="5059678"/>
            <a:ext cx="13030200" cy="3810000"/>
            <a:chOff x="1219200" y="1333500"/>
            <a:chExt cx="13030200" cy="3810000"/>
          </a:xfrm>
        </p:grpSpPr>
        <p:sp>
          <p:nvSpPr>
            <p:cNvPr id="15" name="Rectangle: Rounded Corners 14">
              <a:extLst>
                <a:ext uri="{FF2B5EF4-FFF2-40B4-BE49-F238E27FC236}">
                  <a16:creationId xmlns:a16="http://schemas.microsoft.com/office/drawing/2014/main" id="{281E550A-9CBC-4039-AFB1-D774510DE2A9}"/>
                </a:ext>
              </a:extLst>
            </p:cNvPr>
            <p:cNvSpPr/>
            <p:nvPr/>
          </p:nvSpPr>
          <p:spPr>
            <a:xfrm>
              <a:off x="1219200" y="1333500"/>
              <a:ext cx="13030200" cy="9144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3200">
                  <a:latin typeface="Times New Roman" panose="02020603050405020304" pitchFamily="18" charset="0"/>
                  <a:cs typeface="Times New Roman" panose="02020603050405020304" pitchFamily="18" charset="0"/>
                </a:rPr>
                <a:t>Release 2 – Prévention &amp; Réponse</a:t>
              </a:r>
              <a:endParaRPr lang="en-US" sz="3200">
                <a:latin typeface="Times New Roman" panose="02020603050405020304" pitchFamily="18" charset="0"/>
                <a:cs typeface="Times New Roman" panose="02020603050405020304" pitchFamily="18" charset="0"/>
              </a:endParaRPr>
            </a:p>
          </p:txBody>
        </p:sp>
        <p:grpSp>
          <p:nvGrpSpPr>
            <p:cNvPr id="16" name="Group 15">
              <a:extLst>
                <a:ext uri="{FF2B5EF4-FFF2-40B4-BE49-F238E27FC236}">
                  <a16:creationId xmlns:a16="http://schemas.microsoft.com/office/drawing/2014/main" id="{C1EA87FC-84AE-0861-C502-4FF8AB0E0164}"/>
                </a:ext>
              </a:extLst>
            </p:cNvPr>
            <p:cNvGrpSpPr/>
            <p:nvPr/>
          </p:nvGrpSpPr>
          <p:grpSpPr>
            <a:xfrm>
              <a:off x="1447800" y="2644139"/>
              <a:ext cx="8194432" cy="685800"/>
              <a:chOff x="1447800" y="3086100"/>
              <a:chExt cx="8194432" cy="685800"/>
            </a:xfrm>
          </p:grpSpPr>
          <p:sp>
            <p:nvSpPr>
              <p:cNvPr id="23" name="Oval 22">
                <a:extLst>
                  <a:ext uri="{FF2B5EF4-FFF2-40B4-BE49-F238E27FC236}">
                    <a16:creationId xmlns:a16="http://schemas.microsoft.com/office/drawing/2014/main" id="{A3E8D997-310B-F352-3AE3-4D7014253B56}"/>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4</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B12B9AB1-D415-00B3-3906-2137D03AEA03}"/>
                  </a:ext>
                </a:extLst>
              </p:cNvPr>
              <p:cNvSpPr txBox="1"/>
              <p:nvPr/>
            </p:nvSpPr>
            <p:spPr>
              <a:xfrm>
                <a:off x="2438400" y="3169920"/>
                <a:ext cx="7203832"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Sprint 4 — Anticipation par le renseignement</a:t>
                </a:r>
              </a:p>
            </p:txBody>
          </p:sp>
        </p:grpSp>
        <p:grpSp>
          <p:nvGrpSpPr>
            <p:cNvPr id="17" name="Group 16">
              <a:extLst>
                <a:ext uri="{FF2B5EF4-FFF2-40B4-BE49-F238E27FC236}">
                  <a16:creationId xmlns:a16="http://schemas.microsoft.com/office/drawing/2014/main" id="{03B0D725-D91D-ED99-7CBB-4DD110A59A0E}"/>
                </a:ext>
              </a:extLst>
            </p:cNvPr>
            <p:cNvGrpSpPr/>
            <p:nvPr/>
          </p:nvGrpSpPr>
          <p:grpSpPr>
            <a:xfrm>
              <a:off x="1447800" y="3573779"/>
              <a:ext cx="7378887" cy="685800"/>
              <a:chOff x="1447800" y="3086100"/>
              <a:chExt cx="7378887" cy="685800"/>
            </a:xfrm>
          </p:grpSpPr>
          <p:sp>
            <p:nvSpPr>
              <p:cNvPr id="21" name="Oval 20">
                <a:extLst>
                  <a:ext uri="{FF2B5EF4-FFF2-40B4-BE49-F238E27FC236}">
                    <a16:creationId xmlns:a16="http://schemas.microsoft.com/office/drawing/2014/main" id="{67539454-2658-3D03-D1F4-D4FB2DF9D01D}"/>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5</a:t>
                </a:r>
              </a:p>
            </p:txBody>
          </p:sp>
          <p:sp>
            <p:nvSpPr>
              <p:cNvPr id="22" name="TextBox 21">
                <a:extLst>
                  <a:ext uri="{FF2B5EF4-FFF2-40B4-BE49-F238E27FC236}">
                    <a16:creationId xmlns:a16="http://schemas.microsoft.com/office/drawing/2014/main" id="{E04B895E-EAC9-EC27-C2F4-9670D58E960D}"/>
                  </a:ext>
                </a:extLst>
              </p:cNvPr>
              <p:cNvSpPr txBox="1"/>
              <p:nvPr/>
            </p:nvSpPr>
            <p:spPr>
              <a:xfrm>
                <a:off x="2438400" y="3169920"/>
                <a:ext cx="6388287"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Sprint 5 — Mitigation du </a:t>
                </a:r>
                <a:r>
                  <a:rPr lang="en-US" sz="3000" dirty="0" err="1">
                    <a:latin typeface="Times New Roman" panose="02020603050405020304" pitchFamily="18" charset="0"/>
                    <a:cs typeface="Times New Roman" panose="02020603050405020304" pitchFamily="18" charset="0"/>
                  </a:rPr>
                  <a:t>risque</a:t>
                </a:r>
                <a:r>
                  <a:rPr lang="en-US" sz="3000" dirty="0">
                    <a:latin typeface="Times New Roman" panose="02020603050405020304" pitchFamily="18" charset="0"/>
                    <a:cs typeface="Times New Roman" panose="02020603050405020304" pitchFamily="18" charset="0"/>
                  </a:rPr>
                  <a:t> humain</a:t>
                </a:r>
              </a:p>
            </p:txBody>
          </p:sp>
        </p:grpSp>
        <p:grpSp>
          <p:nvGrpSpPr>
            <p:cNvPr id="18" name="Group 17">
              <a:extLst>
                <a:ext uri="{FF2B5EF4-FFF2-40B4-BE49-F238E27FC236}">
                  <a16:creationId xmlns:a16="http://schemas.microsoft.com/office/drawing/2014/main" id="{872B1515-FC48-5490-EBFB-B643584C34BD}"/>
                </a:ext>
              </a:extLst>
            </p:cNvPr>
            <p:cNvGrpSpPr/>
            <p:nvPr/>
          </p:nvGrpSpPr>
          <p:grpSpPr>
            <a:xfrm>
              <a:off x="1447800" y="4457700"/>
              <a:ext cx="8465723" cy="685800"/>
              <a:chOff x="1447800" y="3086100"/>
              <a:chExt cx="8465723" cy="685800"/>
            </a:xfrm>
          </p:grpSpPr>
          <p:sp>
            <p:nvSpPr>
              <p:cNvPr id="19" name="Oval 18">
                <a:extLst>
                  <a:ext uri="{FF2B5EF4-FFF2-40B4-BE49-F238E27FC236}">
                    <a16:creationId xmlns:a16="http://schemas.microsoft.com/office/drawing/2014/main" id="{28981A87-18B0-DE10-ADA5-331101CBA5AA}"/>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6</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D21D6690-0322-2FE1-CE70-1B91DC5B7199}"/>
                  </a:ext>
                </a:extLst>
              </p:cNvPr>
              <p:cNvSpPr txBox="1"/>
              <p:nvPr/>
            </p:nvSpPr>
            <p:spPr>
              <a:xfrm>
                <a:off x="2438400" y="3169920"/>
                <a:ext cx="7475123" cy="553998"/>
              </a:xfrm>
              <a:prstGeom prst="rect">
                <a:avLst/>
              </a:prstGeom>
              <a:noFill/>
            </p:spPr>
            <p:txBody>
              <a:bodyPr wrap="none" rtlCol="0">
                <a:spAutoFit/>
              </a:bodyPr>
              <a:lstStyle/>
              <a:p>
                <a:r>
                  <a:rPr lang="en-US" sz="3000">
                    <a:latin typeface="Times New Roman" panose="02020603050405020304" pitchFamily="18" charset="0"/>
                    <a:cs typeface="Times New Roman" panose="02020603050405020304" pitchFamily="18" charset="0"/>
                  </a:rPr>
                  <a:t>Sprint 6 — Orchestration SOAR &amp; supervision</a:t>
                </a:r>
              </a:p>
            </p:txBody>
          </p:sp>
        </p:grpSp>
      </p:grpSp>
      <p:pic>
        <p:nvPicPr>
          <p:cNvPr id="25" name="Image 24">
            <a:extLst>
              <a:ext uri="{FF2B5EF4-FFF2-40B4-BE49-F238E27FC236}">
                <a16:creationId xmlns:a16="http://schemas.microsoft.com/office/drawing/2014/main" id="{A3AC46AD-2177-2D9E-7E6B-68AACA3EEF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50088" y="-2340992"/>
            <a:ext cx="19567266" cy="11006586"/>
          </a:xfrm>
          <a:prstGeom prst="rect">
            <a:avLst/>
          </a:prstGeom>
        </p:spPr>
      </p:pic>
    </p:spTree>
    <p:extLst>
      <p:ext uri="{BB962C8B-B14F-4D97-AF65-F5344CB8AC3E}">
        <p14:creationId xmlns:p14="http://schemas.microsoft.com/office/powerpoint/2010/main" val="15572062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120B5-255A-A8F5-2578-27067550402E}"/>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78144067-C231-1216-1EE3-A9D048358E2B}"/>
              </a:ext>
            </a:extLst>
          </p:cNvPr>
          <p:cNvSpPr/>
          <p:nvPr/>
        </p:nvSpPr>
        <p:spPr>
          <a:xfrm>
            <a:off x="0" y="-304801"/>
            <a:ext cx="2852107"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F95F7BC1-1843-57FF-E789-23316F6B6849}"/>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1</a:t>
            </a:r>
            <a:endParaRPr lang="en-US" sz="3000">
              <a:latin typeface="Times New Roman" panose="02020603050405020304" pitchFamily="18" charset="0"/>
              <a:cs typeface="Times New Roman" panose="02020603050405020304" pitchFamily="18" charset="0"/>
            </a:endParaRPr>
          </a:p>
        </p:txBody>
      </p:sp>
      <p:pic>
        <p:nvPicPr>
          <p:cNvPr id="37" name="Picture 36">
            <a:extLst>
              <a:ext uri="{FF2B5EF4-FFF2-40B4-BE49-F238E27FC236}">
                <a16:creationId xmlns:a16="http://schemas.microsoft.com/office/drawing/2014/main" id="{238D6950-3561-03DC-5657-802F48F2D648}"/>
              </a:ext>
            </a:extLst>
          </p:cNvPr>
          <p:cNvPicPr>
            <a:picLocks noChangeAspect="1"/>
          </p:cNvPicPr>
          <p:nvPr/>
        </p:nvPicPr>
        <p:blipFill>
          <a:blip r:embed="rId3" cstate="print">
            <a:extLst>
              <a:ext uri="{28A0092B-C50C-407E-A947-70E740481C1C}">
                <a14:useLocalDpi xmlns:a14="http://schemas.microsoft.com/office/drawing/2010/main" val="0"/>
              </a:ext>
            </a:extLst>
          </a:blip>
          <a:srcRect l="7596" t="4944" r="7595" b="4942"/>
          <a:stretch>
            <a:fillRect/>
          </a:stretch>
        </p:blipFill>
        <p:spPr>
          <a:xfrm>
            <a:off x="3810000" y="1028700"/>
            <a:ext cx="5105400" cy="8229600"/>
          </a:xfrm>
          <a:prstGeom prst="roundRect">
            <a:avLst>
              <a:gd name="adj" fmla="val 3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grpSp>
        <p:nvGrpSpPr>
          <p:cNvPr id="50" name="Group 49">
            <a:extLst>
              <a:ext uri="{FF2B5EF4-FFF2-40B4-BE49-F238E27FC236}">
                <a16:creationId xmlns:a16="http://schemas.microsoft.com/office/drawing/2014/main" id="{6A88C735-2D64-D2FC-6149-442EADA3D913}"/>
              </a:ext>
            </a:extLst>
          </p:cNvPr>
          <p:cNvGrpSpPr/>
          <p:nvPr/>
        </p:nvGrpSpPr>
        <p:grpSpPr>
          <a:xfrm>
            <a:off x="9913990" y="1036320"/>
            <a:ext cx="7467600" cy="3649980"/>
            <a:chOff x="9913990" y="1036320"/>
            <a:chExt cx="7467600" cy="3649980"/>
          </a:xfrm>
        </p:grpSpPr>
        <p:sp>
          <p:nvSpPr>
            <p:cNvPr id="39" name="Rectangle: Rounded Corners 38">
              <a:extLst>
                <a:ext uri="{FF2B5EF4-FFF2-40B4-BE49-F238E27FC236}">
                  <a16:creationId xmlns:a16="http://schemas.microsoft.com/office/drawing/2014/main" id="{CBF93DD6-1896-05D3-A1E1-1FFD9103E656}"/>
                </a:ext>
              </a:extLst>
            </p:cNvPr>
            <p:cNvSpPr/>
            <p:nvPr/>
          </p:nvSpPr>
          <p:spPr>
            <a:xfrm>
              <a:off x="9913990" y="1036320"/>
              <a:ext cx="7467600" cy="364998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40" name="TextBox 39">
              <a:extLst>
                <a:ext uri="{FF2B5EF4-FFF2-40B4-BE49-F238E27FC236}">
                  <a16:creationId xmlns:a16="http://schemas.microsoft.com/office/drawing/2014/main" id="{10AB2FBD-2497-AD24-0D87-277272A6596D}"/>
                </a:ext>
              </a:extLst>
            </p:cNvPr>
            <p:cNvSpPr txBox="1"/>
            <p:nvPr/>
          </p:nvSpPr>
          <p:spPr>
            <a:xfrm>
              <a:off x="10213837" y="1272540"/>
              <a:ext cx="3433953"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Acquisition réseau</a:t>
              </a:r>
              <a:endParaRPr kumimoji="0" lang="en-US" sz="3200" b="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sp>
          <p:nvSpPr>
            <p:cNvPr id="41" name="TextBox 40">
              <a:extLst>
                <a:ext uri="{FF2B5EF4-FFF2-40B4-BE49-F238E27FC236}">
                  <a16:creationId xmlns:a16="http://schemas.microsoft.com/office/drawing/2014/main" id="{CA4AED12-A76C-2889-096D-F6147B93A632}"/>
                </a:ext>
              </a:extLst>
            </p:cNvPr>
            <p:cNvSpPr txBox="1"/>
            <p:nvPr/>
          </p:nvSpPr>
          <p:spPr>
            <a:xfrm>
              <a:off x="10066390" y="2093535"/>
              <a:ext cx="7074565" cy="400110"/>
            </a:xfrm>
            <a:prstGeom prst="rect">
              <a:avLst/>
            </a:prstGeom>
            <a:noFill/>
          </p:spPr>
          <p:txBody>
            <a:bodyPr wrap="none" rtlCol="0">
              <a:spAutoFit/>
            </a:bodyPr>
            <a:lstStyle/>
            <a:p>
              <a:pPr marL="342900" indent="-342900">
                <a:buFont typeface="Arial" panose="020B0604020202020204" pitchFamily="34" charset="0"/>
                <a:buChar char="•"/>
              </a:pPr>
              <a:r>
                <a:rPr lang="en-US" sz="2000" b="1">
                  <a:solidFill>
                    <a:schemeClr val="bg1"/>
                  </a:solidFill>
                  <a:latin typeface="Times New Roman" panose="02020603050405020304" pitchFamily="18" charset="0"/>
                  <a:cs typeface="Times New Roman" panose="02020603050405020304" pitchFamily="18" charset="0"/>
                </a:rPr>
                <a:t>Mode promiscuous</a:t>
              </a:r>
              <a:r>
                <a:rPr lang="en-US" sz="2000">
                  <a:solidFill>
                    <a:schemeClr val="bg1"/>
                  </a:solidFill>
                  <a:latin typeface="Times New Roman" panose="02020603050405020304" pitchFamily="18" charset="0"/>
                  <a:cs typeface="Times New Roman" panose="02020603050405020304" pitchFamily="18" charset="0"/>
                </a:rPr>
                <a:t>: capture de tout le </a:t>
              </a:r>
              <a:r>
                <a:rPr lang="en-US" sz="2000" err="1">
                  <a:solidFill>
                    <a:schemeClr val="bg1"/>
                  </a:solidFill>
                  <a:latin typeface="Times New Roman" panose="02020603050405020304" pitchFamily="18" charset="0"/>
                  <a:cs typeface="Times New Roman" panose="02020603050405020304" pitchFamily="18" charset="0"/>
                </a:rPr>
                <a:t>trafic</a:t>
              </a:r>
              <a:r>
                <a:rPr lang="en-US" sz="2000">
                  <a:solidFill>
                    <a:schemeClr val="bg1"/>
                  </a:solidFill>
                  <a:latin typeface="Times New Roman" panose="02020603050405020304" pitchFamily="18" charset="0"/>
                  <a:cs typeface="Times New Roman" panose="02020603050405020304" pitchFamily="18" charset="0"/>
                </a:rPr>
                <a:t> du segment réseau</a:t>
              </a:r>
            </a:p>
          </p:txBody>
        </p:sp>
        <p:sp>
          <p:nvSpPr>
            <p:cNvPr id="43" name="TextBox 42">
              <a:extLst>
                <a:ext uri="{FF2B5EF4-FFF2-40B4-BE49-F238E27FC236}">
                  <a16:creationId xmlns:a16="http://schemas.microsoft.com/office/drawing/2014/main" id="{84CF6727-A218-CB2F-B577-FC24FCAA185C}"/>
                </a:ext>
              </a:extLst>
            </p:cNvPr>
            <p:cNvSpPr txBox="1"/>
            <p:nvPr/>
          </p:nvSpPr>
          <p:spPr>
            <a:xfrm>
              <a:off x="10066390" y="2532607"/>
              <a:ext cx="6412909" cy="707886"/>
            </a:xfrm>
            <a:prstGeom prst="rect">
              <a:avLst/>
            </a:prstGeom>
            <a:noFill/>
          </p:spPr>
          <p:txBody>
            <a:bodyPr wrap="none" rtlCol="0">
              <a:spAutoFit/>
            </a:bodyPr>
            <a:lstStyle/>
            <a:p>
              <a:pPr marL="342900" indent="-342900">
                <a:buFont typeface="Arial" panose="020B0604020202020204" pitchFamily="34" charset="0"/>
                <a:buChar char="•"/>
              </a:pPr>
              <a:r>
                <a:rPr lang="en-US" sz="2000" b="1">
                  <a:solidFill>
                    <a:schemeClr val="bg1"/>
                  </a:solidFill>
                  <a:latin typeface="Times New Roman" panose="02020603050405020304" pitchFamily="18" charset="0"/>
                  <a:cs typeface="Times New Roman" panose="02020603050405020304" pitchFamily="18" charset="0"/>
                </a:rPr>
                <a:t>Zero-copy Linux (AF_PACKET / DPDK)</a:t>
              </a:r>
              <a:r>
                <a:rPr lang="en-US" sz="2000">
                  <a:solidFill>
                    <a:schemeClr val="bg1"/>
                  </a:solidFill>
                  <a:latin typeface="Times New Roman" panose="02020603050405020304" pitchFamily="18" charset="0"/>
                  <a:cs typeface="Times New Roman" panose="02020603050405020304" pitchFamily="18" charset="0"/>
                </a:rPr>
                <a:t>: </a:t>
              </a:r>
              <a:r>
                <a:rPr lang="fr-FR" sz="2000">
                  <a:solidFill>
                    <a:schemeClr val="bg1"/>
                  </a:solidFill>
                  <a:latin typeface="Times New Roman" panose="02020603050405020304" pitchFamily="18" charset="0"/>
                  <a:cs typeface="Times New Roman" panose="02020603050405020304" pitchFamily="18" charset="0"/>
                </a:rPr>
                <a:t>élimination </a:t>
              </a:r>
            </a:p>
            <a:p>
              <a:r>
                <a:rPr lang="fr-FR" sz="2000">
                  <a:solidFill>
                    <a:schemeClr val="bg1"/>
                  </a:solidFill>
                  <a:latin typeface="Times New Roman" panose="02020603050405020304" pitchFamily="18" charset="0"/>
                  <a:cs typeface="Times New Roman" panose="02020603050405020304" pitchFamily="18" charset="0"/>
                </a:rPr>
                <a:t>de la latence d'acquisition</a:t>
              </a:r>
              <a:endParaRPr lang="en-US" sz="2000">
                <a:solidFill>
                  <a:schemeClr val="bg1"/>
                </a:solidFill>
                <a:latin typeface="Times New Roman" panose="02020603050405020304" pitchFamily="18" charset="0"/>
                <a:cs typeface="Times New Roman" panose="02020603050405020304" pitchFamily="18" charset="0"/>
              </a:endParaRPr>
            </a:p>
          </p:txBody>
        </p:sp>
        <p:sp>
          <p:nvSpPr>
            <p:cNvPr id="45" name="TextBox 44">
              <a:extLst>
                <a:ext uri="{FF2B5EF4-FFF2-40B4-BE49-F238E27FC236}">
                  <a16:creationId xmlns:a16="http://schemas.microsoft.com/office/drawing/2014/main" id="{D32FEB10-FD4B-76E1-C23A-AFE42AB631CA}"/>
                </a:ext>
              </a:extLst>
            </p:cNvPr>
            <p:cNvSpPr txBox="1"/>
            <p:nvPr/>
          </p:nvSpPr>
          <p:spPr>
            <a:xfrm>
              <a:off x="10066389" y="3350805"/>
              <a:ext cx="6646371" cy="400110"/>
            </a:xfrm>
            <a:prstGeom prst="rect">
              <a:avLst/>
            </a:prstGeom>
            <a:noFill/>
          </p:spPr>
          <p:txBody>
            <a:bodyPr wrap="none" rtlCol="0">
              <a:spAutoFit/>
            </a:bodyPr>
            <a:lstStyle/>
            <a:p>
              <a:pPr marL="342900" indent="-342900">
                <a:buFont typeface="Arial" panose="020B0604020202020204" pitchFamily="34" charset="0"/>
                <a:buChar char="•"/>
              </a:pPr>
              <a:r>
                <a:rPr lang="en-US" sz="2000" b="1">
                  <a:solidFill>
                    <a:schemeClr val="bg1"/>
                  </a:solidFill>
                  <a:latin typeface="Times New Roman" panose="02020603050405020304" pitchFamily="18" charset="0"/>
                  <a:cs typeface="Times New Roman" panose="02020603050405020304" pitchFamily="18" charset="0"/>
                </a:rPr>
                <a:t>Sortie </a:t>
              </a:r>
              <a:r>
                <a:rPr lang="en-US" sz="2000" b="1" err="1">
                  <a:solidFill>
                    <a:schemeClr val="bg1"/>
                  </a:solidFill>
                  <a:latin typeface="Times New Roman" panose="02020603050405020304" pitchFamily="18" charset="0"/>
                  <a:cs typeface="Times New Roman" panose="02020603050405020304" pitchFamily="18" charset="0"/>
                </a:rPr>
                <a:t>structurée</a:t>
              </a:r>
              <a:r>
                <a:rPr lang="en-US" sz="2000">
                  <a:solidFill>
                    <a:schemeClr val="bg1"/>
                  </a:solidFill>
                  <a:latin typeface="Times New Roman" panose="02020603050405020304" pitchFamily="18" charset="0"/>
                  <a:cs typeface="Times New Roman" panose="02020603050405020304" pitchFamily="18" charset="0"/>
                </a:rPr>
                <a:t>: </a:t>
              </a:r>
              <a:r>
                <a:rPr lang="fr-FR" sz="2000">
                  <a:solidFill>
                    <a:schemeClr val="bg1"/>
                  </a:solidFill>
                  <a:latin typeface="Times New Roman" panose="02020603050405020304" pitchFamily="18" charset="0"/>
                  <a:cs typeface="Times New Roman" panose="02020603050405020304" pitchFamily="18" charset="0"/>
                </a:rPr>
                <a:t>événements JSON normalisés (</a:t>
              </a:r>
              <a:r>
                <a:rPr lang="fr-FR" sz="2000" err="1">
                  <a:solidFill>
                    <a:schemeClr val="bg1"/>
                  </a:solidFill>
                  <a:latin typeface="Times New Roman" panose="02020603050405020304" pitchFamily="18" charset="0"/>
                  <a:cs typeface="Times New Roman" panose="02020603050405020304" pitchFamily="18" charset="0"/>
                </a:rPr>
                <a:t>eve.json</a:t>
              </a:r>
              <a:r>
                <a:rPr lang="fr-FR" sz="2000">
                  <a:solidFill>
                    <a:schemeClr val="bg1"/>
                  </a:solidFill>
                  <a:latin typeface="Times New Roman" panose="02020603050405020304" pitchFamily="18" charset="0"/>
                  <a:cs typeface="Times New Roman" panose="02020603050405020304" pitchFamily="18" charset="0"/>
                </a:rPr>
                <a:t>)</a:t>
              </a:r>
              <a:endParaRPr lang="en-US" sz="2000">
                <a:solidFill>
                  <a:schemeClr val="bg1"/>
                </a:solidFill>
                <a:latin typeface="Times New Roman" panose="02020603050405020304" pitchFamily="18" charset="0"/>
                <a:cs typeface="Times New Roman" panose="02020603050405020304" pitchFamily="18" charset="0"/>
              </a:endParaRPr>
            </a:p>
          </p:txBody>
        </p:sp>
        <p:sp>
          <p:nvSpPr>
            <p:cNvPr id="47" name="TextBox 46">
              <a:extLst>
                <a:ext uri="{FF2B5EF4-FFF2-40B4-BE49-F238E27FC236}">
                  <a16:creationId xmlns:a16="http://schemas.microsoft.com/office/drawing/2014/main" id="{FBDDCF6B-CA54-10DA-381D-EFF94F635D71}"/>
                </a:ext>
              </a:extLst>
            </p:cNvPr>
            <p:cNvSpPr txBox="1"/>
            <p:nvPr/>
          </p:nvSpPr>
          <p:spPr>
            <a:xfrm>
              <a:off x="10066389" y="3989962"/>
              <a:ext cx="6739345" cy="400110"/>
            </a:xfrm>
            <a:prstGeom prst="rect">
              <a:avLst/>
            </a:prstGeom>
            <a:noFill/>
          </p:spPr>
          <p:txBody>
            <a:bodyPr wrap="none" rtlCol="0">
              <a:spAutoFit/>
            </a:bodyPr>
            <a:lstStyle/>
            <a:p>
              <a:pPr marL="342900" indent="-342900">
                <a:buFont typeface="Arial" panose="020B0604020202020204" pitchFamily="34" charset="0"/>
                <a:buChar char="•"/>
              </a:pPr>
              <a:r>
                <a:rPr lang="en-US" sz="2000" b="1" err="1">
                  <a:solidFill>
                    <a:schemeClr val="bg1"/>
                  </a:solidFill>
                  <a:latin typeface="Times New Roman" panose="02020603050405020304" pitchFamily="18" charset="0"/>
                  <a:cs typeface="Times New Roman" panose="02020603050405020304" pitchFamily="18" charset="0"/>
                </a:rPr>
                <a:t>Fonctionnement</a:t>
              </a:r>
              <a:r>
                <a:rPr lang="en-US" sz="2000" b="1">
                  <a:solidFill>
                    <a:schemeClr val="bg1"/>
                  </a:solidFill>
                  <a:latin typeface="Times New Roman" panose="02020603050405020304" pitchFamily="18" charset="0"/>
                  <a:cs typeface="Times New Roman" panose="02020603050405020304" pitchFamily="18" charset="0"/>
                </a:rPr>
                <a:t> IDS </a:t>
              </a:r>
              <a:r>
                <a:rPr lang="en-US" sz="2000" b="1" err="1">
                  <a:solidFill>
                    <a:schemeClr val="bg1"/>
                  </a:solidFill>
                  <a:latin typeface="Times New Roman" panose="02020603050405020304" pitchFamily="18" charset="0"/>
                  <a:cs typeface="Times New Roman" panose="02020603050405020304" pitchFamily="18" charset="0"/>
                </a:rPr>
                <a:t>passif</a:t>
              </a:r>
              <a:r>
                <a:rPr lang="en-US" sz="2000">
                  <a:solidFill>
                    <a:schemeClr val="bg1"/>
                  </a:solidFill>
                  <a:latin typeface="Times New Roman" panose="02020603050405020304" pitchFamily="18" charset="0"/>
                  <a:cs typeface="Times New Roman" panose="02020603050405020304" pitchFamily="18" charset="0"/>
                </a:rPr>
                <a:t>: </a:t>
              </a:r>
              <a:r>
                <a:rPr lang="fr-FR" sz="2000">
                  <a:solidFill>
                    <a:schemeClr val="bg1"/>
                  </a:solidFill>
                  <a:latin typeface="Times New Roman" panose="02020603050405020304" pitchFamily="18" charset="0"/>
                  <a:cs typeface="Times New Roman" panose="02020603050405020304" pitchFamily="18" charset="0"/>
                </a:rPr>
                <a:t>aucune interférence sur le flux</a:t>
              </a:r>
              <a:endParaRPr lang="en-US" sz="2000">
                <a:solidFill>
                  <a:schemeClr val="bg1"/>
                </a:solidFill>
                <a:latin typeface="Times New Roman" panose="02020603050405020304" pitchFamily="18" charset="0"/>
                <a:cs typeface="Times New Roman" panose="02020603050405020304" pitchFamily="18" charset="0"/>
              </a:endParaRPr>
            </a:p>
          </p:txBody>
        </p:sp>
      </p:grpSp>
      <p:grpSp>
        <p:nvGrpSpPr>
          <p:cNvPr id="51" name="Group 50">
            <a:extLst>
              <a:ext uri="{FF2B5EF4-FFF2-40B4-BE49-F238E27FC236}">
                <a16:creationId xmlns:a16="http://schemas.microsoft.com/office/drawing/2014/main" id="{8B7E8253-0CCA-0904-AF72-CE3C1257EB85}"/>
              </a:ext>
            </a:extLst>
          </p:cNvPr>
          <p:cNvGrpSpPr/>
          <p:nvPr/>
        </p:nvGrpSpPr>
        <p:grpSpPr>
          <a:xfrm>
            <a:off x="9913990" y="5383440"/>
            <a:ext cx="7467600" cy="3867240"/>
            <a:chOff x="9913990" y="1036320"/>
            <a:chExt cx="7467600" cy="3867240"/>
          </a:xfrm>
        </p:grpSpPr>
        <p:sp>
          <p:nvSpPr>
            <p:cNvPr id="52" name="Rectangle: Rounded Corners 51">
              <a:extLst>
                <a:ext uri="{FF2B5EF4-FFF2-40B4-BE49-F238E27FC236}">
                  <a16:creationId xmlns:a16="http://schemas.microsoft.com/office/drawing/2014/main" id="{820E97E1-9BE7-C0C8-2883-47A0688D72CF}"/>
                </a:ext>
              </a:extLst>
            </p:cNvPr>
            <p:cNvSpPr/>
            <p:nvPr/>
          </p:nvSpPr>
          <p:spPr>
            <a:xfrm>
              <a:off x="9913990" y="1036320"/>
              <a:ext cx="7467600" cy="386724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53" name="TextBox 52">
              <a:extLst>
                <a:ext uri="{FF2B5EF4-FFF2-40B4-BE49-F238E27FC236}">
                  <a16:creationId xmlns:a16="http://schemas.microsoft.com/office/drawing/2014/main" id="{34054FAD-721A-0D29-7C80-D4B0B1D5DEDC}"/>
                </a:ext>
              </a:extLst>
            </p:cNvPr>
            <p:cNvSpPr txBox="1"/>
            <p:nvPr/>
          </p:nvSpPr>
          <p:spPr>
            <a:xfrm>
              <a:off x="10213837" y="1272540"/>
              <a:ext cx="5298881" cy="5847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3200" b="1"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Délégation à la couche SOAR</a:t>
              </a:r>
              <a:endParaRPr kumimoji="0" lang="en-US" sz="3200" b="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sp>
          <p:nvSpPr>
            <p:cNvPr id="54" name="TextBox 53">
              <a:extLst>
                <a:ext uri="{FF2B5EF4-FFF2-40B4-BE49-F238E27FC236}">
                  <a16:creationId xmlns:a16="http://schemas.microsoft.com/office/drawing/2014/main" id="{169079C2-E597-5E72-E472-20369986B4B5}"/>
                </a:ext>
              </a:extLst>
            </p:cNvPr>
            <p:cNvSpPr txBox="1"/>
            <p:nvPr/>
          </p:nvSpPr>
          <p:spPr>
            <a:xfrm>
              <a:off x="10066389" y="1991365"/>
              <a:ext cx="6039026" cy="707886"/>
            </a:xfrm>
            <a:prstGeom prst="rect">
              <a:avLst/>
            </a:prstGeom>
            <a:noFill/>
          </p:spPr>
          <p:txBody>
            <a:bodyPr wrap="none" rtlCol="0">
              <a:spAutoFit/>
            </a:bodyPr>
            <a:lstStyle/>
            <a:p>
              <a:pPr marL="342900" indent="-342900">
                <a:buFont typeface="Arial" panose="020B0604020202020204" pitchFamily="34" charset="0"/>
                <a:buChar char="•"/>
              </a:pPr>
              <a:r>
                <a:rPr lang="fr-FR" sz="2000" b="1">
                  <a:solidFill>
                    <a:schemeClr val="bg1"/>
                  </a:solidFill>
                  <a:latin typeface="Times New Roman" panose="02020603050405020304" pitchFamily="18" charset="0"/>
                  <a:cs typeface="Times New Roman" panose="02020603050405020304" pitchFamily="18" charset="0"/>
                </a:rPr>
                <a:t>Suricata ne bloque pas directement</a:t>
              </a:r>
              <a:r>
                <a:rPr lang="en-US" sz="2000">
                  <a:solidFill>
                    <a:schemeClr val="bg1"/>
                  </a:solidFill>
                  <a:latin typeface="Times New Roman" panose="02020603050405020304" pitchFamily="18" charset="0"/>
                  <a:cs typeface="Times New Roman" panose="02020603050405020304" pitchFamily="18" charset="0"/>
                </a:rPr>
                <a:t>: séparation des </a:t>
              </a:r>
            </a:p>
            <a:p>
              <a:r>
                <a:rPr lang="en-US" sz="2000">
                  <a:solidFill>
                    <a:schemeClr val="bg1"/>
                  </a:solidFill>
                  <a:latin typeface="Times New Roman" panose="02020603050405020304" pitchFamily="18" charset="0"/>
                  <a:cs typeface="Times New Roman" panose="02020603050405020304" pitchFamily="18" charset="0"/>
                </a:rPr>
                <a:t>responsabilités</a:t>
              </a:r>
            </a:p>
          </p:txBody>
        </p:sp>
        <p:sp>
          <p:nvSpPr>
            <p:cNvPr id="55" name="TextBox 54">
              <a:extLst>
                <a:ext uri="{FF2B5EF4-FFF2-40B4-BE49-F238E27FC236}">
                  <a16:creationId xmlns:a16="http://schemas.microsoft.com/office/drawing/2014/main" id="{735A69E6-E9C1-7152-E613-46AF04778FB1}"/>
                </a:ext>
              </a:extLst>
            </p:cNvPr>
            <p:cNvSpPr txBox="1"/>
            <p:nvPr/>
          </p:nvSpPr>
          <p:spPr>
            <a:xfrm>
              <a:off x="10066389" y="2772381"/>
              <a:ext cx="5764720" cy="400110"/>
            </a:xfrm>
            <a:prstGeom prst="rect">
              <a:avLst/>
            </a:prstGeom>
            <a:noFill/>
          </p:spPr>
          <p:txBody>
            <a:bodyPr wrap="none" rtlCol="0">
              <a:spAutoFit/>
            </a:bodyPr>
            <a:lstStyle/>
            <a:p>
              <a:pPr marL="342900" indent="-342900">
                <a:buFont typeface="Arial" panose="020B0604020202020204" pitchFamily="34" charset="0"/>
                <a:buChar char="•"/>
              </a:pPr>
              <a:r>
                <a:rPr lang="fr-FR" sz="2000">
                  <a:solidFill>
                    <a:schemeClr val="bg1"/>
                  </a:solidFill>
                  <a:latin typeface="Times New Roman" panose="02020603050405020304" pitchFamily="18" charset="0"/>
                  <a:cs typeface="Times New Roman" panose="02020603050405020304" pitchFamily="18" charset="0"/>
                </a:rPr>
                <a:t>Les alertes sont publiées sur </a:t>
              </a:r>
              <a:r>
                <a:rPr lang="fr-FR" sz="2000" b="1">
                  <a:solidFill>
                    <a:schemeClr val="bg1"/>
                  </a:solidFill>
                  <a:latin typeface="Times New Roman" panose="02020603050405020304" pitchFamily="18" charset="0"/>
                  <a:cs typeface="Times New Roman" panose="02020603050405020304" pitchFamily="18" charset="0"/>
                </a:rPr>
                <a:t>un topic Kafka dédié</a:t>
              </a:r>
              <a:endParaRPr lang="en-US" sz="2000" b="1">
                <a:solidFill>
                  <a:schemeClr val="bg1"/>
                </a:solidFill>
                <a:latin typeface="Times New Roman" panose="02020603050405020304" pitchFamily="18" charset="0"/>
                <a:cs typeface="Times New Roman" panose="02020603050405020304" pitchFamily="18" charset="0"/>
              </a:endParaRPr>
            </a:p>
          </p:txBody>
        </p:sp>
        <p:sp>
          <p:nvSpPr>
            <p:cNvPr id="56" name="TextBox 55">
              <a:extLst>
                <a:ext uri="{FF2B5EF4-FFF2-40B4-BE49-F238E27FC236}">
                  <a16:creationId xmlns:a16="http://schemas.microsoft.com/office/drawing/2014/main" id="{93CDFBD4-4C84-F5CB-91A7-146EB5355D2F}"/>
                </a:ext>
              </a:extLst>
            </p:cNvPr>
            <p:cNvSpPr txBox="1"/>
            <p:nvPr/>
          </p:nvSpPr>
          <p:spPr>
            <a:xfrm>
              <a:off x="10110507" y="3245621"/>
              <a:ext cx="6274988" cy="707886"/>
            </a:xfrm>
            <a:prstGeom prst="rect">
              <a:avLst/>
            </a:prstGeom>
            <a:noFill/>
          </p:spPr>
          <p:txBody>
            <a:bodyPr wrap="none" rtlCol="0">
              <a:spAutoFit/>
            </a:bodyPr>
            <a:lstStyle/>
            <a:p>
              <a:pPr marL="342900" indent="-342900">
                <a:buFont typeface="Arial" panose="020B0604020202020204" pitchFamily="34" charset="0"/>
                <a:buChar char="•"/>
              </a:pPr>
              <a:r>
                <a:rPr lang="fr-FR" sz="2000">
                  <a:solidFill>
                    <a:schemeClr val="bg1"/>
                  </a:solidFill>
                  <a:latin typeface="Times New Roman" panose="02020603050405020304" pitchFamily="18" charset="0"/>
                  <a:cs typeface="Times New Roman" panose="02020603050405020304" pitchFamily="18" charset="0"/>
                </a:rPr>
                <a:t>Le moteur </a:t>
              </a:r>
              <a:r>
                <a:rPr lang="fr-FR" sz="2000" b="1">
                  <a:solidFill>
                    <a:schemeClr val="bg1"/>
                  </a:solidFill>
                  <a:latin typeface="Times New Roman" panose="02020603050405020304" pitchFamily="18" charset="0"/>
                  <a:cs typeface="Times New Roman" panose="02020603050405020304" pitchFamily="18" charset="0"/>
                </a:rPr>
                <a:t>soar.py </a:t>
              </a:r>
              <a:r>
                <a:rPr lang="fr-FR" sz="2000">
                  <a:solidFill>
                    <a:schemeClr val="bg1"/>
                  </a:solidFill>
                  <a:latin typeface="Times New Roman" panose="02020603050405020304" pitchFamily="18" charset="0"/>
                  <a:cs typeface="Times New Roman" panose="02020603050405020304" pitchFamily="18" charset="0"/>
                </a:rPr>
                <a:t>consomme les événements et décide </a:t>
              </a:r>
            </a:p>
            <a:p>
              <a:r>
                <a:rPr lang="fr-FR" sz="2000">
                  <a:solidFill>
                    <a:schemeClr val="bg1"/>
                  </a:solidFill>
                  <a:latin typeface="Times New Roman" panose="02020603050405020304" pitchFamily="18" charset="0"/>
                  <a:cs typeface="Times New Roman" panose="02020603050405020304" pitchFamily="18" charset="0"/>
                </a:rPr>
                <a:t>de la remédiation</a:t>
              </a:r>
              <a:endParaRPr lang="en-US" sz="2000">
                <a:solidFill>
                  <a:schemeClr val="bg1"/>
                </a:solidFill>
                <a:latin typeface="Times New Roman" panose="02020603050405020304" pitchFamily="18" charset="0"/>
                <a:cs typeface="Times New Roman" panose="02020603050405020304" pitchFamily="18" charset="0"/>
              </a:endParaRPr>
            </a:p>
          </p:txBody>
        </p:sp>
        <p:sp>
          <p:nvSpPr>
            <p:cNvPr id="57" name="TextBox 56">
              <a:extLst>
                <a:ext uri="{FF2B5EF4-FFF2-40B4-BE49-F238E27FC236}">
                  <a16:creationId xmlns:a16="http://schemas.microsoft.com/office/drawing/2014/main" id="{2EAFB160-AA55-A1AD-5183-9572C4252BE2}"/>
                </a:ext>
              </a:extLst>
            </p:cNvPr>
            <p:cNvSpPr txBox="1"/>
            <p:nvPr/>
          </p:nvSpPr>
          <p:spPr>
            <a:xfrm>
              <a:off x="10066389" y="3989962"/>
              <a:ext cx="6455613" cy="707886"/>
            </a:xfrm>
            <a:prstGeom prst="rect">
              <a:avLst/>
            </a:prstGeom>
            <a:noFill/>
          </p:spPr>
          <p:txBody>
            <a:bodyPr wrap="none" rtlCol="0">
              <a:spAutoFit/>
            </a:bodyPr>
            <a:lstStyle/>
            <a:p>
              <a:pPr marL="342900" indent="-342900">
                <a:buFont typeface="Arial" panose="020B0604020202020204" pitchFamily="34" charset="0"/>
                <a:buChar char="•"/>
              </a:pPr>
              <a:r>
                <a:rPr lang="fr-FR" sz="2000">
                  <a:solidFill>
                    <a:schemeClr val="bg1"/>
                  </a:solidFill>
                  <a:latin typeface="Times New Roman" panose="02020603050405020304" pitchFamily="18" charset="0"/>
                  <a:cs typeface="Times New Roman" panose="02020603050405020304" pitchFamily="18" charset="0"/>
                </a:rPr>
                <a:t> Garantit la continuité de la capture même en cas d'action </a:t>
              </a:r>
            </a:p>
            <a:p>
              <a:r>
                <a:rPr lang="fr-FR" sz="2000">
                  <a:solidFill>
                    <a:schemeClr val="bg1"/>
                  </a:solidFill>
                  <a:latin typeface="Times New Roman" panose="02020603050405020304" pitchFamily="18" charset="0"/>
                  <a:cs typeface="Times New Roman" panose="02020603050405020304" pitchFamily="18" charset="0"/>
                </a:rPr>
                <a:t>de réponse</a:t>
              </a:r>
              <a:endParaRPr lang="en-US" sz="2000">
                <a:solidFill>
                  <a:schemeClr val="bg1"/>
                </a:solidFill>
                <a:latin typeface="Times New Roman" panose="02020603050405020304" pitchFamily="18" charset="0"/>
                <a:cs typeface="Times New Roman" panose="02020603050405020304" pitchFamily="18" charset="0"/>
              </a:endParaRPr>
            </a:p>
          </p:txBody>
        </p:sp>
      </p:grpSp>
      <p:sp>
        <p:nvSpPr>
          <p:cNvPr id="8" name="TextBox 4">
            <a:extLst>
              <a:ext uri="{FF2B5EF4-FFF2-40B4-BE49-F238E27FC236}">
                <a16:creationId xmlns:a16="http://schemas.microsoft.com/office/drawing/2014/main" id="{0A5D44E1-8280-DD8D-EA14-F0A038AC4D79}"/>
              </a:ext>
            </a:extLst>
          </p:cNvPr>
          <p:cNvSpPr txBox="1"/>
          <p:nvPr/>
        </p:nvSpPr>
        <p:spPr>
          <a:xfrm rot="16200000">
            <a:off x="-2339010" y="4610359"/>
            <a:ext cx="6745560" cy="707886"/>
          </a:xfrm>
          <a:prstGeom prst="rect">
            <a:avLst/>
          </a:prstGeom>
          <a:noFill/>
        </p:spPr>
        <p:txBody>
          <a:bodyPr wrap="square" rtlCol="0">
            <a:spAutoFit/>
          </a:bodyPr>
          <a:lstStyle/>
          <a:p>
            <a:r>
              <a:rPr lang="en-US" sz="4000">
                <a:latin typeface="Times New Roman" panose="02020603050405020304" pitchFamily="18" charset="0"/>
                <a:cs typeface="Times New Roman" panose="02020603050405020304" pitchFamily="18" charset="0"/>
              </a:rPr>
              <a:t>Sprint 1 — Acquisition réseau</a:t>
            </a:r>
          </a:p>
        </p:txBody>
      </p:sp>
      <p:sp>
        <p:nvSpPr>
          <p:cNvPr id="3" name="TextBox 2">
            <a:extLst>
              <a:ext uri="{FF2B5EF4-FFF2-40B4-BE49-F238E27FC236}">
                <a16:creationId xmlns:a16="http://schemas.microsoft.com/office/drawing/2014/main" id="{F6198118-CBEF-E7F8-7A73-1634F85EB99F}"/>
              </a:ext>
            </a:extLst>
          </p:cNvPr>
          <p:cNvSpPr txBox="1"/>
          <p:nvPr/>
        </p:nvSpPr>
        <p:spPr>
          <a:xfrm rot="16200000">
            <a:off x="-825607" y="5535749"/>
            <a:ext cx="5072222"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2 — Pipeline de données</a:t>
            </a:r>
          </a:p>
        </p:txBody>
      </p:sp>
      <p:sp>
        <p:nvSpPr>
          <p:cNvPr id="5" name="TextBox 4">
            <a:extLst>
              <a:ext uri="{FF2B5EF4-FFF2-40B4-BE49-F238E27FC236}">
                <a16:creationId xmlns:a16="http://schemas.microsoft.com/office/drawing/2014/main" id="{BC286835-BF8A-A1F5-FABD-204CCDD8E83E}"/>
              </a:ext>
            </a:extLst>
          </p:cNvPr>
          <p:cNvSpPr txBox="1"/>
          <p:nvPr/>
        </p:nvSpPr>
        <p:spPr>
          <a:xfrm rot="16200000">
            <a:off x="-913500" y="4981916"/>
            <a:ext cx="6263253" cy="323165"/>
          </a:xfrm>
          <a:prstGeom prst="rect">
            <a:avLst/>
          </a:prstGeom>
          <a:noFill/>
        </p:spPr>
        <p:txBody>
          <a:bodyPr wrap="square" rtlCol="0">
            <a:spAutoFit/>
          </a:bodyPr>
          <a:lstStyle/>
          <a:p>
            <a:r>
              <a:rPr lang="en-US" sz="1500" dirty="0">
                <a:solidFill>
                  <a:schemeClr val="bg1">
                    <a:lumMod val="50000"/>
                  </a:schemeClr>
                </a:solidFill>
                <a:latin typeface="Times New Roman" panose="02020603050405020304" pitchFamily="18" charset="0"/>
                <a:cs typeface="Times New Roman" panose="02020603050405020304" pitchFamily="18" charset="0"/>
              </a:rPr>
              <a:t>Sprint 3 — Détection </a:t>
            </a:r>
            <a:r>
              <a:rPr lang="en-US" sz="1500" dirty="0" err="1">
                <a:solidFill>
                  <a:schemeClr val="bg1">
                    <a:lumMod val="50000"/>
                  </a:schemeClr>
                </a:solidFill>
                <a:latin typeface="Times New Roman" panose="02020603050405020304" pitchFamily="18" charset="0"/>
                <a:cs typeface="Times New Roman" panose="02020603050405020304" pitchFamily="18" charset="0"/>
              </a:rPr>
              <a:t>comportementale</a:t>
            </a:r>
            <a:endParaRPr lang="en-US" sz="1500" dirty="0">
              <a:solidFill>
                <a:schemeClr val="bg1">
                  <a:lumMod val="50000"/>
                </a:schemeClr>
              </a:solidFill>
              <a:latin typeface="Times New Roman" panose="02020603050405020304" pitchFamily="18" charset="0"/>
              <a:cs typeface="Times New Roman" panose="02020603050405020304" pitchFamily="18" charset="0"/>
            </a:endParaRPr>
          </a:p>
        </p:txBody>
      </p:sp>
      <p:grpSp>
        <p:nvGrpSpPr>
          <p:cNvPr id="13" name="Group 12">
            <a:extLst>
              <a:ext uri="{FF2B5EF4-FFF2-40B4-BE49-F238E27FC236}">
                <a16:creationId xmlns:a16="http://schemas.microsoft.com/office/drawing/2014/main" id="{D73274B2-7515-479B-5ABE-DD2BD7181E97}"/>
              </a:ext>
            </a:extLst>
          </p:cNvPr>
          <p:cNvGrpSpPr/>
          <p:nvPr/>
        </p:nvGrpSpPr>
        <p:grpSpPr>
          <a:xfrm rot="16200000">
            <a:off x="-10281386" y="723901"/>
            <a:ext cx="13030200" cy="3810000"/>
            <a:chOff x="1219200" y="1333500"/>
            <a:chExt cx="13030200" cy="3810000"/>
          </a:xfrm>
        </p:grpSpPr>
        <p:sp>
          <p:nvSpPr>
            <p:cNvPr id="2" name="Rectangle: Rounded Corners 1">
              <a:extLst>
                <a:ext uri="{FF2B5EF4-FFF2-40B4-BE49-F238E27FC236}">
                  <a16:creationId xmlns:a16="http://schemas.microsoft.com/office/drawing/2014/main" id="{5AFA990B-C172-A93D-AEA5-207D99C04C4E}"/>
                </a:ext>
              </a:extLst>
            </p:cNvPr>
            <p:cNvSpPr/>
            <p:nvPr/>
          </p:nvSpPr>
          <p:spPr>
            <a:xfrm>
              <a:off x="1219200" y="1333500"/>
              <a:ext cx="13030200" cy="9144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3200">
                  <a:latin typeface="Times New Roman" panose="02020603050405020304" pitchFamily="18" charset="0"/>
                  <a:cs typeface="Times New Roman" panose="02020603050405020304" pitchFamily="18" charset="0"/>
                </a:rPr>
                <a:t>Release 1 – Détection</a:t>
              </a:r>
              <a:endParaRPr lang="en-US" sz="3200">
                <a:latin typeface="Times New Roman" panose="02020603050405020304" pitchFamily="18" charset="0"/>
                <a:cs typeface="Times New Roman" panose="02020603050405020304" pitchFamily="18" charset="0"/>
              </a:endParaRPr>
            </a:p>
          </p:txBody>
        </p:sp>
        <p:grpSp>
          <p:nvGrpSpPr>
            <p:cNvPr id="6" name="Group 5">
              <a:extLst>
                <a:ext uri="{FF2B5EF4-FFF2-40B4-BE49-F238E27FC236}">
                  <a16:creationId xmlns:a16="http://schemas.microsoft.com/office/drawing/2014/main" id="{E34B604F-3374-1953-4762-FBCE331AF3D2}"/>
                </a:ext>
              </a:extLst>
            </p:cNvPr>
            <p:cNvGrpSpPr/>
            <p:nvPr/>
          </p:nvGrpSpPr>
          <p:grpSpPr>
            <a:xfrm>
              <a:off x="1447800" y="2644139"/>
              <a:ext cx="6009538" cy="685800"/>
              <a:chOff x="1447800" y="3086100"/>
              <a:chExt cx="6009538" cy="685800"/>
            </a:xfrm>
          </p:grpSpPr>
          <p:sp>
            <p:nvSpPr>
              <p:cNvPr id="14" name="Oval 2">
                <a:extLst>
                  <a:ext uri="{FF2B5EF4-FFF2-40B4-BE49-F238E27FC236}">
                    <a16:creationId xmlns:a16="http://schemas.microsoft.com/office/drawing/2014/main" id="{577E39F8-7C7B-B8CE-C46B-9205AB59F062}"/>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1</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15" name="TextBox 4">
                <a:extLst>
                  <a:ext uri="{FF2B5EF4-FFF2-40B4-BE49-F238E27FC236}">
                    <a16:creationId xmlns:a16="http://schemas.microsoft.com/office/drawing/2014/main" id="{634381CF-12CB-DD40-37C3-CBA4C912558E}"/>
                  </a:ext>
                </a:extLst>
              </p:cNvPr>
              <p:cNvSpPr txBox="1"/>
              <p:nvPr/>
            </p:nvSpPr>
            <p:spPr>
              <a:xfrm>
                <a:off x="2438400" y="3169920"/>
                <a:ext cx="5018938" cy="553998"/>
              </a:xfrm>
              <a:prstGeom prst="rect">
                <a:avLst/>
              </a:prstGeom>
              <a:noFill/>
            </p:spPr>
            <p:txBody>
              <a:bodyPr wrap="none" rtlCol="0">
                <a:spAutoFit/>
              </a:bodyPr>
              <a:lstStyle/>
              <a:p>
                <a:r>
                  <a:rPr lang="en-US" sz="3000">
                    <a:latin typeface="Times New Roman" panose="02020603050405020304" pitchFamily="18" charset="0"/>
                    <a:cs typeface="Times New Roman" panose="02020603050405020304" pitchFamily="18" charset="0"/>
                  </a:rPr>
                  <a:t>Sprint 1 — Acquisition réseau</a:t>
                </a:r>
              </a:p>
            </p:txBody>
          </p:sp>
        </p:grpSp>
        <p:grpSp>
          <p:nvGrpSpPr>
            <p:cNvPr id="7" name="Group 6">
              <a:extLst>
                <a:ext uri="{FF2B5EF4-FFF2-40B4-BE49-F238E27FC236}">
                  <a16:creationId xmlns:a16="http://schemas.microsoft.com/office/drawing/2014/main" id="{B80F278E-FC8D-5C5B-F374-0CF90169258B}"/>
                </a:ext>
              </a:extLst>
            </p:cNvPr>
            <p:cNvGrpSpPr/>
            <p:nvPr/>
          </p:nvGrpSpPr>
          <p:grpSpPr>
            <a:xfrm>
              <a:off x="1447800" y="3573779"/>
              <a:ext cx="6062822" cy="685800"/>
              <a:chOff x="1447800" y="3086100"/>
              <a:chExt cx="6062822" cy="685800"/>
            </a:xfrm>
          </p:grpSpPr>
          <p:sp>
            <p:nvSpPr>
              <p:cNvPr id="4" name="Oval 7">
                <a:extLst>
                  <a:ext uri="{FF2B5EF4-FFF2-40B4-BE49-F238E27FC236}">
                    <a16:creationId xmlns:a16="http://schemas.microsoft.com/office/drawing/2014/main" id="{7559C696-82DF-750A-7FC9-B43AA3E7FC95}"/>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2</a:t>
                </a:r>
              </a:p>
            </p:txBody>
          </p:sp>
          <p:sp>
            <p:nvSpPr>
              <p:cNvPr id="9" name="TextBox 8">
                <a:extLst>
                  <a:ext uri="{FF2B5EF4-FFF2-40B4-BE49-F238E27FC236}">
                    <a16:creationId xmlns:a16="http://schemas.microsoft.com/office/drawing/2014/main" id="{84B7E943-2DBB-1757-9845-74C017227A5D}"/>
                  </a:ext>
                </a:extLst>
              </p:cNvPr>
              <p:cNvSpPr txBox="1"/>
              <p:nvPr/>
            </p:nvSpPr>
            <p:spPr>
              <a:xfrm>
                <a:off x="2438400" y="3169920"/>
                <a:ext cx="5072222" cy="553998"/>
              </a:xfrm>
              <a:prstGeom prst="rect">
                <a:avLst/>
              </a:prstGeom>
              <a:noFill/>
            </p:spPr>
            <p:txBody>
              <a:bodyPr wrap="none" rtlCol="0">
                <a:spAutoFit/>
              </a:bodyPr>
              <a:lstStyle/>
              <a:p>
                <a:r>
                  <a:rPr lang="en-US" sz="3000">
                    <a:latin typeface="Times New Roman" panose="02020603050405020304" pitchFamily="18" charset="0"/>
                    <a:cs typeface="Times New Roman" panose="02020603050405020304" pitchFamily="18" charset="0"/>
                  </a:rPr>
                  <a:t>Sprint 2 — Pipeline de données</a:t>
                </a:r>
              </a:p>
            </p:txBody>
          </p:sp>
        </p:grpSp>
        <p:grpSp>
          <p:nvGrpSpPr>
            <p:cNvPr id="10" name="Group 9">
              <a:extLst>
                <a:ext uri="{FF2B5EF4-FFF2-40B4-BE49-F238E27FC236}">
                  <a16:creationId xmlns:a16="http://schemas.microsoft.com/office/drawing/2014/main" id="{443BDFCF-4738-7AF2-A678-277CDD6FB6A3}"/>
                </a:ext>
              </a:extLst>
            </p:cNvPr>
            <p:cNvGrpSpPr/>
            <p:nvPr/>
          </p:nvGrpSpPr>
          <p:grpSpPr>
            <a:xfrm>
              <a:off x="1447800" y="4457700"/>
              <a:ext cx="7253853" cy="685800"/>
              <a:chOff x="1447800" y="3086100"/>
              <a:chExt cx="7253853" cy="685800"/>
            </a:xfrm>
          </p:grpSpPr>
          <p:sp>
            <p:nvSpPr>
              <p:cNvPr id="11" name="Oval 10">
                <a:extLst>
                  <a:ext uri="{FF2B5EF4-FFF2-40B4-BE49-F238E27FC236}">
                    <a16:creationId xmlns:a16="http://schemas.microsoft.com/office/drawing/2014/main" id="{FB4D5B9C-542A-1916-0824-AE439A905024}"/>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3</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1C129F1-417E-BA2B-2BB9-F9F386738B6F}"/>
                  </a:ext>
                </a:extLst>
              </p:cNvPr>
              <p:cNvSpPr txBox="1"/>
              <p:nvPr/>
            </p:nvSpPr>
            <p:spPr>
              <a:xfrm>
                <a:off x="2438400" y="3169920"/>
                <a:ext cx="6263253"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Sprint 3 — Détection </a:t>
                </a:r>
                <a:r>
                  <a:rPr lang="en-US" sz="3000" dirty="0" err="1">
                    <a:latin typeface="Times New Roman" panose="02020603050405020304" pitchFamily="18" charset="0"/>
                    <a:cs typeface="Times New Roman" panose="02020603050405020304" pitchFamily="18" charset="0"/>
                  </a:rPr>
                  <a:t>comportementale</a:t>
                </a:r>
                <a:endParaRPr lang="en-US" sz="3000" dirty="0">
                  <a:latin typeface="Times New Roman" panose="02020603050405020304" pitchFamily="18" charset="0"/>
                  <a:cs typeface="Times New Roman" panose="02020603050405020304" pitchFamily="18" charset="0"/>
                </a:endParaRPr>
              </a:p>
            </p:txBody>
          </p:sp>
        </p:grpSp>
      </p:grpSp>
    </p:spTree>
    <p:extLst>
      <p:ext uri="{BB962C8B-B14F-4D97-AF65-F5344CB8AC3E}">
        <p14:creationId xmlns:p14="http://schemas.microsoft.com/office/powerpoint/2010/main" val="18111643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32019-10C4-758B-A179-654081A45AB2}"/>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7540AF32-0EEB-D685-9A60-F71E965C9E92}"/>
              </a:ext>
            </a:extLst>
          </p:cNvPr>
          <p:cNvSpPr/>
          <p:nvPr/>
        </p:nvSpPr>
        <p:spPr>
          <a:xfrm>
            <a:off x="0" y="-304801"/>
            <a:ext cx="2852107"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9D8AF6BD-AB5D-DBD5-5ED8-820A7FA32DCA}"/>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1</a:t>
            </a:r>
            <a:endParaRPr lang="en-US" sz="3000">
              <a:latin typeface="Times New Roman" panose="02020603050405020304" pitchFamily="18" charset="0"/>
              <a:cs typeface="Times New Roman" panose="02020603050405020304" pitchFamily="18" charset="0"/>
            </a:endParaRPr>
          </a:p>
        </p:txBody>
      </p:sp>
      <p:grpSp>
        <p:nvGrpSpPr>
          <p:cNvPr id="51" name="Group 50">
            <a:extLst>
              <a:ext uri="{FF2B5EF4-FFF2-40B4-BE49-F238E27FC236}">
                <a16:creationId xmlns:a16="http://schemas.microsoft.com/office/drawing/2014/main" id="{8059F966-99C8-5128-1172-947919806544}"/>
              </a:ext>
            </a:extLst>
          </p:cNvPr>
          <p:cNvGrpSpPr/>
          <p:nvPr/>
        </p:nvGrpSpPr>
        <p:grpSpPr>
          <a:xfrm>
            <a:off x="10646643" y="2003080"/>
            <a:ext cx="6929549" cy="2686981"/>
            <a:chOff x="10028048" y="6922468"/>
            <a:chExt cx="6929549" cy="3005302"/>
          </a:xfrm>
        </p:grpSpPr>
        <p:sp>
          <p:nvSpPr>
            <p:cNvPr id="52" name="Rectangle: Rounded Corners 51">
              <a:extLst>
                <a:ext uri="{FF2B5EF4-FFF2-40B4-BE49-F238E27FC236}">
                  <a16:creationId xmlns:a16="http://schemas.microsoft.com/office/drawing/2014/main" id="{C6995DB8-8AED-4783-4B51-5B04B4CA8267}"/>
                </a:ext>
              </a:extLst>
            </p:cNvPr>
            <p:cNvSpPr/>
            <p:nvPr/>
          </p:nvSpPr>
          <p:spPr>
            <a:xfrm>
              <a:off x="10028048" y="6922468"/>
              <a:ext cx="6906103" cy="3005302"/>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53" name="TextBox 52">
              <a:extLst>
                <a:ext uri="{FF2B5EF4-FFF2-40B4-BE49-F238E27FC236}">
                  <a16:creationId xmlns:a16="http://schemas.microsoft.com/office/drawing/2014/main" id="{5D51AB49-CE86-69E7-95F6-BBFBF3B78523}"/>
                </a:ext>
              </a:extLst>
            </p:cNvPr>
            <p:cNvSpPr txBox="1"/>
            <p:nvPr/>
          </p:nvSpPr>
          <p:spPr>
            <a:xfrm>
              <a:off x="10051494" y="7403800"/>
              <a:ext cx="6906103" cy="203100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b="1"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Voie rapide</a:t>
              </a:r>
              <a:r>
                <a:rPr kumimoji="0" lang="fr-FR"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 (Kafka) : 16 caractéristiques extraites par flux → topic Kafka → inférence LSTM-VAE (2–4 ms) → décision SOAR immédiate, latence bout-en-bout &lt; 15 ms.</a:t>
              </a:r>
              <a:endParaRPr kumimoji="0" lang="en-US"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endParaRPr>
            </a:p>
          </p:txBody>
        </p:sp>
      </p:grpSp>
      <p:sp>
        <p:nvSpPr>
          <p:cNvPr id="8" name="TextBox 4">
            <a:extLst>
              <a:ext uri="{FF2B5EF4-FFF2-40B4-BE49-F238E27FC236}">
                <a16:creationId xmlns:a16="http://schemas.microsoft.com/office/drawing/2014/main" id="{9F44D0C3-B96D-4B0E-4856-3745B9E2EF03}"/>
              </a:ext>
            </a:extLst>
          </p:cNvPr>
          <p:cNvSpPr txBox="1"/>
          <p:nvPr/>
        </p:nvSpPr>
        <p:spPr>
          <a:xfrm rot="16200000">
            <a:off x="-2781752" y="4657137"/>
            <a:ext cx="6745560"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1 — Acquisition réseau</a:t>
            </a:r>
          </a:p>
        </p:txBody>
      </p:sp>
      <p:sp>
        <p:nvSpPr>
          <p:cNvPr id="3" name="TextBox 2">
            <a:extLst>
              <a:ext uri="{FF2B5EF4-FFF2-40B4-BE49-F238E27FC236}">
                <a16:creationId xmlns:a16="http://schemas.microsoft.com/office/drawing/2014/main" id="{C07AE466-AB22-8AD3-ED7A-2CC83DC05566}"/>
              </a:ext>
            </a:extLst>
          </p:cNvPr>
          <p:cNvSpPr txBox="1"/>
          <p:nvPr/>
        </p:nvSpPr>
        <p:spPr>
          <a:xfrm rot="16200000">
            <a:off x="-3011774" y="3580667"/>
            <a:ext cx="8804944" cy="707886"/>
          </a:xfrm>
          <a:prstGeom prst="rect">
            <a:avLst/>
          </a:prstGeom>
          <a:noFill/>
        </p:spPr>
        <p:txBody>
          <a:bodyPr wrap="square" rtlCol="0">
            <a:spAutoFit/>
          </a:bodyPr>
          <a:lstStyle/>
          <a:p>
            <a:r>
              <a:rPr lang="en-US" sz="4000">
                <a:latin typeface="Times New Roman" panose="02020603050405020304" pitchFamily="18" charset="0"/>
                <a:cs typeface="Times New Roman" panose="02020603050405020304" pitchFamily="18" charset="0"/>
              </a:rPr>
              <a:t>Sprint 2 — Pipeline de données</a:t>
            </a:r>
          </a:p>
        </p:txBody>
      </p:sp>
      <p:sp>
        <p:nvSpPr>
          <p:cNvPr id="5" name="TextBox 4">
            <a:extLst>
              <a:ext uri="{FF2B5EF4-FFF2-40B4-BE49-F238E27FC236}">
                <a16:creationId xmlns:a16="http://schemas.microsoft.com/office/drawing/2014/main" id="{3B1C58D1-2724-4393-692E-CBCAB934863E}"/>
              </a:ext>
            </a:extLst>
          </p:cNvPr>
          <p:cNvSpPr txBox="1"/>
          <p:nvPr/>
        </p:nvSpPr>
        <p:spPr>
          <a:xfrm rot="16200000">
            <a:off x="-913500" y="4981916"/>
            <a:ext cx="6263253" cy="323165"/>
          </a:xfrm>
          <a:prstGeom prst="rect">
            <a:avLst/>
          </a:prstGeom>
          <a:noFill/>
        </p:spPr>
        <p:txBody>
          <a:bodyPr wrap="square" rtlCol="0">
            <a:spAutoFit/>
          </a:bodyPr>
          <a:lstStyle/>
          <a:p>
            <a:r>
              <a:rPr lang="en-US" sz="1500" dirty="0">
                <a:solidFill>
                  <a:schemeClr val="bg1">
                    <a:lumMod val="50000"/>
                  </a:schemeClr>
                </a:solidFill>
                <a:latin typeface="Times New Roman" panose="02020603050405020304" pitchFamily="18" charset="0"/>
                <a:cs typeface="Times New Roman" panose="02020603050405020304" pitchFamily="18" charset="0"/>
              </a:rPr>
              <a:t>Sprint 3 — Détection </a:t>
            </a:r>
            <a:r>
              <a:rPr lang="en-US" sz="1500" dirty="0" err="1">
                <a:solidFill>
                  <a:schemeClr val="bg1">
                    <a:lumMod val="50000"/>
                  </a:schemeClr>
                </a:solidFill>
                <a:latin typeface="Times New Roman" panose="02020603050405020304" pitchFamily="18" charset="0"/>
                <a:cs typeface="Times New Roman" panose="02020603050405020304" pitchFamily="18" charset="0"/>
              </a:rPr>
              <a:t>comportementale</a:t>
            </a:r>
            <a:endParaRPr lang="en-US" sz="1500" dirty="0">
              <a:solidFill>
                <a:schemeClr val="bg1">
                  <a:lumMod val="50000"/>
                </a:schemeClr>
              </a:solidFill>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90296CB1-0548-C692-783C-54CC6BE85B4E}"/>
              </a:ext>
            </a:extLst>
          </p:cNvPr>
          <p:cNvSpPr txBox="1"/>
          <p:nvPr/>
        </p:nvSpPr>
        <p:spPr>
          <a:xfrm>
            <a:off x="3848164" y="760065"/>
            <a:ext cx="5897768" cy="553998"/>
          </a:xfrm>
          <a:prstGeom prst="rect">
            <a:avLst/>
          </a:prstGeom>
          <a:noFill/>
        </p:spPr>
        <p:txBody>
          <a:bodyPr wrap="none" rtlCol="0">
            <a:spAutoFit/>
          </a:bodyPr>
          <a:lstStyle/>
          <a:p>
            <a:r>
              <a:rPr lang="fr-FR" sz="3000">
                <a:latin typeface="Times New Roman" panose="02020603050405020304" pitchFamily="18" charset="0"/>
                <a:cs typeface="Times New Roman" panose="02020603050405020304" pitchFamily="18" charset="0"/>
              </a:rPr>
              <a:t>Pipeline de données (double chemin)</a:t>
            </a:r>
            <a:endParaRPr lang="en-US" sz="300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4313F8B7-2A71-2382-C1AB-7A2311A67ADC}"/>
              </a:ext>
            </a:extLst>
          </p:cNvPr>
          <p:cNvPicPr>
            <a:picLocks noChangeAspect="1"/>
          </p:cNvPicPr>
          <p:nvPr/>
        </p:nvPicPr>
        <p:blipFill>
          <a:blip r:embed="rId3" cstate="print">
            <a:extLst>
              <a:ext uri="{28A0092B-C50C-407E-A947-70E740481C1C}">
                <a14:useLocalDpi xmlns:a14="http://schemas.microsoft.com/office/drawing/2010/main" val="0"/>
              </a:ext>
            </a:extLst>
          </a:blip>
          <a:srcRect l="2608" t="2552" r="3222" b="2419"/>
          <a:stretch>
            <a:fillRect/>
          </a:stretch>
        </p:blipFill>
        <p:spPr>
          <a:xfrm>
            <a:off x="3733800" y="1638300"/>
            <a:ext cx="6031150" cy="7086600"/>
          </a:xfrm>
          <a:prstGeom prst="rect">
            <a:avLst/>
          </a:prstGeom>
        </p:spPr>
      </p:pic>
      <p:grpSp>
        <p:nvGrpSpPr>
          <p:cNvPr id="13" name="Group 12">
            <a:extLst>
              <a:ext uri="{FF2B5EF4-FFF2-40B4-BE49-F238E27FC236}">
                <a16:creationId xmlns:a16="http://schemas.microsoft.com/office/drawing/2014/main" id="{90EB01D5-A5A1-D8CC-74AA-E5DE020B1880}"/>
              </a:ext>
            </a:extLst>
          </p:cNvPr>
          <p:cNvGrpSpPr/>
          <p:nvPr/>
        </p:nvGrpSpPr>
        <p:grpSpPr>
          <a:xfrm>
            <a:off x="10623197" y="5352120"/>
            <a:ext cx="6907364" cy="2897760"/>
            <a:chOff x="10028048" y="6922468"/>
            <a:chExt cx="6907364" cy="3241051"/>
          </a:xfrm>
        </p:grpSpPr>
        <p:sp>
          <p:nvSpPr>
            <p:cNvPr id="14" name="Rectangle: Rounded Corners 13">
              <a:extLst>
                <a:ext uri="{FF2B5EF4-FFF2-40B4-BE49-F238E27FC236}">
                  <a16:creationId xmlns:a16="http://schemas.microsoft.com/office/drawing/2014/main" id="{1BFF57B3-9FD4-72A8-E440-5EBB92B5E51A}"/>
                </a:ext>
              </a:extLst>
            </p:cNvPr>
            <p:cNvSpPr/>
            <p:nvPr/>
          </p:nvSpPr>
          <p:spPr>
            <a:xfrm>
              <a:off x="10028048" y="6922468"/>
              <a:ext cx="6906103" cy="3175757"/>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C553C4B-22C9-4917-859E-96345FDF7721}"/>
                </a:ext>
              </a:extLst>
            </p:cNvPr>
            <p:cNvSpPr txBox="1"/>
            <p:nvPr/>
          </p:nvSpPr>
          <p:spPr>
            <a:xfrm>
              <a:off x="10029309" y="7168648"/>
              <a:ext cx="6906103" cy="299487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b="1"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Voie froide </a:t>
              </a:r>
              <a:r>
                <a:rPr kumimoji="0" lang="fr-FR"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 Rétrospective : achemine chaque événement via </a:t>
              </a:r>
              <a:r>
                <a:rPr kumimoji="0" lang="fr-FR" sz="2800" i="0" u="none" strike="noStrike" kern="1200" cap="none" spc="0" normalizeH="0" baseline="0" noProof="0" err="1">
                  <a:ln>
                    <a:noFill/>
                  </a:ln>
                  <a:solidFill>
                    <a:schemeClr val="bg1"/>
                  </a:solidFill>
                  <a:effectLst/>
                  <a:uLnTx/>
                  <a:uFillTx/>
                  <a:latin typeface="Times New Roman" panose="02020603050405020304" pitchFamily="18" charset="0"/>
                  <a:ea typeface="+mn-ea"/>
                  <a:cs typeface="Times New Roman" panose="02020603050405020304" pitchFamily="18" charset="0"/>
                </a:rPr>
                <a:t>Filebeat</a:t>
              </a:r>
              <a:r>
                <a:rPr kumimoji="0" lang="fr-FR"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 et </a:t>
              </a:r>
              <a:r>
                <a:rPr kumimoji="0" lang="fr-FR" sz="2800" i="0" u="none" strike="noStrike" kern="1200" cap="none" spc="0" normalizeH="0" baseline="0" noProof="0" err="1">
                  <a:ln>
                    <a:noFill/>
                  </a:ln>
                  <a:solidFill>
                    <a:schemeClr val="bg1"/>
                  </a:solidFill>
                  <a:effectLst/>
                  <a:uLnTx/>
                  <a:uFillTx/>
                  <a:latin typeface="Times New Roman" panose="02020603050405020304" pitchFamily="18" charset="0"/>
                  <a:ea typeface="+mn-ea"/>
                  <a:cs typeface="Times New Roman" panose="02020603050405020304" pitchFamily="18" charset="0"/>
                </a:rPr>
                <a:t>Logstash</a:t>
              </a:r>
              <a:r>
                <a:rPr kumimoji="0" lang="fr-FR"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 vers </a:t>
              </a:r>
              <a:r>
                <a:rPr kumimoji="0" lang="fr-FR" sz="2800" i="0" u="none" strike="noStrike" kern="1200" cap="none" spc="0" normalizeH="0" baseline="0" noProof="0" err="1">
                  <a:ln>
                    <a:noFill/>
                  </a:ln>
                  <a:solidFill>
                    <a:schemeClr val="bg1"/>
                  </a:solidFill>
                  <a:effectLst/>
                  <a:uLnTx/>
                  <a:uFillTx/>
                  <a:latin typeface="Times New Roman" panose="02020603050405020304" pitchFamily="18" charset="0"/>
                  <a:ea typeface="+mn-ea"/>
                  <a:cs typeface="Times New Roman" panose="02020603050405020304" pitchFamily="18" charset="0"/>
                </a:rPr>
                <a:t>Elasticsearch</a:t>
              </a:r>
              <a:r>
                <a:rPr kumimoji="0" lang="fr-FR"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 où il est enrichi (</a:t>
              </a:r>
              <a:r>
                <a:rPr kumimoji="0" lang="fr-FR" sz="2800" i="0" u="none" strike="noStrike" kern="1200" cap="none" spc="0" normalizeH="0" baseline="0" noProof="0" err="1">
                  <a:ln>
                    <a:noFill/>
                  </a:ln>
                  <a:solidFill>
                    <a:schemeClr val="bg1"/>
                  </a:solidFill>
                  <a:effectLst/>
                  <a:uLnTx/>
                  <a:uFillTx/>
                  <a:latin typeface="Times New Roman" panose="02020603050405020304" pitchFamily="18" charset="0"/>
                  <a:ea typeface="+mn-ea"/>
                  <a:cs typeface="Times New Roman" panose="02020603050405020304" pitchFamily="18" charset="0"/>
                </a:rPr>
                <a:t>GeoIP</a:t>
              </a:r>
              <a:r>
                <a:rPr kumimoji="0" lang="fr-FR"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et indexé pour l’audit forensique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et la supervision </a:t>
              </a:r>
              <a:r>
                <a:rPr kumimoji="0" lang="fr-FR" sz="2800" i="0" u="none" strike="noStrike" kern="1200" cap="none" spc="0" normalizeH="0" baseline="0" noProof="0" err="1">
                  <a:ln>
                    <a:noFill/>
                  </a:ln>
                  <a:solidFill>
                    <a:schemeClr val="bg1"/>
                  </a:solidFill>
                  <a:effectLst/>
                  <a:uLnTx/>
                  <a:uFillTx/>
                  <a:latin typeface="Times New Roman" panose="02020603050405020304" pitchFamily="18" charset="0"/>
                  <a:ea typeface="+mn-ea"/>
                  <a:cs typeface="Times New Roman" panose="02020603050405020304" pitchFamily="18" charset="0"/>
                </a:rPr>
                <a:t>Kibana</a:t>
              </a:r>
              <a:r>
                <a:rPr kumimoji="0" lang="fr-FR"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rPr>
                <a:t>, sans contrainte de latence.</a:t>
              </a:r>
              <a:endParaRPr kumimoji="0" lang="en-US" sz="2800" i="0" u="none" strike="noStrike" kern="1200" cap="none" spc="0" normalizeH="0" baseline="0" noProof="0">
                <a:ln>
                  <a:noFill/>
                </a:ln>
                <a:solidFill>
                  <a:schemeClr val="bg1"/>
                </a:solidFill>
                <a:effectLst/>
                <a:uLnTx/>
                <a:uFillTx/>
                <a:latin typeface="Times New Roman" panose="02020603050405020304" pitchFamily="18" charset="0"/>
                <a:ea typeface="+mn-ea"/>
                <a:cs typeface="Times New Roman" panose="02020603050405020304" pitchFamily="18" charset="0"/>
              </a:endParaRPr>
            </a:p>
          </p:txBody>
        </p:sp>
      </p:grpSp>
    </p:spTree>
    <p:extLst>
      <p:ext uri="{BB962C8B-B14F-4D97-AF65-F5344CB8AC3E}">
        <p14:creationId xmlns:p14="http://schemas.microsoft.com/office/powerpoint/2010/main" val="3076679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FA320-BEDF-D5FA-EB01-9D0AF34A62B6}"/>
            </a:ext>
          </a:extLst>
        </p:cNvPr>
        <p:cNvGrpSpPr/>
        <p:nvPr/>
      </p:nvGrpSpPr>
      <p:grpSpPr>
        <a:xfrm>
          <a:off x="0" y="0"/>
          <a:ext cx="0" cy="0"/>
          <a:chOff x="0" y="0"/>
          <a:chExt cx="0" cy="0"/>
        </a:xfrm>
      </p:grpSpPr>
      <p:grpSp>
        <p:nvGrpSpPr>
          <p:cNvPr id="51" name="Group 50">
            <a:extLst>
              <a:ext uri="{FF2B5EF4-FFF2-40B4-BE49-F238E27FC236}">
                <a16:creationId xmlns:a16="http://schemas.microsoft.com/office/drawing/2014/main" id="{DA9A73D0-58B2-0DB4-6F46-08609051DA1A}"/>
              </a:ext>
            </a:extLst>
          </p:cNvPr>
          <p:cNvGrpSpPr/>
          <p:nvPr/>
        </p:nvGrpSpPr>
        <p:grpSpPr>
          <a:xfrm>
            <a:off x="9952154" y="3414687"/>
            <a:ext cx="7467600" cy="3457622"/>
            <a:chOff x="9998741" y="1074344"/>
            <a:chExt cx="7467600" cy="3867240"/>
          </a:xfrm>
        </p:grpSpPr>
        <p:sp>
          <p:nvSpPr>
            <p:cNvPr id="52" name="Rectangle: Rounded Corners 51">
              <a:extLst>
                <a:ext uri="{FF2B5EF4-FFF2-40B4-BE49-F238E27FC236}">
                  <a16:creationId xmlns:a16="http://schemas.microsoft.com/office/drawing/2014/main" id="{9F728E75-E6AF-E62C-24D9-2244FEF57819}"/>
                </a:ext>
              </a:extLst>
            </p:cNvPr>
            <p:cNvSpPr/>
            <p:nvPr/>
          </p:nvSpPr>
          <p:spPr>
            <a:xfrm>
              <a:off x="9998741" y="1074344"/>
              <a:ext cx="7467600" cy="386724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53" name="TextBox 52">
              <a:extLst>
                <a:ext uri="{FF2B5EF4-FFF2-40B4-BE49-F238E27FC236}">
                  <a16:creationId xmlns:a16="http://schemas.microsoft.com/office/drawing/2014/main" id="{2D4F000D-2E99-7D69-DB10-EA371201C90C}"/>
                </a:ext>
              </a:extLst>
            </p:cNvPr>
            <p:cNvSpPr txBox="1"/>
            <p:nvPr/>
          </p:nvSpPr>
          <p:spPr>
            <a:xfrm>
              <a:off x="10213837" y="1272540"/>
              <a:ext cx="7037409" cy="310854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les couches LSTM capturent la dynamique séquentielle du trafic, tandis que la régularisation </a:t>
              </a:r>
              <a:r>
                <a:rPr kumimoji="0" lang="fr-FR" sz="2800" i="0" u="none" strike="noStrike" kern="1200" cap="none" spc="0" normalizeH="0" baseline="0" noProof="0" err="1">
                  <a:ln>
                    <a:noFill/>
                  </a:ln>
                  <a:solidFill>
                    <a:prstClr val="white"/>
                  </a:solidFill>
                  <a:effectLst/>
                  <a:uLnTx/>
                  <a:uFillTx/>
                  <a:latin typeface="Times New Roman" panose="02020603050405020304" pitchFamily="18" charset="0"/>
                  <a:ea typeface="+mn-ea"/>
                  <a:cs typeface="Times New Roman" panose="02020603050405020304" pitchFamily="18" charset="0"/>
                </a:rPr>
                <a:t>variationnelle</a:t>
              </a:r>
              <a:r>
                <a:rPr kumimoji="0" lang="fr-FR"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 (KL) force le modèle à apprendre une frontière de normalité généralisable.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L’anomalie se détecte par une erreur de reconstruction (MSE) élevée.</a:t>
              </a:r>
              <a:endParaRPr kumimoji="0" lang="en-US"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grpSp>
      <p:pic>
        <p:nvPicPr>
          <p:cNvPr id="4" name="Picture 3">
            <a:extLst>
              <a:ext uri="{FF2B5EF4-FFF2-40B4-BE49-F238E27FC236}">
                <a16:creationId xmlns:a16="http://schemas.microsoft.com/office/drawing/2014/main" id="{63C41E93-2F0E-C328-F6AA-E65BF283FD1D}"/>
              </a:ext>
            </a:extLst>
          </p:cNvPr>
          <p:cNvPicPr>
            <a:picLocks noChangeAspect="1"/>
          </p:cNvPicPr>
          <p:nvPr/>
        </p:nvPicPr>
        <p:blipFill>
          <a:blip r:embed="rId3" cstate="print">
            <a:extLst>
              <a:ext uri="{28A0092B-C50C-407E-A947-70E740481C1C}">
                <a14:useLocalDpi xmlns:a14="http://schemas.microsoft.com/office/drawing/2010/main" val="0"/>
              </a:ext>
            </a:extLst>
          </a:blip>
          <a:srcRect l="5245" t="11309" r="6838" b="3581"/>
          <a:stretch>
            <a:fillRect/>
          </a:stretch>
        </p:blipFill>
        <p:spPr>
          <a:xfrm>
            <a:off x="3660261" y="1445938"/>
            <a:ext cx="5483739" cy="8041597"/>
          </a:xfrm>
          <a:prstGeom prst="rect">
            <a:avLst/>
          </a:prstGeom>
        </p:spPr>
      </p:pic>
      <p:sp>
        <p:nvSpPr>
          <p:cNvPr id="7" name="TextBox 6">
            <a:extLst>
              <a:ext uri="{FF2B5EF4-FFF2-40B4-BE49-F238E27FC236}">
                <a16:creationId xmlns:a16="http://schemas.microsoft.com/office/drawing/2014/main" id="{C850043D-37D1-8499-01B6-220E7005900D}"/>
              </a:ext>
            </a:extLst>
          </p:cNvPr>
          <p:cNvSpPr txBox="1"/>
          <p:nvPr/>
        </p:nvSpPr>
        <p:spPr>
          <a:xfrm>
            <a:off x="3558060" y="800100"/>
            <a:ext cx="5814540" cy="553998"/>
          </a:xfrm>
          <a:prstGeom prst="rect">
            <a:avLst/>
          </a:prstGeom>
          <a:noFill/>
        </p:spPr>
        <p:txBody>
          <a:bodyPr wrap="none" rtlCol="0">
            <a:spAutoFit/>
          </a:bodyPr>
          <a:lstStyle/>
          <a:p>
            <a:r>
              <a:rPr lang="fr-FR" sz="3000">
                <a:latin typeface="Times New Roman" panose="02020603050405020304" pitchFamily="18" charset="0"/>
                <a:cs typeface="Times New Roman" panose="02020603050405020304" pitchFamily="18" charset="0"/>
              </a:rPr>
              <a:t>Architecture du modèle LSTM-VAE</a:t>
            </a:r>
            <a:endParaRPr lang="en-US" sz="3000">
              <a:latin typeface="Times New Roman" panose="02020603050405020304" pitchFamily="18" charset="0"/>
              <a:cs typeface="Times New Roman" panose="02020603050405020304" pitchFamily="18" charset="0"/>
            </a:endParaRPr>
          </a:p>
        </p:txBody>
      </p:sp>
      <p:sp>
        <p:nvSpPr>
          <p:cNvPr id="16" name="Rectangle 15">
            <a:extLst>
              <a:ext uri="{FF2B5EF4-FFF2-40B4-BE49-F238E27FC236}">
                <a16:creationId xmlns:a16="http://schemas.microsoft.com/office/drawing/2014/main" id="{C8219CF7-7862-834C-D258-48ADEE63082E}"/>
              </a:ext>
            </a:extLst>
          </p:cNvPr>
          <p:cNvSpPr/>
          <p:nvPr/>
        </p:nvSpPr>
        <p:spPr>
          <a:xfrm>
            <a:off x="0" y="-304801"/>
            <a:ext cx="2852107" cy="10896600"/>
          </a:xfrm>
          <a:prstGeom prst="rect">
            <a:avLst/>
          </a:prstGeom>
          <a:solidFill>
            <a:schemeClr val="bg1"/>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18" name="Rectangle: Rounded Corners 17">
            <a:extLst>
              <a:ext uri="{FF2B5EF4-FFF2-40B4-BE49-F238E27FC236}">
                <a16:creationId xmlns:a16="http://schemas.microsoft.com/office/drawing/2014/main" id="{A6849EF0-5F14-B039-50F9-7028C927EF9F}"/>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1</a:t>
            </a:r>
            <a:endParaRPr lang="en-US" sz="3000">
              <a:latin typeface="Times New Roman" panose="02020603050405020304" pitchFamily="18" charset="0"/>
              <a:cs typeface="Times New Roman" panose="02020603050405020304" pitchFamily="18" charset="0"/>
            </a:endParaRPr>
          </a:p>
        </p:txBody>
      </p:sp>
      <p:sp>
        <p:nvSpPr>
          <p:cNvPr id="20" name="TextBox 4">
            <a:extLst>
              <a:ext uri="{FF2B5EF4-FFF2-40B4-BE49-F238E27FC236}">
                <a16:creationId xmlns:a16="http://schemas.microsoft.com/office/drawing/2014/main" id="{CFCC04D1-15FD-0BCC-6ACE-698C73F2ADD8}"/>
              </a:ext>
            </a:extLst>
          </p:cNvPr>
          <p:cNvSpPr txBox="1"/>
          <p:nvPr/>
        </p:nvSpPr>
        <p:spPr>
          <a:xfrm rot="16200000">
            <a:off x="-2781752" y="4657137"/>
            <a:ext cx="6745560"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1 — Acquisition réseau</a:t>
            </a:r>
          </a:p>
        </p:txBody>
      </p:sp>
      <p:sp>
        <p:nvSpPr>
          <p:cNvPr id="22" name="TextBox 21">
            <a:extLst>
              <a:ext uri="{FF2B5EF4-FFF2-40B4-BE49-F238E27FC236}">
                <a16:creationId xmlns:a16="http://schemas.microsoft.com/office/drawing/2014/main" id="{D14E8C1D-CBA7-42C9-1D8E-5FA2FA01200D}"/>
              </a:ext>
            </a:extLst>
          </p:cNvPr>
          <p:cNvSpPr txBox="1"/>
          <p:nvPr/>
        </p:nvSpPr>
        <p:spPr>
          <a:xfrm rot="16200000">
            <a:off x="-3344778" y="3627446"/>
            <a:ext cx="8804944" cy="323165"/>
          </a:xfrm>
          <a:prstGeom prst="rect">
            <a:avLst/>
          </a:prstGeom>
          <a:noFill/>
        </p:spPr>
        <p:txBody>
          <a:bodyPr wrap="square" rtlCol="0">
            <a:spAutoFit/>
          </a:bodyPr>
          <a:lstStyle/>
          <a:p>
            <a:r>
              <a:rPr lang="en-US" sz="1500">
                <a:solidFill>
                  <a:srgbClr val="909090"/>
                </a:solidFill>
                <a:latin typeface="Times New Roman" panose="02020603050405020304" pitchFamily="18" charset="0"/>
                <a:cs typeface="Times New Roman" panose="02020603050405020304" pitchFamily="18" charset="0"/>
              </a:rPr>
              <a:t>Sprint 2 — Pipeline de données</a:t>
            </a:r>
          </a:p>
        </p:txBody>
      </p:sp>
      <p:sp>
        <p:nvSpPr>
          <p:cNvPr id="24" name="TextBox 23">
            <a:extLst>
              <a:ext uri="{FF2B5EF4-FFF2-40B4-BE49-F238E27FC236}">
                <a16:creationId xmlns:a16="http://schemas.microsoft.com/office/drawing/2014/main" id="{B826DF7B-26FA-F0CD-5538-ADDC7F22DD2A}"/>
              </a:ext>
            </a:extLst>
          </p:cNvPr>
          <p:cNvSpPr txBox="1"/>
          <p:nvPr/>
        </p:nvSpPr>
        <p:spPr>
          <a:xfrm rot="16200000">
            <a:off x="-2197121" y="5052545"/>
            <a:ext cx="8465625"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Sprint 3 — Détection </a:t>
            </a:r>
            <a:r>
              <a:rPr lang="en-US" sz="4000" dirty="0" err="1">
                <a:latin typeface="Times New Roman" panose="02020603050405020304" pitchFamily="18" charset="0"/>
                <a:cs typeface="Times New Roman" panose="02020603050405020304" pitchFamily="18" charset="0"/>
              </a:rPr>
              <a:t>comportementale</a:t>
            </a:r>
            <a:endParaRPr lang="en-US" sz="4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01283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6D7F7-FD00-ABB8-1E7F-8DBF7B6F3F7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D2EDA1B-2473-11DE-2235-0A90DC62AEB8}"/>
              </a:ext>
            </a:extLst>
          </p:cNvPr>
          <p:cNvSpPr txBox="1"/>
          <p:nvPr/>
        </p:nvSpPr>
        <p:spPr>
          <a:xfrm>
            <a:off x="7170065" y="710619"/>
            <a:ext cx="5859296"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Ingénierie des caractéristiques</a:t>
            </a:r>
            <a:endParaRPr lang="en-US" sz="3400" b="1">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CD5A44D2-F739-6F56-EE74-7EAD9B6A1872}"/>
              </a:ext>
            </a:extLst>
          </p:cNvPr>
          <p:cNvSpPr txBox="1"/>
          <p:nvPr/>
        </p:nvSpPr>
        <p:spPr>
          <a:xfrm>
            <a:off x="4749798" y="1616214"/>
            <a:ext cx="10363200" cy="707886"/>
          </a:xfrm>
          <a:prstGeom prst="rect">
            <a:avLst/>
          </a:prstGeom>
          <a:noFill/>
        </p:spPr>
        <p:txBody>
          <a:bodyPr wrap="square">
            <a:spAutoFit/>
          </a:bodyPr>
          <a:lstStyle/>
          <a:p>
            <a:pPr algn="ctr"/>
            <a:r>
              <a:rPr lang="en-US" sz="2000" b="1">
                <a:latin typeface="Times New Roman" panose="02020603050405020304" pitchFamily="18" charset="0"/>
                <a:cs typeface="Times New Roman" panose="02020603050405020304" pitchFamily="18" charset="0"/>
              </a:rPr>
              <a:t> Le score ANOVA</a:t>
            </a:r>
            <a:r>
              <a:rPr lang="en-US" sz="2000">
                <a:latin typeface="Times New Roman" panose="02020603050405020304" pitchFamily="18" charset="0"/>
                <a:cs typeface="Times New Roman" panose="02020603050405020304" pitchFamily="18" charset="0"/>
              </a:rPr>
              <a:t> (</a:t>
            </a:r>
            <a:r>
              <a:rPr lang="en-US" sz="2000" b="1">
                <a:latin typeface="Times New Roman" panose="02020603050405020304" pitchFamily="18" charset="0"/>
                <a:cs typeface="Times New Roman" panose="02020603050405020304" pitchFamily="18" charset="0"/>
              </a:rPr>
              <a:t>An</a:t>
            </a:r>
            <a:r>
              <a:rPr lang="en-US" sz="2000">
                <a:latin typeface="Times New Roman" panose="02020603050405020304" pitchFamily="18" charset="0"/>
                <a:cs typeface="Times New Roman" panose="02020603050405020304" pitchFamily="18" charset="0"/>
              </a:rPr>
              <a:t>alysis </a:t>
            </a:r>
            <a:r>
              <a:rPr lang="en-US" sz="2000" b="1">
                <a:latin typeface="Times New Roman" panose="02020603050405020304" pitchFamily="18" charset="0"/>
                <a:cs typeface="Times New Roman" panose="02020603050405020304" pitchFamily="18" charset="0"/>
              </a:rPr>
              <a:t>Of</a:t>
            </a:r>
            <a:r>
              <a:rPr lang="en-US" sz="2000">
                <a:latin typeface="Times New Roman" panose="02020603050405020304" pitchFamily="18" charset="0"/>
                <a:cs typeface="Times New Roman" panose="02020603050405020304" pitchFamily="18" charset="0"/>
              </a:rPr>
              <a:t> </a:t>
            </a:r>
            <a:r>
              <a:rPr lang="en-US" sz="2000" b="1">
                <a:latin typeface="Times New Roman" panose="02020603050405020304" pitchFamily="18" charset="0"/>
                <a:cs typeface="Times New Roman" panose="02020603050405020304" pitchFamily="18" charset="0"/>
              </a:rPr>
              <a:t>Va</a:t>
            </a:r>
            <a:r>
              <a:rPr lang="en-US" sz="2000">
                <a:latin typeface="Times New Roman" panose="02020603050405020304" pitchFamily="18" charset="0"/>
                <a:cs typeface="Times New Roman" panose="02020603050405020304" pitchFamily="18" charset="0"/>
              </a:rPr>
              <a:t>riance), qui </a:t>
            </a:r>
            <a:r>
              <a:rPr lang="en-US" sz="2000" err="1">
                <a:latin typeface="Times New Roman" panose="02020603050405020304" pitchFamily="18" charset="0"/>
                <a:cs typeface="Times New Roman" panose="02020603050405020304" pitchFamily="18" charset="0"/>
              </a:rPr>
              <a:t>mesure</a:t>
            </a:r>
            <a:r>
              <a:rPr lang="en-US" sz="2000">
                <a:latin typeface="Times New Roman" panose="02020603050405020304" pitchFamily="18" charset="0"/>
                <a:cs typeface="Times New Roman" panose="02020603050405020304" pitchFamily="18" charset="0"/>
              </a:rPr>
              <a:t> la </a:t>
            </a:r>
            <a:r>
              <a:rPr lang="en-US" sz="2000" err="1">
                <a:latin typeface="Times New Roman" panose="02020603050405020304" pitchFamily="18" charset="0"/>
                <a:cs typeface="Times New Roman" panose="02020603050405020304" pitchFamily="18" charset="0"/>
              </a:rPr>
              <a:t>capacité</a:t>
            </a:r>
            <a:r>
              <a:rPr lang="en-US" sz="2000">
                <a:latin typeface="Times New Roman" panose="02020603050405020304" pitchFamily="18" charset="0"/>
                <a:cs typeface="Times New Roman" panose="02020603050405020304" pitchFamily="18" charset="0"/>
              </a:rPr>
              <a:t> de </a:t>
            </a:r>
            <a:r>
              <a:rPr lang="en-US" sz="2000" err="1">
                <a:latin typeface="Times New Roman" panose="02020603050405020304" pitchFamily="18" charset="0"/>
                <a:cs typeface="Times New Roman" panose="02020603050405020304" pitchFamily="18" charset="0"/>
              </a:rPr>
              <a:t>chaque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caractéristique</a:t>
            </a:r>
            <a:r>
              <a:rPr lang="en-US" sz="2000">
                <a:latin typeface="Times New Roman" panose="02020603050405020304" pitchFamily="18" charset="0"/>
                <a:cs typeface="Times New Roman" panose="02020603050405020304" pitchFamily="18" charset="0"/>
              </a:rPr>
              <a:t> à </a:t>
            </a:r>
            <a:r>
              <a:rPr lang="en-US" sz="2000" err="1">
                <a:latin typeface="Times New Roman" panose="02020603050405020304" pitchFamily="18" charset="0"/>
                <a:cs typeface="Times New Roman" panose="02020603050405020304" pitchFamily="18" charset="0"/>
              </a:rPr>
              <a:t>distinguer</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statistiquement</a:t>
            </a:r>
            <a:r>
              <a:rPr lang="en-US" sz="2000">
                <a:latin typeface="Times New Roman" panose="02020603050405020304" pitchFamily="18" charset="0"/>
                <a:cs typeface="Times New Roman" panose="02020603050405020304" pitchFamily="18" charset="0"/>
              </a:rPr>
              <a:t> le </a:t>
            </a:r>
            <a:r>
              <a:rPr lang="en-US" sz="2000" err="1">
                <a:latin typeface="Times New Roman" panose="02020603050405020304" pitchFamily="18" charset="0"/>
                <a:cs typeface="Times New Roman" panose="02020603050405020304" pitchFamily="18" charset="0"/>
              </a:rPr>
              <a:t>trafic</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bénin</a:t>
            </a:r>
            <a:r>
              <a:rPr lang="en-US" sz="2000">
                <a:latin typeface="Times New Roman" panose="02020603050405020304" pitchFamily="18" charset="0"/>
                <a:cs typeface="Times New Roman" panose="02020603050405020304" pitchFamily="18" charset="0"/>
              </a:rPr>
              <a:t> du </a:t>
            </a:r>
            <a:r>
              <a:rPr lang="en-US" sz="2000" err="1">
                <a:latin typeface="Times New Roman" panose="02020603050405020304" pitchFamily="18" charset="0"/>
                <a:cs typeface="Times New Roman" panose="02020603050405020304" pitchFamily="18" charset="0"/>
              </a:rPr>
              <a:t>trafic</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malveillant</a:t>
            </a:r>
            <a:r>
              <a:rPr lang="en-US" sz="2000">
                <a:latin typeface="Times New Roman" panose="02020603050405020304" pitchFamily="18" charset="0"/>
                <a:cs typeface="Times New Roman" panose="02020603050405020304" pitchFamily="18" charset="0"/>
              </a:rPr>
              <a:t>.</a:t>
            </a:r>
          </a:p>
        </p:txBody>
      </p:sp>
      <p:grpSp>
        <p:nvGrpSpPr>
          <p:cNvPr id="15" name="Group 14">
            <a:extLst>
              <a:ext uri="{FF2B5EF4-FFF2-40B4-BE49-F238E27FC236}">
                <a16:creationId xmlns:a16="http://schemas.microsoft.com/office/drawing/2014/main" id="{626288AE-67B0-D331-0DDF-08479747D132}"/>
              </a:ext>
            </a:extLst>
          </p:cNvPr>
          <p:cNvGrpSpPr/>
          <p:nvPr/>
        </p:nvGrpSpPr>
        <p:grpSpPr>
          <a:xfrm>
            <a:off x="3513086" y="3896510"/>
            <a:ext cx="5630914" cy="1143000"/>
            <a:chOff x="3944568" y="2857500"/>
            <a:chExt cx="5630914" cy="1143000"/>
          </a:xfrm>
        </p:grpSpPr>
        <p:sp>
          <p:nvSpPr>
            <p:cNvPr id="12" name="Rectangle: Rounded Corners 11">
              <a:extLst>
                <a:ext uri="{FF2B5EF4-FFF2-40B4-BE49-F238E27FC236}">
                  <a16:creationId xmlns:a16="http://schemas.microsoft.com/office/drawing/2014/main" id="{3D073489-49ED-C3E8-3D5A-F5AA36C9B90C}"/>
                </a:ext>
              </a:extLst>
            </p:cNvPr>
            <p:cNvSpPr/>
            <p:nvPr/>
          </p:nvSpPr>
          <p:spPr>
            <a:xfrm>
              <a:off x="3944568" y="2857500"/>
              <a:ext cx="5630914" cy="11430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B8A32D81-23F4-6C23-8E47-72EFAD7D2BA0}"/>
                </a:ext>
              </a:extLst>
            </p:cNvPr>
            <p:cNvSpPr txBox="1"/>
            <p:nvPr/>
          </p:nvSpPr>
          <p:spPr>
            <a:xfrm>
              <a:off x="4363073" y="3033897"/>
              <a:ext cx="4760145" cy="76944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Nettoyage</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2000">
                  <a:solidFill>
                    <a:prstClr val="white"/>
                  </a:solidFill>
                  <a:latin typeface="Times New Roman" panose="02020603050405020304" pitchFamily="18" charset="0"/>
                  <a:cs typeface="Times New Roman" panose="02020603050405020304" pitchFamily="18" charset="0"/>
                </a:rPr>
                <a:t>( Valeur NaN / infinies écartés )</a:t>
              </a:r>
              <a:endParaRPr kumimoji="0" lang="en-US" sz="20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grpSp>
      <p:grpSp>
        <p:nvGrpSpPr>
          <p:cNvPr id="16" name="Group 15">
            <a:extLst>
              <a:ext uri="{FF2B5EF4-FFF2-40B4-BE49-F238E27FC236}">
                <a16:creationId xmlns:a16="http://schemas.microsoft.com/office/drawing/2014/main" id="{EEE27F4B-53A9-123F-2E02-98890DA0C74D}"/>
              </a:ext>
            </a:extLst>
          </p:cNvPr>
          <p:cNvGrpSpPr/>
          <p:nvPr/>
        </p:nvGrpSpPr>
        <p:grpSpPr>
          <a:xfrm>
            <a:off x="3513086" y="5700021"/>
            <a:ext cx="5630914" cy="1143000"/>
            <a:chOff x="3944568" y="2857500"/>
            <a:chExt cx="5630914" cy="1143000"/>
          </a:xfrm>
        </p:grpSpPr>
        <p:sp>
          <p:nvSpPr>
            <p:cNvPr id="17" name="Rectangle: Rounded Corners 16">
              <a:extLst>
                <a:ext uri="{FF2B5EF4-FFF2-40B4-BE49-F238E27FC236}">
                  <a16:creationId xmlns:a16="http://schemas.microsoft.com/office/drawing/2014/main" id="{17BA8849-E15F-33E6-9AC2-AE7AA8904E1D}"/>
                </a:ext>
              </a:extLst>
            </p:cNvPr>
            <p:cNvSpPr/>
            <p:nvPr/>
          </p:nvSpPr>
          <p:spPr>
            <a:xfrm>
              <a:off x="3944568" y="2857500"/>
              <a:ext cx="5630914" cy="11430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BE55124C-DDF7-3692-648D-28A78CD02D08}"/>
                </a:ext>
              </a:extLst>
            </p:cNvPr>
            <p:cNvSpPr txBox="1"/>
            <p:nvPr/>
          </p:nvSpPr>
          <p:spPr>
            <a:xfrm>
              <a:off x="4114759" y="3008343"/>
              <a:ext cx="5257841" cy="76944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Sélection équilibrée</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2000">
                  <a:solidFill>
                    <a:prstClr val="white"/>
                  </a:solidFill>
                  <a:latin typeface="Times New Roman" panose="02020603050405020304" pitchFamily="18" charset="0"/>
                  <a:cs typeface="Times New Roman" panose="02020603050405020304" pitchFamily="18" charset="0"/>
                </a:rPr>
                <a:t>( 16 caractéristiques, ANOVA par type d’attaque )</a:t>
              </a:r>
              <a:endParaRPr kumimoji="0" lang="en-US" sz="20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grpSp>
      <p:grpSp>
        <p:nvGrpSpPr>
          <p:cNvPr id="19" name="Group 18">
            <a:extLst>
              <a:ext uri="{FF2B5EF4-FFF2-40B4-BE49-F238E27FC236}">
                <a16:creationId xmlns:a16="http://schemas.microsoft.com/office/drawing/2014/main" id="{E5128517-91EB-DAC7-197F-E1E5FF26351F}"/>
              </a:ext>
            </a:extLst>
          </p:cNvPr>
          <p:cNvGrpSpPr/>
          <p:nvPr/>
        </p:nvGrpSpPr>
        <p:grpSpPr>
          <a:xfrm>
            <a:off x="3513086" y="7503532"/>
            <a:ext cx="5630914" cy="1143000"/>
            <a:chOff x="3944568" y="2857500"/>
            <a:chExt cx="5630914" cy="1143000"/>
          </a:xfrm>
        </p:grpSpPr>
        <p:sp>
          <p:nvSpPr>
            <p:cNvPr id="20" name="Rectangle: Rounded Corners 19">
              <a:extLst>
                <a:ext uri="{FF2B5EF4-FFF2-40B4-BE49-F238E27FC236}">
                  <a16:creationId xmlns:a16="http://schemas.microsoft.com/office/drawing/2014/main" id="{BDDDB508-AB73-F3E3-8BCA-42D17CFE0B86}"/>
                </a:ext>
              </a:extLst>
            </p:cNvPr>
            <p:cNvSpPr/>
            <p:nvPr/>
          </p:nvSpPr>
          <p:spPr>
            <a:xfrm>
              <a:off x="3944568" y="2857500"/>
              <a:ext cx="5630914" cy="11430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21" name="TextBox 20">
              <a:extLst>
                <a:ext uri="{FF2B5EF4-FFF2-40B4-BE49-F238E27FC236}">
                  <a16:creationId xmlns:a16="http://schemas.microsoft.com/office/drawing/2014/main" id="{3219A29E-185D-A3FA-77C3-4A4607109F20}"/>
                </a:ext>
              </a:extLst>
            </p:cNvPr>
            <p:cNvSpPr txBox="1"/>
            <p:nvPr/>
          </p:nvSpPr>
          <p:spPr>
            <a:xfrm>
              <a:off x="4114759" y="3008343"/>
              <a:ext cx="5257841" cy="76944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Normalisation </a:t>
              </a:r>
              <a:r>
                <a:rPr kumimoji="0" lang="fr-FR" sz="2400" i="0" u="none" strike="noStrike" kern="1200" cap="none" spc="0" normalizeH="0" baseline="0" noProof="0" err="1">
                  <a:ln>
                    <a:noFill/>
                  </a:ln>
                  <a:solidFill>
                    <a:prstClr val="white"/>
                  </a:solidFill>
                  <a:effectLst/>
                  <a:uLnTx/>
                  <a:uFillTx/>
                  <a:latin typeface="Times New Roman" panose="02020603050405020304" pitchFamily="18" charset="0"/>
                  <a:ea typeface="+mn-ea"/>
                  <a:cs typeface="Times New Roman" panose="02020603050405020304" pitchFamily="18" charset="0"/>
                </a:rPr>
                <a:t>MinMax</a:t>
              </a:r>
              <a:endParaRPr kumimoji="0" lang="fr-FR"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fr-FR" sz="2000">
                  <a:solidFill>
                    <a:prstClr val="white"/>
                  </a:solidFill>
                  <a:latin typeface="Times New Roman" panose="02020603050405020304" pitchFamily="18" charset="0"/>
                  <a:cs typeface="Times New Roman" panose="02020603050405020304" pitchFamily="18" charset="0"/>
                </a:rPr>
                <a:t>( Intervalle [0,1] )</a:t>
              </a:r>
              <a:endParaRPr kumimoji="0" lang="en-US" sz="20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grpSp>
      <p:cxnSp>
        <p:nvCxnSpPr>
          <p:cNvPr id="23" name="Straight Arrow Connector 22">
            <a:extLst>
              <a:ext uri="{FF2B5EF4-FFF2-40B4-BE49-F238E27FC236}">
                <a16:creationId xmlns:a16="http://schemas.microsoft.com/office/drawing/2014/main" id="{47969BE0-CFA2-5004-0F0D-BA296A53AEEF}"/>
              </a:ext>
            </a:extLst>
          </p:cNvPr>
          <p:cNvCxnSpPr>
            <a:cxnSpLocks/>
            <a:stCxn id="12" idx="2"/>
            <a:endCxn id="17" idx="0"/>
          </p:cNvCxnSpPr>
          <p:nvPr/>
        </p:nvCxnSpPr>
        <p:spPr>
          <a:xfrm>
            <a:off x="6328543" y="5039510"/>
            <a:ext cx="0" cy="6605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77F02021-55F5-56E4-4A7D-FBD7D997651B}"/>
              </a:ext>
            </a:extLst>
          </p:cNvPr>
          <p:cNvCxnSpPr>
            <a:cxnSpLocks/>
            <a:stCxn id="17" idx="2"/>
            <a:endCxn id="20" idx="0"/>
          </p:cNvCxnSpPr>
          <p:nvPr/>
        </p:nvCxnSpPr>
        <p:spPr>
          <a:xfrm>
            <a:off x="6328543" y="6843021"/>
            <a:ext cx="0" cy="6605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30" name="Picture 29">
            <a:extLst>
              <a:ext uri="{FF2B5EF4-FFF2-40B4-BE49-F238E27FC236}">
                <a16:creationId xmlns:a16="http://schemas.microsoft.com/office/drawing/2014/main" id="{EEBF9591-CD6A-8075-929C-2FC11A80DAAB}"/>
              </a:ext>
            </a:extLst>
          </p:cNvPr>
          <p:cNvPicPr>
            <a:picLocks noChangeAspect="1"/>
          </p:cNvPicPr>
          <p:nvPr/>
        </p:nvPicPr>
        <p:blipFill>
          <a:blip r:embed="rId3">
            <a:extLst>
              <a:ext uri="{28A0092B-C50C-407E-A947-70E740481C1C}">
                <a14:useLocalDpi xmlns:a14="http://schemas.microsoft.com/office/drawing/2010/main" val="0"/>
              </a:ext>
            </a:extLst>
          </a:blip>
          <a:srcRect b="19367"/>
          <a:stretch>
            <a:fillRect/>
          </a:stretch>
        </p:blipFill>
        <p:spPr>
          <a:xfrm>
            <a:off x="9304606" y="3390900"/>
            <a:ext cx="8952914" cy="5601984"/>
          </a:xfrm>
          <a:prstGeom prst="rect">
            <a:avLst/>
          </a:prstGeom>
        </p:spPr>
      </p:pic>
      <p:sp>
        <p:nvSpPr>
          <p:cNvPr id="27" name="Rectangle 26">
            <a:extLst>
              <a:ext uri="{FF2B5EF4-FFF2-40B4-BE49-F238E27FC236}">
                <a16:creationId xmlns:a16="http://schemas.microsoft.com/office/drawing/2014/main" id="{4B726624-DA85-7929-2F81-08D42D3FF02B}"/>
              </a:ext>
            </a:extLst>
          </p:cNvPr>
          <p:cNvSpPr/>
          <p:nvPr/>
        </p:nvSpPr>
        <p:spPr>
          <a:xfrm>
            <a:off x="0" y="-304801"/>
            <a:ext cx="2852107" cy="10896600"/>
          </a:xfrm>
          <a:prstGeom prst="rect">
            <a:avLst/>
          </a:prstGeom>
          <a:solidFill>
            <a:schemeClr val="bg1"/>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29" name="Rectangle: Rounded Corners 28">
            <a:extLst>
              <a:ext uri="{FF2B5EF4-FFF2-40B4-BE49-F238E27FC236}">
                <a16:creationId xmlns:a16="http://schemas.microsoft.com/office/drawing/2014/main" id="{7102539D-6A02-6353-797F-F0918B692E4C}"/>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1</a:t>
            </a:r>
            <a:endParaRPr lang="en-US" sz="3000">
              <a:latin typeface="Times New Roman" panose="02020603050405020304" pitchFamily="18" charset="0"/>
              <a:cs typeface="Times New Roman" panose="02020603050405020304" pitchFamily="18" charset="0"/>
            </a:endParaRPr>
          </a:p>
        </p:txBody>
      </p:sp>
      <p:sp>
        <p:nvSpPr>
          <p:cNvPr id="33" name="TextBox 4">
            <a:extLst>
              <a:ext uri="{FF2B5EF4-FFF2-40B4-BE49-F238E27FC236}">
                <a16:creationId xmlns:a16="http://schemas.microsoft.com/office/drawing/2014/main" id="{19C27823-8ED5-AF2A-8C43-0ECF47B55A5E}"/>
              </a:ext>
            </a:extLst>
          </p:cNvPr>
          <p:cNvSpPr txBox="1"/>
          <p:nvPr/>
        </p:nvSpPr>
        <p:spPr>
          <a:xfrm rot="16200000">
            <a:off x="-2781752" y="4657137"/>
            <a:ext cx="6745560"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1 — Acquisition réseau</a:t>
            </a:r>
          </a:p>
        </p:txBody>
      </p:sp>
      <p:sp>
        <p:nvSpPr>
          <p:cNvPr id="35" name="TextBox 34">
            <a:extLst>
              <a:ext uri="{FF2B5EF4-FFF2-40B4-BE49-F238E27FC236}">
                <a16:creationId xmlns:a16="http://schemas.microsoft.com/office/drawing/2014/main" id="{7B5F2997-A7F3-8C69-E25E-EA685C939318}"/>
              </a:ext>
            </a:extLst>
          </p:cNvPr>
          <p:cNvSpPr txBox="1"/>
          <p:nvPr/>
        </p:nvSpPr>
        <p:spPr>
          <a:xfrm rot="16200000">
            <a:off x="-3344778" y="3627446"/>
            <a:ext cx="8804944" cy="323165"/>
          </a:xfrm>
          <a:prstGeom prst="rect">
            <a:avLst/>
          </a:prstGeom>
          <a:noFill/>
        </p:spPr>
        <p:txBody>
          <a:bodyPr wrap="square" rtlCol="0">
            <a:spAutoFit/>
          </a:bodyPr>
          <a:lstStyle/>
          <a:p>
            <a:r>
              <a:rPr lang="en-US" sz="1500">
                <a:solidFill>
                  <a:srgbClr val="909090"/>
                </a:solidFill>
                <a:latin typeface="Times New Roman" panose="02020603050405020304" pitchFamily="18" charset="0"/>
                <a:cs typeface="Times New Roman" panose="02020603050405020304" pitchFamily="18" charset="0"/>
              </a:rPr>
              <a:t>Sprint 2 — Pipeline de données</a:t>
            </a:r>
          </a:p>
        </p:txBody>
      </p:sp>
      <p:sp>
        <p:nvSpPr>
          <p:cNvPr id="38" name="TextBox 37">
            <a:extLst>
              <a:ext uri="{FF2B5EF4-FFF2-40B4-BE49-F238E27FC236}">
                <a16:creationId xmlns:a16="http://schemas.microsoft.com/office/drawing/2014/main" id="{14482341-C8F6-B7FD-CA43-4A6ECAF6336C}"/>
              </a:ext>
            </a:extLst>
          </p:cNvPr>
          <p:cNvSpPr txBox="1"/>
          <p:nvPr/>
        </p:nvSpPr>
        <p:spPr>
          <a:xfrm rot="16200000">
            <a:off x="-2197121" y="5052545"/>
            <a:ext cx="8465625"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Sprint 3 — Détection </a:t>
            </a:r>
            <a:r>
              <a:rPr lang="en-US" sz="4000" dirty="0" err="1">
                <a:latin typeface="Times New Roman" panose="02020603050405020304" pitchFamily="18" charset="0"/>
                <a:cs typeface="Times New Roman" panose="02020603050405020304" pitchFamily="18" charset="0"/>
              </a:rPr>
              <a:t>comportementale</a:t>
            </a:r>
            <a:endParaRPr lang="en-US" sz="4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167473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6FE37-F6BF-5D57-1104-4E1119E2FDB5}"/>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4562E6AD-34C7-C413-C2FE-541A1ECC982C}"/>
              </a:ext>
            </a:extLst>
          </p:cNvPr>
          <p:cNvSpPr/>
          <p:nvPr/>
        </p:nvSpPr>
        <p:spPr>
          <a:xfrm>
            <a:off x="0" y="-304801"/>
            <a:ext cx="2852107" cy="10896600"/>
          </a:xfrm>
          <a:prstGeom prst="rect">
            <a:avLst/>
          </a:prstGeom>
          <a:solidFill>
            <a:schemeClr val="bg1"/>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84546918-6C94-C822-36CF-519E93BD2F8E}"/>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1</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D59FD41A-BC57-92E5-6629-09F8944F0527}"/>
              </a:ext>
            </a:extLst>
          </p:cNvPr>
          <p:cNvSpPr txBox="1"/>
          <p:nvPr/>
        </p:nvSpPr>
        <p:spPr>
          <a:xfrm rot="16200000">
            <a:off x="-2781752" y="4657137"/>
            <a:ext cx="6745560"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1 — Acquisition réseau</a:t>
            </a:r>
          </a:p>
        </p:txBody>
      </p:sp>
      <p:sp>
        <p:nvSpPr>
          <p:cNvPr id="3" name="TextBox 2">
            <a:extLst>
              <a:ext uri="{FF2B5EF4-FFF2-40B4-BE49-F238E27FC236}">
                <a16:creationId xmlns:a16="http://schemas.microsoft.com/office/drawing/2014/main" id="{437D234F-45B4-2BF6-B8EB-1230F78650C5}"/>
              </a:ext>
            </a:extLst>
          </p:cNvPr>
          <p:cNvSpPr txBox="1"/>
          <p:nvPr/>
        </p:nvSpPr>
        <p:spPr>
          <a:xfrm rot="16200000">
            <a:off x="-3344778" y="3627446"/>
            <a:ext cx="8804944" cy="323165"/>
          </a:xfrm>
          <a:prstGeom prst="rect">
            <a:avLst/>
          </a:prstGeom>
          <a:noFill/>
        </p:spPr>
        <p:txBody>
          <a:bodyPr wrap="square" rtlCol="0">
            <a:spAutoFit/>
          </a:bodyPr>
          <a:lstStyle/>
          <a:p>
            <a:r>
              <a:rPr lang="en-US" sz="1500">
                <a:solidFill>
                  <a:srgbClr val="909090"/>
                </a:solidFill>
                <a:latin typeface="Times New Roman" panose="02020603050405020304" pitchFamily="18" charset="0"/>
                <a:cs typeface="Times New Roman" panose="02020603050405020304" pitchFamily="18" charset="0"/>
              </a:rPr>
              <a:t>Sprint 2 — Pipeline de données</a:t>
            </a:r>
          </a:p>
        </p:txBody>
      </p:sp>
      <p:sp>
        <p:nvSpPr>
          <p:cNvPr id="5" name="TextBox 4">
            <a:extLst>
              <a:ext uri="{FF2B5EF4-FFF2-40B4-BE49-F238E27FC236}">
                <a16:creationId xmlns:a16="http://schemas.microsoft.com/office/drawing/2014/main" id="{B8D2829C-EC80-629C-1A88-92F59DA4BB90}"/>
              </a:ext>
            </a:extLst>
          </p:cNvPr>
          <p:cNvSpPr txBox="1"/>
          <p:nvPr/>
        </p:nvSpPr>
        <p:spPr>
          <a:xfrm rot="16200000">
            <a:off x="-2197121" y="5052545"/>
            <a:ext cx="8465625"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Sprint 3 — Détection </a:t>
            </a:r>
            <a:r>
              <a:rPr lang="en-US" sz="4000" dirty="0" err="1">
                <a:latin typeface="Times New Roman" panose="02020603050405020304" pitchFamily="18" charset="0"/>
                <a:cs typeface="Times New Roman" panose="02020603050405020304" pitchFamily="18" charset="0"/>
              </a:rPr>
              <a:t>comportementale</a:t>
            </a:r>
            <a:endParaRPr lang="en-US" sz="40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E3EB6836-974B-57CA-8FB6-C1002A47822F}"/>
              </a:ext>
            </a:extLst>
          </p:cNvPr>
          <p:cNvSpPr txBox="1"/>
          <p:nvPr/>
        </p:nvSpPr>
        <p:spPr>
          <a:xfrm>
            <a:off x="8498378" y="728872"/>
            <a:ext cx="3894015"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Calibration du seuil</a:t>
            </a:r>
            <a:endParaRPr lang="en-US" sz="3400" b="1">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8955EC5A-3094-7832-C376-30548E0733A2}"/>
              </a:ext>
            </a:extLst>
          </p:cNvPr>
          <p:cNvSpPr txBox="1"/>
          <p:nvPr/>
        </p:nvSpPr>
        <p:spPr>
          <a:xfrm>
            <a:off x="5263787" y="1616214"/>
            <a:ext cx="10363200" cy="707886"/>
          </a:xfrm>
          <a:prstGeom prst="rect">
            <a:avLst/>
          </a:prstGeom>
          <a:noFill/>
        </p:spPr>
        <p:txBody>
          <a:bodyPr wrap="square">
            <a:spAutoFit/>
          </a:bodyPr>
          <a:lstStyle/>
          <a:p>
            <a:pPr algn="ctr"/>
            <a:r>
              <a:rPr lang="en-US" sz="2000" b="1">
                <a:latin typeface="Times New Roman" panose="02020603050405020304" pitchFamily="18" charset="0"/>
                <a:cs typeface="Times New Roman" panose="02020603050405020304" pitchFamily="18" charset="0"/>
              </a:rPr>
              <a:t>La calibration du </a:t>
            </a:r>
            <a:r>
              <a:rPr lang="en-US" sz="2000" b="1" err="1">
                <a:latin typeface="Times New Roman" panose="02020603050405020304" pitchFamily="18" charset="0"/>
                <a:cs typeface="Times New Roman" panose="02020603050405020304" pitchFamily="18" charset="0"/>
              </a:rPr>
              <a:t>seuil</a:t>
            </a:r>
            <a:r>
              <a:rPr lang="en-US" sz="2000" b="1">
                <a:latin typeface="Times New Roman" panose="02020603050405020304" pitchFamily="18" charset="0"/>
                <a:cs typeface="Times New Roman" panose="02020603050405020304" pitchFamily="18" charset="0"/>
              </a:rPr>
              <a:t> τ</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détermine</a:t>
            </a:r>
            <a:r>
              <a:rPr lang="en-US" sz="2000">
                <a:latin typeface="Times New Roman" panose="02020603050405020304" pitchFamily="18" charset="0"/>
                <a:cs typeface="Times New Roman" panose="02020603050405020304" pitchFamily="18" charset="0"/>
              </a:rPr>
              <a:t>, à </a:t>
            </a:r>
            <a:r>
              <a:rPr lang="en-US" sz="2000" err="1">
                <a:latin typeface="Times New Roman" panose="02020603050405020304" pitchFamily="18" charset="0"/>
                <a:cs typeface="Times New Roman" panose="02020603050405020304" pitchFamily="18" charset="0"/>
              </a:rPr>
              <a:t>partir</a:t>
            </a:r>
            <a:r>
              <a:rPr lang="en-US" sz="2000">
                <a:latin typeface="Times New Roman" panose="02020603050405020304" pitchFamily="18" charset="0"/>
                <a:cs typeface="Times New Roman" panose="02020603050405020304" pitchFamily="18" charset="0"/>
              </a:rPr>
              <a:t> de </a:t>
            </a:r>
            <a:r>
              <a:rPr lang="en-US" sz="2000" err="1">
                <a:latin typeface="Times New Roman" panose="02020603050405020304" pitchFamily="18" charset="0"/>
                <a:cs typeface="Times New Roman" panose="02020603050405020304" pitchFamily="18" charset="0"/>
              </a:rPr>
              <a:t>l’erreur</a:t>
            </a:r>
            <a:r>
              <a:rPr lang="en-US" sz="2000">
                <a:latin typeface="Times New Roman" panose="02020603050405020304" pitchFamily="18" charset="0"/>
                <a:cs typeface="Times New Roman" panose="02020603050405020304" pitchFamily="18" charset="0"/>
              </a:rPr>
              <a:t> de reconstruction (MSE) </a:t>
            </a:r>
            <a:r>
              <a:rPr lang="en-US" sz="2000" err="1">
                <a:latin typeface="Times New Roman" panose="02020603050405020304" pitchFamily="18" charset="0"/>
                <a:cs typeface="Times New Roman" panose="02020603050405020304" pitchFamily="18" charset="0"/>
              </a:rPr>
              <a:t>mesurée</a:t>
            </a:r>
            <a:r>
              <a:rPr lang="en-US" sz="2000">
                <a:latin typeface="Times New Roman" panose="02020603050405020304" pitchFamily="18" charset="0"/>
                <a:cs typeface="Times New Roman" panose="02020603050405020304" pitchFamily="18" charset="0"/>
              </a:rPr>
              <a:t> sur le </a:t>
            </a:r>
            <a:r>
              <a:rPr lang="en-US" sz="2000" err="1">
                <a:latin typeface="Times New Roman" panose="02020603050405020304" pitchFamily="18" charset="0"/>
                <a:cs typeface="Times New Roman" panose="02020603050405020304" pitchFamily="18" charset="0"/>
              </a:rPr>
              <a:t>trafic</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bénin</a:t>
            </a:r>
            <a:r>
              <a:rPr lang="en-US" sz="2000">
                <a:latin typeface="Times New Roman" panose="02020603050405020304" pitchFamily="18" charset="0"/>
                <a:cs typeface="Times New Roman" panose="02020603050405020304" pitchFamily="18" charset="0"/>
              </a:rPr>
              <a:t> de validation, le point de bascule entre </a:t>
            </a:r>
            <a:r>
              <a:rPr lang="en-US" sz="2000" err="1">
                <a:latin typeface="Times New Roman" panose="02020603050405020304" pitchFamily="18" charset="0"/>
                <a:cs typeface="Times New Roman" panose="02020603050405020304" pitchFamily="18" charset="0"/>
              </a:rPr>
              <a:t>comportement</a:t>
            </a:r>
            <a:r>
              <a:rPr lang="en-US" sz="2000">
                <a:latin typeface="Times New Roman" panose="02020603050405020304" pitchFamily="18" charset="0"/>
                <a:cs typeface="Times New Roman" panose="02020603050405020304" pitchFamily="18" charset="0"/>
              </a:rPr>
              <a:t> normal et </a:t>
            </a:r>
            <a:r>
              <a:rPr lang="en-US" sz="2000" err="1">
                <a:latin typeface="Times New Roman" panose="02020603050405020304" pitchFamily="18" charset="0"/>
                <a:cs typeface="Times New Roman" panose="02020603050405020304" pitchFamily="18" charset="0"/>
              </a:rPr>
              <a:t>anomalie</a:t>
            </a:r>
            <a:r>
              <a:rPr lang="en-US" sz="2000">
                <a:latin typeface="Times New Roman" panose="02020603050405020304" pitchFamily="18" charset="0"/>
                <a:cs typeface="Times New Roman" panose="02020603050405020304" pitchFamily="18" charset="0"/>
              </a:rPr>
              <a:t>.</a:t>
            </a:r>
            <a:endParaRPr lang="en-US" sz="2000">
              <a:effectLst/>
              <a:latin typeface="Times New Roman" panose="02020603050405020304" pitchFamily="18" charset="0"/>
              <a:cs typeface="Times New Roman" panose="02020603050405020304" pitchFamily="18" charset="0"/>
            </a:endParaRPr>
          </a:p>
        </p:txBody>
      </p:sp>
      <p:grpSp>
        <p:nvGrpSpPr>
          <p:cNvPr id="15" name="Group 14">
            <a:extLst>
              <a:ext uri="{FF2B5EF4-FFF2-40B4-BE49-F238E27FC236}">
                <a16:creationId xmlns:a16="http://schemas.microsoft.com/office/drawing/2014/main" id="{43213074-D409-6BA8-4AF2-95409AEE8B94}"/>
              </a:ext>
            </a:extLst>
          </p:cNvPr>
          <p:cNvGrpSpPr/>
          <p:nvPr/>
        </p:nvGrpSpPr>
        <p:grpSpPr>
          <a:xfrm>
            <a:off x="5943600" y="2840252"/>
            <a:ext cx="4030714" cy="707886"/>
            <a:chOff x="3944568" y="2857500"/>
            <a:chExt cx="5630914" cy="707886"/>
          </a:xfrm>
        </p:grpSpPr>
        <p:sp>
          <p:nvSpPr>
            <p:cNvPr id="12" name="Rectangle: Rounded Corners 11">
              <a:extLst>
                <a:ext uri="{FF2B5EF4-FFF2-40B4-BE49-F238E27FC236}">
                  <a16:creationId xmlns:a16="http://schemas.microsoft.com/office/drawing/2014/main" id="{CB1394CD-8576-DF8A-0E39-B6DAA944192D}"/>
                </a:ext>
              </a:extLst>
            </p:cNvPr>
            <p:cNvSpPr/>
            <p:nvPr/>
          </p:nvSpPr>
          <p:spPr>
            <a:xfrm>
              <a:off x="3944568" y="2857500"/>
              <a:ext cx="5630914" cy="70788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7B67237A-7E21-8EE9-071E-5F564F467E6A}"/>
                </a:ext>
              </a:extLst>
            </p:cNvPr>
            <p:cNvSpPr txBox="1"/>
            <p:nvPr/>
          </p:nvSpPr>
          <p:spPr>
            <a:xfrm>
              <a:off x="4363073" y="2961490"/>
              <a:ext cx="4760145" cy="43088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2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Optimum F1: </a:t>
              </a:r>
              <a:r>
                <a:rPr kumimoji="0" lang="el-GR" sz="22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τ</a:t>
              </a:r>
              <a:r>
                <a:rPr kumimoji="0" lang="fr-FR" sz="22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 = 37,77</a:t>
              </a:r>
            </a:p>
          </p:txBody>
        </p:sp>
      </p:grpSp>
      <p:pic>
        <p:nvPicPr>
          <p:cNvPr id="6" name="Picture 5">
            <a:extLst>
              <a:ext uri="{FF2B5EF4-FFF2-40B4-BE49-F238E27FC236}">
                <a16:creationId xmlns:a16="http://schemas.microsoft.com/office/drawing/2014/main" id="{EA091C0D-C5BB-E27E-8665-38B5F89EC5F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480183" y="5525617"/>
            <a:ext cx="9930404" cy="3995936"/>
          </a:xfrm>
          <a:prstGeom prst="rect">
            <a:avLst/>
          </a:prstGeom>
        </p:spPr>
      </p:pic>
      <p:grpSp>
        <p:nvGrpSpPr>
          <p:cNvPr id="7" name="Group 6">
            <a:extLst>
              <a:ext uri="{FF2B5EF4-FFF2-40B4-BE49-F238E27FC236}">
                <a16:creationId xmlns:a16="http://schemas.microsoft.com/office/drawing/2014/main" id="{321B13C1-568D-4F0B-C323-BAE6791C4358}"/>
              </a:ext>
            </a:extLst>
          </p:cNvPr>
          <p:cNvGrpSpPr/>
          <p:nvPr/>
        </p:nvGrpSpPr>
        <p:grpSpPr>
          <a:xfrm>
            <a:off x="5931517" y="4053498"/>
            <a:ext cx="4030714" cy="707886"/>
            <a:chOff x="3944568" y="2857500"/>
            <a:chExt cx="5630914" cy="707886"/>
          </a:xfrm>
        </p:grpSpPr>
        <p:sp>
          <p:nvSpPr>
            <p:cNvPr id="9" name="Rectangle: Rounded Corners 8">
              <a:extLst>
                <a:ext uri="{FF2B5EF4-FFF2-40B4-BE49-F238E27FC236}">
                  <a16:creationId xmlns:a16="http://schemas.microsoft.com/office/drawing/2014/main" id="{A9A1E8F4-0EDE-C0B9-328C-747764C69F69}"/>
                </a:ext>
              </a:extLst>
            </p:cNvPr>
            <p:cNvSpPr/>
            <p:nvPr/>
          </p:nvSpPr>
          <p:spPr>
            <a:xfrm>
              <a:off x="3944568" y="2857500"/>
              <a:ext cx="5630914" cy="70788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283FAFD-18C5-B4ED-6306-DB31433FE24D}"/>
                    </a:ext>
                  </a:extLst>
                </p:cNvPr>
                <p:cNvSpPr txBox="1"/>
                <p:nvPr/>
              </p:nvSpPr>
              <p:spPr>
                <a:xfrm>
                  <a:off x="4363073" y="2961490"/>
                  <a:ext cx="4760145" cy="43088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𝜇</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+2</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𝜎</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𝜏</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=77,95</m:t>
                        </m:r>
                      </m:oMath>
                    </m:oMathPara>
                  </a14:m>
                  <a:endParaRPr kumimoji="0" lang="fr-FR" sz="22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mc:Choice>
          <mc:Fallback xmlns="">
            <p:sp>
              <p:nvSpPr>
                <p:cNvPr id="11" name="TextBox 10">
                  <a:extLst>
                    <a:ext uri="{FF2B5EF4-FFF2-40B4-BE49-F238E27FC236}">
                      <a16:creationId xmlns:a16="http://schemas.microsoft.com/office/drawing/2014/main" id="{4283FAFD-18C5-B4ED-6306-DB31433FE24D}"/>
                    </a:ext>
                  </a:extLst>
                </p:cNvPr>
                <p:cNvSpPr txBox="1">
                  <a:spLocks noRot="1" noChangeAspect="1" noMove="1" noResize="1" noEditPoints="1" noAdjustHandles="1" noChangeArrowheads="1" noChangeShapeType="1" noTextEdit="1"/>
                </p:cNvSpPr>
                <p:nvPr/>
              </p:nvSpPr>
              <p:spPr>
                <a:xfrm>
                  <a:off x="4363073" y="2961490"/>
                  <a:ext cx="4760145" cy="430887"/>
                </a:xfrm>
                <a:prstGeom prst="rect">
                  <a:avLst/>
                </a:prstGeom>
                <a:blipFill>
                  <a:blip r:embed="rId4"/>
                  <a:stretch>
                    <a:fillRect b="-8451"/>
                  </a:stretch>
                </a:blipFill>
              </p:spPr>
              <p:txBody>
                <a:bodyPr/>
                <a:lstStyle/>
                <a:p>
                  <a:r>
                    <a:rPr lang="en-US">
                      <a:noFill/>
                    </a:rPr>
                    <a:t> </a:t>
                  </a:r>
                </a:p>
              </p:txBody>
            </p:sp>
          </mc:Fallback>
        </mc:AlternateContent>
      </p:grpSp>
      <p:grpSp>
        <p:nvGrpSpPr>
          <p:cNvPr id="13" name="Group 12">
            <a:extLst>
              <a:ext uri="{FF2B5EF4-FFF2-40B4-BE49-F238E27FC236}">
                <a16:creationId xmlns:a16="http://schemas.microsoft.com/office/drawing/2014/main" id="{07BDA0DC-B027-58F4-46F2-DC1D54A7486C}"/>
              </a:ext>
            </a:extLst>
          </p:cNvPr>
          <p:cNvGrpSpPr/>
          <p:nvPr/>
        </p:nvGrpSpPr>
        <p:grpSpPr>
          <a:xfrm>
            <a:off x="11050753" y="2821131"/>
            <a:ext cx="4030714" cy="707886"/>
            <a:chOff x="3944568" y="2857500"/>
            <a:chExt cx="5630914" cy="707886"/>
          </a:xfrm>
        </p:grpSpPr>
        <p:sp>
          <p:nvSpPr>
            <p:cNvPr id="22" name="Rectangle: Rounded Corners 21">
              <a:extLst>
                <a:ext uri="{FF2B5EF4-FFF2-40B4-BE49-F238E27FC236}">
                  <a16:creationId xmlns:a16="http://schemas.microsoft.com/office/drawing/2014/main" id="{BCAC9C90-3C7D-47BB-4C9C-3175FB53C826}"/>
                </a:ext>
              </a:extLst>
            </p:cNvPr>
            <p:cNvSpPr/>
            <p:nvPr/>
          </p:nvSpPr>
          <p:spPr>
            <a:xfrm>
              <a:off x="3944568" y="2857500"/>
              <a:ext cx="5630914" cy="70788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EBFCC2FA-BE7F-669E-B40B-5038F7F7B3A0}"/>
                    </a:ext>
                  </a:extLst>
                </p:cNvPr>
                <p:cNvSpPr txBox="1"/>
                <p:nvPr/>
              </p:nvSpPr>
              <p:spPr>
                <a:xfrm>
                  <a:off x="4363073" y="3011388"/>
                  <a:ext cx="5114525" cy="400110"/>
                </a:xfrm>
                <a:prstGeom prst="rect">
                  <a:avLst/>
                </a:prstGeom>
                <a:noFill/>
              </p:spPr>
              <p:txBody>
                <a:bodyPr wrap="square" rtlCol="0">
                  <a:spAutoFit/>
                </a:bodyPr>
                <a:lstStyle/>
                <a:p>
                  <a:pPr lvl="0" algn="ctr">
                    <a:defRPr/>
                  </a:pPr>
                  <a14:m>
                    <m:oMathPara xmlns:m="http://schemas.openxmlformats.org/officeDocument/2006/math">
                      <m:oMath>
                        <m:r>
                          <a:rPr lang="fr-FR" sz="2000" b="1" i="1" dirty="0" smtClean="0">
                            <a:solidFill>
                              <a:prstClr val="white"/>
                            </a:solidFill>
                            <a:latin typeface="Cambria Math" panose="02040503050406030204" pitchFamily="18" charset="0"/>
                          </a:rPr>
                          <m:t>𝛍</m:t>
                        </m:r>
                        <m:r>
                          <a:rPr lang="fr-FR" sz="2000" b="1" dirty="0" smtClean="0">
                            <a:solidFill>
                              <a:prstClr val="white"/>
                            </a:solidFill>
                            <a:latin typeface="Cambria Math" panose="02040503050406030204" pitchFamily="18" charset="0"/>
                          </a:rPr>
                          <m:t>+</m:t>
                        </m:r>
                        <m:r>
                          <a:rPr lang="fr-FR" sz="2000" b="1" i="1" dirty="0" smtClean="0">
                            <a:solidFill>
                              <a:prstClr val="white"/>
                            </a:solidFill>
                            <a:latin typeface="Cambria Math" panose="02040503050406030204" pitchFamily="18" charset="0"/>
                          </a:rPr>
                          <m:t>𝟏</m:t>
                        </m:r>
                        <m:r>
                          <a:rPr lang="fr-FR" sz="2000" b="1" dirty="0" smtClean="0">
                            <a:solidFill>
                              <a:prstClr val="white"/>
                            </a:solidFill>
                            <a:latin typeface="Cambria Math" panose="02040503050406030204" pitchFamily="18" charset="0"/>
                          </a:rPr>
                          <m:t>,</m:t>
                        </m:r>
                        <m:r>
                          <a:rPr lang="fr-FR" sz="2000" b="1" i="1" dirty="0" smtClean="0">
                            <a:solidFill>
                              <a:prstClr val="white"/>
                            </a:solidFill>
                            <a:latin typeface="Cambria Math" panose="02040503050406030204" pitchFamily="18" charset="0"/>
                          </a:rPr>
                          <m:t>𝟓</m:t>
                        </m:r>
                        <m:r>
                          <a:rPr lang="fr-FR" sz="2000" b="1" i="1" dirty="0" smtClean="0">
                            <a:solidFill>
                              <a:prstClr val="white"/>
                            </a:solidFill>
                            <a:latin typeface="Cambria Math" panose="02040503050406030204" pitchFamily="18" charset="0"/>
                          </a:rPr>
                          <m:t>𝛔</m:t>
                        </m:r>
                        <m:r>
                          <a:rPr lang="fr-FR" sz="2000" b="1" i="0" dirty="0" smtClean="0">
                            <a:solidFill>
                              <a:prstClr val="white"/>
                            </a:solidFill>
                            <a:latin typeface="Cambria Math" panose="02040503050406030204" pitchFamily="18" charset="0"/>
                          </a:rPr>
                          <m:t> :</m:t>
                        </m:r>
                        <m:r>
                          <a:rPr lang="fr-FR" sz="2000" b="1" i="1" dirty="0">
                            <a:solidFill>
                              <a:prstClr val="white"/>
                            </a:solidFill>
                            <a:latin typeface="Cambria Math" panose="02040503050406030204" pitchFamily="18" charset="0"/>
                          </a:rPr>
                          <m:t>𝛕</m:t>
                        </m:r>
                        <m:r>
                          <a:rPr lang="fr-FR" sz="2000" b="1" i="0" dirty="0" smtClean="0">
                            <a:solidFill>
                              <a:prstClr val="white"/>
                            </a:solidFill>
                            <a:latin typeface="Cambria Math" panose="02040503050406030204" pitchFamily="18" charset="0"/>
                          </a:rPr>
                          <m:t>=</m:t>
                        </m:r>
                        <m:r>
                          <a:rPr lang="fr-FR" sz="2000" b="1" i="0" dirty="0" smtClean="0">
                            <a:solidFill>
                              <a:prstClr val="white"/>
                            </a:solidFill>
                            <a:latin typeface="Cambria Math" panose="02040503050406030204" pitchFamily="18" charset="0"/>
                          </a:rPr>
                          <m:t>𝟔𝟖</m:t>
                        </m:r>
                        <m:r>
                          <a:rPr lang="fr-FR" sz="2000" b="1" i="0" dirty="0" smtClean="0">
                            <a:solidFill>
                              <a:prstClr val="white"/>
                            </a:solidFill>
                            <a:latin typeface="Cambria Math" panose="02040503050406030204" pitchFamily="18" charset="0"/>
                          </a:rPr>
                          <m:t>,</m:t>
                        </m:r>
                        <m:r>
                          <a:rPr lang="fr-FR" sz="2000" b="1" i="0" dirty="0" smtClean="0">
                            <a:solidFill>
                              <a:prstClr val="white"/>
                            </a:solidFill>
                            <a:latin typeface="Cambria Math" panose="02040503050406030204" pitchFamily="18" charset="0"/>
                          </a:rPr>
                          <m:t>𝟏𝟐</m:t>
                        </m:r>
                        <m:r>
                          <a:rPr lang="fr-FR" sz="2000" b="1" i="0" dirty="0" smtClean="0">
                            <a:solidFill>
                              <a:prstClr val="white"/>
                            </a:solidFill>
                            <a:latin typeface="Cambria Math" panose="02040503050406030204" pitchFamily="18" charset="0"/>
                          </a:rPr>
                          <m:t> (</m:t>
                        </m:r>
                        <m:r>
                          <a:rPr lang="fr-FR" sz="2000" b="1" i="0" dirty="0" smtClean="0">
                            <a:solidFill>
                              <a:prstClr val="white"/>
                            </a:solidFill>
                            <a:latin typeface="Cambria Math" panose="02040503050406030204" pitchFamily="18" charset="0"/>
                          </a:rPr>
                          <m:t>𝐫𝐞𝐭𝐞𝐧𝐮</m:t>
                        </m:r>
                        <m:r>
                          <a:rPr lang="fr-FR" sz="2000" b="1" i="0" dirty="0" smtClean="0">
                            <a:solidFill>
                              <a:prstClr val="white"/>
                            </a:solidFill>
                            <a:latin typeface="Cambria Math" panose="02040503050406030204" pitchFamily="18" charset="0"/>
                          </a:rPr>
                          <m:t>)</m:t>
                        </m:r>
                      </m:oMath>
                    </m:oMathPara>
                  </a14:m>
                  <a:endParaRPr kumimoji="0" lang="fr-FR" sz="2000" b="1" i="0" u="none" strike="noStrike" kern="1200" cap="none" spc="0" normalizeH="0" baseline="0" noProof="0">
                    <a:ln>
                      <a:noFill/>
                    </a:ln>
                    <a:solidFill>
                      <a:prstClr val="white"/>
                    </a:solidFill>
                    <a:effectLst/>
                    <a:uLnTx/>
                    <a:uFillTx/>
                    <a:latin typeface="Times New Roman" panose="02020603050405020304" pitchFamily="18" charset="0"/>
                    <a:cs typeface="Times New Roman" panose="02020603050405020304" pitchFamily="18" charset="0"/>
                  </a:endParaRPr>
                </a:p>
              </p:txBody>
            </p:sp>
          </mc:Choice>
          <mc:Fallback xmlns="">
            <p:sp>
              <p:nvSpPr>
                <p:cNvPr id="24" name="TextBox 23">
                  <a:extLst>
                    <a:ext uri="{FF2B5EF4-FFF2-40B4-BE49-F238E27FC236}">
                      <a16:creationId xmlns:a16="http://schemas.microsoft.com/office/drawing/2014/main" id="{EBFCC2FA-BE7F-669E-B40B-5038F7F7B3A0}"/>
                    </a:ext>
                  </a:extLst>
                </p:cNvPr>
                <p:cNvSpPr txBox="1">
                  <a:spLocks noRot="1" noChangeAspect="1" noMove="1" noResize="1" noEditPoints="1" noAdjustHandles="1" noChangeArrowheads="1" noChangeShapeType="1" noTextEdit="1"/>
                </p:cNvSpPr>
                <p:nvPr/>
              </p:nvSpPr>
              <p:spPr>
                <a:xfrm>
                  <a:off x="4363073" y="3011388"/>
                  <a:ext cx="5114525" cy="400110"/>
                </a:xfrm>
                <a:prstGeom prst="rect">
                  <a:avLst/>
                </a:prstGeom>
                <a:blipFill>
                  <a:blip r:embed="rId5"/>
                  <a:stretch>
                    <a:fillRect l="-832" b="-16667"/>
                  </a:stretch>
                </a:blipFill>
              </p:spPr>
              <p:txBody>
                <a:bodyPr/>
                <a:lstStyle/>
                <a:p>
                  <a:r>
                    <a:rPr lang="en-US">
                      <a:noFill/>
                    </a:rPr>
                    <a:t> </a:t>
                  </a:r>
                </a:p>
              </p:txBody>
            </p:sp>
          </mc:Fallback>
        </mc:AlternateContent>
      </p:grpSp>
      <p:grpSp>
        <p:nvGrpSpPr>
          <p:cNvPr id="25" name="Group 24">
            <a:extLst>
              <a:ext uri="{FF2B5EF4-FFF2-40B4-BE49-F238E27FC236}">
                <a16:creationId xmlns:a16="http://schemas.microsoft.com/office/drawing/2014/main" id="{3EC63B5E-0C47-4569-E497-37A0C5ABC7FE}"/>
              </a:ext>
            </a:extLst>
          </p:cNvPr>
          <p:cNvGrpSpPr/>
          <p:nvPr/>
        </p:nvGrpSpPr>
        <p:grpSpPr>
          <a:xfrm>
            <a:off x="11050753" y="3978021"/>
            <a:ext cx="4030714" cy="707886"/>
            <a:chOff x="3944568" y="2857500"/>
            <a:chExt cx="5630914" cy="707886"/>
          </a:xfrm>
        </p:grpSpPr>
        <p:sp>
          <p:nvSpPr>
            <p:cNvPr id="27" name="Rectangle: Rounded Corners 26">
              <a:extLst>
                <a:ext uri="{FF2B5EF4-FFF2-40B4-BE49-F238E27FC236}">
                  <a16:creationId xmlns:a16="http://schemas.microsoft.com/office/drawing/2014/main" id="{4849B6E6-22A0-EC4E-0764-7536CED99E3D}"/>
                </a:ext>
              </a:extLst>
            </p:cNvPr>
            <p:cNvSpPr/>
            <p:nvPr/>
          </p:nvSpPr>
          <p:spPr>
            <a:xfrm>
              <a:off x="3944568" y="2857500"/>
              <a:ext cx="5630914" cy="70788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01B5BD1-5CB8-608E-EEE0-4B45B772224F}"/>
                    </a:ext>
                  </a:extLst>
                </p:cNvPr>
                <p:cNvSpPr txBox="1"/>
                <p:nvPr/>
              </p:nvSpPr>
              <p:spPr>
                <a:xfrm>
                  <a:off x="4363073" y="2961490"/>
                  <a:ext cx="4760145" cy="43088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𝜇</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+3</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𝜎</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𝜏</m:t>
                        </m:r>
                        <m:r>
                          <a:rPr kumimoji="0" lang="fr-FR" sz="2200" i="0" u="none" strike="noStrike" kern="1200" cap="none" spc="0" normalizeH="0" baseline="0" noProof="0" dirty="0" smtClean="0">
                            <a:ln>
                              <a:noFill/>
                            </a:ln>
                            <a:solidFill>
                              <a:prstClr val="white"/>
                            </a:solidFill>
                            <a:effectLst/>
                            <a:uLnTx/>
                            <a:uFillTx/>
                            <a:latin typeface="Cambria Math" panose="02040503050406030204" pitchFamily="18" charset="0"/>
                            <a:ea typeface="+mn-ea"/>
                          </a:rPr>
                          <m:t>=97,62</m:t>
                        </m:r>
                      </m:oMath>
                    </m:oMathPara>
                  </a14:m>
                  <a:endParaRPr kumimoji="0" lang="fr-FR" sz="22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mc:Choice>
          <mc:Fallback xmlns="">
            <p:sp>
              <p:nvSpPr>
                <p:cNvPr id="28" name="TextBox 27">
                  <a:extLst>
                    <a:ext uri="{FF2B5EF4-FFF2-40B4-BE49-F238E27FC236}">
                      <a16:creationId xmlns:a16="http://schemas.microsoft.com/office/drawing/2014/main" id="{A01B5BD1-5CB8-608E-EEE0-4B45B772224F}"/>
                    </a:ext>
                  </a:extLst>
                </p:cNvPr>
                <p:cNvSpPr txBox="1">
                  <a:spLocks noRot="1" noChangeAspect="1" noMove="1" noResize="1" noEditPoints="1" noAdjustHandles="1" noChangeArrowheads="1" noChangeShapeType="1" noTextEdit="1"/>
                </p:cNvSpPr>
                <p:nvPr/>
              </p:nvSpPr>
              <p:spPr>
                <a:xfrm>
                  <a:off x="4363073" y="2961490"/>
                  <a:ext cx="4760145" cy="430887"/>
                </a:xfrm>
                <a:prstGeom prst="rect">
                  <a:avLst/>
                </a:prstGeom>
                <a:blipFill>
                  <a:blip r:embed="rId6"/>
                  <a:stretch>
                    <a:fillRect b="-8571"/>
                  </a:stretch>
                </a:blipFill>
              </p:spPr>
              <p:txBody>
                <a:bodyPr/>
                <a:lstStyle/>
                <a:p>
                  <a:r>
                    <a:rPr lang="en-US">
                      <a:noFill/>
                    </a:rPr>
                    <a:t> </a:t>
                  </a:r>
                </a:p>
              </p:txBody>
            </p:sp>
          </mc:Fallback>
        </mc:AlternateContent>
      </p:grpSp>
    </p:spTree>
    <p:extLst>
      <p:ext uri="{BB962C8B-B14F-4D97-AF65-F5344CB8AC3E}">
        <p14:creationId xmlns:p14="http://schemas.microsoft.com/office/powerpoint/2010/main" val="41661684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1C970-996F-9F14-E7D0-592C9D379ED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52B24C-36E1-9211-D03A-9C8CED6945BB}"/>
              </a:ext>
            </a:extLst>
          </p:cNvPr>
          <p:cNvSpPr txBox="1"/>
          <p:nvPr/>
        </p:nvSpPr>
        <p:spPr>
          <a:xfrm>
            <a:off x="7141499" y="742585"/>
            <a:ext cx="6607771"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Évaluation du modèle LSTM-VAE</a:t>
            </a:r>
            <a:endParaRPr lang="en-US" sz="3400" b="1">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E876EA36-10D7-6170-B092-F24FAEF3F965}"/>
              </a:ext>
            </a:extLst>
          </p:cNvPr>
          <p:cNvSpPr txBox="1"/>
          <p:nvPr/>
        </p:nvSpPr>
        <p:spPr>
          <a:xfrm>
            <a:off x="5263787" y="1616214"/>
            <a:ext cx="10363200" cy="707886"/>
          </a:xfrm>
          <a:prstGeom prst="rect">
            <a:avLst/>
          </a:prstGeom>
          <a:noFill/>
        </p:spPr>
        <p:txBody>
          <a:bodyPr wrap="square">
            <a:spAutoFit/>
          </a:bodyPr>
          <a:lstStyle/>
          <a:p>
            <a:pPr algn="ctr"/>
            <a:r>
              <a:rPr lang="en-US" sz="2000" b="1" dirty="0"/>
              <a:t>Les deux architectures </a:t>
            </a:r>
            <a:r>
              <a:rPr lang="en-US" sz="2000" b="1" dirty="0" err="1"/>
              <a:t>ont</a:t>
            </a:r>
            <a:r>
              <a:rPr lang="en-US" sz="2000" b="1" dirty="0"/>
              <a:t> </a:t>
            </a:r>
            <a:r>
              <a:rPr lang="en-US" sz="2000" b="1" dirty="0" err="1"/>
              <a:t>été</a:t>
            </a:r>
            <a:r>
              <a:rPr lang="en-US" sz="2000" b="1" dirty="0"/>
              <a:t> </a:t>
            </a:r>
            <a:r>
              <a:rPr lang="en-US" sz="2000" b="1" dirty="0" err="1"/>
              <a:t>entraînées</a:t>
            </a:r>
            <a:r>
              <a:rPr lang="en-US" sz="2000" b="1" dirty="0"/>
              <a:t> et </a:t>
            </a:r>
            <a:r>
              <a:rPr lang="en-US" sz="2000" b="1" dirty="0" err="1"/>
              <a:t>évaluées</a:t>
            </a:r>
            <a:r>
              <a:rPr lang="en-US" sz="2000" b="1" dirty="0"/>
              <a:t> dans des conditions </a:t>
            </a:r>
            <a:r>
              <a:rPr lang="en-US" sz="2000" b="1" dirty="0" err="1"/>
              <a:t>strictement</a:t>
            </a:r>
            <a:r>
              <a:rPr lang="en-US" sz="2000" b="1" dirty="0"/>
              <a:t> </a:t>
            </a:r>
            <a:r>
              <a:rPr lang="en-US" sz="2000" b="1" dirty="0" err="1"/>
              <a:t>identiques</a:t>
            </a:r>
            <a:r>
              <a:rPr lang="en-US" sz="2000" dirty="0"/>
              <a:t> </a:t>
            </a:r>
            <a:r>
              <a:rPr lang="en-US" sz="2000" dirty="0" err="1"/>
              <a:t>mêmes</a:t>
            </a:r>
            <a:r>
              <a:rPr lang="en-US" sz="2000" dirty="0"/>
              <a:t> 16 </a:t>
            </a:r>
            <a:r>
              <a:rPr lang="en-US" sz="2000" dirty="0" err="1"/>
              <a:t>caractéristiques</a:t>
            </a:r>
            <a:r>
              <a:rPr lang="en-US" sz="2000" dirty="0"/>
              <a:t>, </a:t>
            </a:r>
            <a:r>
              <a:rPr lang="en-US" sz="2000" dirty="0" err="1"/>
              <a:t>même</a:t>
            </a:r>
            <a:r>
              <a:rPr lang="en-US" sz="2000" dirty="0"/>
              <a:t> jeu de données, </a:t>
            </a:r>
            <a:r>
              <a:rPr lang="en-US" sz="2000" dirty="0" err="1"/>
              <a:t>même</a:t>
            </a:r>
            <a:r>
              <a:rPr lang="en-US" sz="2000" dirty="0"/>
              <a:t> </a:t>
            </a:r>
            <a:r>
              <a:rPr lang="en-US" sz="2000" dirty="0" err="1"/>
              <a:t>méthodologie</a:t>
            </a:r>
            <a:r>
              <a:rPr lang="en-US" sz="2000" dirty="0"/>
              <a:t> de </a:t>
            </a:r>
            <a:r>
              <a:rPr lang="en-US" sz="2000" dirty="0" err="1"/>
              <a:t>seuil</a:t>
            </a:r>
            <a:r>
              <a:rPr lang="en-US" sz="2000" dirty="0"/>
              <a:t>.</a:t>
            </a:r>
            <a:endParaRPr lang="en-US" sz="2000" dirty="0">
              <a:effectLst/>
            </a:endParaRPr>
          </a:p>
        </p:txBody>
      </p:sp>
      <p:grpSp>
        <p:nvGrpSpPr>
          <p:cNvPr id="15" name="Group 14">
            <a:extLst>
              <a:ext uri="{FF2B5EF4-FFF2-40B4-BE49-F238E27FC236}">
                <a16:creationId xmlns:a16="http://schemas.microsoft.com/office/drawing/2014/main" id="{169B1A46-009C-FF8A-5FC3-4A3A21287114}"/>
              </a:ext>
            </a:extLst>
          </p:cNvPr>
          <p:cNvGrpSpPr/>
          <p:nvPr/>
        </p:nvGrpSpPr>
        <p:grpSpPr>
          <a:xfrm>
            <a:off x="5263784" y="7355783"/>
            <a:ext cx="10363200" cy="1962598"/>
            <a:chOff x="790380" y="625140"/>
            <a:chExt cx="8785102" cy="1962598"/>
          </a:xfrm>
        </p:grpSpPr>
        <p:sp>
          <p:nvSpPr>
            <p:cNvPr id="12" name="Rectangle: Rounded Corners 11">
              <a:extLst>
                <a:ext uri="{FF2B5EF4-FFF2-40B4-BE49-F238E27FC236}">
                  <a16:creationId xmlns:a16="http://schemas.microsoft.com/office/drawing/2014/main" id="{ABF3F38E-C32D-5C62-2C4A-F1C83D3711A5}"/>
                </a:ext>
              </a:extLst>
            </p:cNvPr>
            <p:cNvSpPr/>
            <p:nvPr/>
          </p:nvSpPr>
          <p:spPr>
            <a:xfrm>
              <a:off x="790380" y="625140"/>
              <a:ext cx="8785102" cy="19625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694539C8-C124-D5CE-9B26-6515A475E5AC}"/>
                </a:ext>
              </a:extLst>
            </p:cNvPr>
            <p:cNvSpPr txBox="1"/>
            <p:nvPr/>
          </p:nvSpPr>
          <p:spPr>
            <a:xfrm>
              <a:off x="917032" y="883164"/>
              <a:ext cx="8531792"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200" i="1"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Validation en conditions réelles (chaîne complète, 4 nœuds, 46 960 flux rejoués chronologiquement) : 6 attaques sur 6 détectées à 100 % des fenêtres, dont le brute-force SSH (Hydra) — angle mort de Suricata comblé par la détection comportementale. FPR réel : 0,18 % (contre 9,23 % en évaluation hors ligne).</a:t>
              </a:r>
            </a:p>
          </p:txBody>
        </p:sp>
      </p:grpSp>
      <p:graphicFrame>
        <p:nvGraphicFramePr>
          <p:cNvPr id="4" name="Table 3">
            <a:extLst>
              <a:ext uri="{FF2B5EF4-FFF2-40B4-BE49-F238E27FC236}">
                <a16:creationId xmlns:a16="http://schemas.microsoft.com/office/drawing/2014/main" id="{AEE15CB9-F096-8828-B336-8431BA35CB28}"/>
              </a:ext>
            </a:extLst>
          </p:cNvPr>
          <p:cNvGraphicFramePr>
            <a:graphicFrameLocks noGrp="1"/>
          </p:cNvGraphicFramePr>
          <p:nvPr>
            <p:extLst>
              <p:ext uri="{D42A27DB-BD31-4B8C-83A1-F6EECF244321}">
                <p14:modId xmlns:p14="http://schemas.microsoft.com/office/powerpoint/2010/main" val="2379715808"/>
              </p:ext>
            </p:extLst>
          </p:nvPr>
        </p:nvGraphicFramePr>
        <p:xfrm>
          <a:off x="6406780" y="3449575"/>
          <a:ext cx="8077200" cy="2940246"/>
        </p:xfrm>
        <a:graphic>
          <a:graphicData uri="http://schemas.openxmlformats.org/drawingml/2006/table">
            <a:tbl>
              <a:tblPr firstRow="1" bandRow="1">
                <a:tableStyleId>{5C22544A-7EE6-4342-B048-85BDC9FD1C3A}</a:tableStyleId>
              </a:tblPr>
              <a:tblGrid>
                <a:gridCol w="3460384">
                  <a:extLst>
                    <a:ext uri="{9D8B030D-6E8A-4147-A177-3AD203B41FA5}">
                      <a16:colId xmlns:a16="http://schemas.microsoft.com/office/drawing/2014/main" val="67450470"/>
                    </a:ext>
                  </a:extLst>
                </a:gridCol>
                <a:gridCol w="2026016">
                  <a:extLst>
                    <a:ext uri="{9D8B030D-6E8A-4147-A177-3AD203B41FA5}">
                      <a16:colId xmlns:a16="http://schemas.microsoft.com/office/drawing/2014/main" val="582604162"/>
                    </a:ext>
                  </a:extLst>
                </a:gridCol>
                <a:gridCol w="2590800">
                  <a:extLst>
                    <a:ext uri="{9D8B030D-6E8A-4147-A177-3AD203B41FA5}">
                      <a16:colId xmlns:a16="http://schemas.microsoft.com/office/drawing/2014/main" val="279402377"/>
                    </a:ext>
                  </a:extLst>
                </a:gridCol>
              </a:tblGrid>
              <a:tr h="715206">
                <a:tc>
                  <a:txBody>
                    <a:bodyPr/>
                    <a:lstStyle/>
                    <a:p>
                      <a:pPr algn="ctr">
                        <a:lnSpc>
                          <a:spcPct val="150000"/>
                        </a:lnSpc>
                      </a:pPr>
                      <a:r>
                        <a:rPr lang="fr-FR" sz="2200" dirty="0">
                          <a:latin typeface="Times New Roman" panose="02020603050405020304" pitchFamily="18" charset="0"/>
                          <a:cs typeface="Times New Roman" panose="02020603050405020304" pitchFamily="18" charset="0"/>
                        </a:rPr>
                        <a:t>Métrique</a:t>
                      </a:r>
                      <a:endParaRPr lang="en-US" sz="2200" dirty="0">
                        <a:latin typeface="Times New Roman" panose="02020603050405020304" pitchFamily="18" charset="0"/>
                        <a:cs typeface="Times New Roman" panose="02020603050405020304" pitchFamily="18" charset="0"/>
                      </a:endParaRPr>
                    </a:p>
                  </a:txBody>
                  <a:tcPr>
                    <a:lnB w="12700" cap="flat" cmpd="sng" algn="ctr">
                      <a:solidFill>
                        <a:schemeClr val="tx1"/>
                      </a:solidFill>
                      <a:prstDash val="solid"/>
                      <a:round/>
                      <a:headEnd type="none" w="med" len="med"/>
                      <a:tailEnd type="none" w="med" len="med"/>
                    </a:lnB>
                    <a:solidFill>
                      <a:srgbClr val="7030A0"/>
                    </a:solidFill>
                  </a:tcPr>
                </a:tc>
                <a:tc>
                  <a:txBody>
                    <a:bodyPr/>
                    <a:lstStyle/>
                    <a:p>
                      <a:pPr algn="ctr">
                        <a:lnSpc>
                          <a:spcPct val="150000"/>
                        </a:lnSpc>
                      </a:pPr>
                      <a:r>
                        <a:rPr lang="fr-FR" sz="2200">
                          <a:latin typeface="Times New Roman" panose="02020603050405020304" pitchFamily="18" charset="0"/>
                          <a:cs typeface="Times New Roman" panose="02020603050405020304" pitchFamily="18" charset="0"/>
                        </a:rPr>
                        <a:t>LSTM-VAE</a:t>
                      </a:r>
                      <a:endParaRPr lang="en-US" sz="2200">
                        <a:latin typeface="Times New Roman" panose="02020603050405020304" pitchFamily="18" charset="0"/>
                        <a:cs typeface="Times New Roman" panose="02020603050405020304" pitchFamily="18" charset="0"/>
                      </a:endParaRPr>
                    </a:p>
                  </a:txBody>
                  <a:tcPr>
                    <a:lnB w="12700" cap="flat" cmpd="sng" algn="ctr">
                      <a:solidFill>
                        <a:schemeClr val="tx1"/>
                      </a:solidFill>
                      <a:prstDash val="solid"/>
                      <a:round/>
                      <a:headEnd type="none" w="med" len="med"/>
                      <a:tailEnd type="none" w="med" len="med"/>
                    </a:lnB>
                    <a:solidFill>
                      <a:srgbClr val="7030A0"/>
                    </a:solidFill>
                  </a:tcPr>
                </a:tc>
                <a:tc>
                  <a:txBody>
                    <a:bodyPr/>
                    <a:lstStyle/>
                    <a:p>
                      <a:pPr algn="ctr">
                        <a:lnSpc>
                          <a:spcPct val="150000"/>
                        </a:lnSpc>
                      </a:pPr>
                      <a:r>
                        <a:rPr lang="fr-FR" sz="2200">
                          <a:latin typeface="Times New Roman" panose="02020603050405020304" pitchFamily="18" charset="0"/>
                          <a:cs typeface="Times New Roman" panose="02020603050405020304" pitchFamily="18" charset="0"/>
                        </a:rPr>
                        <a:t>Isolation Forest</a:t>
                      </a:r>
                      <a:endParaRPr lang="en-US" sz="2200">
                        <a:latin typeface="Times New Roman" panose="02020603050405020304" pitchFamily="18" charset="0"/>
                        <a:cs typeface="Times New Roman" panose="02020603050405020304" pitchFamily="18" charset="0"/>
                      </a:endParaRPr>
                    </a:p>
                  </a:txBody>
                  <a:tcPr>
                    <a:lnB w="12700" cap="flat" cmpd="sng" algn="ctr">
                      <a:solidFill>
                        <a:schemeClr val="tx1"/>
                      </a:solidFill>
                      <a:prstDash val="solid"/>
                      <a:round/>
                      <a:headEnd type="none" w="med" len="med"/>
                      <a:tailEnd type="none" w="med" len="med"/>
                    </a:lnB>
                    <a:solidFill>
                      <a:srgbClr val="7030A0"/>
                    </a:solidFill>
                  </a:tcPr>
                </a:tc>
                <a:extLst>
                  <a:ext uri="{0D108BD9-81ED-4DB2-BD59-A6C34878D82A}">
                    <a16:rowId xmlns:a16="http://schemas.microsoft.com/office/drawing/2014/main" val="1704367517"/>
                  </a:ext>
                </a:extLst>
              </a:tr>
              <a:tr h="370840">
                <a:tc>
                  <a:txBody>
                    <a:bodyPr/>
                    <a:lstStyle/>
                    <a:p>
                      <a:r>
                        <a:rPr lang="fr-FR" err="1">
                          <a:latin typeface="Times New Roman" panose="02020603050405020304" pitchFamily="18" charset="0"/>
                          <a:cs typeface="Times New Roman" panose="02020603050405020304" pitchFamily="18" charset="0"/>
                        </a:rPr>
                        <a:t>Recall</a:t>
                      </a:r>
                      <a:r>
                        <a:rPr lang="fr-FR">
                          <a:latin typeface="Times New Roman" panose="02020603050405020304" pitchFamily="18" charset="0"/>
                          <a:cs typeface="Times New Roman" panose="02020603050405020304" pitchFamily="18" charset="0"/>
                        </a:rPr>
                        <a:t> Global</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latin typeface="Times New Roman" panose="02020603050405020304" pitchFamily="18" charset="0"/>
                          <a:cs typeface="Times New Roman" panose="02020603050405020304" pitchFamily="18" charset="0"/>
                        </a:rPr>
                        <a:t>51,89 %</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latin typeface="Times New Roman" panose="02020603050405020304" pitchFamily="18" charset="0"/>
                          <a:cs typeface="Times New Roman" panose="02020603050405020304" pitchFamily="18" charset="0"/>
                        </a:rPr>
                        <a:t>50,95 %</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711956494"/>
                  </a:ext>
                </a:extLst>
              </a:tr>
              <a:tr h="370840">
                <a:tc>
                  <a:txBody>
                    <a:bodyPr/>
                    <a:lstStyle/>
                    <a:p>
                      <a:r>
                        <a:rPr lang="fr-FR">
                          <a:latin typeface="Times New Roman" panose="02020603050405020304" pitchFamily="18" charset="0"/>
                          <a:cs typeface="Times New Roman" panose="02020603050405020304" pitchFamily="18" charset="0"/>
                        </a:rPr>
                        <a:t>FPR global</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solidFill>
                            <a:srgbClr val="00B050"/>
                          </a:solidFill>
                          <a:latin typeface="Times New Roman" panose="02020603050405020304" pitchFamily="18" charset="0"/>
                          <a:cs typeface="Times New Roman" panose="02020603050405020304" pitchFamily="18" charset="0"/>
                        </a:rPr>
                        <a:t>9,23 %</a:t>
                      </a:r>
                      <a:endParaRPr lang="en-US">
                        <a:solidFill>
                          <a:srgbClr val="00B05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solidFill>
                            <a:srgbClr val="FF0000"/>
                          </a:solidFill>
                          <a:latin typeface="Times New Roman" panose="02020603050405020304" pitchFamily="18" charset="0"/>
                          <a:cs typeface="Times New Roman" panose="02020603050405020304" pitchFamily="18" charset="0"/>
                        </a:rPr>
                        <a:t>57,36 %</a:t>
                      </a:r>
                      <a:endParaRPr lang="en-US">
                        <a:solidFill>
                          <a:srgbClr val="FF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347146182"/>
                  </a:ext>
                </a:extLst>
              </a:tr>
              <a:tr h="370840">
                <a:tc>
                  <a:txBody>
                    <a:bodyPr/>
                    <a:lstStyle/>
                    <a:p>
                      <a:r>
                        <a:rPr lang="fr-FR">
                          <a:latin typeface="Times New Roman" panose="02020603050405020304" pitchFamily="18" charset="0"/>
                          <a:cs typeface="Times New Roman" panose="02020603050405020304" pitchFamily="18" charset="0"/>
                        </a:rPr>
                        <a:t>Précision</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solidFill>
                            <a:srgbClr val="00B050"/>
                          </a:solidFill>
                          <a:latin typeface="Times New Roman" panose="02020603050405020304" pitchFamily="18" charset="0"/>
                          <a:cs typeface="Times New Roman" panose="02020603050405020304" pitchFamily="18" charset="0"/>
                        </a:rPr>
                        <a:t>87,41 %</a:t>
                      </a:r>
                      <a:endParaRPr lang="en-US">
                        <a:solidFill>
                          <a:srgbClr val="00B05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latin typeface="Times New Roman" panose="02020603050405020304" pitchFamily="18" charset="0"/>
                          <a:cs typeface="Times New Roman" panose="02020603050405020304" pitchFamily="18" charset="0"/>
                        </a:rPr>
                        <a:t>52,17 %</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122614722"/>
                  </a:ext>
                </a:extLst>
              </a:tr>
              <a:tr h="370840">
                <a:tc>
                  <a:txBody>
                    <a:bodyPr/>
                    <a:lstStyle/>
                    <a:p>
                      <a:r>
                        <a:rPr lang="fr-FR" err="1">
                          <a:latin typeface="Times New Roman" panose="02020603050405020304" pitchFamily="18" charset="0"/>
                          <a:cs typeface="Times New Roman" panose="02020603050405020304" pitchFamily="18" charset="0"/>
                        </a:rPr>
                        <a:t>Recall</a:t>
                      </a:r>
                      <a:r>
                        <a:rPr lang="fr-FR">
                          <a:latin typeface="Times New Roman" panose="02020603050405020304" pitchFamily="18" charset="0"/>
                          <a:cs typeface="Times New Roman" panose="02020603050405020304" pitchFamily="18" charset="0"/>
                        </a:rPr>
                        <a:t> FTP-</a:t>
                      </a:r>
                      <a:r>
                        <a:rPr lang="fr-FR" err="1">
                          <a:latin typeface="Times New Roman" panose="02020603050405020304" pitchFamily="18" charset="0"/>
                          <a:cs typeface="Times New Roman" panose="02020603050405020304" pitchFamily="18" charset="0"/>
                        </a:rPr>
                        <a:t>Patator</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solidFill>
                            <a:srgbClr val="00B050"/>
                          </a:solidFill>
                          <a:latin typeface="Times New Roman" panose="02020603050405020304" pitchFamily="18" charset="0"/>
                          <a:cs typeface="Times New Roman" panose="02020603050405020304" pitchFamily="18" charset="0"/>
                        </a:rPr>
                        <a:t>98,01 %</a:t>
                      </a:r>
                      <a:endParaRPr lang="en-US">
                        <a:solidFill>
                          <a:srgbClr val="00B05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latin typeface="Times New Roman" panose="02020603050405020304" pitchFamily="18" charset="0"/>
                          <a:cs typeface="Times New Roman" panose="02020603050405020304" pitchFamily="18" charset="0"/>
                        </a:rPr>
                        <a:t>0,23 %</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127446450"/>
                  </a:ext>
                </a:extLst>
              </a:tr>
              <a:tr h="370840">
                <a:tc>
                  <a:txBody>
                    <a:bodyPr/>
                    <a:lstStyle/>
                    <a:p>
                      <a:r>
                        <a:rPr lang="fr-FR" err="1">
                          <a:latin typeface="Times New Roman" panose="02020603050405020304" pitchFamily="18" charset="0"/>
                          <a:cs typeface="Times New Roman" panose="02020603050405020304" pitchFamily="18" charset="0"/>
                        </a:rPr>
                        <a:t>Recall</a:t>
                      </a:r>
                      <a:r>
                        <a:rPr lang="fr-FR">
                          <a:latin typeface="Times New Roman" panose="02020603050405020304" pitchFamily="18" charset="0"/>
                          <a:cs typeface="Times New Roman" panose="02020603050405020304" pitchFamily="18" charset="0"/>
                        </a:rPr>
                        <a:t> SSH-</a:t>
                      </a:r>
                      <a:r>
                        <a:rPr lang="fr-FR" err="1">
                          <a:latin typeface="Times New Roman" panose="02020603050405020304" pitchFamily="18" charset="0"/>
                          <a:cs typeface="Times New Roman" panose="02020603050405020304" pitchFamily="18" charset="0"/>
                        </a:rPr>
                        <a:t>Patator</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solidFill>
                            <a:srgbClr val="00B050"/>
                          </a:solidFill>
                          <a:latin typeface="Times New Roman" panose="02020603050405020304" pitchFamily="18" charset="0"/>
                          <a:cs typeface="Times New Roman" panose="02020603050405020304" pitchFamily="18" charset="0"/>
                        </a:rPr>
                        <a:t>6,23 %</a:t>
                      </a:r>
                      <a:endParaRPr lang="en-US">
                        <a:solidFill>
                          <a:srgbClr val="00B05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latin typeface="Times New Roman" panose="02020603050405020304" pitchFamily="18" charset="0"/>
                          <a:cs typeface="Times New Roman" panose="02020603050405020304" pitchFamily="18" charset="0"/>
                        </a:rPr>
                        <a:t>0,29 %</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175416037"/>
                  </a:ext>
                </a:extLst>
              </a:tr>
              <a:tr h="370840">
                <a:tc>
                  <a:txBody>
                    <a:bodyPr/>
                    <a:lstStyle/>
                    <a:p>
                      <a:r>
                        <a:rPr lang="fr-FR" err="1">
                          <a:latin typeface="Times New Roman" panose="02020603050405020304" pitchFamily="18" charset="0"/>
                          <a:cs typeface="Times New Roman" panose="02020603050405020304" pitchFamily="18" charset="0"/>
                        </a:rPr>
                        <a:t>Recall</a:t>
                      </a:r>
                      <a:r>
                        <a:rPr lang="fr-FR">
                          <a:latin typeface="Times New Roman" panose="02020603050405020304" pitchFamily="18" charset="0"/>
                          <a:cs typeface="Times New Roman" panose="02020603050405020304" pitchFamily="18" charset="0"/>
                        </a:rPr>
                        <a:t> DDoS</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a:latin typeface="Times New Roman" panose="02020603050405020304" pitchFamily="18" charset="0"/>
                          <a:cs typeface="Times New Roman" panose="02020603050405020304" pitchFamily="18" charset="0"/>
                        </a:rPr>
                        <a:t>83,98 %</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dirty="0">
                          <a:latin typeface="Times New Roman" panose="02020603050405020304" pitchFamily="18" charset="0"/>
                          <a:cs typeface="Times New Roman" panose="02020603050405020304" pitchFamily="18" charset="0"/>
                        </a:rPr>
                        <a:t>84,31 %</a:t>
                      </a:r>
                      <a:endParaRPr lang="en-US" dirty="0">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45811303"/>
                  </a:ext>
                </a:extLst>
              </a:tr>
            </a:tbl>
          </a:graphicData>
        </a:graphic>
      </p:graphicFrame>
      <p:sp>
        <p:nvSpPr>
          <p:cNvPr id="22" name="Rectangle 21">
            <a:extLst>
              <a:ext uri="{FF2B5EF4-FFF2-40B4-BE49-F238E27FC236}">
                <a16:creationId xmlns:a16="http://schemas.microsoft.com/office/drawing/2014/main" id="{583A5A09-2771-E67E-A85F-264EB4E4CEA6}"/>
              </a:ext>
            </a:extLst>
          </p:cNvPr>
          <p:cNvSpPr/>
          <p:nvPr/>
        </p:nvSpPr>
        <p:spPr>
          <a:xfrm>
            <a:off x="0" y="-304801"/>
            <a:ext cx="2852107" cy="10896600"/>
          </a:xfrm>
          <a:prstGeom prst="rect">
            <a:avLst/>
          </a:prstGeom>
          <a:solidFill>
            <a:schemeClr val="bg1"/>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24" name="Rectangle: Rounded Corners 23">
            <a:extLst>
              <a:ext uri="{FF2B5EF4-FFF2-40B4-BE49-F238E27FC236}">
                <a16:creationId xmlns:a16="http://schemas.microsoft.com/office/drawing/2014/main" id="{13F1E150-B430-93A9-EA1A-AE27475F0DE1}"/>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1</a:t>
            </a:r>
            <a:endParaRPr lang="en-US" sz="3000">
              <a:latin typeface="Times New Roman" panose="02020603050405020304" pitchFamily="18" charset="0"/>
              <a:cs typeface="Times New Roman" panose="02020603050405020304" pitchFamily="18" charset="0"/>
            </a:endParaRPr>
          </a:p>
        </p:txBody>
      </p:sp>
      <p:sp>
        <p:nvSpPr>
          <p:cNvPr id="26" name="TextBox 4">
            <a:extLst>
              <a:ext uri="{FF2B5EF4-FFF2-40B4-BE49-F238E27FC236}">
                <a16:creationId xmlns:a16="http://schemas.microsoft.com/office/drawing/2014/main" id="{14E420D4-3653-44A3-C5E5-137E2F3F2A62}"/>
              </a:ext>
            </a:extLst>
          </p:cNvPr>
          <p:cNvSpPr txBox="1"/>
          <p:nvPr/>
        </p:nvSpPr>
        <p:spPr>
          <a:xfrm rot="16200000">
            <a:off x="-2781752" y="4657137"/>
            <a:ext cx="6745560"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1 — Acquisition réseau</a:t>
            </a:r>
          </a:p>
        </p:txBody>
      </p:sp>
      <p:sp>
        <p:nvSpPr>
          <p:cNvPr id="28" name="TextBox 27">
            <a:extLst>
              <a:ext uri="{FF2B5EF4-FFF2-40B4-BE49-F238E27FC236}">
                <a16:creationId xmlns:a16="http://schemas.microsoft.com/office/drawing/2014/main" id="{DD4D4667-8899-43D4-7B7C-3A4CA8844553}"/>
              </a:ext>
            </a:extLst>
          </p:cNvPr>
          <p:cNvSpPr txBox="1"/>
          <p:nvPr/>
        </p:nvSpPr>
        <p:spPr>
          <a:xfrm rot="16200000">
            <a:off x="-3344778" y="3627446"/>
            <a:ext cx="8804944" cy="323165"/>
          </a:xfrm>
          <a:prstGeom prst="rect">
            <a:avLst/>
          </a:prstGeom>
          <a:noFill/>
        </p:spPr>
        <p:txBody>
          <a:bodyPr wrap="square" rtlCol="0">
            <a:spAutoFit/>
          </a:bodyPr>
          <a:lstStyle/>
          <a:p>
            <a:r>
              <a:rPr lang="en-US" sz="1500">
                <a:solidFill>
                  <a:srgbClr val="909090"/>
                </a:solidFill>
                <a:latin typeface="Times New Roman" panose="02020603050405020304" pitchFamily="18" charset="0"/>
                <a:cs typeface="Times New Roman" panose="02020603050405020304" pitchFamily="18" charset="0"/>
              </a:rPr>
              <a:t>Sprint 2 — Pipeline de données</a:t>
            </a:r>
          </a:p>
        </p:txBody>
      </p:sp>
      <p:sp>
        <p:nvSpPr>
          <p:cNvPr id="30" name="TextBox 29">
            <a:extLst>
              <a:ext uri="{FF2B5EF4-FFF2-40B4-BE49-F238E27FC236}">
                <a16:creationId xmlns:a16="http://schemas.microsoft.com/office/drawing/2014/main" id="{65C4900C-B260-C5CD-A05C-778B128BD553}"/>
              </a:ext>
            </a:extLst>
          </p:cNvPr>
          <p:cNvSpPr txBox="1"/>
          <p:nvPr/>
        </p:nvSpPr>
        <p:spPr>
          <a:xfrm rot="16200000">
            <a:off x="-2197121" y="5052545"/>
            <a:ext cx="8465625"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Sprint 3 — Détection </a:t>
            </a:r>
            <a:r>
              <a:rPr lang="en-US" sz="4000" dirty="0" err="1">
                <a:latin typeface="Times New Roman" panose="02020603050405020304" pitchFamily="18" charset="0"/>
                <a:cs typeface="Times New Roman" panose="02020603050405020304" pitchFamily="18" charset="0"/>
              </a:rPr>
              <a:t>comportementale</a:t>
            </a:r>
            <a:endParaRPr lang="en-US" sz="4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650834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BD6FB"/>
        </a:solidFill>
        <a:effectLst/>
      </p:bgPr>
    </p:bg>
    <p:spTree>
      <p:nvGrpSpPr>
        <p:cNvPr id="1" name="">
          <a:extLst>
            <a:ext uri="{FF2B5EF4-FFF2-40B4-BE49-F238E27FC236}">
              <a16:creationId xmlns:a16="http://schemas.microsoft.com/office/drawing/2014/main" id="{AF114BC4-3AA1-F1A7-DFCE-84EE50F44385}"/>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76881B50-7AA9-CDAD-56D8-06E008BE423D}"/>
              </a:ext>
            </a:extLst>
          </p:cNvPr>
          <p:cNvGrpSpPr/>
          <p:nvPr/>
        </p:nvGrpSpPr>
        <p:grpSpPr>
          <a:xfrm>
            <a:off x="914400" y="723900"/>
            <a:ext cx="13030200" cy="3810000"/>
            <a:chOff x="1219200" y="1333500"/>
            <a:chExt cx="13030200" cy="3810000"/>
          </a:xfrm>
        </p:grpSpPr>
        <p:sp>
          <p:nvSpPr>
            <p:cNvPr id="2" name="Rectangle: Rounded Corners 1">
              <a:extLst>
                <a:ext uri="{FF2B5EF4-FFF2-40B4-BE49-F238E27FC236}">
                  <a16:creationId xmlns:a16="http://schemas.microsoft.com/office/drawing/2014/main" id="{A133702D-7978-0E39-10AB-C5C065E05382}"/>
                </a:ext>
              </a:extLst>
            </p:cNvPr>
            <p:cNvSpPr/>
            <p:nvPr/>
          </p:nvSpPr>
          <p:spPr>
            <a:xfrm>
              <a:off x="1219200" y="1333500"/>
              <a:ext cx="13030200" cy="9144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3200">
                  <a:latin typeface="Times New Roman" panose="02020603050405020304" pitchFamily="18" charset="0"/>
                  <a:cs typeface="Times New Roman" panose="02020603050405020304" pitchFamily="18" charset="0"/>
                </a:rPr>
                <a:t>Release 1 – Détection</a:t>
              </a:r>
              <a:endParaRPr lang="en-US" sz="3200">
                <a:latin typeface="Times New Roman" panose="02020603050405020304" pitchFamily="18" charset="0"/>
                <a:cs typeface="Times New Roman" panose="02020603050405020304" pitchFamily="18" charset="0"/>
              </a:endParaRPr>
            </a:p>
          </p:txBody>
        </p:sp>
        <p:grpSp>
          <p:nvGrpSpPr>
            <p:cNvPr id="6" name="Group 5">
              <a:extLst>
                <a:ext uri="{FF2B5EF4-FFF2-40B4-BE49-F238E27FC236}">
                  <a16:creationId xmlns:a16="http://schemas.microsoft.com/office/drawing/2014/main" id="{E7D8458C-191A-0276-8ECF-728FFD85F1A7}"/>
                </a:ext>
              </a:extLst>
            </p:cNvPr>
            <p:cNvGrpSpPr/>
            <p:nvPr/>
          </p:nvGrpSpPr>
          <p:grpSpPr>
            <a:xfrm>
              <a:off x="1447800" y="2644139"/>
              <a:ext cx="6009538" cy="685800"/>
              <a:chOff x="1447800" y="3086100"/>
              <a:chExt cx="6009538" cy="685800"/>
            </a:xfrm>
          </p:grpSpPr>
          <p:sp>
            <p:nvSpPr>
              <p:cNvPr id="3" name="Oval 2">
                <a:extLst>
                  <a:ext uri="{FF2B5EF4-FFF2-40B4-BE49-F238E27FC236}">
                    <a16:creationId xmlns:a16="http://schemas.microsoft.com/office/drawing/2014/main" id="{735A9BF8-8EF4-211B-9F71-A9453C716B09}"/>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1</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723B99A6-7AF7-2C3B-7EC8-671B255C8CCA}"/>
                  </a:ext>
                </a:extLst>
              </p:cNvPr>
              <p:cNvSpPr txBox="1"/>
              <p:nvPr/>
            </p:nvSpPr>
            <p:spPr>
              <a:xfrm>
                <a:off x="2438400" y="3169920"/>
                <a:ext cx="5018938" cy="553998"/>
              </a:xfrm>
              <a:prstGeom prst="rect">
                <a:avLst/>
              </a:prstGeom>
              <a:noFill/>
            </p:spPr>
            <p:txBody>
              <a:bodyPr wrap="none" rtlCol="0">
                <a:spAutoFit/>
              </a:bodyPr>
              <a:lstStyle/>
              <a:p>
                <a:r>
                  <a:rPr lang="en-US" sz="3000">
                    <a:latin typeface="Times New Roman" panose="02020603050405020304" pitchFamily="18" charset="0"/>
                    <a:cs typeface="Times New Roman" panose="02020603050405020304" pitchFamily="18" charset="0"/>
                  </a:rPr>
                  <a:t>Sprint 1 — Acquisition réseau</a:t>
                </a:r>
              </a:p>
            </p:txBody>
          </p:sp>
        </p:grpSp>
        <p:grpSp>
          <p:nvGrpSpPr>
            <p:cNvPr id="7" name="Group 6">
              <a:extLst>
                <a:ext uri="{FF2B5EF4-FFF2-40B4-BE49-F238E27FC236}">
                  <a16:creationId xmlns:a16="http://schemas.microsoft.com/office/drawing/2014/main" id="{BBF55678-9BC5-BDEC-7B49-1EB5B272F471}"/>
                </a:ext>
              </a:extLst>
            </p:cNvPr>
            <p:cNvGrpSpPr/>
            <p:nvPr/>
          </p:nvGrpSpPr>
          <p:grpSpPr>
            <a:xfrm>
              <a:off x="1447800" y="3573779"/>
              <a:ext cx="6062822" cy="685800"/>
              <a:chOff x="1447800" y="3086100"/>
              <a:chExt cx="6062822" cy="685800"/>
            </a:xfrm>
          </p:grpSpPr>
          <p:sp>
            <p:nvSpPr>
              <p:cNvPr id="8" name="Oval 7">
                <a:extLst>
                  <a:ext uri="{FF2B5EF4-FFF2-40B4-BE49-F238E27FC236}">
                    <a16:creationId xmlns:a16="http://schemas.microsoft.com/office/drawing/2014/main" id="{03F5B791-EB83-8F01-0523-C134FAC263E5}"/>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2</a:t>
                </a:r>
              </a:p>
            </p:txBody>
          </p:sp>
          <p:sp>
            <p:nvSpPr>
              <p:cNvPr id="9" name="TextBox 8">
                <a:extLst>
                  <a:ext uri="{FF2B5EF4-FFF2-40B4-BE49-F238E27FC236}">
                    <a16:creationId xmlns:a16="http://schemas.microsoft.com/office/drawing/2014/main" id="{C77C29D6-D15F-34CF-A528-A8926637EA57}"/>
                  </a:ext>
                </a:extLst>
              </p:cNvPr>
              <p:cNvSpPr txBox="1"/>
              <p:nvPr/>
            </p:nvSpPr>
            <p:spPr>
              <a:xfrm>
                <a:off x="2438400" y="3169920"/>
                <a:ext cx="5072222" cy="553998"/>
              </a:xfrm>
              <a:prstGeom prst="rect">
                <a:avLst/>
              </a:prstGeom>
              <a:noFill/>
            </p:spPr>
            <p:txBody>
              <a:bodyPr wrap="none" rtlCol="0">
                <a:spAutoFit/>
              </a:bodyPr>
              <a:lstStyle/>
              <a:p>
                <a:r>
                  <a:rPr lang="en-US" sz="3000">
                    <a:latin typeface="Times New Roman" panose="02020603050405020304" pitchFamily="18" charset="0"/>
                    <a:cs typeface="Times New Roman" panose="02020603050405020304" pitchFamily="18" charset="0"/>
                  </a:rPr>
                  <a:t>Sprint 2 — Pipeline de données</a:t>
                </a:r>
              </a:p>
            </p:txBody>
          </p:sp>
        </p:grpSp>
        <p:grpSp>
          <p:nvGrpSpPr>
            <p:cNvPr id="10" name="Group 9">
              <a:extLst>
                <a:ext uri="{FF2B5EF4-FFF2-40B4-BE49-F238E27FC236}">
                  <a16:creationId xmlns:a16="http://schemas.microsoft.com/office/drawing/2014/main" id="{753B4C1F-5B19-040B-83B0-DC81F8BDEDFE}"/>
                </a:ext>
              </a:extLst>
            </p:cNvPr>
            <p:cNvGrpSpPr/>
            <p:nvPr/>
          </p:nvGrpSpPr>
          <p:grpSpPr>
            <a:xfrm>
              <a:off x="1447800" y="4457700"/>
              <a:ext cx="7253853" cy="685800"/>
              <a:chOff x="1447800" y="3086100"/>
              <a:chExt cx="7253853" cy="685800"/>
            </a:xfrm>
          </p:grpSpPr>
          <p:sp>
            <p:nvSpPr>
              <p:cNvPr id="11" name="Oval 10">
                <a:extLst>
                  <a:ext uri="{FF2B5EF4-FFF2-40B4-BE49-F238E27FC236}">
                    <a16:creationId xmlns:a16="http://schemas.microsoft.com/office/drawing/2014/main" id="{1A326739-D629-2A75-2CA0-6D9F3050448A}"/>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3</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782D6D79-9D7A-E47C-B8C2-18EA2EC7D69E}"/>
                  </a:ext>
                </a:extLst>
              </p:cNvPr>
              <p:cNvSpPr txBox="1"/>
              <p:nvPr/>
            </p:nvSpPr>
            <p:spPr>
              <a:xfrm>
                <a:off x="2438400" y="3169920"/>
                <a:ext cx="6263253"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Sprint 3 — Détection </a:t>
                </a:r>
                <a:r>
                  <a:rPr lang="en-US" sz="3000" dirty="0" err="1">
                    <a:latin typeface="Times New Roman" panose="02020603050405020304" pitchFamily="18" charset="0"/>
                    <a:cs typeface="Times New Roman" panose="02020603050405020304" pitchFamily="18" charset="0"/>
                  </a:rPr>
                  <a:t>comportementale</a:t>
                </a:r>
                <a:endParaRPr lang="en-US" sz="3000" dirty="0">
                  <a:latin typeface="Times New Roman" panose="02020603050405020304" pitchFamily="18" charset="0"/>
                  <a:cs typeface="Times New Roman" panose="02020603050405020304" pitchFamily="18" charset="0"/>
                </a:endParaRPr>
              </a:p>
            </p:txBody>
          </p:sp>
        </p:grpSp>
      </p:grpSp>
      <p:grpSp>
        <p:nvGrpSpPr>
          <p:cNvPr id="14" name="Group 13">
            <a:extLst>
              <a:ext uri="{FF2B5EF4-FFF2-40B4-BE49-F238E27FC236}">
                <a16:creationId xmlns:a16="http://schemas.microsoft.com/office/drawing/2014/main" id="{14B514D6-A587-BBF9-9C76-B6BE9A6A33E8}"/>
              </a:ext>
            </a:extLst>
          </p:cNvPr>
          <p:cNvGrpSpPr/>
          <p:nvPr/>
        </p:nvGrpSpPr>
        <p:grpSpPr>
          <a:xfrm>
            <a:off x="914400" y="5059678"/>
            <a:ext cx="13030200" cy="3810000"/>
            <a:chOff x="1219200" y="1333500"/>
            <a:chExt cx="13030200" cy="3810000"/>
          </a:xfrm>
        </p:grpSpPr>
        <p:sp>
          <p:nvSpPr>
            <p:cNvPr id="15" name="Rectangle: Rounded Corners 14">
              <a:extLst>
                <a:ext uri="{FF2B5EF4-FFF2-40B4-BE49-F238E27FC236}">
                  <a16:creationId xmlns:a16="http://schemas.microsoft.com/office/drawing/2014/main" id="{11AA2F7D-35B9-3F5A-60EC-1019D8BEE948}"/>
                </a:ext>
              </a:extLst>
            </p:cNvPr>
            <p:cNvSpPr/>
            <p:nvPr/>
          </p:nvSpPr>
          <p:spPr>
            <a:xfrm>
              <a:off x="1219200" y="1333500"/>
              <a:ext cx="13030200" cy="9144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3200">
                  <a:latin typeface="Times New Roman" panose="02020603050405020304" pitchFamily="18" charset="0"/>
                  <a:cs typeface="Times New Roman" panose="02020603050405020304" pitchFamily="18" charset="0"/>
                </a:rPr>
                <a:t>Release 2 – Prévention &amp; Réponse</a:t>
              </a:r>
              <a:endParaRPr lang="en-US" sz="3200">
                <a:latin typeface="Times New Roman" panose="02020603050405020304" pitchFamily="18" charset="0"/>
                <a:cs typeface="Times New Roman" panose="02020603050405020304" pitchFamily="18" charset="0"/>
              </a:endParaRPr>
            </a:p>
          </p:txBody>
        </p:sp>
        <p:grpSp>
          <p:nvGrpSpPr>
            <p:cNvPr id="16" name="Group 15">
              <a:extLst>
                <a:ext uri="{FF2B5EF4-FFF2-40B4-BE49-F238E27FC236}">
                  <a16:creationId xmlns:a16="http://schemas.microsoft.com/office/drawing/2014/main" id="{C5721B7C-A8E0-C1E4-529E-71D2360020A7}"/>
                </a:ext>
              </a:extLst>
            </p:cNvPr>
            <p:cNvGrpSpPr/>
            <p:nvPr/>
          </p:nvGrpSpPr>
          <p:grpSpPr>
            <a:xfrm>
              <a:off x="1447800" y="2644139"/>
              <a:ext cx="8194432" cy="685800"/>
              <a:chOff x="1447800" y="3086100"/>
              <a:chExt cx="8194432" cy="685800"/>
            </a:xfrm>
          </p:grpSpPr>
          <p:sp>
            <p:nvSpPr>
              <p:cNvPr id="23" name="Oval 22">
                <a:extLst>
                  <a:ext uri="{FF2B5EF4-FFF2-40B4-BE49-F238E27FC236}">
                    <a16:creationId xmlns:a16="http://schemas.microsoft.com/office/drawing/2014/main" id="{B6927DFE-D8DD-B443-69EA-B425EF01BD24}"/>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4</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6E011461-AB84-4AB0-9E7F-4FF3B75A6589}"/>
                  </a:ext>
                </a:extLst>
              </p:cNvPr>
              <p:cNvSpPr txBox="1"/>
              <p:nvPr/>
            </p:nvSpPr>
            <p:spPr>
              <a:xfrm>
                <a:off x="2438400" y="3169920"/>
                <a:ext cx="7203832"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Sprint 4 — Anticipation par le renseignement</a:t>
                </a:r>
              </a:p>
            </p:txBody>
          </p:sp>
        </p:grpSp>
        <p:grpSp>
          <p:nvGrpSpPr>
            <p:cNvPr id="17" name="Group 16">
              <a:extLst>
                <a:ext uri="{FF2B5EF4-FFF2-40B4-BE49-F238E27FC236}">
                  <a16:creationId xmlns:a16="http://schemas.microsoft.com/office/drawing/2014/main" id="{CF7DA9E7-242B-32B2-A2E7-95D881792670}"/>
                </a:ext>
              </a:extLst>
            </p:cNvPr>
            <p:cNvGrpSpPr/>
            <p:nvPr/>
          </p:nvGrpSpPr>
          <p:grpSpPr>
            <a:xfrm>
              <a:off x="1447800" y="3573779"/>
              <a:ext cx="7378887" cy="685800"/>
              <a:chOff x="1447800" y="3086100"/>
              <a:chExt cx="7378887" cy="685800"/>
            </a:xfrm>
          </p:grpSpPr>
          <p:sp>
            <p:nvSpPr>
              <p:cNvPr id="21" name="Oval 20">
                <a:extLst>
                  <a:ext uri="{FF2B5EF4-FFF2-40B4-BE49-F238E27FC236}">
                    <a16:creationId xmlns:a16="http://schemas.microsoft.com/office/drawing/2014/main" id="{EA0A953E-C872-89C9-880C-CB021FEF0045}"/>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5</a:t>
                </a:r>
              </a:p>
            </p:txBody>
          </p:sp>
          <p:sp>
            <p:nvSpPr>
              <p:cNvPr id="22" name="TextBox 21">
                <a:extLst>
                  <a:ext uri="{FF2B5EF4-FFF2-40B4-BE49-F238E27FC236}">
                    <a16:creationId xmlns:a16="http://schemas.microsoft.com/office/drawing/2014/main" id="{F0CCC03A-2D4F-D83F-DFBE-7A3788D19009}"/>
                  </a:ext>
                </a:extLst>
              </p:cNvPr>
              <p:cNvSpPr txBox="1"/>
              <p:nvPr/>
            </p:nvSpPr>
            <p:spPr>
              <a:xfrm>
                <a:off x="2438400" y="3169920"/>
                <a:ext cx="6388287"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Sprint 5 — Mitigation du </a:t>
                </a:r>
                <a:r>
                  <a:rPr lang="en-US" sz="3000" dirty="0" err="1">
                    <a:latin typeface="Times New Roman" panose="02020603050405020304" pitchFamily="18" charset="0"/>
                    <a:cs typeface="Times New Roman" panose="02020603050405020304" pitchFamily="18" charset="0"/>
                  </a:rPr>
                  <a:t>risque</a:t>
                </a:r>
                <a:r>
                  <a:rPr lang="en-US" sz="3000" dirty="0">
                    <a:latin typeface="Times New Roman" panose="02020603050405020304" pitchFamily="18" charset="0"/>
                    <a:cs typeface="Times New Roman" panose="02020603050405020304" pitchFamily="18" charset="0"/>
                  </a:rPr>
                  <a:t> humain</a:t>
                </a:r>
              </a:p>
            </p:txBody>
          </p:sp>
        </p:grpSp>
        <p:grpSp>
          <p:nvGrpSpPr>
            <p:cNvPr id="18" name="Group 17">
              <a:extLst>
                <a:ext uri="{FF2B5EF4-FFF2-40B4-BE49-F238E27FC236}">
                  <a16:creationId xmlns:a16="http://schemas.microsoft.com/office/drawing/2014/main" id="{F51B5371-62FF-CBC1-EA8F-CAE32D6EF92F}"/>
                </a:ext>
              </a:extLst>
            </p:cNvPr>
            <p:cNvGrpSpPr/>
            <p:nvPr/>
          </p:nvGrpSpPr>
          <p:grpSpPr>
            <a:xfrm>
              <a:off x="1447800" y="4457700"/>
              <a:ext cx="8465723" cy="685800"/>
              <a:chOff x="1447800" y="3086100"/>
              <a:chExt cx="8465723" cy="685800"/>
            </a:xfrm>
          </p:grpSpPr>
          <p:sp>
            <p:nvSpPr>
              <p:cNvPr id="19" name="Oval 18">
                <a:extLst>
                  <a:ext uri="{FF2B5EF4-FFF2-40B4-BE49-F238E27FC236}">
                    <a16:creationId xmlns:a16="http://schemas.microsoft.com/office/drawing/2014/main" id="{DAC58A63-3792-9131-1C88-BA790A4896F3}"/>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6</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B500BD1C-949E-90BF-0919-D39DDD93E9A3}"/>
                  </a:ext>
                </a:extLst>
              </p:cNvPr>
              <p:cNvSpPr txBox="1"/>
              <p:nvPr/>
            </p:nvSpPr>
            <p:spPr>
              <a:xfrm>
                <a:off x="2438400" y="3169920"/>
                <a:ext cx="7475123" cy="553998"/>
              </a:xfrm>
              <a:prstGeom prst="rect">
                <a:avLst/>
              </a:prstGeom>
              <a:noFill/>
            </p:spPr>
            <p:txBody>
              <a:bodyPr wrap="none" rtlCol="0">
                <a:spAutoFit/>
              </a:bodyPr>
              <a:lstStyle/>
              <a:p>
                <a:r>
                  <a:rPr lang="en-US" sz="3000">
                    <a:latin typeface="Times New Roman" panose="02020603050405020304" pitchFamily="18" charset="0"/>
                    <a:cs typeface="Times New Roman" panose="02020603050405020304" pitchFamily="18" charset="0"/>
                  </a:rPr>
                  <a:t>Sprint 6 — Orchestration SOAR &amp; supervision</a:t>
                </a:r>
              </a:p>
            </p:txBody>
          </p:sp>
        </p:grpSp>
      </p:grpSp>
    </p:spTree>
    <p:extLst>
      <p:ext uri="{BB962C8B-B14F-4D97-AF65-F5344CB8AC3E}">
        <p14:creationId xmlns:p14="http://schemas.microsoft.com/office/powerpoint/2010/main" val="4866031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C8BB0-1A82-381C-DD0E-A5A152CCBA3B}"/>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62E7C759-6EE8-F811-25C6-A80DD014F9F4}"/>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3324FC5E-7EBF-1868-21BD-2364043BC61E}"/>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B689AD82-4784-500D-9212-A3CB637E4BCC}"/>
              </a:ext>
            </a:extLst>
          </p:cNvPr>
          <p:cNvSpPr txBox="1"/>
          <p:nvPr/>
        </p:nvSpPr>
        <p:spPr>
          <a:xfrm rot="16200000">
            <a:off x="-2747240" y="5018901"/>
            <a:ext cx="7162800" cy="55399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CD9B7DD9-B130-F71B-3985-05E0745EC064}"/>
              </a:ext>
            </a:extLst>
          </p:cNvPr>
          <p:cNvSpPr txBox="1"/>
          <p:nvPr/>
        </p:nvSpPr>
        <p:spPr>
          <a:xfrm rot="16200000">
            <a:off x="-1070071" y="6103406"/>
            <a:ext cx="5072222" cy="323165"/>
          </a:xfrm>
          <a:prstGeom prst="rect">
            <a:avLst/>
          </a:prstGeom>
          <a:noFill/>
        </p:spPr>
        <p:txBody>
          <a:bodyPr wrap="square" rtlCol="0">
            <a:spAutoFit/>
          </a:bodyPr>
          <a:lstStyle/>
          <a:p>
            <a:r>
              <a:rPr lang="fr-FR" sz="1500">
                <a:solidFill>
                  <a:schemeClr val="bg1">
                    <a:lumMod val="50000"/>
                  </a:schemeClr>
                </a:solidFill>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51B191F6-A091-AFBF-656E-96B2C572C720}"/>
              </a:ext>
            </a:extLst>
          </p:cNvPr>
          <p:cNvSpPr txBox="1"/>
          <p:nvPr/>
        </p:nvSpPr>
        <p:spPr>
          <a:xfrm rot="16200000">
            <a:off x="-1149993" y="5522744"/>
            <a:ext cx="6263253"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6 — Orchestration SOAR &amp; supervision</a:t>
            </a:r>
          </a:p>
        </p:txBody>
      </p:sp>
      <p:grpSp>
        <p:nvGrpSpPr>
          <p:cNvPr id="9" name="Group 8">
            <a:extLst>
              <a:ext uri="{FF2B5EF4-FFF2-40B4-BE49-F238E27FC236}">
                <a16:creationId xmlns:a16="http://schemas.microsoft.com/office/drawing/2014/main" id="{37BCA90D-C978-D06D-19B9-3AEBB2DA0849}"/>
              </a:ext>
            </a:extLst>
          </p:cNvPr>
          <p:cNvGrpSpPr/>
          <p:nvPr/>
        </p:nvGrpSpPr>
        <p:grpSpPr>
          <a:xfrm>
            <a:off x="12877800" y="2755093"/>
            <a:ext cx="4708145" cy="4776812"/>
            <a:chOff x="12259435" y="1074345"/>
            <a:chExt cx="6599432" cy="3867240"/>
          </a:xfrm>
        </p:grpSpPr>
        <p:sp>
          <p:nvSpPr>
            <p:cNvPr id="10" name="Rectangle: Rounded Corners 9">
              <a:extLst>
                <a:ext uri="{FF2B5EF4-FFF2-40B4-BE49-F238E27FC236}">
                  <a16:creationId xmlns:a16="http://schemas.microsoft.com/office/drawing/2014/main" id="{4764E323-128F-C594-B226-80387CF3EA60}"/>
                </a:ext>
              </a:extLst>
            </p:cNvPr>
            <p:cNvSpPr/>
            <p:nvPr/>
          </p:nvSpPr>
          <p:spPr>
            <a:xfrm>
              <a:off x="12259435" y="1074345"/>
              <a:ext cx="6599432" cy="386724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59565C67-D089-E949-59BA-59CBB139EF6D}"/>
                </a:ext>
              </a:extLst>
            </p:cNvPr>
            <p:cNvSpPr txBox="1"/>
            <p:nvPr/>
          </p:nvSpPr>
          <p:spPr>
            <a:xfrm>
              <a:off x="12512007" y="1326057"/>
              <a:ext cx="6094287" cy="336381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Agent CTI (Dual-RAG): automatise la veille OSINT en triant chaque article via un LLM local (</a:t>
              </a:r>
              <a:r>
                <a:rPr kumimoji="0" lang="fr-FR" sz="2400" i="0" u="none" strike="noStrike" kern="1200" cap="none" spc="0" normalizeH="0" baseline="0" noProof="0" err="1">
                  <a:ln>
                    <a:noFill/>
                  </a:ln>
                  <a:solidFill>
                    <a:prstClr val="white"/>
                  </a:solidFill>
                  <a:effectLst/>
                  <a:uLnTx/>
                  <a:uFillTx/>
                  <a:latin typeface="Times New Roman" panose="02020603050405020304" pitchFamily="18" charset="0"/>
                  <a:ea typeface="+mn-ea"/>
                  <a:cs typeface="Times New Roman" panose="02020603050405020304" pitchFamily="18" charset="0"/>
                </a:rPr>
                <a:t>Ollama</a:t>
              </a:r>
              <a:r>
                <a:rPr kumimoji="0" lang="fr-FR"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 confronté à deux bases de référence — l’historique des menaces déjà traitées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et ~ 49 000 règles </a:t>
              </a:r>
              <a:r>
                <a:rPr kumimoji="0" lang="fr-FR" sz="2400" i="0" u="none" strike="noStrike" kern="1200" cap="none" spc="0" normalizeH="0" baseline="0" noProof="0" err="1">
                  <a:ln>
                    <a:noFill/>
                  </a:ln>
                  <a:solidFill>
                    <a:prstClr val="white"/>
                  </a:solidFill>
                  <a:effectLst/>
                  <a:uLnTx/>
                  <a:uFillTx/>
                  <a:latin typeface="Times New Roman" panose="02020603050405020304" pitchFamily="18" charset="0"/>
                  <a:ea typeface="+mn-ea"/>
                  <a:cs typeface="Times New Roman" panose="02020603050405020304" pitchFamily="18" charset="0"/>
                </a:rPr>
                <a:t>Suricata</a:t>
              </a:r>
              <a:r>
                <a:rPr kumimoji="0" lang="fr-FR"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 existantes — avant de proposer soit une règle de détection candidate, soit un contenu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de sensibilisation.</a:t>
              </a:r>
              <a:endParaRPr kumimoji="0" lang="en-US" sz="24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grpSp>
      <p:sp>
        <p:nvSpPr>
          <p:cNvPr id="12" name="TextBox 11">
            <a:extLst>
              <a:ext uri="{FF2B5EF4-FFF2-40B4-BE49-F238E27FC236}">
                <a16:creationId xmlns:a16="http://schemas.microsoft.com/office/drawing/2014/main" id="{24A02E41-9602-E519-828B-CE681097E835}"/>
              </a:ext>
            </a:extLst>
          </p:cNvPr>
          <p:cNvSpPr txBox="1"/>
          <p:nvPr/>
        </p:nvSpPr>
        <p:spPr>
          <a:xfrm>
            <a:off x="4148250" y="1160502"/>
            <a:ext cx="8172045" cy="553998"/>
          </a:xfrm>
          <a:prstGeom prst="rect">
            <a:avLst/>
          </a:prstGeom>
          <a:noFill/>
        </p:spPr>
        <p:txBody>
          <a:bodyPr wrap="none" rtlCol="0">
            <a:spAutoFit/>
          </a:bodyPr>
          <a:lstStyle/>
          <a:p>
            <a:r>
              <a:rPr lang="fr-FR" sz="3000">
                <a:latin typeface="Times New Roman" panose="02020603050405020304" pitchFamily="18" charset="0"/>
                <a:cs typeface="Times New Roman" panose="02020603050405020304" pitchFamily="18" charset="0"/>
              </a:rPr>
              <a:t>Architecture du Sprint 4 — Agent CTI (Dual-RAG)</a:t>
            </a:r>
            <a:endParaRPr lang="en-US" sz="3000">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5EF118BA-B931-ED67-F392-5831181D15D8}"/>
              </a:ext>
            </a:extLst>
          </p:cNvPr>
          <p:cNvPicPr>
            <a:picLocks noChangeAspect="1"/>
          </p:cNvPicPr>
          <p:nvPr/>
        </p:nvPicPr>
        <p:blipFill>
          <a:blip r:embed="rId3" cstate="print">
            <a:extLst>
              <a:ext uri="{28A0092B-C50C-407E-A947-70E740481C1C}">
                <a14:useLocalDpi xmlns:a14="http://schemas.microsoft.com/office/drawing/2010/main" val="0"/>
              </a:ext>
            </a:extLst>
          </a:blip>
          <a:srcRect l="2542" t="10138" r="2572" b="1994"/>
          <a:stretch>
            <a:fillRect/>
          </a:stretch>
        </p:blipFill>
        <p:spPr>
          <a:xfrm>
            <a:off x="3520300" y="1790700"/>
            <a:ext cx="8799995" cy="6705600"/>
          </a:xfrm>
          <a:prstGeom prst="rect">
            <a:avLst/>
          </a:prstGeom>
        </p:spPr>
      </p:pic>
      <p:grpSp>
        <p:nvGrpSpPr>
          <p:cNvPr id="2" name="Group 13">
            <a:extLst>
              <a:ext uri="{FF2B5EF4-FFF2-40B4-BE49-F238E27FC236}">
                <a16:creationId xmlns:a16="http://schemas.microsoft.com/office/drawing/2014/main" id="{DD59A256-FD4E-A511-6BF5-A12B89AA42D8}"/>
              </a:ext>
            </a:extLst>
          </p:cNvPr>
          <p:cNvGrpSpPr/>
          <p:nvPr/>
        </p:nvGrpSpPr>
        <p:grpSpPr>
          <a:xfrm rot="16200000">
            <a:off x="-10029525" y="5059679"/>
            <a:ext cx="13030200" cy="3810000"/>
            <a:chOff x="1219200" y="1333500"/>
            <a:chExt cx="13030200" cy="3810000"/>
          </a:xfrm>
        </p:grpSpPr>
        <p:sp>
          <p:nvSpPr>
            <p:cNvPr id="4" name="Rectangle: Rounded Corners 14">
              <a:extLst>
                <a:ext uri="{FF2B5EF4-FFF2-40B4-BE49-F238E27FC236}">
                  <a16:creationId xmlns:a16="http://schemas.microsoft.com/office/drawing/2014/main" id="{346186FF-E57C-5CAD-A789-C656FA1CD86E}"/>
                </a:ext>
              </a:extLst>
            </p:cNvPr>
            <p:cNvSpPr/>
            <p:nvPr/>
          </p:nvSpPr>
          <p:spPr>
            <a:xfrm>
              <a:off x="1219200" y="1333500"/>
              <a:ext cx="13030200" cy="9144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3200">
                  <a:latin typeface="Times New Roman" panose="02020603050405020304" pitchFamily="18" charset="0"/>
                  <a:cs typeface="Times New Roman" panose="02020603050405020304" pitchFamily="18" charset="0"/>
                </a:rPr>
                <a:t>Release 2 – Prévention &amp; Réponse</a:t>
              </a:r>
              <a:endParaRPr lang="en-US" sz="3200">
                <a:latin typeface="Times New Roman" panose="02020603050405020304" pitchFamily="18" charset="0"/>
                <a:cs typeface="Times New Roman" panose="02020603050405020304" pitchFamily="18" charset="0"/>
              </a:endParaRPr>
            </a:p>
          </p:txBody>
        </p:sp>
        <p:grpSp>
          <p:nvGrpSpPr>
            <p:cNvPr id="6" name="Group 15">
              <a:extLst>
                <a:ext uri="{FF2B5EF4-FFF2-40B4-BE49-F238E27FC236}">
                  <a16:creationId xmlns:a16="http://schemas.microsoft.com/office/drawing/2014/main" id="{88DD0024-ED39-1F58-7103-035DFB09C8FD}"/>
                </a:ext>
              </a:extLst>
            </p:cNvPr>
            <p:cNvGrpSpPr/>
            <p:nvPr/>
          </p:nvGrpSpPr>
          <p:grpSpPr>
            <a:xfrm>
              <a:off x="1447800" y="2644139"/>
              <a:ext cx="8194432" cy="685800"/>
              <a:chOff x="1447800" y="3086100"/>
              <a:chExt cx="8194432" cy="685800"/>
            </a:xfrm>
          </p:grpSpPr>
          <p:sp>
            <p:nvSpPr>
              <p:cNvPr id="19" name="Oval 22">
                <a:extLst>
                  <a:ext uri="{FF2B5EF4-FFF2-40B4-BE49-F238E27FC236}">
                    <a16:creationId xmlns:a16="http://schemas.microsoft.com/office/drawing/2014/main" id="{B48F2DE5-E374-5D01-0181-938879A17393}"/>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4</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20" name="TextBox 23">
                <a:extLst>
                  <a:ext uri="{FF2B5EF4-FFF2-40B4-BE49-F238E27FC236}">
                    <a16:creationId xmlns:a16="http://schemas.microsoft.com/office/drawing/2014/main" id="{DB4BCCC7-6F1B-45A1-51EE-2F40093C9CC6}"/>
                  </a:ext>
                </a:extLst>
              </p:cNvPr>
              <p:cNvSpPr txBox="1"/>
              <p:nvPr/>
            </p:nvSpPr>
            <p:spPr>
              <a:xfrm>
                <a:off x="2438400" y="3169920"/>
                <a:ext cx="7203832"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Sprint 4 — Anticipation par le renseignement</a:t>
                </a:r>
              </a:p>
            </p:txBody>
          </p:sp>
        </p:grpSp>
        <p:grpSp>
          <p:nvGrpSpPr>
            <p:cNvPr id="7" name="Group 16">
              <a:extLst>
                <a:ext uri="{FF2B5EF4-FFF2-40B4-BE49-F238E27FC236}">
                  <a16:creationId xmlns:a16="http://schemas.microsoft.com/office/drawing/2014/main" id="{B12558CA-7DE0-E233-F3BD-C2F00E346492}"/>
                </a:ext>
              </a:extLst>
            </p:cNvPr>
            <p:cNvGrpSpPr/>
            <p:nvPr/>
          </p:nvGrpSpPr>
          <p:grpSpPr>
            <a:xfrm>
              <a:off x="1447800" y="3573779"/>
              <a:ext cx="7378887" cy="685800"/>
              <a:chOff x="1447800" y="3086100"/>
              <a:chExt cx="7378887" cy="685800"/>
            </a:xfrm>
          </p:grpSpPr>
          <p:sp>
            <p:nvSpPr>
              <p:cNvPr id="17" name="Oval 20">
                <a:extLst>
                  <a:ext uri="{FF2B5EF4-FFF2-40B4-BE49-F238E27FC236}">
                    <a16:creationId xmlns:a16="http://schemas.microsoft.com/office/drawing/2014/main" id="{F4536AD9-BFEC-E5EB-4601-A2E16D12D908}"/>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5</a:t>
                </a:r>
              </a:p>
            </p:txBody>
          </p:sp>
          <p:sp>
            <p:nvSpPr>
              <p:cNvPr id="18" name="TextBox 21">
                <a:extLst>
                  <a:ext uri="{FF2B5EF4-FFF2-40B4-BE49-F238E27FC236}">
                    <a16:creationId xmlns:a16="http://schemas.microsoft.com/office/drawing/2014/main" id="{C1438378-424E-8072-9D25-0B1C7E625F7C}"/>
                  </a:ext>
                </a:extLst>
              </p:cNvPr>
              <p:cNvSpPr txBox="1"/>
              <p:nvPr/>
            </p:nvSpPr>
            <p:spPr>
              <a:xfrm>
                <a:off x="2438400" y="3169920"/>
                <a:ext cx="6388287"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Sprint 5 — Mitigation du </a:t>
                </a:r>
                <a:r>
                  <a:rPr lang="en-US" sz="3000" dirty="0" err="1">
                    <a:latin typeface="Times New Roman" panose="02020603050405020304" pitchFamily="18" charset="0"/>
                    <a:cs typeface="Times New Roman" panose="02020603050405020304" pitchFamily="18" charset="0"/>
                  </a:rPr>
                  <a:t>risque</a:t>
                </a:r>
                <a:r>
                  <a:rPr lang="en-US" sz="3000" dirty="0">
                    <a:latin typeface="Times New Roman" panose="02020603050405020304" pitchFamily="18" charset="0"/>
                    <a:cs typeface="Times New Roman" panose="02020603050405020304" pitchFamily="18" charset="0"/>
                  </a:rPr>
                  <a:t> humain</a:t>
                </a:r>
              </a:p>
            </p:txBody>
          </p:sp>
        </p:grpSp>
        <p:grpSp>
          <p:nvGrpSpPr>
            <p:cNvPr id="13" name="Group 17">
              <a:extLst>
                <a:ext uri="{FF2B5EF4-FFF2-40B4-BE49-F238E27FC236}">
                  <a16:creationId xmlns:a16="http://schemas.microsoft.com/office/drawing/2014/main" id="{E9F32847-B9C7-3A1A-9D9C-2446C0C5DE7D}"/>
                </a:ext>
              </a:extLst>
            </p:cNvPr>
            <p:cNvGrpSpPr/>
            <p:nvPr/>
          </p:nvGrpSpPr>
          <p:grpSpPr>
            <a:xfrm>
              <a:off x="1447800" y="4457700"/>
              <a:ext cx="8465723" cy="685800"/>
              <a:chOff x="1447800" y="3086100"/>
              <a:chExt cx="8465723" cy="685800"/>
            </a:xfrm>
          </p:grpSpPr>
          <p:sp>
            <p:nvSpPr>
              <p:cNvPr id="15" name="Oval 18">
                <a:extLst>
                  <a:ext uri="{FF2B5EF4-FFF2-40B4-BE49-F238E27FC236}">
                    <a16:creationId xmlns:a16="http://schemas.microsoft.com/office/drawing/2014/main" id="{CE9AE4D1-0CE8-8973-4F50-AA9AD30D3144}"/>
                  </a:ext>
                </a:extLst>
              </p:cNvPr>
              <p:cNvSpPr/>
              <p:nvPr/>
            </p:nvSpPr>
            <p:spPr>
              <a:xfrm>
                <a:off x="1447800" y="3086100"/>
                <a:ext cx="685800" cy="685800"/>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a:solidFill>
                      <a:srgbClr val="7030A0"/>
                    </a:solidFill>
                    <a:latin typeface="Times New Roman" panose="02020603050405020304" pitchFamily="18" charset="0"/>
                    <a:cs typeface="Times New Roman" panose="02020603050405020304" pitchFamily="18" charset="0"/>
                  </a:rPr>
                  <a:t>6</a:t>
                </a:r>
                <a:endParaRPr lang="en-US" sz="3200">
                  <a:solidFill>
                    <a:srgbClr val="7030A0"/>
                  </a:solidFill>
                  <a:latin typeface="Times New Roman" panose="02020603050405020304" pitchFamily="18" charset="0"/>
                  <a:cs typeface="Times New Roman" panose="02020603050405020304" pitchFamily="18" charset="0"/>
                </a:endParaRPr>
              </a:p>
            </p:txBody>
          </p:sp>
          <p:sp>
            <p:nvSpPr>
              <p:cNvPr id="16" name="TextBox 19">
                <a:extLst>
                  <a:ext uri="{FF2B5EF4-FFF2-40B4-BE49-F238E27FC236}">
                    <a16:creationId xmlns:a16="http://schemas.microsoft.com/office/drawing/2014/main" id="{142230BF-F6E4-57B5-BFA8-22CD76712C1C}"/>
                  </a:ext>
                </a:extLst>
              </p:cNvPr>
              <p:cNvSpPr txBox="1"/>
              <p:nvPr/>
            </p:nvSpPr>
            <p:spPr>
              <a:xfrm>
                <a:off x="2438400" y="3169920"/>
                <a:ext cx="7475123" cy="553998"/>
              </a:xfrm>
              <a:prstGeom prst="rect">
                <a:avLst/>
              </a:prstGeom>
              <a:noFill/>
            </p:spPr>
            <p:txBody>
              <a:bodyPr wrap="none" rtlCol="0">
                <a:spAutoFit/>
              </a:bodyPr>
              <a:lstStyle/>
              <a:p>
                <a:r>
                  <a:rPr lang="en-US" sz="3000">
                    <a:latin typeface="Times New Roman" panose="02020603050405020304" pitchFamily="18" charset="0"/>
                    <a:cs typeface="Times New Roman" panose="02020603050405020304" pitchFamily="18" charset="0"/>
                  </a:rPr>
                  <a:t>Sprint 6 — Orchestration SOAR &amp; supervision</a:t>
                </a:r>
              </a:p>
            </p:txBody>
          </p:sp>
        </p:grpSp>
      </p:grpSp>
    </p:spTree>
    <p:extLst>
      <p:ext uri="{BB962C8B-B14F-4D97-AF65-F5344CB8AC3E}">
        <p14:creationId xmlns:p14="http://schemas.microsoft.com/office/powerpoint/2010/main" val="535585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0CCF8-2E2D-D8FB-A163-05483FAC1164}"/>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5D3C4967-BB23-C328-9A73-061D396FA5A3}"/>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24822D24-380E-87DB-095F-67628559D016}"/>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8B38EE2C-87BE-997B-A00A-C63D65C707DB}"/>
              </a:ext>
            </a:extLst>
          </p:cNvPr>
          <p:cNvSpPr txBox="1"/>
          <p:nvPr/>
        </p:nvSpPr>
        <p:spPr>
          <a:xfrm rot="16200000">
            <a:off x="-2747240" y="5018901"/>
            <a:ext cx="7162800" cy="55399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272F1D71-B30C-B523-B148-36A81BBAF36E}"/>
              </a:ext>
            </a:extLst>
          </p:cNvPr>
          <p:cNvSpPr txBox="1"/>
          <p:nvPr/>
        </p:nvSpPr>
        <p:spPr>
          <a:xfrm rot="16200000">
            <a:off x="-1070071" y="6103406"/>
            <a:ext cx="5072222" cy="323165"/>
          </a:xfrm>
          <a:prstGeom prst="rect">
            <a:avLst/>
          </a:prstGeom>
          <a:noFill/>
        </p:spPr>
        <p:txBody>
          <a:bodyPr wrap="square" rtlCol="0">
            <a:spAutoFit/>
          </a:bodyPr>
          <a:lstStyle/>
          <a:p>
            <a:r>
              <a:rPr lang="fr-FR" sz="1500">
                <a:solidFill>
                  <a:schemeClr val="bg1">
                    <a:lumMod val="50000"/>
                  </a:schemeClr>
                </a:solidFill>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9D64156B-7F6A-2FAD-E578-6ADE5D6DB10A}"/>
              </a:ext>
            </a:extLst>
          </p:cNvPr>
          <p:cNvSpPr txBox="1"/>
          <p:nvPr/>
        </p:nvSpPr>
        <p:spPr>
          <a:xfrm rot="16200000">
            <a:off x="-1149993" y="5522744"/>
            <a:ext cx="6263253"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6 — Orchestration SOAR &amp; supervision</a:t>
            </a:r>
          </a:p>
        </p:txBody>
      </p:sp>
      <p:sp>
        <p:nvSpPr>
          <p:cNvPr id="4" name="TextBox 3">
            <a:extLst>
              <a:ext uri="{FF2B5EF4-FFF2-40B4-BE49-F238E27FC236}">
                <a16:creationId xmlns:a16="http://schemas.microsoft.com/office/drawing/2014/main" id="{087F0EF6-CC1C-AC52-422D-2C5905A0013E}"/>
              </a:ext>
            </a:extLst>
          </p:cNvPr>
          <p:cNvSpPr txBox="1"/>
          <p:nvPr/>
        </p:nvSpPr>
        <p:spPr>
          <a:xfrm>
            <a:off x="8826104" y="800100"/>
            <a:ext cx="3988592"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Le triage Dual-RAG</a:t>
            </a:r>
            <a:endParaRPr lang="en-US" sz="3400" b="1">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89E6F05D-96EF-1BB8-8CF3-11C4E6260906}"/>
              </a:ext>
            </a:extLst>
          </p:cNvPr>
          <p:cNvSpPr txBox="1"/>
          <p:nvPr/>
        </p:nvSpPr>
        <p:spPr>
          <a:xfrm>
            <a:off x="5638800" y="1562100"/>
            <a:ext cx="10363200" cy="707886"/>
          </a:xfrm>
          <a:prstGeom prst="rect">
            <a:avLst/>
          </a:prstGeom>
          <a:noFill/>
        </p:spPr>
        <p:txBody>
          <a:bodyPr wrap="square">
            <a:spAutoFit/>
          </a:bodyPr>
          <a:lstStyle/>
          <a:p>
            <a:pPr algn="ctr"/>
            <a:r>
              <a:rPr lang="fr-FR" sz="2000">
                <a:latin typeface="Times New Roman" panose="02020603050405020304" pitchFamily="18" charset="0"/>
                <a:cs typeface="Times New Roman" panose="02020603050405020304" pitchFamily="18" charset="0"/>
              </a:rPr>
              <a:t>Chaque </a:t>
            </a:r>
            <a:r>
              <a:rPr lang="fr-FR" sz="2000" b="1">
                <a:latin typeface="Times New Roman" panose="02020603050405020304" pitchFamily="18" charset="0"/>
                <a:cs typeface="Times New Roman" panose="02020603050405020304" pitchFamily="18" charset="0"/>
              </a:rPr>
              <a:t>article OSINT </a:t>
            </a:r>
            <a:r>
              <a:rPr lang="fr-FR" sz="2000">
                <a:latin typeface="Times New Roman" panose="02020603050405020304" pitchFamily="18" charset="0"/>
                <a:cs typeface="Times New Roman" panose="02020603050405020304" pitchFamily="18" charset="0"/>
              </a:rPr>
              <a:t>est classé en une seule passe par le </a:t>
            </a:r>
            <a:r>
              <a:rPr lang="fr-FR" sz="2000" b="1">
                <a:latin typeface="Times New Roman" panose="02020603050405020304" pitchFamily="18" charset="0"/>
                <a:cs typeface="Times New Roman" panose="02020603050405020304" pitchFamily="18" charset="0"/>
              </a:rPr>
              <a:t>LLM local</a:t>
            </a:r>
            <a:r>
              <a:rPr lang="fr-FR" sz="2000">
                <a:latin typeface="Times New Roman" panose="02020603050405020304" pitchFamily="18" charset="0"/>
                <a:cs typeface="Times New Roman" panose="02020603050405020304" pitchFamily="18" charset="0"/>
              </a:rPr>
              <a:t>, confronté aux deux bases de référence du </a:t>
            </a:r>
            <a:r>
              <a:rPr lang="fr-FR" sz="2000" b="1">
                <a:latin typeface="Times New Roman" panose="02020603050405020304" pitchFamily="18" charset="0"/>
                <a:cs typeface="Times New Roman" panose="02020603050405020304" pitchFamily="18" charset="0"/>
              </a:rPr>
              <a:t>Dual-RAG</a:t>
            </a:r>
            <a:r>
              <a:rPr lang="fr-FR" sz="2000">
                <a:latin typeface="Times New Roman" panose="02020603050405020304" pitchFamily="18" charset="0"/>
                <a:cs typeface="Times New Roman" panose="02020603050405020304" pitchFamily="18" charset="0"/>
              </a:rPr>
              <a:t>, aboutissant à l’une de quatre issues possibles.</a:t>
            </a:r>
            <a:endParaRPr lang="en-US" sz="200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3656C591-6767-3F7A-CB9D-A0B355C168D3}"/>
              </a:ext>
            </a:extLst>
          </p:cNvPr>
          <p:cNvPicPr>
            <a:picLocks noChangeAspect="1"/>
          </p:cNvPicPr>
          <p:nvPr/>
        </p:nvPicPr>
        <p:blipFill>
          <a:blip r:embed="rId3" cstate="print">
            <a:extLst>
              <a:ext uri="{28A0092B-C50C-407E-A947-70E740481C1C}">
                <a14:useLocalDpi xmlns:a14="http://schemas.microsoft.com/office/drawing/2010/main" val="0"/>
              </a:ext>
            </a:extLst>
          </a:blip>
          <a:srcRect l="2584" t="7143" r="2444" b="7143"/>
          <a:stretch>
            <a:fillRect/>
          </a:stretch>
        </p:blipFill>
        <p:spPr>
          <a:xfrm>
            <a:off x="5219700" y="3314699"/>
            <a:ext cx="11201400" cy="3657600"/>
          </a:xfrm>
          <a:prstGeom prst="rect">
            <a:avLst/>
          </a:prstGeom>
        </p:spPr>
      </p:pic>
      <p:grpSp>
        <p:nvGrpSpPr>
          <p:cNvPr id="9" name="Group 8">
            <a:extLst>
              <a:ext uri="{FF2B5EF4-FFF2-40B4-BE49-F238E27FC236}">
                <a16:creationId xmlns:a16="http://schemas.microsoft.com/office/drawing/2014/main" id="{94C8E0CD-2460-4558-D793-AEBB034E0899}"/>
              </a:ext>
            </a:extLst>
          </p:cNvPr>
          <p:cNvGrpSpPr/>
          <p:nvPr/>
        </p:nvGrpSpPr>
        <p:grpSpPr>
          <a:xfrm>
            <a:off x="5638800" y="8017012"/>
            <a:ext cx="10363200" cy="1622288"/>
            <a:chOff x="790380" y="625140"/>
            <a:chExt cx="8785102" cy="1622288"/>
          </a:xfrm>
        </p:grpSpPr>
        <p:sp>
          <p:nvSpPr>
            <p:cNvPr id="10" name="Rectangle: Rounded Corners 9">
              <a:extLst>
                <a:ext uri="{FF2B5EF4-FFF2-40B4-BE49-F238E27FC236}">
                  <a16:creationId xmlns:a16="http://schemas.microsoft.com/office/drawing/2014/main" id="{0447D8BF-F66C-7094-A15C-A4EF1C66AE53}"/>
                </a:ext>
              </a:extLst>
            </p:cNvPr>
            <p:cNvSpPr/>
            <p:nvPr/>
          </p:nvSpPr>
          <p:spPr>
            <a:xfrm>
              <a:off x="790380" y="625140"/>
              <a:ext cx="8785102" cy="162228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24CADAFD-AA19-8CFA-6C22-24162F26F783}"/>
                </a:ext>
              </a:extLst>
            </p:cNvPr>
            <p:cNvSpPr txBox="1"/>
            <p:nvPr/>
          </p:nvSpPr>
          <p:spPr>
            <a:xfrm>
              <a:off x="917032" y="883164"/>
              <a:ext cx="8531792" cy="110799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200" i="1"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La déduplication en amont évite tout appel inutile au LLM sur du contenu déjà traité, tandis que la distinction technique/sensibilisation permet d’orienter chaque menace vers l’action adaptée — génération de règle ou formation des utilisateurs.</a:t>
              </a:r>
            </a:p>
          </p:txBody>
        </p:sp>
      </p:grpSp>
    </p:spTree>
    <p:extLst>
      <p:ext uri="{BB962C8B-B14F-4D97-AF65-F5344CB8AC3E}">
        <p14:creationId xmlns:p14="http://schemas.microsoft.com/office/powerpoint/2010/main" val="34509567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A9FD9-91EE-27EC-B6B2-39D0EE3BAE77}"/>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2D7C29C0-545A-7CAE-0616-3E66566CEAE4}"/>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7A72EE63-C83B-C219-C21E-1A23B16D5FB5}"/>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153C78B6-0FAB-D9E0-B73F-17BA5C8F8ED3}"/>
              </a:ext>
            </a:extLst>
          </p:cNvPr>
          <p:cNvSpPr txBox="1"/>
          <p:nvPr/>
        </p:nvSpPr>
        <p:spPr>
          <a:xfrm rot="16200000">
            <a:off x="-2747240" y="5018901"/>
            <a:ext cx="7162800" cy="55399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578641BA-1CC0-336D-D0B3-07D4B5E96859}"/>
              </a:ext>
            </a:extLst>
          </p:cNvPr>
          <p:cNvSpPr txBox="1"/>
          <p:nvPr/>
        </p:nvSpPr>
        <p:spPr>
          <a:xfrm rot="16200000">
            <a:off x="-1070071" y="6103406"/>
            <a:ext cx="5072222" cy="323165"/>
          </a:xfrm>
          <a:prstGeom prst="rect">
            <a:avLst/>
          </a:prstGeom>
          <a:noFill/>
        </p:spPr>
        <p:txBody>
          <a:bodyPr wrap="square" rtlCol="0">
            <a:spAutoFit/>
          </a:bodyPr>
          <a:lstStyle/>
          <a:p>
            <a:r>
              <a:rPr lang="fr-FR" sz="1500">
                <a:solidFill>
                  <a:schemeClr val="bg1">
                    <a:lumMod val="50000"/>
                  </a:schemeClr>
                </a:solidFill>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54FC6D26-E26E-54BD-25E9-587766DB9BBD}"/>
              </a:ext>
            </a:extLst>
          </p:cNvPr>
          <p:cNvSpPr txBox="1"/>
          <p:nvPr/>
        </p:nvSpPr>
        <p:spPr>
          <a:xfrm rot="16200000">
            <a:off x="-1149993" y="5522744"/>
            <a:ext cx="6263253"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6 — Orchestration SOAR &amp; supervision</a:t>
            </a:r>
          </a:p>
        </p:txBody>
      </p:sp>
      <p:sp>
        <p:nvSpPr>
          <p:cNvPr id="2" name="TextBox 1">
            <a:extLst>
              <a:ext uri="{FF2B5EF4-FFF2-40B4-BE49-F238E27FC236}">
                <a16:creationId xmlns:a16="http://schemas.microsoft.com/office/drawing/2014/main" id="{1B412847-7E22-FBC4-3E63-9171AF89C212}"/>
              </a:ext>
            </a:extLst>
          </p:cNvPr>
          <p:cNvSpPr txBox="1"/>
          <p:nvPr/>
        </p:nvSpPr>
        <p:spPr>
          <a:xfrm>
            <a:off x="8187303" y="746760"/>
            <a:ext cx="5266185"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De l’article à la règle active</a:t>
            </a:r>
            <a:endParaRPr lang="en-US" sz="3400" b="1">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09C0516-3C34-B68A-9666-01F54169E199}"/>
              </a:ext>
            </a:extLst>
          </p:cNvPr>
          <p:cNvSpPr txBox="1"/>
          <p:nvPr/>
        </p:nvSpPr>
        <p:spPr>
          <a:xfrm>
            <a:off x="5638800" y="1562100"/>
            <a:ext cx="10363200" cy="707886"/>
          </a:xfrm>
          <a:prstGeom prst="rect">
            <a:avLst/>
          </a:prstGeom>
          <a:noFill/>
        </p:spPr>
        <p:txBody>
          <a:bodyPr wrap="square">
            <a:spAutoFit/>
          </a:bodyPr>
          <a:lstStyle/>
          <a:p>
            <a:pPr algn="ctr"/>
            <a:r>
              <a:rPr lang="fr-FR" sz="2000">
                <a:latin typeface="Times New Roman" panose="02020603050405020304" pitchFamily="18" charset="0"/>
                <a:cs typeface="Times New Roman" panose="02020603050405020304" pitchFamily="18" charset="0"/>
              </a:rPr>
              <a:t>Une fois classée </a:t>
            </a:r>
            <a:r>
              <a:rPr lang="fr-FR" sz="2000" b="1">
                <a:latin typeface="Times New Roman" panose="02020603050405020304" pitchFamily="18" charset="0"/>
                <a:cs typeface="Times New Roman" panose="02020603050405020304" pitchFamily="18" charset="0"/>
              </a:rPr>
              <a:t>TECHNICAL_THREAT</a:t>
            </a:r>
            <a:r>
              <a:rPr lang="fr-FR" sz="2000">
                <a:latin typeface="Times New Roman" panose="02020603050405020304" pitchFamily="18" charset="0"/>
                <a:cs typeface="Times New Roman" panose="02020603050405020304" pitchFamily="18" charset="0"/>
              </a:rPr>
              <a:t>, la menace suit un cycle de validation avant toute action sur l’infrastructure — aucune règle n’est injectée sans passer par un test syntaxique à blanc.</a:t>
            </a:r>
            <a:endParaRPr lang="en-US" sz="2000">
              <a:latin typeface="Times New Roman" panose="02020603050405020304" pitchFamily="18" charset="0"/>
              <a:cs typeface="Times New Roman" panose="02020603050405020304" pitchFamily="18" charset="0"/>
            </a:endParaRPr>
          </a:p>
        </p:txBody>
      </p:sp>
      <p:pic>
        <p:nvPicPr>
          <p:cNvPr id="12" name="Picture 11">
            <a:extLst>
              <a:ext uri="{FF2B5EF4-FFF2-40B4-BE49-F238E27FC236}">
                <a16:creationId xmlns:a16="http://schemas.microsoft.com/office/drawing/2014/main" id="{9DD250EC-2938-13EC-9A0D-4CD65E950A1E}"/>
              </a:ext>
            </a:extLst>
          </p:cNvPr>
          <p:cNvPicPr>
            <a:picLocks noChangeAspect="1"/>
          </p:cNvPicPr>
          <p:nvPr/>
        </p:nvPicPr>
        <p:blipFill>
          <a:blip r:embed="rId3" cstate="print">
            <a:extLst>
              <a:ext uri="{28A0092B-C50C-407E-A947-70E740481C1C}">
                <a14:useLocalDpi xmlns:a14="http://schemas.microsoft.com/office/drawing/2010/main" val="0"/>
              </a:ext>
            </a:extLst>
          </a:blip>
          <a:srcRect l="5649" t="5956" r="5649" b="5956"/>
          <a:stretch>
            <a:fillRect/>
          </a:stretch>
        </p:blipFill>
        <p:spPr>
          <a:xfrm>
            <a:off x="4868810" y="3162300"/>
            <a:ext cx="5181600" cy="5999747"/>
          </a:xfrm>
          <a:prstGeom prst="rect">
            <a:avLst/>
          </a:prstGeom>
        </p:spPr>
      </p:pic>
      <p:grpSp>
        <p:nvGrpSpPr>
          <p:cNvPr id="13" name="Group 12">
            <a:extLst>
              <a:ext uri="{FF2B5EF4-FFF2-40B4-BE49-F238E27FC236}">
                <a16:creationId xmlns:a16="http://schemas.microsoft.com/office/drawing/2014/main" id="{A3096CC3-8F3B-C8B5-1129-694C9E1676DE}"/>
              </a:ext>
            </a:extLst>
          </p:cNvPr>
          <p:cNvGrpSpPr/>
          <p:nvPr/>
        </p:nvGrpSpPr>
        <p:grpSpPr>
          <a:xfrm>
            <a:off x="11734800" y="3216414"/>
            <a:ext cx="4504550" cy="707886"/>
            <a:chOff x="9913989" y="1036320"/>
            <a:chExt cx="7467600" cy="3649980"/>
          </a:xfrm>
        </p:grpSpPr>
        <p:sp>
          <p:nvSpPr>
            <p:cNvPr id="14" name="Rectangle: Rounded Corners 13">
              <a:extLst>
                <a:ext uri="{FF2B5EF4-FFF2-40B4-BE49-F238E27FC236}">
                  <a16:creationId xmlns:a16="http://schemas.microsoft.com/office/drawing/2014/main" id="{5318F262-EDB2-4C56-0203-A6219AE79E14}"/>
                </a:ext>
              </a:extLst>
            </p:cNvPr>
            <p:cNvSpPr/>
            <p:nvPr/>
          </p:nvSpPr>
          <p:spPr>
            <a:xfrm>
              <a:off x="9913989" y="1036320"/>
              <a:ext cx="7467600" cy="364998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1CDB58B-600E-A4A7-67B1-014EEB25FBCF}"/>
                </a:ext>
              </a:extLst>
            </p:cNvPr>
            <p:cNvSpPr txBox="1"/>
            <p:nvPr/>
          </p:nvSpPr>
          <p:spPr>
            <a:xfrm>
              <a:off x="10271175" y="1591748"/>
              <a:ext cx="6753228" cy="25391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Génération &amp; Persistance</a:t>
              </a:r>
              <a:endParaRPr kumimoji="0" lang="en-US" sz="2600" b="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sp>
          <p:nvSpPr>
            <p:cNvPr id="16" name="TextBox 15">
              <a:extLst>
                <a:ext uri="{FF2B5EF4-FFF2-40B4-BE49-F238E27FC236}">
                  <a16:creationId xmlns:a16="http://schemas.microsoft.com/office/drawing/2014/main" id="{C0D62A3F-17D7-169D-A70F-A839BD95C677}"/>
                </a:ext>
              </a:extLst>
            </p:cNvPr>
            <p:cNvSpPr txBox="1"/>
            <p:nvPr/>
          </p:nvSpPr>
          <p:spPr>
            <a:xfrm>
              <a:off x="10066390" y="2093535"/>
              <a:ext cx="7049976" cy="400110"/>
            </a:xfrm>
            <a:prstGeom prst="rect">
              <a:avLst/>
            </a:prstGeom>
            <a:noFill/>
          </p:spPr>
          <p:txBody>
            <a:bodyPr wrap="square" rtlCol="0">
              <a:spAutoFit/>
            </a:bodyPr>
            <a:lstStyle/>
            <a:p>
              <a:pPr marL="342900" indent="-342900">
                <a:buFont typeface="Arial" panose="020B0604020202020204" pitchFamily="34" charset="0"/>
                <a:buChar char="•"/>
              </a:pPr>
              <a:endParaRPr lang="en-US" sz="2000">
                <a:solidFill>
                  <a:schemeClr val="bg1"/>
                </a:solidFill>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AE9793A7-28BB-2CC6-AF0E-8C3CA13D1AC2}"/>
                </a:ext>
              </a:extLst>
            </p:cNvPr>
            <p:cNvSpPr txBox="1"/>
            <p:nvPr/>
          </p:nvSpPr>
          <p:spPr>
            <a:xfrm>
              <a:off x="10066390" y="2532607"/>
              <a:ext cx="184731" cy="400110"/>
            </a:xfrm>
            <a:prstGeom prst="rect">
              <a:avLst/>
            </a:prstGeom>
            <a:noFill/>
          </p:spPr>
          <p:txBody>
            <a:bodyPr wrap="none" rtlCol="0">
              <a:spAutoFit/>
            </a:bodyPr>
            <a:lstStyle/>
            <a:p>
              <a:endParaRPr lang="en-US" sz="2000">
                <a:solidFill>
                  <a:schemeClr val="bg1"/>
                </a:solidFill>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ABAC4C98-3D25-14DB-7361-97409D5508C0}"/>
                </a:ext>
              </a:extLst>
            </p:cNvPr>
            <p:cNvSpPr txBox="1"/>
            <p:nvPr/>
          </p:nvSpPr>
          <p:spPr>
            <a:xfrm>
              <a:off x="10066389" y="3350805"/>
              <a:ext cx="184731" cy="400110"/>
            </a:xfrm>
            <a:prstGeom prst="rect">
              <a:avLst/>
            </a:prstGeom>
            <a:noFill/>
          </p:spPr>
          <p:txBody>
            <a:bodyPr wrap="none" rtlCol="0">
              <a:spAutoFit/>
            </a:bodyPr>
            <a:lstStyle/>
            <a:p>
              <a:endParaRPr lang="en-US" sz="2000">
                <a:solidFill>
                  <a:schemeClr val="bg1"/>
                </a:solidFill>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4194AD46-5D5A-2F4C-BD19-EEDDA040372B}"/>
                </a:ext>
              </a:extLst>
            </p:cNvPr>
            <p:cNvSpPr txBox="1"/>
            <p:nvPr/>
          </p:nvSpPr>
          <p:spPr>
            <a:xfrm>
              <a:off x="10066389" y="3989962"/>
              <a:ext cx="184731" cy="400110"/>
            </a:xfrm>
            <a:prstGeom prst="rect">
              <a:avLst/>
            </a:prstGeom>
            <a:noFill/>
          </p:spPr>
          <p:txBody>
            <a:bodyPr wrap="none" rtlCol="0">
              <a:spAutoFit/>
            </a:bodyPr>
            <a:lstStyle/>
            <a:p>
              <a:endParaRPr lang="en-US" sz="2000">
                <a:solidFill>
                  <a:schemeClr val="bg1"/>
                </a:solidFill>
                <a:latin typeface="Times New Roman" panose="02020603050405020304" pitchFamily="18" charset="0"/>
                <a:cs typeface="Times New Roman" panose="02020603050405020304" pitchFamily="18" charset="0"/>
              </a:endParaRPr>
            </a:p>
          </p:txBody>
        </p:sp>
      </p:grpSp>
      <p:grpSp>
        <p:nvGrpSpPr>
          <p:cNvPr id="27" name="Group 26">
            <a:extLst>
              <a:ext uri="{FF2B5EF4-FFF2-40B4-BE49-F238E27FC236}">
                <a16:creationId xmlns:a16="http://schemas.microsoft.com/office/drawing/2014/main" id="{D287834E-89BC-99CB-7614-FA65D6F42C35}"/>
              </a:ext>
            </a:extLst>
          </p:cNvPr>
          <p:cNvGrpSpPr/>
          <p:nvPr/>
        </p:nvGrpSpPr>
        <p:grpSpPr>
          <a:xfrm>
            <a:off x="11700772" y="5421149"/>
            <a:ext cx="4504550" cy="1246351"/>
            <a:chOff x="9913989" y="1036320"/>
            <a:chExt cx="7467600" cy="3649980"/>
          </a:xfrm>
        </p:grpSpPr>
        <p:sp>
          <p:nvSpPr>
            <p:cNvPr id="28" name="Rectangle: Rounded Corners 27">
              <a:extLst>
                <a:ext uri="{FF2B5EF4-FFF2-40B4-BE49-F238E27FC236}">
                  <a16:creationId xmlns:a16="http://schemas.microsoft.com/office/drawing/2014/main" id="{9F01E926-BFDB-7021-BCEE-13CD2006101E}"/>
                </a:ext>
              </a:extLst>
            </p:cNvPr>
            <p:cNvSpPr/>
            <p:nvPr/>
          </p:nvSpPr>
          <p:spPr>
            <a:xfrm>
              <a:off x="9913989" y="1036320"/>
              <a:ext cx="7467600" cy="364998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30" name="TextBox 29">
              <a:extLst>
                <a:ext uri="{FF2B5EF4-FFF2-40B4-BE49-F238E27FC236}">
                  <a16:creationId xmlns:a16="http://schemas.microsoft.com/office/drawing/2014/main" id="{F63341E9-F19C-8EA7-562A-E3AFE502EABE}"/>
                </a:ext>
              </a:extLst>
            </p:cNvPr>
            <p:cNvSpPr txBox="1"/>
            <p:nvPr/>
          </p:nvSpPr>
          <p:spPr>
            <a:xfrm>
              <a:off x="10066390" y="2093535"/>
              <a:ext cx="7049976" cy="400110"/>
            </a:xfrm>
            <a:prstGeom prst="rect">
              <a:avLst/>
            </a:prstGeom>
            <a:noFill/>
          </p:spPr>
          <p:txBody>
            <a:bodyPr wrap="square" rtlCol="0">
              <a:spAutoFit/>
            </a:bodyPr>
            <a:lstStyle/>
            <a:p>
              <a:pPr marL="342900" indent="-342900">
                <a:buFont typeface="Arial" panose="020B0604020202020204" pitchFamily="34" charset="0"/>
                <a:buChar char="•"/>
              </a:pPr>
              <a:endParaRPr lang="en-US" sz="2000">
                <a:solidFill>
                  <a:schemeClr val="bg1"/>
                </a:solidFill>
                <a:latin typeface="Times New Roman" panose="02020603050405020304" pitchFamily="18" charset="0"/>
                <a:cs typeface="Times New Roman" panose="02020603050405020304" pitchFamily="18" charset="0"/>
              </a:endParaRPr>
            </a:p>
          </p:txBody>
        </p:sp>
        <p:sp>
          <p:nvSpPr>
            <p:cNvPr id="31" name="TextBox 30">
              <a:extLst>
                <a:ext uri="{FF2B5EF4-FFF2-40B4-BE49-F238E27FC236}">
                  <a16:creationId xmlns:a16="http://schemas.microsoft.com/office/drawing/2014/main" id="{6390A9A0-A3A6-CB7E-E4C6-5F1D9E4FA258}"/>
                </a:ext>
              </a:extLst>
            </p:cNvPr>
            <p:cNvSpPr txBox="1"/>
            <p:nvPr/>
          </p:nvSpPr>
          <p:spPr>
            <a:xfrm>
              <a:off x="10066390" y="2532607"/>
              <a:ext cx="184731" cy="400110"/>
            </a:xfrm>
            <a:prstGeom prst="rect">
              <a:avLst/>
            </a:prstGeom>
            <a:noFill/>
          </p:spPr>
          <p:txBody>
            <a:bodyPr wrap="none" rtlCol="0">
              <a:spAutoFit/>
            </a:bodyPr>
            <a:lstStyle/>
            <a:p>
              <a:endParaRPr lang="en-US" sz="2000">
                <a:solidFill>
                  <a:schemeClr val="bg1"/>
                </a:solidFill>
                <a:latin typeface="Times New Roman" panose="02020603050405020304" pitchFamily="18" charset="0"/>
                <a:cs typeface="Times New Roman" panose="02020603050405020304" pitchFamily="18" charset="0"/>
              </a:endParaRPr>
            </a:p>
          </p:txBody>
        </p:sp>
        <p:sp>
          <p:nvSpPr>
            <p:cNvPr id="33" name="TextBox 32">
              <a:extLst>
                <a:ext uri="{FF2B5EF4-FFF2-40B4-BE49-F238E27FC236}">
                  <a16:creationId xmlns:a16="http://schemas.microsoft.com/office/drawing/2014/main" id="{047C4E86-1BE2-741F-A33B-0AF59C7F84D0}"/>
                </a:ext>
              </a:extLst>
            </p:cNvPr>
            <p:cNvSpPr txBox="1"/>
            <p:nvPr/>
          </p:nvSpPr>
          <p:spPr>
            <a:xfrm>
              <a:off x="10066389" y="3350805"/>
              <a:ext cx="184731" cy="400110"/>
            </a:xfrm>
            <a:prstGeom prst="rect">
              <a:avLst/>
            </a:prstGeom>
            <a:noFill/>
          </p:spPr>
          <p:txBody>
            <a:bodyPr wrap="none" rtlCol="0">
              <a:spAutoFit/>
            </a:bodyPr>
            <a:lstStyle/>
            <a:p>
              <a:endParaRPr lang="en-US" sz="2000">
                <a:solidFill>
                  <a:schemeClr val="bg1"/>
                </a:solidFill>
                <a:latin typeface="Times New Roman" panose="02020603050405020304" pitchFamily="18" charset="0"/>
                <a:cs typeface="Times New Roman" panose="02020603050405020304" pitchFamily="18" charset="0"/>
              </a:endParaRPr>
            </a:p>
          </p:txBody>
        </p:sp>
        <p:sp>
          <p:nvSpPr>
            <p:cNvPr id="34" name="TextBox 33">
              <a:extLst>
                <a:ext uri="{FF2B5EF4-FFF2-40B4-BE49-F238E27FC236}">
                  <a16:creationId xmlns:a16="http://schemas.microsoft.com/office/drawing/2014/main" id="{1662E056-7ED6-D924-8B9D-4AC75DA84085}"/>
                </a:ext>
              </a:extLst>
            </p:cNvPr>
            <p:cNvSpPr txBox="1"/>
            <p:nvPr/>
          </p:nvSpPr>
          <p:spPr>
            <a:xfrm>
              <a:off x="10066389" y="3989962"/>
              <a:ext cx="184731" cy="400110"/>
            </a:xfrm>
            <a:prstGeom prst="rect">
              <a:avLst/>
            </a:prstGeom>
            <a:noFill/>
          </p:spPr>
          <p:txBody>
            <a:bodyPr wrap="none" rtlCol="0">
              <a:spAutoFit/>
            </a:bodyPr>
            <a:lstStyle/>
            <a:p>
              <a:endParaRPr lang="en-US" sz="2000">
                <a:solidFill>
                  <a:schemeClr val="bg1"/>
                </a:solidFill>
                <a:latin typeface="Times New Roman" panose="02020603050405020304" pitchFamily="18" charset="0"/>
                <a:cs typeface="Times New Roman" panose="02020603050405020304" pitchFamily="18" charset="0"/>
              </a:endParaRPr>
            </a:p>
          </p:txBody>
        </p:sp>
      </p:grpSp>
      <p:sp>
        <p:nvSpPr>
          <p:cNvPr id="39" name="TextBox 38">
            <a:extLst>
              <a:ext uri="{FF2B5EF4-FFF2-40B4-BE49-F238E27FC236}">
                <a16:creationId xmlns:a16="http://schemas.microsoft.com/office/drawing/2014/main" id="{A51A06B5-72ED-E7D2-C9ED-9EBB7EBEAA4B}"/>
              </a:ext>
            </a:extLst>
          </p:cNvPr>
          <p:cNvSpPr txBox="1"/>
          <p:nvPr/>
        </p:nvSpPr>
        <p:spPr>
          <a:xfrm>
            <a:off x="12826559" y="5531666"/>
            <a:ext cx="2321032" cy="89255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Test à </a:t>
            </a:r>
            <a:r>
              <a:rPr kumimoji="0" lang="en-US" sz="2600" b="1" i="0" u="none" strike="noStrike" kern="1200" cap="none" spc="0" normalizeH="0" baseline="0" noProof="0" err="1">
                <a:ln>
                  <a:noFill/>
                </a:ln>
                <a:solidFill>
                  <a:prstClr val="white"/>
                </a:solidFill>
                <a:effectLst/>
                <a:uLnTx/>
                <a:uFillTx/>
                <a:latin typeface="Times New Roman" panose="02020603050405020304" pitchFamily="18" charset="0"/>
                <a:ea typeface="+mn-ea"/>
                <a:cs typeface="Times New Roman" panose="02020603050405020304" pitchFamily="18" charset="0"/>
              </a:rPr>
              <a:t>blanc</a:t>
            </a:r>
            <a:r>
              <a:rPr kumimoji="0" lang="en-US" sz="2600" b="1"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&amp; </a:t>
            </a:r>
            <a:r>
              <a:rPr kumimoji="0" lang="en-US" sz="2600" b="1" i="0" u="none" strike="noStrike" kern="1200" cap="none" spc="0" normalizeH="0" baseline="0" noProof="0" err="1">
                <a:ln>
                  <a:noFill/>
                </a:ln>
                <a:solidFill>
                  <a:prstClr val="white"/>
                </a:solidFill>
                <a:effectLst/>
                <a:uLnTx/>
                <a:uFillTx/>
                <a:latin typeface="Times New Roman" panose="02020603050405020304" pitchFamily="18" charset="0"/>
                <a:ea typeface="+mn-ea"/>
                <a:cs typeface="Times New Roman" panose="02020603050405020304" pitchFamily="18" charset="0"/>
              </a:rPr>
              <a:t>Déploiement</a:t>
            </a:r>
            <a:endParaRPr kumimoji="0" lang="en-US" sz="2600" b="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sp>
        <p:nvSpPr>
          <p:cNvPr id="40" name="Right Brace 39">
            <a:extLst>
              <a:ext uri="{FF2B5EF4-FFF2-40B4-BE49-F238E27FC236}">
                <a16:creationId xmlns:a16="http://schemas.microsoft.com/office/drawing/2014/main" id="{7120BD63-1A62-5D74-2498-3F115403B609}"/>
              </a:ext>
            </a:extLst>
          </p:cNvPr>
          <p:cNvSpPr/>
          <p:nvPr/>
        </p:nvSpPr>
        <p:spPr>
          <a:xfrm>
            <a:off x="10210800" y="4686300"/>
            <a:ext cx="838200" cy="2895600"/>
          </a:xfrm>
          <a:prstGeom prst="rightBrace">
            <a:avLst>
              <a:gd name="adj1" fmla="val 8333"/>
              <a:gd name="adj2" fmla="val 508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2" name="Right Brace 41">
            <a:extLst>
              <a:ext uri="{FF2B5EF4-FFF2-40B4-BE49-F238E27FC236}">
                <a16:creationId xmlns:a16="http://schemas.microsoft.com/office/drawing/2014/main" id="{CDD8C632-D6D5-EC40-893D-2B96D06C8947}"/>
              </a:ext>
            </a:extLst>
          </p:cNvPr>
          <p:cNvSpPr/>
          <p:nvPr/>
        </p:nvSpPr>
        <p:spPr>
          <a:xfrm>
            <a:off x="10173939" y="3250522"/>
            <a:ext cx="838200" cy="616327"/>
          </a:xfrm>
          <a:prstGeom prst="rightBrace">
            <a:avLst>
              <a:gd name="adj1" fmla="val 8333"/>
              <a:gd name="adj2" fmla="val 508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388716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86D6-F110-A4F6-A677-94EEBA7435A0}"/>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6174EBAA-9C9B-78E2-8823-2CE01BA1B214}"/>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0E6E5AF0-5EDA-1718-D825-084D9C29C694}"/>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5FB44797-EAD2-DFB8-D8F4-7B716422C801}"/>
              </a:ext>
            </a:extLst>
          </p:cNvPr>
          <p:cNvSpPr txBox="1"/>
          <p:nvPr/>
        </p:nvSpPr>
        <p:spPr>
          <a:xfrm rot="16200000">
            <a:off x="-2747240" y="5134317"/>
            <a:ext cx="7162800" cy="323165"/>
          </a:xfrm>
          <a:prstGeom prst="rect">
            <a:avLst/>
          </a:prstGeom>
          <a:noFill/>
        </p:spPr>
        <p:txBody>
          <a:bodyPr wrap="square" rtlCol="0">
            <a:spAutoFit/>
          </a:bodyPr>
          <a:lstStyle/>
          <a:p>
            <a:r>
              <a:rPr lang="en-US" sz="1500" dirty="0">
                <a:solidFill>
                  <a:schemeClr val="bg1">
                    <a:lumMod val="50000"/>
                  </a:schemeClr>
                </a:solidFill>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E8670861-ACD6-301E-852D-5E7FB745A564}"/>
              </a:ext>
            </a:extLst>
          </p:cNvPr>
          <p:cNvSpPr txBox="1"/>
          <p:nvPr/>
        </p:nvSpPr>
        <p:spPr>
          <a:xfrm rot="16200000">
            <a:off x="-2123301" y="4980800"/>
            <a:ext cx="7086601" cy="553998"/>
          </a:xfrm>
          <a:prstGeom prst="rect">
            <a:avLst/>
          </a:prstGeom>
          <a:noFill/>
        </p:spPr>
        <p:txBody>
          <a:bodyPr wrap="square" rtlCol="0">
            <a:spAutoFit/>
          </a:bodyPr>
          <a:lstStyle/>
          <a:p>
            <a:r>
              <a:rPr lang="fr-FR" sz="3000">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42E66A42-E547-4A41-16F6-98865A2053E9}"/>
              </a:ext>
            </a:extLst>
          </p:cNvPr>
          <p:cNvSpPr txBox="1"/>
          <p:nvPr/>
        </p:nvSpPr>
        <p:spPr>
          <a:xfrm rot="16200000">
            <a:off x="-1149993" y="5522744"/>
            <a:ext cx="6263253"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6 — Orchestration SOAR &amp; supervision</a:t>
            </a:r>
          </a:p>
        </p:txBody>
      </p:sp>
      <p:grpSp>
        <p:nvGrpSpPr>
          <p:cNvPr id="9" name="Group 8">
            <a:extLst>
              <a:ext uri="{FF2B5EF4-FFF2-40B4-BE49-F238E27FC236}">
                <a16:creationId xmlns:a16="http://schemas.microsoft.com/office/drawing/2014/main" id="{947FF31E-F644-2466-F2A2-18B8A38BC34D}"/>
              </a:ext>
            </a:extLst>
          </p:cNvPr>
          <p:cNvGrpSpPr/>
          <p:nvPr/>
        </p:nvGrpSpPr>
        <p:grpSpPr>
          <a:xfrm>
            <a:off x="10997805" y="2171700"/>
            <a:ext cx="5470145" cy="3810000"/>
            <a:chOff x="12471632" y="1074345"/>
            <a:chExt cx="6387235" cy="3867240"/>
          </a:xfrm>
        </p:grpSpPr>
        <p:sp>
          <p:nvSpPr>
            <p:cNvPr id="10" name="Rectangle: Rounded Corners 9">
              <a:extLst>
                <a:ext uri="{FF2B5EF4-FFF2-40B4-BE49-F238E27FC236}">
                  <a16:creationId xmlns:a16="http://schemas.microsoft.com/office/drawing/2014/main" id="{DD18BBF1-2302-3A46-37FC-637F7D48CFE3}"/>
                </a:ext>
              </a:extLst>
            </p:cNvPr>
            <p:cNvSpPr/>
            <p:nvPr/>
          </p:nvSpPr>
          <p:spPr>
            <a:xfrm>
              <a:off x="12471632" y="1074345"/>
              <a:ext cx="6387235" cy="386724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AB4F98C5-B949-B46B-777C-BBA5B7C8C804}"/>
                </a:ext>
              </a:extLst>
            </p:cNvPr>
            <p:cNvSpPr txBox="1"/>
            <p:nvPr/>
          </p:nvSpPr>
          <p:spPr>
            <a:xfrm>
              <a:off x="12723958" y="1430342"/>
              <a:ext cx="5882581" cy="315524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Un article AWARENESS déclenche, sur décision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de l’administrateur,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la génération d’un parcours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de formation personnalisée,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sa diffusion ciblée et le suivi de conformité des employés.</a:t>
              </a:r>
              <a:endParaRPr kumimoji="0" lang="en-US" sz="28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grpSp>
      <p:sp>
        <p:nvSpPr>
          <p:cNvPr id="12" name="TextBox 11">
            <a:extLst>
              <a:ext uri="{FF2B5EF4-FFF2-40B4-BE49-F238E27FC236}">
                <a16:creationId xmlns:a16="http://schemas.microsoft.com/office/drawing/2014/main" id="{79AC0994-A64A-F9F7-EF76-63C1C9C724F2}"/>
              </a:ext>
            </a:extLst>
          </p:cNvPr>
          <p:cNvSpPr txBox="1"/>
          <p:nvPr/>
        </p:nvSpPr>
        <p:spPr>
          <a:xfrm>
            <a:off x="3830527" y="1160502"/>
            <a:ext cx="9275873" cy="553998"/>
          </a:xfrm>
          <a:prstGeom prst="rect">
            <a:avLst/>
          </a:prstGeom>
          <a:noFill/>
        </p:spPr>
        <p:txBody>
          <a:bodyPr wrap="none" rtlCol="0">
            <a:spAutoFit/>
          </a:bodyPr>
          <a:lstStyle/>
          <a:p>
            <a:r>
              <a:rPr lang="fr-FR" sz="3000" b="1">
                <a:latin typeface="Times New Roman" panose="02020603050405020304" pitchFamily="18" charset="0"/>
                <a:cs typeface="Times New Roman" panose="02020603050405020304" pitchFamily="18" charset="0"/>
              </a:rPr>
              <a:t>Architecture du Sprint 5 - Mitigation du risque humain</a:t>
            </a:r>
            <a:endParaRPr lang="en-US" sz="3000" b="1">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3DAB6741-A7CD-9E85-462E-B4D42E708947}"/>
              </a:ext>
            </a:extLst>
          </p:cNvPr>
          <p:cNvPicPr>
            <a:picLocks noChangeAspect="1"/>
          </p:cNvPicPr>
          <p:nvPr/>
        </p:nvPicPr>
        <p:blipFill>
          <a:blip r:embed="rId3" cstate="print">
            <a:extLst>
              <a:ext uri="{28A0092B-C50C-407E-A947-70E740481C1C}">
                <a14:useLocalDpi xmlns:a14="http://schemas.microsoft.com/office/drawing/2010/main" val="0"/>
              </a:ext>
            </a:extLst>
          </a:blip>
          <a:srcRect l="22383" t="11308" r="22383" b="3101"/>
          <a:stretch>
            <a:fillRect/>
          </a:stretch>
        </p:blipFill>
        <p:spPr>
          <a:xfrm>
            <a:off x="5867400" y="2042401"/>
            <a:ext cx="4556760" cy="7084097"/>
          </a:xfrm>
          <a:prstGeom prst="rect">
            <a:avLst/>
          </a:prstGeom>
        </p:spPr>
      </p:pic>
    </p:spTree>
    <p:extLst>
      <p:ext uri="{BB962C8B-B14F-4D97-AF65-F5344CB8AC3E}">
        <p14:creationId xmlns:p14="http://schemas.microsoft.com/office/powerpoint/2010/main" val="36306506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77D4B-2A73-AE68-3513-8D4852FA6A66}"/>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5BDFE2C7-F357-7A38-C44B-A41CF2762D6E}"/>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31B9B992-5C99-1A5E-C578-93E158EFA16F}"/>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9F0CAB82-9EE5-4208-A321-7C98FB492C5C}"/>
              </a:ext>
            </a:extLst>
          </p:cNvPr>
          <p:cNvSpPr txBox="1"/>
          <p:nvPr/>
        </p:nvSpPr>
        <p:spPr>
          <a:xfrm rot="16200000">
            <a:off x="-2747240" y="5134317"/>
            <a:ext cx="7162800" cy="323165"/>
          </a:xfrm>
          <a:prstGeom prst="rect">
            <a:avLst/>
          </a:prstGeom>
          <a:noFill/>
        </p:spPr>
        <p:txBody>
          <a:bodyPr wrap="square" rtlCol="0">
            <a:spAutoFit/>
          </a:bodyPr>
          <a:lstStyle/>
          <a:p>
            <a:r>
              <a:rPr lang="en-US" sz="1500" dirty="0">
                <a:solidFill>
                  <a:schemeClr val="bg1">
                    <a:lumMod val="50000"/>
                  </a:schemeClr>
                </a:solidFill>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2F50EADB-71F3-1711-BE7A-F07BD8F86BE6}"/>
              </a:ext>
            </a:extLst>
          </p:cNvPr>
          <p:cNvSpPr txBox="1"/>
          <p:nvPr/>
        </p:nvSpPr>
        <p:spPr>
          <a:xfrm rot="16200000">
            <a:off x="-2123301" y="4980800"/>
            <a:ext cx="7086601" cy="553998"/>
          </a:xfrm>
          <a:prstGeom prst="rect">
            <a:avLst/>
          </a:prstGeom>
          <a:noFill/>
        </p:spPr>
        <p:txBody>
          <a:bodyPr wrap="square" rtlCol="0">
            <a:spAutoFit/>
          </a:bodyPr>
          <a:lstStyle/>
          <a:p>
            <a:r>
              <a:rPr lang="fr-FR" sz="3000">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9C628FA0-5789-03A1-6CF1-805665EA5660}"/>
              </a:ext>
            </a:extLst>
          </p:cNvPr>
          <p:cNvSpPr txBox="1"/>
          <p:nvPr/>
        </p:nvSpPr>
        <p:spPr>
          <a:xfrm rot="16200000">
            <a:off x="-1149993" y="5522744"/>
            <a:ext cx="6263253"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6 — Orchestration SOAR &amp; supervision</a:t>
            </a:r>
          </a:p>
        </p:txBody>
      </p:sp>
      <p:sp>
        <p:nvSpPr>
          <p:cNvPr id="2" name="TextBox 1">
            <a:extLst>
              <a:ext uri="{FF2B5EF4-FFF2-40B4-BE49-F238E27FC236}">
                <a16:creationId xmlns:a16="http://schemas.microsoft.com/office/drawing/2014/main" id="{DDA19E5D-01D0-5D9E-7F0B-FF61C9CFA939}"/>
              </a:ext>
            </a:extLst>
          </p:cNvPr>
          <p:cNvSpPr txBox="1"/>
          <p:nvPr/>
        </p:nvSpPr>
        <p:spPr>
          <a:xfrm>
            <a:off x="7382596" y="740807"/>
            <a:ext cx="6875600"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La cascade de résilience multi-LLM</a:t>
            </a:r>
            <a:endParaRPr lang="en-US" sz="3400" b="1">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21FB3F4E-9819-15C8-A2D7-560061B5B5BA}"/>
              </a:ext>
            </a:extLst>
          </p:cNvPr>
          <p:cNvSpPr txBox="1"/>
          <p:nvPr/>
        </p:nvSpPr>
        <p:spPr>
          <a:xfrm>
            <a:off x="5638800" y="1562100"/>
            <a:ext cx="10363200" cy="1015663"/>
          </a:xfrm>
          <a:prstGeom prst="rect">
            <a:avLst/>
          </a:prstGeom>
          <a:noFill/>
        </p:spPr>
        <p:txBody>
          <a:bodyPr wrap="square">
            <a:spAutoFit/>
          </a:bodyPr>
          <a:lstStyle/>
          <a:p>
            <a:pPr algn="ctr"/>
            <a:r>
              <a:rPr lang="fr-FR" sz="2000">
                <a:latin typeface="Times New Roman" panose="02020603050405020304" pitchFamily="18" charset="0"/>
                <a:cs typeface="Times New Roman" panose="02020603050405020304" pitchFamily="18" charset="0"/>
              </a:rPr>
              <a:t>Si le fournisseur cloud primaire est </a:t>
            </a:r>
            <a:r>
              <a:rPr lang="fr-FR" sz="2000" b="1">
                <a:latin typeface="Times New Roman" panose="02020603050405020304" pitchFamily="18" charset="0"/>
                <a:cs typeface="Times New Roman" panose="02020603050405020304" pitchFamily="18" charset="0"/>
              </a:rPr>
              <a:t>indisponible</a:t>
            </a:r>
            <a:r>
              <a:rPr lang="fr-FR" sz="2000">
                <a:latin typeface="Times New Roman" panose="02020603050405020304" pitchFamily="18" charset="0"/>
                <a:cs typeface="Times New Roman" panose="02020603050405020304" pitchFamily="18" charset="0"/>
              </a:rPr>
              <a:t>, le système </a:t>
            </a:r>
            <a:r>
              <a:rPr lang="fr-FR" sz="2000" b="1">
                <a:latin typeface="Times New Roman" panose="02020603050405020304" pitchFamily="18" charset="0"/>
                <a:cs typeface="Times New Roman" panose="02020603050405020304" pitchFamily="18" charset="0"/>
              </a:rPr>
              <a:t>bascule automatiquement </a:t>
            </a:r>
            <a:r>
              <a:rPr lang="fr-FR" sz="2000">
                <a:latin typeface="Times New Roman" panose="02020603050405020304" pitchFamily="18" charset="0"/>
                <a:cs typeface="Times New Roman" panose="02020603050405020304" pitchFamily="18" charset="0"/>
              </a:rPr>
              <a:t>vers un </a:t>
            </a:r>
            <a:r>
              <a:rPr lang="fr-FR" sz="2000" b="1">
                <a:latin typeface="Times New Roman" panose="02020603050405020304" pitchFamily="18" charset="0"/>
                <a:cs typeface="Times New Roman" panose="02020603050405020304" pitchFamily="18" charset="0"/>
              </a:rPr>
              <a:t>palier de secours</a:t>
            </a:r>
            <a:r>
              <a:rPr lang="fr-FR" sz="2000">
                <a:latin typeface="Times New Roman" panose="02020603050405020304" pitchFamily="18" charset="0"/>
                <a:cs typeface="Times New Roman" panose="02020603050405020304" pitchFamily="18" charset="0"/>
              </a:rPr>
              <a:t>, jusqu’au </a:t>
            </a:r>
            <a:r>
              <a:rPr lang="fr-FR" sz="2000" b="1">
                <a:latin typeface="Times New Roman" panose="02020603050405020304" pitchFamily="18" charset="0"/>
                <a:cs typeface="Times New Roman" panose="02020603050405020304" pitchFamily="18" charset="0"/>
              </a:rPr>
              <a:t>modèle local</a:t>
            </a:r>
            <a:r>
              <a:rPr lang="fr-FR" sz="2000">
                <a:latin typeface="Times New Roman" panose="02020603050405020304" pitchFamily="18" charset="0"/>
                <a:cs typeface="Times New Roman" panose="02020603050405020304" pitchFamily="18" charset="0"/>
              </a:rPr>
              <a:t> — garantissant </a:t>
            </a:r>
            <a:r>
              <a:rPr lang="fr-FR" sz="2000" i="1">
                <a:latin typeface="Times New Roman" panose="02020603050405020304" pitchFamily="18" charset="0"/>
                <a:cs typeface="Times New Roman" panose="02020603050405020304" pitchFamily="18" charset="0"/>
              </a:rPr>
              <a:t>la continuité </a:t>
            </a:r>
            <a:r>
              <a:rPr lang="fr-FR" sz="2000">
                <a:latin typeface="Times New Roman" panose="02020603050405020304" pitchFamily="18" charset="0"/>
                <a:cs typeface="Times New Roman" panose="02020603050405020304" pitchFamily="18" charset="0"/>
              </a:rPr>
              <a:t>du service pédagogique en toute circonstance.</a:t>
            </a:r>
            <a:endParaRPr lang="en-US" sz="2000">
              <a:latin typeface="Times New Roman" panose="02020603050405020304" pitchFamily="18" charset="0"/>
              <a:cs typeface="Times New Roman" panose="02020603050405020304" pitchFamily="18" charset="0"/>
            </a:endParaRPr>
          </a:p>
        </p:txBody>
      </p:sp>
      <p:grpSp>
        <p:nvGrpSpPr>
          <p:cNvPr id="13" name="Group 12">
            <a:extLst>
              <a:ext uri="{FF2B5EF4-FFF2-40B4-BE49-F238E27FC236}">
                <a16:creationId xmlns:a16="http://schemas.microsoft.com/office/drawing/2014/main" id="{0D63D015-F633-8B96-C803-5CCF26F2C450}"/>
              </a:ext>
            </a:extLst>
          </p:cNvPr>
          <p:cNvGrpSpPr/>
          <p:nvPr/>
        </p:nvGrpSpPr>
        <p:grpSpPr>
          <a:xfrm>
            <a:off x="5638800" y="8474212"/>
            <a:ext cx="10363200" cy="1088888"/>
            <a:chOff x="790380" y="625140"/>
            <a:chExt cx="8785102" cy="1622288"/>
          </a:xfrm>
        </p:grpSpPr>
        <p:sp>
          <p:nvSpPr>
            <p:cNvPr id="14" name="Rectangle: Rounded Corners 13">
              <a:extLst>
                <a:ext uri="{FF2B5EF4-FFF2-40B4-BE49-F238E27FC236}">
                  <a16:creationId xmlns:a16="http://schemas.microsoft.com/office/drawing/2014/main" id="{308E6CC0-2DEB-8753-8C30-45B9A1F4CE21}"/>
                </a:ext>
              </a:extLst>
            </p:cNvPr>
            <p:cNvSpPr/>
            <p:nvPr/>
          </p:nvSpPr>
          <p:spPr>
            <a:xfrm>
              <a:off x="790380" y="625140"/>
              <a:ext cx="8785102" cy="162228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B7BCE32-F4A5-5DD4-3F04-D5C5831AADC0}"/>
                </a:ext>
              </a:extLst>
            </p:cNvPr>
            <p:cNvSpPr txBox="1"/>
            <p:nvPr/>
          </p:nvSpPr>
          <p:spPr>
            <a:xfrm>
              <a:off x="917032" y="883164"/>
              <a:ext cx="8531792" cy="76944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200" i="1"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Le troisième palier, exécuté localement, ne dépend d’aucun accès réseau externe — une garantie de disponibilité même en cas de panne totale des deux fournisseurs cloud.</a:t>
              </a:r>
            </a:p>
          </p:txBody>
        </p:sp>
      </p:grpSp>
      <p:pic>
        <p:nvPicPr>
          <p:cNvPr id="19" name="Picture 18">
            <a:extLst>
              <a:ext uri="{FF2B5EF4-FFF2-40B4-BE49-F238E27FC236}">
                <a16:creationId xmlns:a16="http://schemas.microsoft.com/office/drawing/2014/main" id="{C4E7EB4C-55CD-11FB-D8E4-8327DF1FF723}"/>
              </a:ext>
            </a:extLst>
          </p:cNvPr>
          <p:cNvPicPr>
            <a:picLocks noChangeAspect="1"/>
          </p:cNvPicPr>
          <p:nvPr/>
        </p:nvPicPr>
        <p:blipFill>
          <a:blip r:embed="rId3" cstate="print">
            <a:extLst>
              <a:ext uri="{28A0092B-C50C-407E-A947-70E740481C1C}">
                <a14:useLocalDpi xmlns:a14="http://schemas.microsoft.com/office/drawing/2010/main" val="0"/>
              </a:ext>
            </a:extLst>
          </a:blip>
          <a:srcRect l="3778" t="6163" r="3778" b="6217"/>
          <a:stretch>
            <a:fillRect/>
          </a:stretch>
        </p:blipFill>
        <p:spPr>
          <a:xfrm>
            <a:off x="7277095" y="3061083"/>
            <a:ext cx="7086601" cy="4929809"/>
          </a:xfrm>
          <a:prstGeom prst="rect">
            <a:avLst/>
          </a:prstGeom>
        </p:spPr>
      </p:pic>
    </p:spTree>
    <p:extLst>
      <p:ext uri="{BB962C8B-B14F-4D97-AF65-F5344CB8AC3E}">
        <p14:creationId xmlns:p14="http://schemas.microsoft.com/office/powerpoint/2010/main" val="6021050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A2C44-904D-AC4C-5950-1DE7A2101E0F}"/>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E4A45809-FAE5-488C-AE87-12AFECF08797}"/>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C454F1B7-ED02-02EC-9EFD-6A81843CE339}"/>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C6446055-EE3C-8D57-5E3F-4497E07E58DB}"/>
              </a:ext>
            </a:extLst>
          </p:cNvPr>
          <p:cNvSpPr txBox="1"/>
          <p:nvPr/>
        </p:nvSpPr>
        <p:spPr>
          <a:xfrm rot="16200000">
            <a:off x="-2747240" y="5134317"/>
            <a:ext cx="7162800" cy="323165"/>
          </a:xfrm>
          <a:prstGeom prst="rect">
            <a:avLst/>
          </a:prstGeom>
          <a:noFill/>
        </p:spPr>
        <p:txBody>
          <a:bodyPr wrap="square" rtlCol="0">
            <a:spAutoFit/>
          </a:bodyPr>
          <a:lstStyle/>
          <a:p>
            <a:r>
              <a:rPr lang="en-US" sz="1500" dirty="0">
                <a:solidFill>
                  <a:schemeClr val="bg1">
                    <a:lumMod val="50000"/>
                  </a:schemeClr>
                </a:solidFill>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FE651E77-1E2E-BC77-ACF5-01CE1CE6FE2E}"/>
              </a:ext>
            </a:extLst>
          </p:cNvPr>
          <p:cNvSpPr txBox="1"/>
          <p:nvPr/>
        </p:nvSpPr>
        <p:spPr>
          <a:xfrm rot="16200000">
            <a:off x="-2123301" y="4980800"/>
            <a:ext cx="7086601" cy="553998"/>
          </a:xfrm>
          <a:prstGeom prst="rect">
            <a:avLst/>
          </a:prstGeom>
          <a:noFill/>
        </p:spPr>
        <p:txBody>
          <a:bodyPr wrap="square" rtlCol="0">
            <a:spAutoFit/>
          </a:bodyPr>
          <a:lstStyle/>
          <a:p>
            <a:r>
              <a:rPr lang="fr-FR" sz="3000">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033C55FC-4CA0-9EEC-D467-4D7380DE81FC}"/>
              </a:ext>
            </a:extLst>
          </p:cNvPr>
          <p:cNvSpPr txBox="1"/>
          <p:nvPr/>
        </p:nvSpPr>
        <p:spPr>
          <a:xfrm rot="16200000">
            <a:off x="-1149993" y="5522744"/>
            <a:ext cx="6263253" cy="323165"/>
          </a:xfrm>
          <a:prstGeom prst="rect">
            <a:avLst/>
          </a:prstGeom>
          <a:noFill/>
        </p:spPr>
        <p:txBody>
          <a:bodyPr wrap="square" rtlCol="0">
            <a:spAutoFit/>
          </a:bodyPr>
          <a:lstStyle/>
          <a:p>
            <a:r>
              <a:rPr lang="en-US" sz="1500">
                <a:solidFill>
                  <a:schemeClr val="bg1">
                    <a:lumMod val="50000"/>
                  </a:schemeClr>
                </a:solidFill>
                <a:latin typeface="Times New Roman" panose="02020603050405020304" pitchFamily="18" charset="0"/>
                <a:cs typeface="Times New Roman" panose="02020603050405020304" pitchFamily="18" charset="0"/>
              </a:rPr>
              <a:t>Sprint 6 — Orchestration SOAR &amp; supervision</a:t>
            </a:r>
          </a:p>
        </p:txBody>
      </p:sp>
      <p:grpSp>
        <p:nvGrpSpPr>
          <p:cNvPr id="9" name="Group 8">
            <a:extLst>
              <a:ext uri="{FF2B5EF4-FFF2-40B4-BE49-F238E27FC236}">
                <a16:creationId xmlns:a16="http://schemas.microsoft.com/office/drawing/2014/main" id="{5ABF01AC-BD5D-E875-19FF-D5544A8D050B}"/>
              </a:ext>
            </a:extLst>
          </p:cNvPr>
          <p:cNvGrpSpPr/>
          <p:nvPr/>
        </p:nvGrpSpPr>
        <p:grpSpPr>
          <a:xfrm>
            <a:off x="10967325" y="2781299"/>
            <a:ext cx="5470145" cy="4450978"/>
            <a:chOff x="12471632" y="1074345"/>
            <a:chExt cx="6387235" cy="3867240"/>
          </a:xfrm>
        </p:grpSpPr>
        <p:sp>
          <p:nvSpPr>
            <p:cNvPr id="10" name="Rectangle: Rounded Corners 9">
              <a:extLst>
                <a:ext uri="{FF2B5EF4-FFF2-40B4-BE49-F238E27FC236}">
                  <a16:creationId xmlns:a16="http://schemas.microsoft.com/office/drawing/2014/main" id="{0AA31330-CAAA-C459-0AD3-1E4479ED6B09}"/>
                </a:ext>
              </a:extLst>
            </p:cNvPr>
            <p:cNvSpPr/>
            <p:nvPr/>
          </p:nvSpPr>
          <p:spPr>
            <a:xfrm>
              <a:off x="12471632" y="1074345"/>
              <a:ext cx="6387235" cy="386724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D08CC815-9719-784F-2A6E-A17A0B5E13B6}"/>
                </a:ext>
              </a:extLst>
            </p:cNvPr>
            <p:cNvSpPr txBox="1"/>
            <p:nvPr/>
          </p:nvSpPr>
          <p:spPr>
            <a:xfrm>
              <a:off x="12723958" y="1430342"/>
              <a:ext cx="5882581" cy="320894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6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Toute tentative de connexion avec un identifiant inconnu est rejetée,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6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et un employé non ciblé par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6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la campagne — même avec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6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un identifiant valide par ailleurs ne peut pas accéder au module,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600" b="1"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seul le périmètre de diffusion choisi par l’administrateur est autorisé à le déverrouiller</a:t>
              </a:r>
              <a:r>
                <a:rPr kumimoji="0" lang="fr-FR" sz="26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a:t>
              </a:r>
              <a:endParaRPr kumimoji="0" lang="en-US" sz="2600" i="0"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endParaRPr>
            </a:p>
          </p:txBody>
        </p:sp>
      </p:grpSp>
      <p:sp>
        <p:nvSpPr>
          <p:cNvPr id="12" name="TextBox 11">
            <a:extLst>
              <a:ext uri="{FF2B5EF4-FFF2-40B4-BE49-F238E27FC236}">
                <a16:creationId xmlns:a16="http://schemas.microsoft.com/office/drawing/2014/main" id="{2ED9ED7D-5DA1-C1EF-198E-CC4B8AD73883}"/>
              </a:ext>
            </a:extLst>
          </p:cNvPr>
          <p:cNvSpPr txBox="1"/>
          <p:nvPr/>
        </p:nvSpPr>
        <p:spPr>
          <a:xfrm>
            <a:off x="4333273" y="1257300"/>
            <a:ext cx="5336717" cy="553998"/>
          </a:xfrm>
          <a:prstGeom prst="rect">
            <a:avLst/>
          </a:prstGeom>
          <a:noFill/>
        </p:spPr>
        <p:txBody>
          <a:bodyPr wrap="none" rtlCol="0">
            <a:spAutoFit/>
          </a:bodyPr>
          <a:lstStyle/>
          <a:p>
            <a:r>
              <a:rPr lang="fr-FR" sz="3000" b="1">
                <a:latin typeface="Times New Roman" panose="02020603050405020304" pitchFamily="18" charset="0"/>
                <a:cs typeface="Times New Roman" panose="02020603050405020304" pitchFamily="18" charset="0"/>
              </a:rPr>
              <a:t>Diffusion et suivi de conformité</a:t>
            </a:r>
            <a:endParaRPr lang="en-US" sz="3000" b="1">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7E1FF0D1-EA2F-B120-8A67-C594025D79C9}"/>
              </a:ext>
            </a:extLst>
          </p:cNvPr>
          <p:cNvPicPr>
            <a:picLocks noChangeAspect="1"/>
          </p:cNvPicPr>
          <p:nvPr/>
        </p:nvPicPr>
        <p:blipFill>
          <a:blip r:embed="rId3">
            <a:extLst>
              <a:ext uri="{28A0092B-C50C-407E-A947-70E740481C1C}">
                <a14:useLocalDpi xmlns:a14="http://schemas.microsoft.com/office/drawing/2010/main" val="0"/>
              </a:ext>
            </a:extLst>
          </a:blip>
          <a:srcRect l="7462" t="4791" r="6773" b="5068"/>
          <a:stretch>
            <a:fillRect/>
          </a:stretch>
        </p:blipFill>
        <p:spPr>
          <a:xfrm>
            <a:off x="4590035" y="1981199"/>
            <a:ext cx="4823192" cy="6629400"/>
          </a:xfrm>
          <a:prstGeom prst="rect">
            <a:avLst/>
          </a:prstGeom>
        </p:spPr>
      </p:pic>
    </p:spTree>
    <p:extLst>
      <p:ext uri="{BB962C8B-B14F-4D97-AF65-F5344CB8AC3E}">
        <p14:creationId xmlns:p14="http://schemas.microsoft.com/office/powerpoint/2010/main" val="25864602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ED205-2714-4468-6896-FC2213F532DD}"/>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D28C306F-1A2C-E28D-114C-055554E25035}"/>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28CCFDA2-D491-2FBE-B1CD-4EDE55F8F6B7}"/>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6B984535-D2FB-764C-1998-6AE221058986}"/>
              </a:ext>
            </a:extLst>
          </p:cNvPr>
          <p:cNvSpPr txBox="1"/>
          <p:nvPr/>
        </p:nvSpPr>
        <p:spPr>
          <a:xfrm rot="16200000">
            <a:off x="-2747240" y="5210517"/>
            <a:ext cx="7162800" cy="323165"/>
          </a:xfrm>
          <a:prstGeom prst="rect">
            <a:avLst/>
          </a:prstGeom>
          <a:noFill/>
        </p:spPr>
        <p:txBody>
          <a:bodyPr wrap="square" rtlCol="0">
            <a:spAutoFit/>
          </a:bodyPr>
          <a:lstStyle/>
          <a:p>
            <a:r>
              <a:rPr lang="en-US" sz="1500" dirty="0">
                <a:solidFill>
                  <a:schemeClr val="bg1">
                    <a:lumMod val="50000"/>
                  </a:schemeClr>
                </a:solidFill>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E340762C-F1FB-7481-ADDF-23E0BE9E3A01}"/>
              </a:ext>
            </a:extLst>
          </p:cNvPr>
          <p:cNvSpPr txBox="1"/>
          <p:nvPr/>
        </p:nvSpPr>
        <p:spPr>
          <a:xfrm rot="16200000">
            <a:off x="-2123301" y="5248617"/>
            <a:ext cx="7086601" cy="323165"/>
          </a:xfrm>
          <a:prstGeom prst="rect">
            <a:avLst/>
          </a:prstGeom>
          <a:noFill/>
        </p:spPr>
        <p:txBody>
          <a:bodyPr wrap="square" rtlCol="0">
            <a:spAutoFit/>
          </a:bodyPr>
          <a:lstStyle/>
          <a:p>
            <a:r>
              <a:rPr lang="fr-FR" sz="1500">
                <a:solidFill>
                  <a:schemeClr val="bg1">
                    <a:lumMod val="50000"/>
                  </a:schemeClr>
                </a:solidFill>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5B60F4B9-A4EC-FA43-2F09-590DCDA65E4D}"/>
              </a:ext>
            </a:extLst>
          </p:cNvPr>
          <p:cNvSpPr txBox="1"/>
          <p:nvPr/>
        </p:nvSpPr>
        <p:spPr>
          <a:xfrm rot="16200000">
            <a:off x="-1846092" y="4848775"/>
            <a:ext cx="7655451" cy="553998"/>
          </a:xfrm>
          <a:prstGeom prst="rect">
            <a:avLst/>
          </a:prstGeom>
          <a:noFill/>
        </p:spPr>
        <p:txBody>
          <a:bodyPr wrap="square" rtlCol="0">
            <a:spAutoFit/>
          </a:bodyPr>
          <a:lstStyle/>
          <a:p>
            <a:r>
              <a:rPr lang="en-US" sz="3000">
                <a:latin typeface="Times New Roman" panose="02020603050405020304" pitchFamily="18" charset="0"/>
                <a:cs typeface="Times New Roman" panose="02020603050405020304" pitchFamily="18" charset="0"/>
              </a:rPr>
              <a:t>Sprint 6 — Orchestration SOAR &amp; supervision</a:t>
            </a:r>
          </a:p>
        </p:txBody>
      </p:sp>
      <p:sp>
        <p:nvSpPr>
          <p:cNvPr id="13" name="TextBox 12">
            <a:extLst>
              <a:ext uri="{FF2B5EF4-FFF2-40B4-BE49-F238E27FC236}">
                <a16:creationId xmlns:a16="http://schemas.microsoft.com/office/drawing/2014/main" id="{D154C03C-C288-288F-94F9-515FD7E28368}"/>
              </a:ext>
            </a:extLst>
          </p:cNvPr>
          <p:cNvSpPr txBox="1"/>
          <p:nvPr/>
        </p:nvSpPr>
        <p:spPr>
          <a:xfrm>
            <a:off x="5870472" y="682495"/>
            <a:ext cx="9346213"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Architecture du Sprint 6 — Orchestration SOAR</a:t>
            </a:r>
            <a:endParaRPr lang="en-US" sz="3400" b="1">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3FBC1BDB-0BDB-E120-398E-3AC00F283424}"/>
              </a:ext>
            </a:extLst>
          </p:cNvPr>
          <p:cNvSpPr txBox="1"/>
          <p:nvPr/>
        </p:nvSpPr>
        <p:spPr>
          <a:xfrm>
            <a:off x="4800600" y="1790699"/>
            <a:ext cx="11485956" cy="707886"/>
          </a:xfrm>
          <a:prstGeom prst="rect">
            <a:avLst/>
          </a:prstGeom>
          <a:noFill/>
        </p:spPr>
        <p:txBody>
          <a:bodyPr wrap="square">
            <a:spAutoFit/>
          </a:bodyPr>
          <a:lstStyle/>
          <a:p>
            <a:pPr algn="ctr"/>
            <a:r>
              <a:rPr lang="fr-FR" sz="2000">
                <a:latin typeface="Times New Roman" panose="02020603050405020304" pitchFamily="18" charset="0"/>
                <a:cs typeface="Times New Roman" panose="02020603050405020304" pitchFamily="18" charset="0"/>
              </a:rPr>
              <a:t>Le sprint distingue deux moteurs de remédiation : </a:t>
            </a:r>
            <a:r>
              <a:rPr lang="fr-FR" sz="2000" i="1">
                <a:latin typeface="Times New Roman" panose="02020603050405020304" pitchFamily="18" charset="0"/>
                <a:cs typeface="Times New Roman" panose="02020603050405020304" pitchFamily="18" charset="0"/>
              </a:rPr>
              <a:t>soar.py </a:t>
            </a:r>
            <a:r>
              <a:rPr lang="fr-FR" sz="2000">
                <a:latin typeface="Times New Roman" panose="02020603050405020304" pitchFamily="18" charset="0"/>
                <a:cs typeface="Times New Roman" panose="02020603050405020304" pitchFamily="18" charset="0"/>
              </a:rPr>
              <a:t>corrèle et décide en </a:t>
            </a:r>
            <a:r>
              <a:rPr lang="fr-FR" sz="2000" b="1">
                <a:latin typeface="Times New Roman" panose="02020603050405020304" pitchFamily="18" charset="0"/>
                <a:cs typeface="Times New Roman" panose="02020603050405020304" pitchFamily="18" charset="0"/>
              </a:rPr>
              <a:t>autonomie</a:t>
            </a:r>
            <a:r>
              <a:rPr lang="fr-FR" sz="2000">
                <a:latin typeface="Times New Roman" panose="02020603050405020304" pitchFamily="18" charset="0"/>
                <a:cs typeface="Times New Roman" panose="02020603050405020304" pitchFamily="18" charset="0"/>
              </a:rPr>
              <a:t> </a:t>
            </a:r>
            <a:r>
              <a:rPr lang="fr-FR" sz="2000" b="1">
                <a:latin typeface="Times New Roman" panose="02020603050405020304" pitchFamily="18" charset="0"/>
                <a:cs typeface="Times New Roman" panose="02020603050405020304" pitchFamily="18" charset="0"/>
              </a:rPr>
              <a:t>complète</a:t>
            </a:r>
            <a:r>
              <a:rPr lang="fr-FR" sz="2000">
                <a:latin typeface="Times New Roman" panose="02020603050405020304" pitchFamily="18" charset="0"/>
                <a:cs typeface="Times New Roman" panose="02020603050405020304" pitchFamily="18" charset="0"/>
              </a:rPr>
              <a:t>, tandis que </a:t>
            </a:r>
            <a:r>
              <a:rPr lang="fr-FR" sz="2000" i="1">
                <a:latin typeface="Times New Roman" panose="02020603050405020304" pitchFamily="18" charset="0"/>
                <a:cs typeface="Times New Roman" panose="02020603050405020304" pitchFamily="18" charset="0"/>
              </a:rPr>
              <a:t>agent_soar.py </a:t>
            </a:r>
            <a:r>
              <a:rPr lang="fr-FR" sz="2000">
                <a:latin typeface="Times New Roman" panose="02020603050405020304" pitchFamily="18" charset="0"/>
                <a:cs typeface="Times New Roman" panose="02020603050405020304" pitchFamily="18" charset="0"/>
              </a:rPr>
              <a:t>n’exécute que sur </a:t>
            </a:r>
            <a:r>
              <a:rPr lang="fr-FR" sz="2000" b="1">
                <a:latin typeface="Times New Roman" panose="02020603050405020304" pitchFamily="18" charset="0"/>
                <a:cs typeface="Times New Roman" panose="02020603050405020304" pitchFamily="18" charset="0"/>
              </a:rPr>
              <a:t>ordre explicite </a:t>
            </a:r>
            <a:r>
              <a:rPr lang="fr-FR" sz="2000">
                <a:latin typeface="Times New Roman" panose="02020603050405020304" pitchFamily="18" charset="0"/>
                <a:cs typeface="Times New Roman" panose="02020603050405020304" pitchFamily="18" charset="0"/>
              </a:rPr>
              <a:t>— qu’il vienne d’un administrateur ou du mode auto-pilote.</a:t>
            </a:r>
            <a:endParaRPr lang="en-US" sz="200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84D79820-82AC-977E-1544-DA46743AE2C2}"/>
              </a:ext>
            </a:extLst>
          </p:cNvPr>
          <p:cNvPicPr>
            <a:picLocks noChangeAspect="1"/>
          </p:cNvPicPr>
          <p:nvPr/>
        </p:nvPicPr>
        <p:blipFill>
          <a:blip r:embed="rId3" cstate="print">
            <a:extLst>
              <a:ext uri="{28A0092B-C50C-407E-A947-70E740481C1C}">
                <a14:useLocalDpi xmlns:a14="http://schemas.microsoft.com/office/drawing/2010/main" val="0"/>
              </a:ext>
            </a:extLst>
          </a:blip>
          <a:srcRect l="2944" t="13312" r="2944" b="4141"/>
          <a:stretch>
            <a:fillRect/>
          </a:stretch>
        </p:blipFill>
        <p:spPr>
          <a:xfrm>
            <a:off x="6504979" y="2991236"/>
            <a:ext cx="8451022" cy="6190864"/>
          </a:xfrm>
          <a:prstGeom prst="rect">
            <a:avLst/>
          </a:prstGeom>
        </p:spPr>
      </p:pic>
    </p:spTree>
    <p:extLst>
      <p:ext uri="{BB962C8B-B14F-4D97-AF65-F5344CB8AC3E}">
        <p14:creationId xmlns:p14="http://schemas.microsoft.com/office/powerpoint/2010/main" val="8732707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A409E-8B96-28CC-4C3C-E5F79E0FF957}"/>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ABED34FF-A840-23A8-9078-AFFA5C4ED8B4}"/>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D58E0DB8-59DC-A4DB-1F98-7346CBEDCB87}"/>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F148829A-90CE-E31C-1067-379DFF2B864C}"/>
              </a:ext>
            </a:extLst>
          </p:cNvPr>
          <p:cNvSpPr txBox="1"/>
          <p:nvPr/>
        </p:nvSpPr>
        <p:spPr>
          <a:xfrm rot="16200000">
            <a:off x="-2747240" y="5210517"/>
            <a:ext cx="7162800" cy="323165"/>
          </a:xfrm>
          <a:prstGeom prst="rect">
            <a:avLst/>
          </a:prstGeom>
          <a:noFill/>
        </p:spPr>
        <p:txBody>
          <a:bodyPr wrap="square" rtlCol="0">
            <a:spAutoFit/>
          </a:bodyPr>
          <a:lstStyle/>
          <a:p>
            <a:r>
              <a:rPr lang="en-US" sz="1500" dirty="0">
                <a:solidFill>
                  <a:schemeClr val="bg1">
                    <a:lumMod val="50000"/>
                  </a:schemeClr>
                </a:solidFill>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743CF49C-0D5F-FD56-5387-12FB9C8F9E17}"/>
              </a:ext>
            </a:extLst>
          </p:cNvPr>
          <p:cNvSpPr txBox="1"/>
          <p:nvPr/>
        </p:nvSpPr>
        <p:spPr>
          <a:xfrm rot="16200000">
            <a:off x="-2123301" y="5248617"/>
            <a:ext cx="7086601" cy="323165"/>
          </a:xfrm>
          <a:prstGeom prst="rect">
            <a:avLst/>
          </a:prstGeom>
          <a:noFill/>
        </p:spPr>
        <p:txBody>
          <a:bodyPr wrap="square" rtlCol="0">
            <a:spAutoFit/>
          </a:bodyPr>
          <a:lstStyle/>
          <a:p>
            <a:r>
              <a:rPr lang="fr-FR" sz="1500">
                <a:solidFill>
                  <a:schemeClr val="bg1">
                    <a:lumMod val="50000"/>
                  </a:schemeClr>
                </a:solidFill>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2FC6A9B6-B35F-3AB6-A79D-8E406272C69F}"/>
              </a:ext>
            </a:extLst>
          </p:cNvPr>
          <p:cNvSpPr txBox="1"/>
          <p:nvPr/>
        </p:nvSpPr>
        <p:spPr>
          <a:xfrm rot="16200000">
            <a:off x="-1846092" y="4848775"/>
            <a:ext cx="7655451" cy="553998"/>
          </a:xfrm>
          <a:prstGeom prst="rect">
            <a:avLst/>
          </a:prstGeom>
          <a:noFill/>
        </p:spPr>
        <p:txBody>
          <a:bodyPr wrap="square" rtlCol="0">
            <a:spAutoFit/>
          </a:bodyPr>
          <a:lstStyle/>
          <a:p>
            <a:r>
              <a:rPr lang="en-US" sz="3000">
                <a:latin typeface="Times New Roman" panose="02020603050405020304" pitchFamily="18" charset="0"/>
                <a:cs typeface="Times New Roman" panose="02020603050405020304" pitchFamily="18" charset="0"/>
              </a:rPr>
              <a:t>Sprint 6 — Orchestration SOAR &amp; supervision</a:t>
            </a:r>
          </a:p>
        </p:txBody>
      </p:sp>
      <p:sp>
        <p:nvSpPr>
          <p:cNvPr id="13" name="TextBox 12">
            <a:extLst>
              <a:ext uri="{FF2B5EF4-FFF2-40B4-BE49-F238E27FC236}">
                <a16:creationId xmlns:a16="http://schemas.microsoft.com/office/drawing/2014/main" id="{5E997500-2C68-34B7-548A-D729A2575844}"/>
              </a:ext>
            </a:extLst>
          </p:cNvPr>
          <p:cNvSpPr txBox="1"/>
          <p:nvPr/>
        </p:nvSpPr>
        <p:spPr>
          <a:xfrm>
            <a:off x="7596458" y="685143"/>
            <a:ext cx="6268063"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La logique de décision autonome</a:t>
            </a:r>
            <a:endParaRPr lang="en-US" sz="3400" b="1">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9128907D-2338-A519-2847-4A8A2AD161A9}"/>
              </a:ext>
            </a:extLst>
          </p:cNvPr>
          <p:cNvSpPr txBox="1"/>
          <p:nvPr/>
        </p:nvSpPr>
        <p:spPr>
          <a:xfrm>
            <a:off x="4800600" y="1765637"/>
            <a:ext cx="11485956" cy="1015663"/>
          </a:xfrm>
          <a:prstGeom prst="rect">
            <a:avLst/>
          </a:prstGeom>
          <a:noFill/>
        </p:spPr>
        <p:txBody>
          <a:bodyPr wrap="square">
            <a:spAutoFit/>
          </a:bodyPr>
          <a:lstStyle/>
          <a:p>
            <a:pPr algn="ctr"/>
            <a:r>
              <a:rPr lang="fr-FR" sz="2000">
                <a:latin typeface="Times New Roman" panose="02020603050405020304" pitchFamily="18" charset="0"/>
                <a:cs typeface="Times New Roman" panose="02020603050405020304" pitchFamily="18" charset="0"/>
              </a:rPr>
              <a:t>Avant toute action, chaque alerte est confrontée à la politique </a:t>
            </a:r>
            <a:r>
              <a:rPr lang="fr-FR" sz="2000" b="1" err="1">
                <a:latin typeface="Times New Roman" panose="02020603050405020304" pitchFamily="18" charset="0"/>
                <a:cs typeface="Times New Roman" panose="02020603050405020304" pitchFamily="18" charset="0"/>
              </a:rPr>
              <a:t>Zero</a:t>
            </a:r>
            <a:r>
              <a:rPr lang="fr-FR" sz="2000" b="1">
                <a:latin typeface="Times New Roman" panose="02020603050405020304" pitchFamily="18" charset="0"/>
                <a:cs typeface="Times New Roman" panose="02020603050405020304" pitchFamily="18" charset="0"/>
              </a:rPr>
              <a:t> Trust</a:t>
            </a:r>
            <a:r>
              <a:rPr lang="fr-FR" sz="2000">
                <a:latin typeface="Times New Roman" panose="02020603050405020304" pitchFamily="18" charset="0"/>
                <a:cs typeface="Times New Roman" panose="02020603050405020304" pitchFamily="18" charset="0"/>
              </a:rPr>
              <a:t>, puis à une fenêtre de corrélation de 30 secondes entre les deux sources de détection — c’est cette corrélation, et non une alerte isolée, qui déclenche un blocage autonome.</a:t>
            </a:r>
            <a:endParaRPr lang="en-US" sz="2000">
              <a:latin typeface="Times New Roman" panose="02020603050405020304" pitchFamily="18" charset="0"/>
              <a:cs typeface="Times New Roman" panose="02020603050405020304" pitchFamily="18" charset="0"/>
            </a:endParaRPr>
          </a:p>
        </p:txBody>
      </p:sp>
      <p:pic>
        <p:nvPicPr>
          <p:cNvPr id="10" name="Picture 9">
            <a:extLst>
              <a:ext uri="{FF2B5EF4-FFF2-40B4-BE49-F238E27FC236}">
                <a16:creationId xmlns:a16="http://schemas.microsoft.com/office/drawing/2014/main" id="{7DF99068-2BC9-CF72-C65E-C845BAA3155B}"/>
              </a:ext>
            </a:extLst>
          </p:cNvPr>
          <p:cNvPicPr>
            <a:picLocks noChangeAspect="1"/>
          </p:cNvPicPr>
          <p:nvPr/>
        </p:nvPicPr>
        <p:blipFill>
          <a:blip r:embed="rId3" cstate="print">
            <a:extLst>
              <a:ext uri="{28A0092B-C50C-407E-A947-70E740481C1C}">
                <a14:useLocalDpi xmlns:a14="http://schemas.microsoft.com/office/drawing/2010/main" val="0"/>
              </a:ext>
            </a:extLst>
          </a:blip>
          <a:srcRect l="3317" t="5863" r="3141" b="6127"/>
          <a:stretch>
            <a:fillRect/>
          </a:stretch>
        </p:blipFill>
        <p:spPr>
          <a:xfrm>
            <a:off x="5181600" y="3246241"/>
            <a:ext cx="10744200" cy="4792859"/>
          </a:xfrm>
          <a:prstGeom prst="rect">
            <a:avLst/>
          </a:prstGeom>
        </p:spPr>
      </p:pic>
    </p:spTree>
    <p:extLst>
      <p:ext uri="{BB962C8B-B14F-4D97-AF65-F5344CB8AC3E}">
        <p14:creationId xmlns:p14="http://schemas.microsoft.com/office/powerpoint/2010/main" val="22500443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185D4-8A23-7403-CC0D-81461CB45F69}"/>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B9C86710-F3CF-896E-86CC-A27098D9E296}"/>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32" name="Rectangle: Rounded Corners 31">
            <a:extLst>
              <a:ext uri="{FF2B5EF4-FFF2-40B4-BE49-F238E27FC236}">
                <a16:creationId xmlns:a16="http://schemas.microsoft.com/office/drawing/2014/main" id="{B4FE3585-BA48-FCFA-E1EA-C273DFF2564F}"/>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4DD93EBC-0B0F-3976-9F79-3BCDEDF9FF57}"/>
              </a:ext>
            </a:extLst>
          </p:cNvPr>
          <p:cNvSpPr txBox="1"/>
          <p:nvPr/>
        </p:nvSpPr>
        <p:spPr>
          <a:xfrm rot="16200000">
            <a:off x="-2747240" y="5210517"/>
            <a:ext cx="7162800" cy="323165"/>
          </a:xfrm>
          <a:prstGeom prst="rect">
            <a:avLst/>
          </a:prstGeom>
          <a:noFill/>
        </p:spPr>
        <p:txBody>
          <a:bodyPr wrap="square" rtlCol="0">
            <a:spAutoFit/>
          </a:bodyPr>
          <a:lstStyle/>
          <a:p>
            <a:r>
              <a:rPr lang="en-US" sz="1500" dirty="0">
                <a:solidFill>
                  <a:schemeClr val="bg1">
                    <a:lumMod val="50000"/>
                  </a:schemeClr>
                </a:solidFill>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DACD96A9-510F-5ECF-C264-BBC64DDA76A6}"/>
              </a:ext>
            </a:extLst>
          </p:cNvPr>
          <p:cNvSpPr txBox="1"/>
          <p:nvPr/>
        </p:nvSpPr>
        <p:spPr>
          <a:xfrm rot="16200000">
            <a:off x="-2123301" y="5248617"/>
            <a:ext cx="7086601" cy="323165"/>
          </a:xfrm>
          <a:prstGeom prst="rect">
            <a:avLst/>
          </a:prstGeom>
          <a:noFill/>
        </p:spPr>
        <p:txBody>
          <a:bodyPr wrap="square" rtlCol="0">
            <a:spAutoFit/>
          </a:bodyPr>
          <a:lstStyle/>
          <a:p>
            <a:r>
              <a:rPr lang="fr-FR" sz="1500">
                <a:solidFill>
                  <a:schemeClr val="bg1">
                    <a:lumMod val="50000"/>
                  </a:schemeClr>
                </a:solidFill>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7981646B-2407-7793-302E-9C014361F678}"/>
              </a:ext>
            </a:extLst>
          </p:cNvPr>
          <p:cNvSpPr txBox="1"/>
          <p:nvPr/>
        </p:nvSpPr>
        <p:spPr>
          <a:xfrm rot="16200000">
            <a:off x="-1846092" y="4848775"/>
            <a:ext cx="7655451" cy="553998"/>
          </a:xfrm>
          <a:prstGeom prst="rect">
            <a:avLst/>
          </a:prstGeom>
          <a:noFill/>
        </p:spPr>
        <p:txBody>
          <a:bodyPr wrap="square" rtlCol="0">
            <a:spAutoFit/>
          </a:bodyPr>
          <a:lstStyle/>
          <a:p>
            <a:r>
              <a:rPr lang="en-US" sz="3000">
                <a:latin typeface="Times New Roman" panose="02020603050405020304" pitchFamily="18" charset="0"/>
                <a:cs typeface="Times New Roman" panose="02020603050405020304" pitchFamily="18" charset="0"/>
              </a:rPr>
              <a:t>Sprint 6 — Orchestration SOAR &amp; supervision</a:t>
            </a:r>
          </a:p>
        </p:txBody>
      </p:sp>
      <p:sp>
        <p:nvSpPr>
          <p:cNvPr id="13" name="TextBox 12">
            <a:extLst>
              <a:ext uri="{FF2B5EF4-FFF2-40B4-BE49-F238E27FC236}">
                <a16:creationId xmlns:a16="http://schemas.microsoft.com/office/drawing/2014/main" id="{A7A221A9-C130-4516-13FB-3A50B693F574}"/>
              </a:ext>
            </a:extLst>
          </p:cNvPr>
          <p:cNvSpPr txBox="1"/>
          <p:nvPr/>
        </p:nvSpPr>
        <p:spPr>
          <a:xfrm>
            <a:off x="7168735" y="682495"/>
            <a:ext cx="6769930"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Deux moteurs, deux responsabilités</a:t>
            </a:r>
            <a:endParaRPr lang="en-US" sz="3400" b="1">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EB7181C5-1B46-871D-36E4-5D749C2BF0AB}"/>
              </a:ext>
            </a:extLst>
          </p:cNvPr>
          <p:cNvSpPr txBox="1"/>
          <p:nvPr/>
        </p:nvSpPr>
        <p:spPr>
          <a:xfrm>
            <a:off x="4800600" y="1765637"/>
            <a:ext cx="11485956" cy="1015663"/>
          </a:xfrm>
          <a:prstGeom prst="rect">
            <a:avLst/>
          </a:prstGeom>
          <a:noFill/>
        </p:spPr>
        <p:txBody>
          <a:bodyPr wrap="square">
            <a:spAutoFit/>
          </a:bodyPr>
          <a:lstStyle/>
          <a:p>
            <a:pPr algn="ctr"/>
            <a:r>
              <a:rPr lang="fr-FR" sz="2000">
                <a:latin typeface="Times New Roman" panose="02020603050405020304" pitchFamily="18" charset="0"/>
                <a:cs typeface="Times New Roman" panose="02020603050405020304" pitchFamily="18" charset="0"/>
              </a:rPr>
              <a:t>Le sprint sépare la corrélation et la décision autonome, hébergées sur VM-ML, de l’exécution — qui reste supervisée et confiée à VM-Response, qu’elle soit déclenchée par un administrateur ou par le mode auto-pilote.</a:t>
            </a:r>
            <a:endParaRPr lang="en-US" sz="200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9A5CD5B3-849A-0184-5DC3-2DDDE161584D}"/>
              </a:ext>
            </a:extLst>
          </p:cNvPr>
          <p:cNvGraphicFramePr>
            <a:graphicFrameLocks noGrp="1"/>
          </p:cNvGraphicFramePr>
          <p:nvPr>
            <p:extLst>
              <p:ext uri="{D42A27DB-BD31-4B8C-83A1-F6EECF244321}">
                <p14:modId xmlns:p14="http://schemas.microsoft.com/office/powerpoint/2010/main" val="1611233841"/>
              </p:ext>
            </p:extLst>
          </p:nvPr>
        </p:nvGraphicFramePr>
        <p:xfrm>
          <a:off x="4896408" y="3547260"/>
          <a:ext cx="11314584" cy="4034640"/>
        </p:xfrm>
        <a:graphic>
          <a:graphicData uri="http://schemas.openxmlformats.org/drawingml/2006/table">
            <a:tbl>
              <a:tblPr firstRow="1" bandRow="1">
                <a:tableStyleId>{5C22544A-7EE6-4342-B048-85BDC9FD1C3A}</a:tableStyleId>
              </a:tblPr>
              <a:tblGrid>
                <a:gridCol w="3144899">
                  <a:extLst>
                    <a:ext uri="{9D8B030D-6E8A-4147-A177-3AD203B41FA5}">
                      <a16:colId xmlns:a16="http://schemas.microsoft.com/office/drawing/2014/main" val="67450470"/>
                    </a:ext>
                  </a:extLst>
                </a:gridCol>
                <a:gridCol w="4540479">
                  <a:extLst>
                    <a:ext uri="{9D8B030D-6E8A-4147-A177-3AD203B41FA5}">
                      <a16:colId xmlns:a16="http://schemas.microsoft.com/office/drawing/2014/main" val="582604162"/>
                    </a:ext>
                  </a:extLst>
                </a:gridCol>
                <a:gridCol w="3629206">
                  <a:extLst>
                    <a:ext uri="{9D8B030D-6E8A-4147-A177-3AD203B41FA5}">
                      <a16:colId xmlns:a16="http://schemas.microsoft.com/office/drawing/2014/main" val="279402377"/>
                    </a:ext>
                  </a:extLst>
                </a:gridCol>
              </a:tblGrid>
              <a:tr h="986640">
                <a:tc>
                  <a:txBody>
                    <a:bodyPr/>
                    <a:lstStyle/>
                    <a:p>
                      <a:pPr algn="ctr">
                        <a:lnSpc>
                          <a:spcPct val="200000"/>
                        </a:lnSpc>
                      </a:pPr>
                      <a:r>
                        <a:rPr lang="fr-FR" sz="2200">
                          <a:latin typeface="Times New Roman" panose="02020603050405020304" pitchFamily="18" charset="0"/>
                          <a:cs typeface="Times New Roman" panose="02020603050405020304" pitchFamily="18" charset="0"/>
                        </a:rPr>
                        <a:t>Critère</a:t>
                      </a:r>
                      <a:endParaRPr lang="en-US" sz="2200">
                        <a:latin typeface="Times New Roman" panose="02020603050405020304" pitchFamily="18" charset="0"/>
                        <a:cs typeface="Times New Roman" panose="02020603050405020304" pitchFamily="18" charset="0"/>
                      </a:endParaRPr>
                    </a:p>
                  </a:txBody>
                  <a:tcPr>
                    <a:lnB w="12700" cap="flat" cmpd="sng" algn="ctr">
                      <a:solidFill>
                        <a:schemeClr val="tx1"/>
                      </a:solidFill>
                      <a:prstDash val="solid"/>
                      <a:round/>
                      <a:headEnd type="none" w="med" len="med"/>
                      <a:tailEnd type="none" w="med" len="med"/>
                    </a:lnB>
                    <a:solidFill>
                      <a:srgbClr val="7030A0"/>
                    </a:solidFill>
                  </a:tcPr>
                </a:tc>
                <a:tc>
                  <a:txBody>
                    <a:bodyPr/>
                    <a:lstStyle/>
                    <a:p>
                      <a:pPr algn="ctr">
                        <a:lnSpc>
                          <a:spcPct val="150000"/>
                        </a:lnSpc>
                      </a:pPr>
                      <a:r>
                        <a:rPr lang="fr-FR" sz="2200">
                          <a:latin typeface="Times New Roman" panose="02020603050405020304" pitchFamily="18" charset="0"/>
                          <a:cs typeface="Times New Roman" panose="02020603050405020304" pitchFamily="18" charset="0"/>
                        </a:rPr>
                        <a:t>soar.py</a:t>
                      </a:r>
                    </a:p>
                    <a:p>
                      <a:pPr algn="ctr">
                        <a:lnSpc>
                          <a:spcPct val="100000"/>
                        </a:lnSpc>
                      </a:pPr>
                      <a:r>
                        <a:rPr lang="fr-FR" sz="2200">
                          <a:latin typeface="Times New Roman" panose="02020603050405020304" pitchFamily="18" charset="0"/>
                          <a:cs typeface="Times New Roman" panose="02020603050405020304" pitchFamily="18" charset="0"/>
                        </a:rPr>
                        <a:t>(VM-ML, autonome)</a:t>
                      </a:r>
                      <a:endParaRPr lang="en-US" sz="2200">
                        <a:latin typeface="Times New Roman" panose="02020603050405020304" pitchFamily="18" charset="0"/>
                        <a:cs typeface="Times New Roman" panose="02020603050405020304" pitchFamily="18" charset="0"/>
                      </a:endParaRPr>
                    </a:p>
                  </a:txBody>
                  <a:tcPr>
                    <a:lnB w="12700" cap="flat" cmpd="sng" algn="ctr">
                      <a:solidFill>
                        <a:schemeClr val="tx1"/>
                      </a:solidFill>
                      <a:prstDash val="solid"/>
                      <a:round/>
                      <a:headEnd type="none" w="med" len="med"/>
                      <a:tailEnd type="none" w="med" len="med"/>
                    </a:lnB>
                    <a:solidFill>
                      <a:srgbClr val="7030A0"/>
                    </a:solidFill>
                  </a:tcPr>
                </a:tc>
                <a:tc>
                  <a:txBody>
                    <a:bodyPr/>
                    <a:lstStyle/>
                    <a:p>
                      <a:pPr algn="ctr">
                        <a:lnSpc>
                          <a:spcPct val="150000"/>
                        </a:lnSpc>
                      </a:pPr>
                      <a:r>
                        <a:rPr lang="fr-FR" sz="2200">
                          <a:latin typeface="Times New Roman" panose="02020603050405020304" pitchFamily="18" charset="0"/>
                          <a:cs typeface="Times New Roman" panose="02020603050405020304" pitchFamily="18" charset="0"/>
                        </a:rPr>
                        <a:t>agent_soar.py</a:t>
                      </a:r>
                    </a:p>
                    <a:p>
                      <a:pPr algn="ctr">
                        <a:lnSpc>
                          <a:spcPct val="100000"/>
                        </a:lnSpc>
                      </a:pPr>
                      <a:r>
                        <a:rPr lang="fr-FR" sz="2200">
                          <a:latin typeface="Times New Roman" panose="02020603050405020304" pitchFamily="18" charset="0"/>
                          <a:cs typeface="Times New Roman" panose="02020603050405020304" pitchFamily="18" charset="0"/>
                        </a:rPr>
                        <a:t>(VM-Response, Supervisé)</a:t>
                      </a:r>
                      <a:endParaRPr lang="en-US" sz="2200">
                        <a:latin typeface="Times New Roman" panose="02020603050405020304" pitchFamily="18" charset="0"/>
                        <a:cs typeface="Times New Roman" panose="02020603050405020304" pitchFamily="18" charset="0"/>
                      </a:endParaRPr>
                    </a:p>
                  </a:txBody>
                  <a:tcPr>
                    <a:lnB w="12700" cap="flat" cmpd="sng" algn="ctr">
                      <a:solidFill>
                        <a:schemeClr val="tx1"/>
                      </a:solidFill>
                      <a:prstDash val="solid"/>
                      <a:round/>
                      <a:headEnd type="none" w="med" len="med"/>
                      <a:tailEnd type="none" w="med" len="med"/>
                    </a:lnB>
                    <a:solidFill>
                      <a:srgbClr val="7030A0"/>
                    </a:solidFill>
                  </a:tcPr>
                </a:tc>
                <a:extLst>
                  <a:ext uri="{0D108BD9-81ED-4DB2-BD59-A6C34878D82A}">
                    <a16:rowId xmlns:a16="http://schemas.microsoft.com/office/drawing/2014/main" val="1704367517"/>
                  </a:ext>
                </a:extLst>
              </a:tr>
              <a:tr h="511581">
                <a:tc>
                  <a:txBody>
                    <a:bodyPr/>
                    <a:lstStyle/>
                    <a:p>
                      <a:r>
                        <a:rPr lang="fr-FR" sz="2200">
                          <a:latin typeface="Times New Roman" panose="02020603050405020304" pitchFamily="18" charset="0"/>
                          <a:cs typeface="Times New Roman" panose="02020603050405020304" pitchFamily="18" charset="0"/>
                        </a:rPr>
                        <a:t>Déclencheur</a:t>
                      </a:r>
                      <a:endParaRPr lang="en-US" sz="2200">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sz="2200">
                          <a:latin typeface="Times New Roman" panose="02020603050405020304" pitchFamily="18" charset="0"/>
                          <a:cs typeface="Times New Roman" panose="02020603050405020304" pitchFamily="18" charset="0"/>
                        </a:rPr>
                        <a:t>Consommation directe des topics Kafka</a:t>
                      </a:r>
                      <a:endParaRPr lang="en-US" sz="2200">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sz="2200">
                          <a:latin typeface="Times New Roman" panose="02020603050405020304" pitchFamily="18" charset="0"/>
                          <a:cs typeface="Times New Roman" panose="02020603050405020304" pitchFamily="18" charset="0"/>
                        </a:rPr>
                        <a:t>Évènement Socket.IO</a:t>
                      </a:r>
                      <a:r>
                        <a:rPr lang="en-US" sz="2200">
                          <a:latin typeface="Times New Roman" panose="02020603050405020304" pitchFamily="18" charset="0"/>
                          <a:cs typeface="Times New Roman" panose="02020603050405020304" pitchFamily="18" charset="0"/>
                        </a:rPr>
                        <a:t> </a:t>
                      </a:r>
                      <a:r>
                        <a:rPr lang="en-US" sz="2200" i="1">
                          <a:latin typeface="Times New Roman" panose="02020603050405020304" pitchFamily="18" charset="0"/>
                          <a:cs typeface="Times New Roman" panose="02020603050405020304" pitchFamily="18" charset="0"/>
                        </a:rPr>
                        <a:t>execute_command</a:t>
                      </a:r>
                      <a:endParaRPr lang="fr-FR" sz="2200" i="1">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711956494"/>
                  </a:ext>
                </a:extLst>
              </a:tr>
              <a:tr h="511581">
                <a:tc>
                  <a:txBody>
                    <a:bodyPr/>
                    <a:lstStyle/>
                    <a:p>
                      <a:r>
                        <a:rPr lang="fr-FR" sz="2200">
                          <a:latin typeface="Times New Roman" panose="02020603050405020304" pitchFamily="18" charset="0"/>
                          <a:cs typeface="Times New Roman" panose="02020603050405020304" pitchFamily="18" charset="0"/>
                        </a:rPr>
                        <a:t>Décision</a:t>
                      </a:r>
                      <a:endParaRPr lang="en-US" sz="2200">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sz="2200">
                          <a:solidFill>
                            <a:schemeClr val="tx1"/>
                          </a:solidFill>
                          <a:latin typeface="Times New Roman" panose="02020603050405020304" pitchFamily="18" charset="0"/>
                          <a:cs typeface="Times New Roman" panose="02020603050405020304" pitchFamily="18" charset="0"/>
                        </a:rPr>
                        <a:t>Corrélation, seuils de sévérité, logique de vote</a:t>
                      </a:r>
                      <a:endParaRPr lang="en-US" sz="2200">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sz="2200">
                          <a:solidFill>
                            <a:schemeClr val="tx1"/>
                          </a:solidFill>
                          <a:latin typeface="Times New Roman" panose="02020603050405020304" pitchFamily="18" charset="0"/>
                          <a:cs typeface="Times New Roman" panose="02020603050405020304" pitchFamily="18" charset="0"/>
                        </a:rPr>
                        <a:t>Aucune – exécution de l’ordre reçu</a:t>
                      </a:r>
                      <a:endParaRPr lang="en-US" sz="2200">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347146182"/>
                  </a:ext>
                </a:extLst>
              </a:tr>
              <a:tr h="511581">
                <a:tc>
                  <a:txBody>
                    <a:bodyPr/>
                    <a:lstStyle/>
                    <a:p>
                      <a:r>
                        <a:rPr lang="fr-FR" sz="2200">
                          <a:latin typeface="Times New Roman" panose="02020603050405020304" pitchFamily="18" charset="0"/>
                          <a:cs typeface="Times New Roman" panose="02020603050405020304" pitchFamily="18" charset="0"/>
                        </a:rPr>
                        <a:t>Origin</a:t>
                      </a:r>
                      <a:endParaRPr lang="en-US" sz="2200">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sz="2200">
                          <a:solidFill>
                            <a:schemeClr val="tx1"/>
                          </a:solidFill>
                          <a:latin typeface="Times New Roman" panose="02020603050405020304" pitchFamily="18" charset="0"/>
                          <a:cs typeface="Times New Roman" panose="02020603050405020304" pitchFamily="18" charset="0"/>
                        </a:rPr>
                        <a:t>Entièrement autonome</a:t>
                      </a:r>
                      <a:endParaRPr lang="en-US" sz="2200">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sz="2200">
                          <a:solidFill>
                            <a:schemeClr val="tx1"/>
                          </a:solidFill>
                          <a:latin typeface="Times New Roman" panose="02020603050405020304" pitchFamily="18" charset="0"/>
                          <a:cs typeface="Times New Roman" panose="02020603050405020304" pitchFamily="18" charset="0"/>
                        </a:rPr>
                        <a:t>Administrateur ou mode auto-pilote</a:t>
                      </a:r>
                      <a:endParaRPr lang="en-US" sz="2200">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122614722"/>
                  </a:ext>
                </a:extLst>
              </a:tr>
              <a:tr h="511581">
                <a:tc>
                  <a:txBody>
                    <a:bodyPr/>
                    <a:lstStyle/>
                    <a:p>
                      <a:r>
                        <a:rPr lang="fr-FR" sz="2200">
                          <a:latin typeface="Times New Roman" panose="02020603050405020304" pitchFamily="18" charset="0"/>
                          <a:cs typeface="Times New Roman" panose="02020603050405020304" pitchFamily="18" charset="0"/>
                        </a:rPr>
                        <a:t>Action</a:t>
                      </a:r>
                      <a:endParaRPr lang="en-US" sz="2200">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sz="2200">
                          <a:solidFill>
                            <a:schemeClr val="tx1"/>
                          </a:solidFill>
                          <a:latin typeface="Times New Roman" panose="02020603050405020304" pitchFamily="18" charset="0"/>
                          <a:cs typeface="Times New Roman" panose="02020603050405020304" pitchFamily="18" charset="0"/>
                        </a:rPr>
                        <a:t>Blocage SSH direct ou notification de l’agent IA</a:t>
                      </a:r>
                      <a:endParaRPr lang="en-US" sz="2200">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fr-FR" sz="2200">
                          <a:solidFill>
                            <a:schemeClr val="tx1"/>
                          </a:solidFill>
                          <a:latin typeface="Times New Roman" panose="02020603050405020304" pitchFamily="18" charset="0"/>
                          <a:cs typeface="Times New Roman" panose="02020603050405020304" pitchFamily="18" charset="0"/>
                        </a:rPr>
                        <a:t>Blocage SSH sur ordre, avec accusé </a:t>
                      </a:r>
                      <a:r>
                        <a:rPr lang="fr-FR" sz="2200" i="1">
                          <a:solidFill>
                            <a:schemeClr val="tx1"/>
                          </a:solidFill>
                          <a:latin typeface="Times New Roman" panose="02020603050405020304" pitchFamily="18" charset="0"/>
                          <a:cs typeface="Times New Roman" panose="02020603050405020304" pitchFamily="18" charset="0"/>
                        </a:rPr>
                        <a:t>command_result</a:t>
                      </a:r>
                      <a:endParaRPr lang="en-US" sz="2200" i="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127446450"/>
                  </a:ext>
                </a:extLst>
              </a:tr>
            </a:tbl>
          </a:graphicData>
        </a:graphic>
      </p:graphicFrame>
      <p:grpSp>
        <p:nvGrpSpPr>
          <p:cNvPr id="6" name="Group 5">
            <a:extLst>
              <a:ext uri="{FF2B5EF4-FFF2-40B4-BE49-F238E27FC236}">
                <a16:creationId xmlns:a16="http://schemas.microsoft.com/office/drawing/2014/main" id="{245A702D-B869-473B-BD6D-ACE55291BD20}"/>
              </a:ext>
            </a:extLst>
          </p:cNvPr>
          <p:cNvGrpSpPr/>
          <p:nvPr/>
        </p:nvGrpSpPr>
        <p:grpSpPr>
          <a:xfrm>
            <a:off x="5361978" y="8347860"/>
            <a:ext cx="10363200" cy="1443559"/>
            <a:chOff x="790377" y="735597"/>
            <a:chExt cx="8785102" cy="1622288"/>
          </a:xfrm>
        </p:grpSpPr>
        <p:sp>
          <p:nvSpPr>
            <p:cNvPr id="7" name="Rectangle: Rounded Corners 6">
              <a:extLst>
                <a:ext uri="{FF2B5EF4-FFF2-40B4-BE49-F238E27FC236}">
                  <a16:creationId xmlns:a16="http://schemas.microsoft.com/office/drawing/2014/main" id="{440E8217-2C88-F783-ED2A-0C9E97AE7DEB}"/>
                </a:ext>
              </a:extLst>
            </p:cNvPr>
            <p:cNvSpPr/>
            <p:nvPr/>
          </p:nvSpPr>
          <p:spPr>
            <a:xfrm>
              <a:off x="790377" y="735597"/>
              <a:ext cx="8785102" cy="162228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5B036F86-E76B-B545-EB52-4DA338B65BC0}"/>
                </a:ext>
              </a:extLst>
            </p:cNvPr>
            <p:cNvSpPr txBox="1"/>
            <p:nvPr/>
          </p:nvSpPr>
          <p:spPr>
            <a:xfrm>
              <a:off x="917032" y="883164"/>
              <a:ext cx="8531792" cy="124517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200" i="1" u="none" strike="noStrike" kern="1200" cap="none" spc="0" normalizeH="0" baseline="0" noProof="0">
                  <a:ln>
                    <a:noFill/>
                  </a:ln>
                  <a:solidFill>
                    <a:prstClr val="white"/>
                  </a:solidFill>
                  <a:effectLst/>
                  <a:uLnTx/>
                  <a:uFillTx/>
                  <a:latin typeface="Times New Roman" panose="02020603050405020304" pitchFamily="18" charset="0"/>
                  <a:ea typeface="+mn-ea"/>
                  <a:cs typeface="Times New Roman" panose="02020603050405020304" pitchFamily="18" charset="0"/>
                </a:rPr>
                <a:t>Cette séparation garantit qu’un humain — ou une règle explicite du mode auto-pilote reste toujours le seul point d’origine d’une action sur l’infrastructure, même lorsque la détection elle-même est entièrement automatisée.</a:t>
              </a:r>
            </a:p>
          </p:txBody>
        </p:sp>
      </p:grpSp>
    </p:spTree>
    <p:extLst>
      <p:ext uri="{BB962C8B-B14F-4D97-AF65-F5344CB8AC3E}">
        <p14:creationId xmlns:p14="http://schemas.microsoft.com/office/powerpoint/2010/main" val="13134013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8DF7C-6760-F0CC-D35E-CDE477DB1C95}"/>
            </a:ext>
          </a:extLst>
        </p:cNvPr>
        <p:cNvGrpSpPr/>
        <p:nvPr/>
      </p:nvGrpSpPr>
      <p:grpSpPr>
        <a:xfrm>
          <a:off x="0" y="0"/>
          <a:ext cx="0" cy="0"/>
          <a:chOff x="0" y="0"/>
          <a:chExt cx="0" cy="0"/>
        </a:xfrm>
      </p:grpSpPr>
      <p:sp>
        <p:nvSpPr>
          <p:cNvPr id="33" name="Rectangle: Rounded Corners 32">
            <a:extLst>
              <a:ext uri="{FF2B5EF4-FFF2-40B4-BE49-F238E27FC236}">
                <a16:creationId xmlns:a16="http://schemas.microsoft.com/office/drawing/2014/main" id="{3FA3AB8F-5A9A-85B0-89CA-5F277C40BE41}"/>
              </a:ext>
            </a:extLst>
          </p:cNvPr>
          <p:cNvSpPr/>
          <p:nvPr/>
        </p:nvSpPr>
        <p:spPr>
          <a:xfrm>
            <a:off x="12994483" y="7949077"/>
            <a:ext cx="2904878" cy="179639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30" name="Rectangle: Rounded Corners 29">
            <a:extLst>
              <a:ext uri="{FF2B5EF4-FFF2-40B4-BE49-F238E27FC236}">
                <a16:creationId xmlns:a16="http://schemas.microsoft.com/office/drawing/2014/main" id="{C0469B25-BA77-C9CD-6010-F73FD750947F}"/>
              </a:ext>
            </a:extLst>
          </p:cNvPr>
          <p:cNvSpPr/>
          <p:nvPr/>
        </p:nvSpPr>
        <p:spPr>
          <a:xfrm>
            <a:off x="5254142" y="7962900"/>
            <a:ext cx="2904878" cy="179639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28" name="Rectangle: Rounded Corners 27">
            <a:extLst>
              <a:ext uri="{FF2B5EF4-FFF2-40B4-BE49-F238E27FC236}">
                <a16:creationId xmlns:a16="http://schemas.microsoft.com/office/drawing/2014/main" id="{CA9BBC3F-E0BA-9B42-5902-036F38ED2A5F}"/>
              </a:ext>
            </a:extLst>
          </p:cNvPr>
          <p:cNvSpPr/>
          <p:nvPr/>
        </p:nvSpPr>
        <p:spPr>
          <a:xfrm>
            <a:off x="9086961" y="7962900"/>
            <a:ext cx="2904878" cy="179639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latin typeface="Times New Roman" panose="02020603050405020304" pitchFamily="18" charset="0"/>
              <a:cs typeface="Times New Roman" panose="02020603050405020304" pitchFamily="18" charset="0"/>
            </a:endParaRPr>
          </a:p>
        </p:txBody>
      </p:sp>
      <p:sp>
        <p:nvSpPr>
          <p:cNvPr id="36" name="Rectangle 35">
            <a:extLst>
              <a:ext uri="{FF2B5EF4-FFF2-40B4-BE49-F238E27FC236}">
                <a16:creationId xmlns:a16="http://schemas.microsoft.com/office/drawing/2014/main" id="{E47CFBFC-8C00-DD87-6707-F7FBF861A222}"/>
              </a:ext>
            </a:extLst>
          </p:cNvPr>
          <p:cNvSpPr/>
          <p:nvPr/>
        </p:nvSpPr>
        <p:spPr>
          <a:xfrm>
            <a:off x="0" y="-304801"/>
            <a:ext cx="2811410" cy="108966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latin typeface="Times New Roman" panose="02020603050405020304" pitchFamily="18" charset="0"/>
              <a:cs typeface="Times New Roman" panose="02020603050405020304" pitchFamily="18" charset="0"/>
            </a:endParaRPr>
          </a:p>
        </p:txBody>
      </p:sp>
      <p:sp>
        <p:nvSpPr>
          <p:cNvPr id="32" name="Rectangle: Rounded Corners 31">
            <a:extLst>
              <a:ext uri="{FF2B5EF4-FFF2-40B4-BE49-F238E27FC236}">
                <a16:creationId xmlns:a16="http://schemas.microsoft.com/office/drawing/2014/main" id="{5A32E3A0-76EE-1C81-6E82-07FF33831045}"/>
              </a:ext>
            </a:extLst>
          </p:cNvPr>
          <p:cNvSpPr/>
          <p:nvPr/>
        </p:nvSpPr>
        <p:spPr>
          <a:xfrm>
            <a:off x="228600" y="647700"/>
            <a:ext cx="2362200" cy="609600"/>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000">
                <a:latin typeface="Times New Roman" panose="02020603050405020304" pitchFamily="18" charset="0"/>
                <a:cs typeface="Times New Roman" panose="02020603050405020304" pitchFamily="18" charset="0"/>
              </a:rPr>
              <a:t>Release 2</a:t>
            </a:r>
            <a:endParaRPr lang="en-US" sz="3000">
              <a:latin typeface="Times New Roman" panose="02020603050405020304" pitchFamily="18" charset="0"/>
              <a:cs typeface="Times New Roman" panose="02020603050405020304" pitchFamily="18" charset="0"/>
            </a:endParaRPr>
          </a:p>
        </p:txBody>
      </p:sp>
      <p:sp>
        <p:nvSpPr>
          <p:cNvPr id="8" name="TextBox 4">
            <a:extLst>
              <a:ext uri="{FF2B5EF4-FFF2-40B4-BE49-F238E27FC236}">
                <a16:creationId xmlns:a16="http://schemas.microsoft.com/office/drawing/2014/main" id="{F7C158BD-99B2-DCA2-C58E-4390E424E6B3}"/>
              </a:ext>
            </a:extLst>
          </p:cNvPr>
          <p:cNvSpPr txBox="1"/>
          <p:nvPr/>
        </p:nvSpPr>
        <p:spPr>
          <a:xfrm rot="16200000">
            <a:off x="-2747240" y="5210517"/>
            <a:ext cx="7162800" cy="323165"/>
          </a:xfrm>
          <a:prstGeom prst="rect">
            <a:avLst/>
          </a:prstGeom>
          <a:noFill/>
        </p:spPr>
        <p:txBody>
          <a:bodyPr wrap="square" rtlCol="0">
            <a:spAutoFit/>
          </a:bodyPr>
          <a:lstStyle/>
          <a:p>
            <a:r>
              <a:rPr lang="en-US" sz="1500" dirty="0">
                <a:solidFill>
                  <a:schemeClr val="bg1">
                    <a:lumMod val="50000"/>
                  </a:schemeClr>
                </a:solidFill>
                <a:latin typeface="Times New Roman" panose="02020603050405020304" pitchFamily="18" charset="0"/>
                <a:cs typeface="Times New Roman" panose="02020603050405020304" pitchFamily="18" charset="0"/>
              </a:rPr>
              <a:t>Sprint 4 — Anticipation par le renseignement</a:t>
            </a:r>
          </a:p>
        </p:txBody>
      </p:sp>
      <p:sp>
        <p:nvSpPr>
          <p:cNvPr id="3" name="TextBox 2">
            <a:extLst>
              <a:ext uri="{FF2B5EF4-FFF2-40B4-BE49-F238E27FC236}">
                <a16:creationId xmlns:a16="http://schemas.microsoft.com/office/drawing/2014/main" id="{91627A13-E2C3-E58D-1475-0B081075B728}"/>
              </a:ext>
            </a:extLst>
          </p:cNvPr>
          <p:cNvSpPr txBox="1"/>
          <p:nvPr/>
        </p:nvSpPr>
        <p:spPr>
          <a:xfrm rot="16200000">
            <a:off x="-2123301" y="5248617"/>
            <a:ext cx="7086601" cy="323165"/>
          </a:xfrm>
          <a:prstGeom prst="rect">
            <a:avLst/>
          </a:prstGeom>
          <a:noFill/>
        </p:spPr>
        <p:txBody>
          <a:bodyPr wrap="square" rtlCol="0">
            <a:spAutoFit/>
          </a:bodyPr>
          <a:lstStyle/>
          <a:p>
            <a:r>
              <a:rPr lang="fr-FR" sz="1500">
                <a:solidFill>
                  <a:schemeClr val="bg1">
                    <a:lumMod val="50000"/>
                  </a:schemeClr>
                </a:solidFill>
                <a:latin typeface="Times New Roman" panose="02020603050405020304" pitchFamily="18" charset="0"/>
                <a:cs typeface="Times New Roman" panose="02020603050405020304" pitchFamily="18" charset="0"/>
              </a:rPr>
              <a:t>Sprint 5 — Mitigation du risque humain</a:t>
            </a:r>
          </a:p>
        </p:txBody>
      </p:sp>
      <p:sp>
        <p:nvSpPr>
          <p:cNvPr id="5" name="TextBox 4">
            <a:extLst>
              <a:ext uri="{FF2B5EF4-FFF2-40B4-BE49-F238E27FC236}">
                <a16:creationId xmlns:a16="http://schemas.microsoft.com/office/drawing/2014/main" id="{DAC5528A-F90B-6559-4A98-73EF14D9B5ED}"/>
              </a:ext>
            </a:extLst>
          </p:cNvPr>
          <p:cNvSpPr txBox="1"/>
          <p:nvPr/>
        </p:nvSpPr>
        <p:spPr>
          <a:xfrm rot="16200000">
            <a:off x="-1846092" y="4848775"/>
            <a:ext cx="7655451" cy="553998"/>
          </a:xfrm>
          <a:prstGeom prst="rect">
            <a:avLst/>
          </a:prstGeom>
          <a:noFill/>
        </p:spPr>
        <p:txBody>
          <a:bodyPr wrap="square" rtlCol="0">
            <a:spAutoFit/>
          </a:bodyPr>
          <a:lstStyle/>
          <a:p>
            <a:r>
              <a:rPr lang="en-US" sz="3000">
                <a:latin typeface="Times New Roman" panose="02020603050405020304" pitchFamily="18" charset="0"/>
                <a:cs typeface="Times New Roman" panose="02020603050405020304" pitchFamily="18" charset="0"/>
              </a:rPr>
              <a:t>Sprint 6 — Orchestration SOAR &amp; supervision</a:t>
            </a:r>
          </a:p>
        </p:txBody>
      </p:sp>
      <p:sp>
        <p:nvSpPr>
          <p:cNvPr id="13" name="TextBox 12">
            <a:extLst>
              <a:ext uri="{FF2B5EF4-FFF2-40B4-BE49-F238E27FC236}">
                <a16:creationId xmlns:a16="http://schemas.microsoft.com/office/drawing/2014/main" id="{DD4817DC-844B-6BC3-1235-13994947C76D}"/>
              </a:ext>
            </a:extLst>
          </p:cNvPr>
          <p:cNvSpPr txBox="1"/>
          <p:nvPr/>
        </p:nvSpPr>
        <p:spPr>
          <a:xfrm>
            <a:off x="8266856" y="717947"/>
            <a:ext cx="4573688" cy="615553"/>
          </a:xfrm>
          <a:prstGeom prst="rect">
            <a:avLst/>
          </a:prstGeom>
          <a:noFill/>
        </p:spPr>
        <p:txBody>
          <a:bodyPr wrap="none" rtlCol="0">
            <a:spAutoFit/>
          </a:bodyPr>
          <a:lstStyle/>
          <a:p>
            <a:r>
              <a:rPr lang="fr-FR" sz="3400" b="1">
                <a:latin typeface="Times New Roman" panose="02020603050405020304" pitchFamily="18" charset="0"/>
                <a:cs typeface="Times New Roman" panose="02020603050405020304" pitchFamily="18" charset="0"/>
              </a:rPr>
              <a:t>Résilience et autonomie</a:t>
            </a:r>
            <a:endParaRPr lang="en-US" sz="3400" b="1">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0FD7DEC3-CCDE-B21D-9F73-E45B5B723F91}"/>
              </a:ext>
            </a:extLst>
          </p:cNvPr>
          <p:cNvSpPr txBox="1"/>
          <p:nvPr/>
        </p:nvSpPr>
        <p:spPr>
          <a:xfrm>
            <a:off x="4800600" y="1562100"/>
            <a:ext cx="11485956" cy="707886"/>
          </a:xfrm>
          <a:prstGeom prst="rect">
            <a:avLst/>
          </a:prstGeom>
          <a:noFill/>
        </p:spPr>
        <p:txBody>
          <a:bodyPr wrap="square">
            <a:spAutoFit/>
          </a:bodyPr>
          <a:lstStyle/>
          <a:p>
            <a:pPr algn="ctr"/>
            <a:r>
              <a:rPr lang="fr-FR" sz="2000">
                <a:latin typeface="Times New Roman" panose="02020603050405020304" pitchFamily="18" charset="0"/>
                <a:cs typeface="Times New Roman" panose="02020603050405020304" pitchFamily="18" charset="0"/>
              </a:rPr>
              <a:t>Le score composite pondère les trois sources de détection pour alimenter le mode auto-pilote, </a:t>
            </a:r>
          </a:p>
          <a:p>
            <a:pPr algn="ctr"/>
            <a:r>
              <a:rPr lang="fr-FR" sz="2000">
                <a:latin typeface="Times New Roman" panose="02020603050405020304" pitchFamily="18" charset="0"/>
                <a:cs typeface="Times New Roman" panose="02020603050405020304" pitchFamily="18" charset="0"/>
              </a:rPr>
              <a:t>qui garantit une réponse sans délai même en l’absence totale de supervision humaine.</a:t>
            </a:r>
            <a:endParaRPr lang="en-US" sz="200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5FD940BF-8295-A039-CA86-FCF380399F32}"/>
              </a:ext>
            </a:extLst>
          </p:cNvPr>
          <p:cNvSpPr txBox="1"/>
          <p:nvPr/>
        </p:nvSpPr>
        <p:spPr>
          <a:xfrm>
            <a:off x="5328845" y="8277886"/>
            <a:ext cx="2755472" cy="113877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400" b="1" i="1" u="none" strike="noStrike" kern="1200" cap="none" spc="0" normalizeH="0" baseline="0" noProof="0">
                <a:ln>
                  <a:noFill/>
                </a:ln>
                <a:solidFill>
                  <a:prstClr val="white"/>
                </a:solidFill>
                <a:effectLst/>
                <a:uLnTx/>
                <a:uFillTx/>
                <a:latin typeface="Times New Roman" panose="02020603050405020304" pitchFamily="18" charset="0"/>
                <a:cs typeface="Times New Roman" panose="02020603050405020304" pitchFamily="18" charset="0"/>
              </a:rPr>
              <a:t>Watchdog</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2200" i="1">
                <a:solidFill>
                  <a:prstClr val="white"/>
                </a:solidFill>
                <a:latin typeface="Times New Roman" panose="02020603050405020304" pitchFamily="18" charset="0"/>
                <a:cs typeface="Times New Roman" panose="02020603050405020304" pitchFamily="18" charset="0"/>
              </a:rPr>
              <a:t>Détection de panne d’un nœud en &lt;= 15 s</a:t>
            </a:r>
            <a:endParaRPr kumimoji="0" lang="fr-FR" sz="2200" i="1" u="none" strike="noStrike" kern="1200" cap="none" spc="0" normalizeH="0" baseline="0" noProof="0">
              <a:ln>
                <a:noFill/>
              </a:ln>
              <a:solidFill>
                <a:prstClr val="white"/>
              </a:solidFill>
              <a:effectLst/>
              <a:uLnTx/>
              <a:uFillTx/>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A4854CE5-1B69-50AB-7860-770006844B14}"/>
              </a:ext>
            </a:extLst>
          </p:cNvPr>
          <p:cNvPicPr>
            <a:picLocks noChangeAspect="1"/>
          </p:cNvPicPr>
          <p:nvPr/>
        </p:nvPicPr>
        <p:blipFill>
          <a:blip r:embed="rId3">
            <a:extLst>
              <a:ext uri="{28A0092B-C50C-407E-A947-70E740481C1C}">
                <a14:useLocalDpi xmlns:a14="http://schemas.microsoft.com/office/drawing/2010/main" val="0"/>
              </a:ext>
            </a:extLst>
          </a:blip>
          <a:srcRect l="12453" t="5222" r="11592" b="37693"/>
          <a:stretch>
            <a:fillRect/>
          </a:stretch>
        </p:blipFill>
        <p:spPr>
          <a:xfrm>
            <a:off x="5791200" y="2974923"/>
            <a:ext cx="9448800" cy="4337154"/>
          </a:xfrm>
          <a:prstGeom prst="rect">
            <a:avLst/>
          </a:prstGeom>
        </p:spPr>
      </p:pic>
      <p:sp>
        <p:nvSpPr>
          <p:cNvPr id="23" name="TextBox 22">
            <a:extLst>
              <a:ext uri="{FF2B5EF4-FFF2-40B4-BE49-F238E27FC236}">
                <a16:creationId xmlns:a16="http://schemas.microsoft.com/office/drawing/2014/main" id="{57960189-D043-85DA-CF22-44F09D75019E}"/>
              </a:ext>
            </a:extLst>
          </p:cNvPr>
          <p:cNvSpPr txBox="1"/>
          <p:nvPr/>
        </p:nvSpPr>
        <p:spPr>
          <a:xfrm>
            <a:off x="13069186" y="8150705"/>
            <a:ext cx="2755472" cy="147732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400" b="1" i="1" u="none" strike="noStrike" kern="1200" cap="none" spc="0" normalizeH="0" baseline="0" noProof="0">
                <a:ln>
                  <a:noFill/>
                </a:ln>
                <a:solidFill>
                  <a:prstClr val="white"/>
                </a:solidFill>
                <a:effectLst/>
                <a:uLnTx/>
                <a:uFillTx/>
                <a:latin typeface="Times New Roman" panose="02020603050405020304" pitchFamily="18" charset="0"/>
                <a:cs typeface="Times New Roman" panose="02020603050405020304" pitchFamily="18" charset="0"/>
              </a:rPr>
              <a:t>Bouclier anti-DDos</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2200" i="1">
                <a:solidFill>
                  <a:prstClr val="white"/>
                </a:solidFill>
                <a:latin typeface="Times New Roman" panose="02020603050405020304" pitchFamily="18" charset="0"/>
                <a:cs typeface="Times New Roman" panose="02020603050405020304" pitchFamily="18" charset="0"/>
              </a:rPr>
              <a:t>SYN cookies et limitation de débit à distance</a:t>
            </a:r>
            <a:endParaRPr kumimoji="0" lang="fr-FR" sz="2200" i="1" u="none" strike="noStrike" kern="1200" cap="none" spc="0" normalizeH="0" baseline="0" noProof="0">
              <a:ln>
                <a:noFill/>
              </a:ln>
              <a:solidFill>
                <a:prstClr val="white"/>
              </a:solidFill>
              <a:effectLst/>
              <a:uLnTx/>
              <a:uFillTx/>
              <a:latin typeface="Times New Roman" panose="02020603050405020304" pitchFamily="18" charset="0"/>
              <a:cs typeface="Times New Roman" panose="02020603050405020304" pitchFamily="18" charset="0"/>
            </a:endParaRPr>
          </a:p>
        </p:txBody>
      </p:sp>
      <p:sp>
        <p:nvSpPr>
          <p:cNvPr id="26" name="TextBox 25">
            <a:extLst>
              <a:ext uri="{FF2B5EF4-FFF2-40B4-BE49-F238E27FC236}">
                <a16:creationId xmlns:a16="http://schemas.microsoft.com/office/drawing/2014/main" id="{665A1AE9-2840-457E-59B6-95D9B157A335}"/>
              </a:ext>
            </a:extLst>
          </p:cNvPr>
          <p:cNvSpPr txBox="1"/>
          <p:nvPr/>
        </p:nvSpPr>
        <p:spPr>
          <a:xfrm>
            <a:off x="9161664" y="8171690"/>
            <a:ext cx="2755472" cy="147732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400" b="1" i="1" u="none" strike="noStrike" kern="1200" cap="none" spc="0" normalizeH="0" baseline="0" noProof="0">
                <a:ln>
                  <a:noFill/>
                </a:ln>
                <a:solidFill>
                  <a:prstClr val="white"/>
                </a:solidFill>
                <a:effectLst/>
                <a:uLnTx/>
                <a:uFillTx/>
                <a:latin typeface="Times New Roman" panose="02020603050405020304" pitchFamily="18" charset="0"/>
                <a:cs typeface="Times New Roman" panose="02020603050405020304" pitchFamily="18" charset="0"/>
              </a:rPr>
              <a:t>Résilience Kafka</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2200" i="1">
                <a:solidFill>
                  <a:prstClr val="white"/>
                </a:solidFill>
                <a:latin typeface="Times New Roman" panose="02020603050405020304" pitchFamily="18" charset="0"/>
                <a:cs typeface="Times New Roman" panose="02020603050405020304" pitchFamily="18" charset="0"/>
              </a:rPr>
              <a:t>Reconnexion automatique, nouvelle tentative toutes les 5s</a:t>
            </a:r>
            <a:endParaRPr kumimoji="0" lang="fr-FR" sz="2200" i="1" u="none" strike="noStrike" kern="1200" cap="none" spc="0" normalizeH="0" baseline="0" noProof="0">
              <a:ln>
                <a:noFill/>
              </a:ln>
              <a:solidFill>
                <a:prstClr val="white"/>
              </a:solidFill>
              <a:effectLst/>
              <a:uLnTx/>
              <a:uFillTx/>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465282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C1D90-F8C7-F1CB-5D27-AC3818D299BA}"/>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7173497D-83AA-8363-BE23-AC8F2513CC57}"/>
              </a:ext>
            </a:extLst>
          </p:cNvPr>
          <p:cNvSpPr/>
          <p:nvPr/>
        </p:nvSpPr>
        <p:spPr>
          <a:xfrm>
            <a:off x="0" y="0"/>
            <a:ext cx="18288000" cy="10287000"/>
          </a:xfrm>
          <a:prstGeom prst="rect">
            <a:avLst/>
          </a:prstGeom>
          <a:solidFill>
            <a:srgbClr val="EBD6FB"/>
          </a:solidFill>
        </p:spPr>
        <p:txBody>
          <a:bodyPr/>
          <a:lstStyle/>
          <a:p>
            <a:endParaRPr lang="fr-TN">
              <a:solidFill>
                <a:srgbClr val="9964CC"/>
              </a:solidFill>
            </a:endParaRPr>
          </a:p>
        </p:txBody>
      </p:sp>
      <p:sp>
        <p:nvSpPr>
          <p:cNvPr id="3" name="TextBox 3">
            <a:extLst>
              <a:ext uri="{FF2B5EF4-FFF2-40B4-BE49-F238E27FC236}">
                <a16:creationId xmlns:a16="http://schemas.microsoft.com/office/drawing/2014/main" id="{4EC81FE6-278F-3C96-5D99-6EA3A20F314F}"/>
              </a:ext>
            </a:extLst>
          </p:cNvPr>
          <p:cNvSpPr txBox="1"/>
          <p:nvPr/>
        </p:nvSpPr>
        <p:spPr>
          <a:xfrm>
            <a:off x="1047750" y="3162301"/>
            <a:ext cx="3067050" cy="307200"/>
          </a:xfrm>
          <a:prstGeom prst="rect">
            <a:avLst/>
          </a:prstGeom>
        </p:spPr>
        <p:txBody>
          <a:bodyPr wrap="square" lIns="0" tIns="0" rIns="0" bIns="0" rtlCol="0" anchor="t">
            <a:spAutoFit/>
          </a:bodyPr>
          <a:lstStyle/>
          <a:p>
            <a:pPr algn="l">
              <a:lnSpc>
                <a:spcPts val="2100"/>
              </a:lnSpc>
            </a:pPr>
            <a:r>
              <a:rPr lang="en-US" sz="3500" b="1" spc="270">
                <a:solidFill>
                  <a:srgbClr val="9964CC"/>
                </a:solidFill>
                <a:latin typeface="Times New Roman Bold"/>
                <a:ea typeface="Times New Roman Bold"/>
                <a:cs typeface="Times New Roman Bold"/>
                <a:sym typeface="Times New Roman Bold"/>
              </a:rPr>
              <a:t>SECTION 03</a:t>
            </a:r>
          </a:p>
        </p:txBody>
      </p:sp>
      <p:sp>
        <p:nvSpPr>
          <p:cNvPr id="4" name="TextBox 4">
            <a:extLst>
              <a:ext uri="{FF2B5EF4-FFF2-40B4-BE49-F238E27FC236}">
                <a16:creationId xmlns:a16="http://schemas.microsoft.com/office/drawing/2014/main" id="{692BED39-23C9-DAB9-66ED-1B7C16A2D518}"/>
              </a:ext>
            </a:extLst>
          </p:cNvPr>
          <p:cNvSpPr txBox="1"/>
          <p:nvPr/>
        </p:nvSpPr>
        <p:spPr>
          <a:xfrm>
            <a:off x="1047749" y="3838575"/>
            <a:ext cx="14249399" cy="2180084"/>
          </a:xfrm>
          <a:prstGeom prst="rect">
            <a:avLst/>
          </a:prstGeom>
        </p:spPr>
        <p:txBody>
          <a:bodyPr wrap="square" lIns="0" tIns="0" rIns="0" bIns="0" rtlCol="0" anchor="t">
            <a:spAutoFit/>
          </a:bodyPr>
          <a:lstStyle/>
          <a:p>
            <a:pPr algn="l">
              <a:lnSpc>
                <a:spcPts val="8496"/>
              </a:lnSpc>
            </a:pPr>
            <a:r>
              <a:rPr lang="en-US" sz="8850" b="1" spc="-265" dirty="0" err="1">
                <a:latin typeface="Times New Roman Bold"/>
                <a:ea typeface="Times New Roman Bold"/>
                <a:cs typeface="Times New Roman Bold"/>
                <a:sym typeface="Times New Roman Bold"/>
              </a:rPr>
              <a:t>Déploiement</a:t>
            </a:r>
            <a:r>
              <a:rPr lang="en-US" sz="8850" b="1" spc="-265" dirty="0">
                <a:latin typeface="Times New Roman Bold"/>
                <a:ea typeface="Times New Roman Bold"/>
                <a:cs typeface="Times New Roman Bold"/>
                <a:sym typeface="Times New Roman Bold"/>
              </a:rPr>
              <a:t> </a:t>
            </a:r>
          </a:p>
          <a:p>
            <a:pPr algn="l">
              <a:lnSpc>
                <a:spcPts val="8496"/>
              </a:lnSpc>
            </a:pPr>
            <a:r>
              <a:rPr lang="en-US" sz="8850" b="1" spc="-265" dirty="0">
                <a:latin typeface="Times New Roman Bold"/>
                <a:ea typeface="Times New Roman Bold"/>
                <a:cs typeface="Times New Roman Bold"/>
                <a:sym typeface="Times New Roman Bold"/>
              </a:rPr>
              <a:t>et </a:t>
            </a:r>
            <a:r>
              <a:rPr lang="en-US" sz="8850" b="1" spc="-265" dirty="0" err="1">
                <a:latin typeface="Times New Roman Bold"/>
                <a:ea typeface="Times New Roman Bold"/>
                <a:cs typeface="Times New Roman Bold"/>
                <a:sym typeface="Times New Roman Bold"/>
              </a:rPr>
              <a:t>réalisation</a:t>
            </a:r>
            <a:endParaRPr lang="en-US" sz="8850" b="1" spc="-265" dirty="0">
              <a:latin typeface="Times New Roman Bold"/>
              <a:ea typeface="Times New Roman Bold"/>
              <a:cs typeface="Times New Roman Bold"/>
              <a:sym typeface="Times New Roman Bold"/>
            </a:endParaRPr>
          </a:p>
        </p:txBody>
      </p:sp>
      <p:sp>
        <p:nvSpPr>
          <p:cNvPr id="5" name="TextBox 5">
            <a:extLst>
              <a:ext uri="{FF2B5EF4-FFF2-40B4-BE49-F238E27FC236}">
                <a16:creationId xmlns:a16="http://schemas.microsoft.com/office/drawing/2014/main" id="{CD6ADFA7-6652-E431-49BF-B16334B08610}"/>
              </a:ext>
            </a:extLst>
          </p:cNvPr>
          <p:cNvSpPr txBox="1"/>
          <p:nvPr/>
        </p:nvSpPr>
        <p:spPr>
          <a:xfrm>
            <a:off x="1059472" y="6819900"/>
            <a:ext cx="8382000" cy="1341714"/>
          </a:xfrm>
          <a:prstGeom prst="rect">
            <a:avLst/>
          </a:prstGeom>
        </p:spPr>
        <p:txBody>
          <a:bodyPr lIns="0" tIns="0" rIns="0" bIns="0" rtlCol="0" anchor="t">
            <a:spAutoFit/>
          </a:bodyPr>
          <a:lstStyle/>
          <a:p>
            <a:pPr marL="518160" lvl="1" indent="-259080" algn="l">
              <a:lnSpc>
                <a:spcPts val="3600"/>
              </a:lnSpc>
              <a:buClr>
                <a:srgbClr val="9964CC"/>
              </a:buClr>
              <a:buFont typeface="Arial"/>
              <a:buChar char="•"/>
            </a:pPr>
            <a:r>
              <a:rPr lang="en-US" sz="2400" dirty="0">
                <a:latin typeface="Times New Roman"/>
                <a:ea typeface="Times New Roman"/>
                <a:cs typeface="Times New Roman"/>
                <a:sym typeface="Times New Roman"/>
              </a:rPr>
              <a:t>Environnement </a:t>
            </a:r>
            <a:r>
              <a:rPr lang="en-US" sz="2400" dirty="0" err="1">
                <a:latin typeface="Times New Roman"/>
                <a:ea typeface="Times New Roman"/>
                <a:cs typeface="Times New Roman"/>
                <a:sym typeface="Times New Roman"/>
              </a:rPr>
              <a:t>logiciel</a:t>
            </a:r>
            <a:endParaRPr lang="en-US" sz="2400" dirty="0">
              <a:latin typeface="Times New Roman"/>
              <a:ea typeface="Times New Roman"/>
              <a:cs typeface="Times New Roman"/>
              <a:sym typeface="Times New Roman"/>
            </a:endParaRPr>
          </a:p>
          <a:p>
            <a:pPr marL="518160" lvl="1" indent="-259080" algn="l">
              <a:lnSpc>
                <a:spcPts val="3600"/>
              </a:lnSpc>
              <a:buClr>
                <a:srgbClr val="9964CC"/>
              </a:buClr>
              <a:buFont typeface="Arial"/>
              <a:buChar char="•"/>
            </a:pPr>
            <a:r>
              <a:rPr lang="en-US" sz="2400" dirty="0" err="1">
                <a:latin typeface="Times New Roman"/>
                <a:ea typeface="Times New Roman"/>
                <a:cs typeface="Times New Roman"/>
                <a:sym typeface="Times New Roman"/>
              </a:rPr>
              <a:t>Achitecture</a:t>
            </a:r>
            <a:r>
              <a:rPr lang="en-US" sz="2400" dirty="0">
                <a:latin typeface="Times New Roman"/>
                <a:ea typeface="Times New Roman"/>
                <a:cs typeface="Times New Roman"/>
                <a:sym typeface="Times New Roman"/>
              </a:rPr>
              <a:t> </a:t>
            </a:r>
            <a:r>
              <a:rPr lang="en-US" sz="2400" dirty="0" err="1">
                <a:latin typeface="Times New Roman"/>
                <a:ea typeface="Times New Roman"/>
                <a:cs typeface="Times New Roman"/>
                <a:sym typeface="Times New Roman"/>
              </a:rPr>
              <a:t>globale</a:t>
            </a:r>
            <a:br>
              <a:rPr lang="en-US" sz="2400" dirty="0">
                <a:latin typeface="Times New Roman"/>
                <a:ea typeface="Times New Roman"/>
                <a:cs typeface="Times New Roman"/>
                <a:sym typeface="Times New Roman"/>
              </a:rPr>
            </a:br>
            <a:endParaRPr lang="en-US" sz="2400" dirty="0">
              <a:latin typeface="Times New Roman"/>
              <a:ea typeface="Times New Roman"/>
              <a:cs typeface="Times New Roman"/>
              <a:sym typeface="Times New Roman"/>
            </a:endParaRPr>
          </a:p>
        </p:txBody>
      </p:sp>
      <p:sp>
        <p:nvSpPr>
          <p:cNvPr id="6" name="TextBox 6">
            <a:extLst>
              <a:ext uri="{FF2B5EF4-FFF2-40B4-BE49-F238E27FC236}">
                <a16:creationId xmlns:a16="http://schemas.microsoft.com/office/drawing/2014/main" id="{8B459392-4889-A22F-2140-6C8FE9039A2B}"/>
              </a:ext>
            </a:extLst>
          </p:cNvPr>
          <p:cNvSpPr txBox="1"/>
          <p:nvPr/>
        </p:nvSpPr>
        <p:spPr>
          <a:xfrm>
            <a:off x="12206478" y="7050185"/>
            <a:ext cx="6081522" cy="4494115"/>
          </a:xfrm>
          <a:prstGeom prst="rect">
            <a:avLst/>
          </a:prstGeom>
        </p:spPr>
        <p:txBody>
          <a:bodyPr wrap="square" lIns="0" tIns="0" rIns="0" bIns="0" rtlCol="0" anchor="t">
            <a:spAutoFit/>
          </a:bodyPr>
          <a:lstStyle/>
          <a:p>
            <a:pPr algn="l">
              <a:lnSpc>
                <a:spcPts val="33600"/>
              </a:lnSpc>
            </a:pPr>
            <a:r>
              <a:rPr lang="en-US" sz="42000" b="1" spc="-1680">
                <a:solidFill>
                  <a:srgbClr val="9964CC"/>
                </a:solidFill>
                <a:latin typeface="Times New Roman Bold"/>
                <a:ea typeface="Times New Roman Bold"/>
                <a:cs typeface="Times New Roman Bold"/>
                <a:sym typeface="Times New Roman Bold"/>
              </a:rPr>
              <a:t>03</a:t>
            </a:r>
          </a:p>
        </p:txBody>
      </p:sp>
      <p:sp>
        <p:nvSpPr>
          <p:cNvPr id="7" name="TextBox 2">
            <a:extLst>
              <a:ext uri="{FF2B5EF4-FFF2-40B4-BE49-F238E27FC236}">
                <a16:creationId xmlns:a16="http://schemas.microsoft.com/office/drawing/2014/main" id="{2987CB31-A56D-29EE-5105-F79374A57A1D}"/>
              </a:ext>
            </a:extLst>
          </p:cNvPr>
          <p:cNvSpPr txBox="1"/>
          <p:nvPr/>
        </p:nvSpPr>
        <p:spPr>
          <a:xfrm>
            <a:off x="14706600" y="11077478"/>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Times New Roman" panose="02020603050405020304" pitchFamily="18" charset="0"/>
                <a:sym typeface="Bricolage Grotesque Bold"/>
              </a:rPr>
              <a:t>1</a:t>
            </a:r>
          </a:p>
        </p:txBody>
      </p:sp>
      <p:cxnSp>
        <p:nvCxnSpPr>
          <p:cNvPr id="8" name="Connecteur droit 7">
            <a:extLst>
              <a:ext uri="{FF2B5EF4-FFF2-40B4-BE49-F238E27FC236}">
                <a16:creationId xmlns:a16="http://schemas.microsoft.com/office/drawing/2014/main" id="{EA1F3497-FF2A-B3E9-D374-4BC90A52EE82}"/>
              </a:ext>
            </a:extLst>
          </p:cNvPr>
          <p:cNvCxnSpPr>
            <a:cxnSpLocks/>
          </p:cNvCxnSpPr>
          <p:nvPr/>
        </p:nvCxnSpPr>
        <p:spPr>
          <a:xfrm>
            <a:off x="17860471" y="-2552700"/>
            <a:ext cx="0" cy="16405860"/>
          </a:xfrm>
          <a:prstGeom prst="line">
            <a:avLst/>
          </a:prstGeom>
          <a:ln w="57150">
            <a:solidFill>
              <a:srgbClr val="7030A0"/>
            </a:solidFill>
          </a:ln>
        </p:spPr>
        <p:style>
          <a:lnRef idx="2">
            <a:schemeClr val="accent1"/>
          </a:lnRef>
          <a:fillRef idx="0">
            <a:schemeClr val="accent1"/>
          </a:fillRef>
          <a:effectRef idx="1">
            <a:schemeClr val="accent1"/>
          </a:effectRef>
          <a:fontRef idx="minor">
            <a:schemeClr val="tx1"/>
          </a:fontRef>
        </p:style>
      </p:cxnSp>
      <p:grpSp>
        <p:nvGrpSpPr>
          <p:cNvPr id="9" name="Groupe 8">
            <a:extLst>
              <a:ext uri="{FF2B5EF4-FFF2-40B4-BE49-F238E27FC236}">
                <a16:creationId xmlns:a16="http://schemas.microsoft.com/office/drawing/2014/main" id="{F6344371-056D-3DF2-1B33-69D131FEA1A9}"/>
              </a:ext>
            </a:extLst>
          </p:cNvPr>
          <p:cNvGrpSpPr/>
          <p:nvPr/>
        </p:nvGrpSpPr>
        <p:grpSpPr>
          <a:xfrm>
            <a:off x="17432943" y="-1529187"/>
            <a:ext cx="855057" cy="845229"/>
            <a:chOff x="2059401" y="468086"/>
            <a:chExt cx="570038" cy="563486"/>
          </a:xfrm>
        </p:grpSpPr>
        <p:sp>
          <p:nvSpPr>
            <p:cNvPr id="10" name="Ellipse 9">
              <a:extLst>
                <a:ext uri="{FF2B5EF4-FFF2-40B4-BE49-F238E27FC236}">
                  <a16:creationId xmlns:a16="http://schemas.microsoft.com/office/drawing/2014/main" id="{B0BD716D-2805-A489-1F2B-A90EE47B5F1C}"/>
                </a:ext>
              </a:extLst>
            </p:cNvPr>
            <p:cNvSpPr/>
            <p:nvPr/>
          </p:nvSpPr>
          <p:spPr>
            <a:xfrm>
              <a:off x="2059401" y="468086"/>
              <a:ext cx="570038" cy="563486"/>
            </a:xfrm>
            <a:prstGeom prst="ellipse">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sz="2700"/>
            </a:p>
          </p:txBody>
        </p:sp>
        <p:sp>
          <p:nvSpPr>
            <p:cNvPr id="11" name="ZoneTexte 10">
              <a:extLst>
                <a:ext uri="{FF2B5EF4-FFF2-40B4-BE49-F238E27FC236}">
                  <a16:creationId xmlns:a16="http://schemas.microsoft.com/office/drawing/2014/main" id="{71246C27-A832-FA0B-175E-1475F88BD3FD}"/>
                </a:ext>
              </a:extLst>
            </p:cNvPr>
            <p:cNvSpPr txBox="1"/>
            <p:nvPr/>
          </p:nvSpPr>
          <p:spPr>
            <a:xfrm>
              <a:off x="2175239" y="488109"/>
              <a:ext cx="338359" cy="523220"/>
            </a:xfrm>
            <a:prstGeom prst="rect">
              <a:avLst/>
            </a:prstGeom>
            <a:noFill/>
            <a:ln>
              <a:noFill/>
            </a:ln>
          </p:spPr>
          <p:txBody>
            <a:bodyPr wrap="square">
              <a:spAutoFit/>
            </a:bodyPr>
            <a:lstStyle/>
            <a:p>
              <a:r>
                <a:rPr lang="fr-FR" sz="4500" b="1">
                  <a:solidFill>
                    <a:schemeClr val="bg1"/>
                  </a:solidFill>
                  <a:effectLst>
                    <a:outerShdw blurRad="38100" dist="38100" dir="2700000" algn="tl">
                      <a:srgbClr val="000000">
                        <a:alpha val="43137"/>
                      </a:srgbClr>
                    </a:outerShdw>
                  </a:effectLst>
                </a:rPr>
                <a:t>1</a:t>
              </a:r>
            </a:p>
          </p:txBody>
        </p:sp>
      </p:grpSp>
      <p:sp>
        <p:nvSpPr>
          <p:cNvPr id="15" name="Ellipse 14">
            <a:extLst>
              <a:ext uri="{FF2B5EF4-FFF2-40B4-BE49-F238E27FC236}">
                <a16:creationId xmlns:a16="http://schemas.microsoft.com/office/drawing/2014/main" id="{FF95E074-A0D1-5C51-C4F8-D2B6D946D6FC}"/>
              </a:ext>
            </a:extLst>
          </p:cNvPr>
          <p:cNvSpPr/>
          <p:nvPr/>
        </p:nvSpPr>
        <p:spPr>
          <a:xfrm>
            <a:off x="19684998" y="495300"/>
            <a:ext cx="5613400" cy="5804766"/>
          </a:xfrm>
          <a:prstGeom prst="ellipse">
            <a:avLst/>
          </a:prstGeom>
          <a:solidFill>
            <a:srgbClr val="9964CC"/>
          </a:solidFill>
          <a:ln>
            <a:solidFill>
              <a:srgbClr val="9964CC"/>
            </a:solidFill>
          </a:ln>
          <a:effectLst>
            <a:outerShdw blurRad="50800" dist="38100" algn="l" rotWithShape="0">
              <a:prstClr val="black">
                <a:alpha val="40000"/>
              </a:prstClr>
            </a:outerShdw>
            <a:reflection blurRad="6350" stA="52000" endA="3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17" name="Ellipse 16">
            <a:extLst>
              <a:ext uri="{FF2B5EF4-FFF2-40B4-BE49-F238E27FC236}">
                <a16:creationId xmlns:a16="http://schemas.microsoft.com/office/drawing/2014/main" id="{7C59476F-4371-7073-DBBD-54D6678E0292}"/>
              </a:ext>
            </a:extLst>
          </p:cNvPr>
          <p:cNvSpPr/>
          <p:nvPr/>
        </p:nvSpPr>
        <p:spPr>
          <a:xfrm>
            <a:off x="31165798" y="495300"/>
            <a:ext cx="5613400" cy="5804766"/>
          </a:xfrm>
          <a:prstGeom prst="ellipse">
            <a:avLst/>
          </a:prstGeom>
          <a:solidFill>
            <a:srgbClr val="9964CC"/>
          </a:solidFill>
          <a:ln>
            <a:solidFill>
              <a:srgbClr val="9964CC"/>
            </a:solidFill>
          </a:ln>
          <a:effectLst>
            <a:outerShdw blurRad="50800" dist="38100" dir="2700000" algn="tl" rotWithShape="0">
              <a:prstClr val="black">
                <a:alpha val="40000"/>
              </a:prstClr>
            </a:outerShdw>
            <a:reflection blurRad="6350" stA="52000" endA="3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18" name="ZoneTexte 17">
            <a:extLst>
              <a:ext uri="{FF2B5EF4-FFF2-40B4-BE49-F238E27FC236}">
                <a16:creationId xmlns:a16="http://schemas.microsoft.com/office/drawing/2014/main" id="{7241E205-A7ED-BA2D-CC64-9F9BACB19089}"/>
              </a:ext>
            </a:extLst>
          </p:cNvPr>
          <p:cNvSpPr txBox="1"/>
          <p:nvPr/>
        </p:nvSpPr>
        <p:spPr>
          <a:xfrm>
            <a:off x="17703798" y="2400300"/>
            <a:ext cx="9144000" cy="1938992"/>
          </a:xfrm>
          <a:prstGeom prst="rect">
            <a:avLst/>
          </a:prstGeom>
          <a:noFill/>
        </p:spPr>
        <p:txBody>
          <a:bodyPr wrap="square">
            <a:spAutoFit/>
          </a:bodyPr>
          <a:lstStyle/>
          <a:p>
            <a:pPr marL="259080" lvl="1" algn="ctr"/>
            <a:r>
              <a:rPr lang="en-US" sz="6000">
                <a:latin typeface="Times New Roman"/>
                <a:ea typeface="Times New Roman"/>
                <a:cs typeface="Times New Roman"/>
                <a:sym typeface="Times New Roman"/>
              </a:rPr>
              <a:t>Environnement</a:t>
            </a:r>
            <a:br>
              <a:rPr lang="en-US" sz="6000">
                <a:latin typeface="Times New Roman"/>
                <a:ea typeface="Times New Roman"/>
                <a:cs typeface="Times New Roman"/>
                <a:sym typeface="Times New Roman"/>
              </a:rPr>
            </a:br>
            <a:r>
              <a:rPr lang="en-US" sz="6000">
                <a:latin typeface="Times New Roman"/>
                <a:ea typeface="Times New Roman"/>
                <a:cs typeface="Times New Roman"/>
                <a:sym typeface="Times New Roman"/>
              </a:rPr>
              <a:t> logiciel</a:t>
            </a:r>
          </a:p>
        </p:txBody>
      </p:sp>
      <p:sp>
        <p:nvSpPr>
          <p:cNvPr id="20" name="ZoneTexte 19">
            <a:extLst>
              <a:ext uri="{FF2B5EF4-FFF2-40B4-BE49-F238E27FC236}">
                <a16:creationId xmlns:a16="http://schemas.microsoft.com/office/drawing/2014/main" id="{DDFEBF57-F2A2-2E3E-4967-E9544049E401}"/>
              </a:ext>
            </a:extLst>
          </p:cNvPr>
          <p:cNvSpPr txBox="1"/>
          <p:nvPr/>
        </p:nvSpPr>
        <p:spPr>
          <a:xfrm>
            <a:off x="29260800" y="2440886"/>
            <a:ext cx="9144000" cy="1938992"/>
          </a:xfrm>
          <a:prstGeom prst="rect">
            <a:avLst/>
          </a:prstGeom>
          <a:noFill/>
        </p:spPr>
        <p:txBody>
          <a:bodyPr wrap="square">
            <a:spAutoFit/>
          </a:bodyPr>
          <a:lstStyle/>
          <a:p>
            <a:pPr marL="259080" lvl="1" algn="ctr"/>
            <a:r>
              <a:rPr lang="en-US" sz="6000">
                <a:latin typeface="Times New Roman"/>
                <a:ea typeface="Times New Roman"/>
                <a:cs typeface="Times New Roman"/>
                <a:sym typeface="Times New Roman"/>
              </a:rPr>
              <a:t>Architecture</a:t>
            </a:r>
            <a:br>
              <a:rPr lang="en-US" sz="6000">
                <a:latin typeface="Times New Roman"/>
                <a:ea typeface="Times New Roman"/>
                <a:cs typeface="Times New Roman"/>
                <a:sym typeface="Times New Roman"/>
              </a:rPr>
            </a:br>
            <a:r>
              <a:rPr lang="en-US" sz="6000">
                <a:latin typeface="Times New Roman"/>
                <a:ea typeface="Times New Roman"/>
                <a:cs typeface="Times New Roman"/>
                <a:sym typeface="Times New Roman"/>
              </a:rPr>
              <a:t> </a:t>
            </a:r>
            <a:r>
              <a:rPr lang="en-US" sz="6000" err="1">
                <a:latin typeface="Times New Roman"/>
                <a:ea typeface="Times New Roman"/>
                <a:cs typeface="Times New Roman"/>
                <a:sym typeface="Times New Roman"/>
              </a:rPr>
              <a:t>globale</a:t>
            </a:r>
            <a:endParaRPr lang="en-US" sz="6000">
              <a:latin typeface="Times New Roman"/>
              <a:ea typeface="Times New Roman"/>
              <a:cs typeface="Times New Roman"/>
              <a:sym typeface="Times New Roman"/>
            </a:endParaRPr>
          </a:p>
        </p:txBody>
      </p:sp>
      <p:cxnSp>
        <p:nvCxnSpPr>
          <p:cNvPr id="12" name="Connecteur droit 11">
            <a:extLst>
              <a:ext uri="{FF2B5EF4-FFF2-40B4-BE49-F238E27FC236}">
                <a16:creationId xmlns:a16="http://schemas.microsoft.com/office/drawing/2014/main" id="{11C98BD7-A240-EA68-39E8-E811CB0B5668}"/>
              </a:ext>
            </a:extLst>
          </p:cNvPr>
          <p:cNvCxnSpPr>
            <a:cxnSpLocks/>
          </p:cNvCxnSpPr>
          <p:nvPr/>
        </p:nvCxnSpPr>
        <p:spPr>
          <a:xfrm>
            <a:off x="1059472" y="6277206"/>
            <a:ext cx="1188000" cy="0"/>
          </a:xfrm>
          <a:prstGeom prst="line">
            <a:avLst/>
          </a:prstGeom>
          <a:ln>
            <a:solidFill>
              <a:srgbClr val="9964CC"/>
            </a:solidFill>
          </a:ln>
        </p:spPr>
        <p:style>
          <a:lnRef idx="2">
            <a:schemeClr val="dk1"/>
          </a:lnRef>
          <a:fillRef idx="0">
            <a:schemeClr val="dk1"/>
          </a:fillRef>
          <a:effectRef idx="1">
            <a:schemeClr val="dk1"/>
          </a:effectRef>
          <a:fontRef idx="minor">
            <a:schemeClr val="tx1"/>
          </a:fontRef>
        </p:style>
      </p:cxnSp>
      <p:pic>
        <p:nvPicPr>
          <p:cNvPr id="23" name="Image 22">
            <a:extLst>
              <a:ext uri="{FF2B5EF4-FFF2-40B4-BE49-F238E27FC236}">
                <a16:creationId xmlns:a16="http://schemas.microsoft.com/office/drawing/2014/main" id="{577F1855-1935-09D2-CE3F-63C49D45BF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97210" y="-276958"/>
            <a:ext cx="12228476" cy="6878518"/>
          </a:xfrm>
          <a:prstGeom prst="rect">
            <a:avLst/>
          </a:prstGeom>
        </p:spPr>
      </p:pic>
    </p:spTree>
    <p:extLst>
      <p:ext uri="{BB962C8B-B14F-4D97-AF65-F5344CB8AC3E}">
        <p14:creationId xmlns:p14="http://schemas.microsoft.com/office/powerpoint/2010/main" val="41403637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0F7FE">
            <a:alpha val="20000"/>
          </a:srgbClr>
        </a:solidFill>
        <a:effectLst/>
      </p:bgPr>
    </p:bg>
    <p:spTree>
      <p:nvGrpSpPr>
        <p:cNvPr id="1" name="">
          <a:extLst>
            <a:ext uri="{FF2B5EF4-FFF2-40B4-BE49-F238E27FC236}">
              <a16:creationId xmlns:a16="http://schemas.microsoft.com/office/drawing/2014/main" id="{00C7A655-EA12-0C65-D47B-6F3BDD5335C8}"/>
            </a:ext>
          </a:extLst>
        </p:cNvPr>
        <p:cNvGrpSpPr/>
        <p:nvPr/>
      </p:nvGrpSpPr>
      <p:grpSpPr>
        <a:xfrm>
          <a:off x="0" y="0"/>
          <a:ext cx="0" cy="0"/>
          <a:chOff x="0" y="0"/>
          <a:chExt cx="0" cy="0"/>
        </a:xfrm>
      </p:grpSpPr>
      <p:sp>
        <p:nvSpPr>
          <p:cNvPr id="10" name="Ellipse 9">
            <a:extLst>
              <a:ext uri="{FF2B5EF4-FFF2-40B4-BE49-F238E27FC236}">
                <a16:creationId xmlns:a16="http://schemas.microsoft.com/office/drawing/2014/main" id="{6769429B-25CE-1E13-286C-A34864D11E1F}"/>
              </a:ext>
            </a:extLst>
          </p:cNvPr>
          <p:cNvSpPr/>
          <p:nvPr/>
        </p:nvSpPr>
        <p:spPr>
          <a:xfrm>
            <a:off x="2743200" y="2426232"/>
            <a:ext cx="4622800" cy="4780396"/>
          </a:xfrm>
          <a:prstGeom prst="ellipse">
            <a:avLst/>
          </a:prstGeom>
          <a:solidFill>
            <a:srgbClr val="9964CC"/>
          </a:solidFill>
          <a:ln>
            <a:solidFill>
              <a:srgbClr val="9964CC"/>
            </a:solidFill>
          </a:ln>
          <a:effectLst>
            <a:outerShdw blurRad="50800" dist="38100" algn="l" rotWithShape="0">
              <a:prstClr val="black">
                <a:alpha val="40000"/>
              </a:prstClr>
            </a:outerShdw>
            <a:reflection blurRad="6350" stA="52000" endA="3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12" name="Ellipse 11">
            <a:extLst>
              <a:ext uri="{FF2B5EF4-FFF2-40B4-BE49-F238E27FC236}">
                <a16:creationId xmlns:a16="http://schemas.microsoft.com/office/drawing/2014/main" id="{5C0AECD0-E735-ECB6-51D8-592648CF3841}"/>
              </a:ext>
            </a:extLst>
          </p:cNvPr>
          <p:cNvSpPr/>
          <p:nvPr/>
        </p:nvSpPr>
        <p:spPr>
          <a:xfrm>
            <a:off x="10927862" y="2426232"/>
            <a:ext cx="4634523" cy="4792518"/>
          </a:xfrm>
          <a:prstGeom prst="ellipse">
            <a:avLst/>
          </a:prstGeom>
          <a:solidFill>
            <a:srgbClr val="9964CC"/>
          </a:solidFill>
          <a:ln>
            <a:solidFill>
              <a:srgbClr val="9964CC"/>
            </a:solidFill>
          </a:ln>
          <a:effectLst>
            <a:outerShdw blurRad="50800" dist="38100" dir="2700000" algn="tl" rotWithShape="0">
              <a:prstClr val="black">
                <a:alpha val="40000"/>
              </a:prstClr>
            </a:outerShdw>
            <a:reflection blurRad="6350" stA="52000" endA="3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15" name="ZoneTexte 14">
            <a:extLst>
              <a:ext uri="{FF2B5EF4-FFF2-40B4-BE49-F238E27FC236}">
                <a16:creationId xmlns:a16="http://schemas.microsoft.com/office/drawing/2014/main" id="{9CFBF075-2E4B-251D-BC53-6966840B85A4}"/>
              </a:ext>
            </a:extLst>
          </p:cNvPr>
          <p:cNvSpPr txBox="1"/>
          <p:nvPr/>
        </p:nvSpPr>
        <p:spPr>
          <a:xfrm>
            <a:off x="1397001" y="4000822"/>
            <a:ext cx="7188200" cy="1631216"/>
          </a:xfrm>
          <a:prstGeom prst="rect">
            <a:avLst/>
          </a:prstGeom>
          <a:noFill/>
        </p:spPr>
        <p:txBody>
          <a:bodyPr wrap="square">
            <a:spAutoFit/>
          </a:bodyPr>
          <a:lstStyle/>
          <a:p>
            <a:pPr marL="259080" lvl="1" algn="ctr"/>
            <a:r>
              <a:rPr lang="en-US" sz="5000">
                <a:solidFill>
                  <a:schemeClr val="bg1"/>
                </a:solidFill>
                <a:latin typeface="Times New Roman"/>
                <a:ea typeface="Times New Roman"/>
                <a:cs typeface="Times New Roman"/>
                <a:sym typeface="Times New Roman"/>
              </a:rPr>
              <a:t>Environnement</a:t>
            </a:r>
            <a:br>
              <a:rPr lang="en-US" sz="5000">
                <a:solidFill>
                  <a:schemeClr val="bg1"/>
                </a:solidFill>
                <a:latin typeface="Times New Roman"/>
                <a:ea typeface="Times New Roman"/>
                <a:cs typeface="Times New Roman"/>
                <a:sym typeface="Times New Roman"/>
              </a:rPr>
            </a:br>
            <a:r>
              <a:rPr lang="en-US" sz="5000">
                <a:solidFill>
                  <a:schemeClr val="bg1"/>
                </a:solidFill>
                <a:latin typeface="Times New Roman"/>
                <a:ea typeface="Times New Roman"/>
                <a:cs typeface="Times New Roman"/>
                <a:sym typeface="Times New Roman"/>
              </a:rPr>
              <a:t> logiciel</a:t>
            </a:r>
          </a:p>
        </p:txBody>
      </p:sp>
      <p:sp>
        <p:nvSpPr>
          <p:cNvPr id="17" name="ZoneTexte 16">
            <a:extLst>
              <a:ext uri="{FF2B5EF4-FFF2-40B4-BE49-F238E27FC236}">
                <a16:creationId xmlns:a16="http://schemas.microsoft.com/office/drawing/2014/main" id="{412D696F-2883-3E3C-F18E-9427D87B4207}"/>
              </a:ext>
            </a:extLst>
          </p:cNvPr>
          <p:cNvSpPr txBox="1"/>
          <p:nvPr/>
        </p:nvSpPr>
        <p:spPr>
          <a:xfrm>
            <a:off x="10675813" y="3866272"/>
            <a:ext cx="4622800" cy="1631216"/>
          </a:xfrm>
          <a:prstGeom prst="rect">
            <a:avLst/>
          </a:prstGeom>
          <a:noFill/>
        </p:spPr>
        <p:txBody>
          <a:bodyPr wrap="square">
            <a:spAutoFit/>
          </a:bodyPr>
          <a:lstStyle/>
          <a:p>
            <a:pPr marL="259080" lvl="1" algn="ctr"/>
            <a:r>
              <a:rPr lang="en-US" sz="5000">
                <a:solidFill>
                  <a:schemeClr val="bg1"/>
                </a:solidFill>
                <a:latin typeface="Times New Roman"/>
                <a:ea typeface="Times New Roman"/>
                <a:cs typeface="Times New Roman"/>
                <a:sym typeface="Times New Roman"/>
              </a:rPr>
              <a:t>Architecture</a:t>
            </a:r>
            <a:br>
              <a:rPr lang="en-US" sz="5000">
                <a:solidFill>
                  <a:schemeClr val="bg1"/>
                </a:solidFill>
                <a:latin typeface="Times New Roman"/>
                <a:ea typeface="Times New Roman"/>
                <a:cs typeface="Times New Roman"/>
                <a:sym typeface="Times New Roman"/>
              </a:rPr>
            </a:br>
            <a:r>
              <a:rPr lang="en-US" sz="5000">
                <a:solidFill>
                  <a:schemeClr val="bg1"/>
                </a:solidFill>
                <a:latin typeface="Times New Roman"/>
                <a:ea typeface="Times New Roman"/>
                <a:cs typeface="Times New Roman"/>
                <a:sym typeface="Times New Roman"/>
              </a:rPr>
              <a:t> </a:t>
            </a:r>
            <a:r>
              <a:rPr lang="en-US" sz="5000" err="1">
                <a:solidFill>
                  <a:schemeClr val="bg1"/>
                </a:solidFill>
                <a:latin typeface="Times New Roman"/>
                <a:ea typeface="Times New Roman"/>
                <a:cs typeface="Times New Roman"/>
                <a:sym typeface="Times New Roman"/>
              </a:rPr>
              <a:t>globale</a:t>
            </a:r>
            <a:endParaRPr lang="en-US" sz="5000">
              <a:solidFill>
                <a:schemeClr val="bg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53372852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BF3FE">
            <a:alpha val="20000"/>
          </a:srgbClr>
        </a:solidFill>
        <a:effectLst/>
      </p:bgPr>
    </p:bg>
    <p:spTree>
      <p:nvGrpSpPr>
        <p:cNvPr id="1" name="">
          <a:extLst>
            <a:ext uri="{FF2B5EF4-FFF2-40B4-BE49-F238E27FC236}">
              <a16:creationId xmlns:a16="http://schemas.microsoft.com/office/drawing/2014/main" id="{22FCD079-CC07-3492-FFC7-45CD1DB1FD25}"/>
            </a:ext>
          </a:extLst>
        </p:cNvPr>
        <p:cNvGrpSpPr/>
        <p:nvPr/>
      </p:nvGrpSpPr>
      <p:grpSpPr>
        <a:xfrm>
          <a:off x="0" y="0"/>
          <a:ext cx="0" cy="0"/>
          <a:chOff x="0" y="0"/>
          <a:chExt cx="0" cy="0"/>
        </a:xfrm>
      </p:grpSpPr>
      <p:sp>
        <p:nvSpPr>
          <p:cNvPr id="10" name="Ellipse 9">
            <a:extLst>
              <a:ext uri="{FF2B5EF4-FFF2-40B4-BE49-F238E27FC236}">
                <a16:creationId xmlns:a16="http://schemas.microsoft.com/office/drawing/2014/main" id="{0BA05D4E-97E7-046C-1784-C1F543FB858F}"/>
              </a:ext>
            </a:extLst>
          </p:cNvPr>
          <p:cNvSpPr/>
          <p:nvPr/>
        </p:nvSpPr>
        <p:spPr>
          <a:xfrm>
            <a:off x="914400" y="482600"/>
            <a:ext cx="2973192" cy="3074551"/>
          </a:xfrm>
          <a:prstGeom prst="ellipse">
            <a:avLst/>
          </a:prstGeom>
          <a:solidFill>
            <a:srgbClr val="9964CC"/>
          </a:solidFill>
          <a:ln>
            <a:solidFill>
              <a:srgbClr val="9964CC"/>
            </a:solidFill>
          </a:ln>
          <a:effectLst>
            <a:outerShdw blurRad="50800" dist="38100" algn="l" rotWithShape="0">
              <a:prstClr val="black">
                <a:alpha val="40000"/>
              </a:prstClr>
            </a:outerShdw>
            <a:reflection blurRad="6350" stA="52000" endA="3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15" name="ZoneTexte 14">
            <a:extLst>
              <a:ext uri="{FF2B5EF4-FFF2-40B4-BE49-F238E27FC236}">
                <a16:creationId xmlns:a16="http://schemas.microsoft.com/office/drawing/2014/main" id="{6A8DF428-B90D-6DF7-20B7-542EE4936810}"/>
              </a:ext>
            </a:extLst>
          </p:cNvPr>
          <p:cNvSpPr txBox="1"/>
          <p:nvPr/>
        </p:nvSpPr>
        <p:spPr>
          <a:xfrm>
            <a:off x="-2286000" y="1465877"/>
            <a:ext cx="9144000" cy="1107996"/>
          </a:xfrm>
          <a:prstGeom prst="rect">
            <a:avLst/>
          </a:prstGeom>
          <a:noFill/>
        </p:spPr>
        <p:txBody>
          <a:bodyPr wrap="square">
            <a:spAutoFit/>
          </a:bodyPr>
          <a:lstStyle/>
          <a:p>
            <a:pPr marL="259080" lvl="1" algn="ctr"/>
            <a:r>
              <a:rPr lang="en-US" sz="3300">
                <a:solidFill>
                  <a:schemeClr val="bg1"/>
                </a:solidFill>
                <a:latin typeface="Times New Roman"/>
                <a:ea typeface="Times New Roman"/>
                <a:cs typeface="Times New Roman"/>
                <a:sym typeface="Times New Roman"/>
              </a:rPr>
              <a:t>Environnement</a:t>
            </a:r>
            <a:br>
              <a:rPr lang="en-US" sz="3300">
                <a:solidFill>
                  <a:schemeClr val="bg1"/>
                </a:solidFill>
                <a:latin typeface="Times New Roman"/>
                <a:ea typeface="Times New Roman"/>
                <a:cs typeface="Times New Roman"/>
                <a:sym typeface="Times New Roman"/>
              </a:rPr>
            </a:br>
            <a:r>
              <a:rPr lang="en-US" sz="3300">
                <a:solidFill>
                  <a:schemeClr val="bg1"/>
                </a:solidFill>
                <a:latin typeface="Times New Roman"/>
                <a:ea typeface="Times New Roman"/>
                <a:cs typeface="Times New Roman"/>
                <a:sym typeface="Times New Roman"/>
              </a:rPr>
              <a:t> logiciel</a:t>
            </a:r>
          </a:p>
        </p:txBody>
      </p:sp>
      <p:pic>
        <p:nvPicPr>
          <p:cNvPr id="4" name="Picture 3">
            <a:extLst>
              <a:ext uri="{FF2B5EF4-FFF2-40B4-BE49-F238E27FC236}">
                <a16:creationId xmlns:a16="http://schemas.microsoft.com/office/drawing/2014/main" id="{926A2ADE-7BFE-A4F5-8988-816CF740E38B}"/>
              </a:ext>
            </a:extLst>
          </p:cNvPr>
          <p:cNvPicPr>
            <a:picLocks noChangeAspect="1"/>
          </p:cNvPicPr>
          <p:nvPr/>
        </p:nvPicPr>
        <p:blipFill>
          <a:blip r:embed="rId3"/>
          <a:stretch>
            <a:fillRect/>
          </a:stretch>
        </p:blipFill>
        <p:spPr>
          <a:xfrm>
            <a:off x="5611091" y="1033002"/>
            <a:ext cx="10565463" cy="8220995"/>
          </a:xfrm>
          <a:prstGeom prst="roundRect">
            <a:avLst>
              <a:gd name="adj" fmla="val 657"/>
            </a:avLst>
          </a:prstGeom>
        </p:spPr>
      </p:pic>
    </p:spTree>
    <p:extLst>
      <p:ext uri="{BB962C8B-B14F-4D97-AF65-F5344CB8AC3E}">
        <p14:creationId xmlns:p14="http://schemas.microsoft.com/office/powerpoint/2010/main" val="10808744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0F7FE">
            <a:alpha val="20000"/>
          </a:srgbClr>
        </a:solidFill>
        <a:effectLst/>
      </p:bgPr>
    </p:bg>
    <p:spTree>
      <p:nvGrpSpPr>
        <p:cNvPr id="1" name="">
          <a:extLst>
            <a:ext uri="{FF2B5EF4-FFF2-40B4-BE49-F238E27FC236}">
              <a16:creationId xmlns:a16="http://schemas.microsoft.com/office/drawing/2014/main" id="{378276E7-A01A-03B5-F86C-83648EA01346}"/>
            </a:ext>
          </a:extLst>
        </p:cNvPr>
        <p:cNvGrpSpPr/>
        <p:nvPr/>
      </p:nvGrpSpPr>
      <p:grpSpPr>
        <a:xfrm>
          <a:off x="0" y="0"/>
          <a:ext cx="0" cy="0"/>
          <a:chOff x="0" y="0"/>
          <a:chExt cx="0" cy="0"/>
        </a:xfrm>
      </p:grpSpPr>
      <p:sp>
        <p:nvSpPr>
          <p:cNvPr id="6" name="Ellipse 5">
            <a:extLst>
              <a:ext uri="{FF2B5EF4-FFF2-40B4-BE49-F238E27FC236}">
                <a16:creationId xmlns:a16="http://schemas.microsoft.com/office/drawing/2014/main" id="{06BABD2A-5039-E5FC-4765-FF386D493576}"/>
              </a:ext>
            </a:extLst>
          </p:cNvPr>
          <p:cNvSpPr/>
          <p:nvPr/>
        </p:nvSpPr>
        <p:spPr>
          <a:xfrm>
            <a:off x="762000" y="495300"/>
            <a:ext cx="2973193" cy="3074552"/>
          </a:xfrm>
          <a:prstGeom prst="ellipse">
            <a:avLst/>
          </a:prstGeom>
          <a:solidFill>
            <a:srgbClr val="9964CC"/>
          </a:solidFill>
          <a:ln>
            <a:solidFill>
              <a:srgbClr val="9964CC"/>
            </a:solidFill>
          </a:ln>
          <a:effectLst>
            <a:outerShdw blurRad="50800" dist="38100" dir="2700000" algn="tl" rotWithShape="0">
              <a:prstClr val="black">
                <a:alpha val="40000"/>
              </a:prstClr>
            </a:outerShdw>
            <a:reflection blurRad="6350" stA="52000" endA="3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a:p>
        </p:txBody>
      </p:sp>
      <p:sp>
        <p:nvSpPr>
          <p:cNvPr id="17" name="ZoneTexte 16">
            <a:extLst>
              <a:ext uri="{FF2B5EF4-FFF2-40B4-BE49-F238E27FC236}">
                <a16:creationId xmlns:a16="http://schemas.microsoft.com/office/drawing/2014/main" id="{68C6475B-329D-B8CE-D51B-A7AE30743E72}"/>
              </a:ext>
            </a:extLst>
          </p:cNvPr>
          <p:cNvSpPr txBox="1"/>
          <p:nvPr/>
        </p:nvSpPr>
        <p:spPr>
          <a:xfrm>
            <a:off x="-2514600" y="1478578"/>
            <a:ext cx="9144000" cy="1107996"/>
          </a:xfrm>
          <a:prstGeom prst="rect">
            <a:avLst/>
          </a:prstGeom>
          <a:noFill/>
        </p:spPr>
        <p:txBody>
          <a:bodyPr wrap="square">
            <a:spAutoFit/>
          </a:bodyPr>
          <a:lstStyle/>
          <a:p>
            <a:pPr marL="259080" lvl="1" algn="ctr"/>
            <a:r>
              <a:rPr lang="en-US" sz="3300">
                <a:solidFill>
                  <a:schemeClr val="bg1"/>
                </a:solidFill>
                <a:latin typeface="Times New Roman"/>
                <a:ea typeface="Times New Roman"/>
                <a:cs typeface="Times New Roman"/>
                <a:sym typeface="Times New Roman"/>
              </a:rPr>
              <a:t>Architecture</a:t>
            </a:r>
            <a:br>
              <a:rPr lang="en-US" sz="3300">
                <a:solidFill>
                  <a:schemeClr val="bg1"/>
                </a:solidFill>
                <a:latin typeface="Times New Roman"/>
                <a:ea typeface="Times New Roman"/>
                <a:cs typeface="Times New Roman"/>
                <a:sym typeface="Times New Roman"/>
              </a:rPr>
            </a:br>
            <a:r>
              <a:rPr lang="en-US" sz="3300">
                <a:solidFill>
                  <a:schemeClr val="bg1"/>
                </a:solidFill>
                <a:latin typeface="Times New Roman"/>
                <a:ea typeface="Times New Roman"/>
                <a:cs typeface="Times New Roman"/>
                <a:sym typeface="Times New Roman"/>
              </a:rPr>
              <a:t> </a:t>
            </a:r>
            <a:r>
              <a:rPr lang="en-US" sz="3300" err="1">
                <a:solidFill>
                  <a:schemeClr val="bg1"/>
                </a:solidFill>
                <a:latin typeface="Times New Roman"/>
                <a:ea typeface="Times New Roman"/>
                <a:cs typeface="Times New Roman"/>
                <a:sym typeface="Times New Roman"/>
              </a:rPr>
              <a:t>globale</a:t>
            </a:r>
            <a:endParaRPr lang="en-US" sz="3300">
              <a:solidFill>
                <a:schemeClr val="bg1"/>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2EAAEE33-916F-16D0-8ED8-D2352EBE316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9593" y="567566"/>
            <a:ext cx="11734800" cy="9151868"/>
          </a:xfrm>
          <a:prstGeom prst="rect">
            <a:avLst/>
          </a:prstGeom>
        </p:spPr>
      </p:pic>
    </p:spTree>
    <p:extLst>
      <p:ext uri="{BB962C8B-B14F-4D97-AF65-F5344CB8AC3E}">
        <p14:creationId xmlns:p14="http://schemas.microsoft.com/office/powerpoint/2010/main" val="18005231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5A0FE-9066-A14E-630B-C55452D2B133}"/>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3B3CCA92-C621-9C96-3FC6-35584A8DCA7C}"/>
              </a:ext>
            </a:extLst>
          </p:cNvPr>
          <p:cNvSpPr/>
          <p:nvPr/>
        </p:nvSpPr>
        <p:spPr>
          <a:xfrm>
            <a:off x="0" y="0"/>
            <a:ext cx="18288000" cy="10287000"/>
          </a:xfrm>
          <a:prstGeom prst="rect">
            <a:avLst/>
          </a:prstGeom>
          <a:solidFill>
            <a:srgbClr val="EBD6FB"/>
          </a:solidFill>
        </p:spPr>
        <p:txBody>
          <a:bodyPr/>
          <a:lstStyle/>
          <a:p>
            <a:endParaRPr lang="fr-TN">
              <a:solidFill>
                <a:srgbClr val="9964CC"/>
              </a:solidFill>
            </a:endParaRPr>
          </a:p>
        </p:txBody>
      </p:sp>
      <p:sp>
        <p:nvSpPr>
          <p:cNvPr id="3" name="TextBox 3">
            <a:extLst>
              <a:ext uri="{FF2B5EF4-FFF2-40B4-BE49-F238E27FC236}">
                <a16:creationId xmlns:a16="http://schemas.microsoft.com/office/drawing/2014/main" id="{2E4F4F65-7285-19C0-1AE8-EFDBC81AEAD9}"/>
              </a:ext>
            </a:extLst>
          </p:cNvPr>
          <p:cNvSpPr txBox="1"/>
          <p:nvPr/>
        </p:nvSpPr>
        <p:spPr>
          <a:xfrm>
            <a:off x="1047750" y="3162301"/>
            <a:ext cx="3067050" cy="307200"/>
          </a:xfrm>
          <a:prstGeom prst="rect">
            <a:avLst/>
          </a:prstGeom>
        </p:spPr>
        <p:txBody>
          <a:bodyPr wrap="square" lIns="0" tIns="0" rIns="0" bIns="0" rtlCol="0" anchor="t">
            <a:spAutoFit/>
          </a:bodyPr>
          <a:lstStyle/>
          <a:p>
            <a:pPr algn="l">
              <a:lnSpc>
                <a:spcPts val="2100"/>
              </a:lnSpc>
            </a:pPr>
            <a:r>
              <a:rPr lang="en-US" sz="3500" b="1" spc="270">
                <a:solidFill>
                  <a:srgbClr val="9964CC"/>
                </a:solidFill>
                <a:latin typeface="Times New Roman Bold"/>
                <a:ea typeface="Times New Roman Bold"/>
                <a:cs typeface="Times New Roman Bold"/>
                <a:sym typeface="Times New Roman Bold"/>
              </a:rPr>
              <a:t>SECTION 04</a:t>
            </a:r>
          </a:p>
        </p:txBody>
      </p:sp>
      <p:sp>
        <p:nvSpPr>
          <p:cNvPr id="4" name="TextBox 4">
            <a:extLst>
              <a:ext uri="{FF2B5EF4-FFF2-40B4-BE49-F238E27FC236}">
                <a16:creationId xmlns:a16="http://schemas.microsoft.com/office/drawing/2014/main" id="{6FDF135C-A245-CEFE-07DA-F533E69AA8AC}"/>
              </a:ext>
            </a:extLst>
          </p:cNvPr>
          <p:cNvSpPr txBox="1"/>
          <p:nvPr/>
        </p:nvSpPr>
        <p:spPr>
          <a:xfrm>
            <a:off x="1047749" y="3838575"/>
            <a:ext cx="14249399" cy="2180084"/>
          </a:xfrm>
          <a:prstGeom prst="rect">
            <a:avLst/>
          </a:prstGeom>
        </p:spPr>
        <p:txBody>
          <a:bodyPr wrap="square" lIns="0" tIns="0" rIns="0" bIns="0" rtlCol="0" anchor="t">
            <a:spAutoFit/>
          </a:bodyPr>
          <a:lstStyle/>
          <a:p>
            <a:pPr algn="l">
              <a:lnSpc>
                <a:spcPts val="8496"/>
              </a:lnSpc>
            </a:pPr>
            <a:r>
              <a:rPr lang="en-US" sz="8850" b="1" spc="-265" dirty="0">
                <a:latin typeface="Times New Roman Bold"/>
                <a:ea typeface="Times New Roman Bold"/>
                <a:cs typeface="Times New Roman Bold"/>
                <a:sym typeface="Times New Roman Bold"/>
              </a:rPr>
              <a:t>Conclusion</a:t>
            </a:r>
          </a:p>
          <a:p>
            <a:pPr algn="l">
              <a:lnSpc>
                <a:spcPts val="8496"/>
              </a:lnSpc>
            </a:pPr>
            <a:r>
              <a:rPr lang="en-US" sz="8850" b="1" spc="-265" dirty="0">
                <a:latin typeface="Times New Roman Bold"/>
                <a:ea typeface="Times New Roman Bold"/>
                <a:cs typeface="Times New Roman Bold"/>
                <a:sym typeface="Times New Roman Bold"/>
              </a:rPr>
              <a:t>et Perspectives</a:t>
            </a:r>
          </a:p>
        </p:txBody>
      </p:sp>
      <p:sp>
        <p:nvSpPr>
          <p:cNvPr id="6" name="TextBox 6">
            <a:extLst>
              <a:ext uri="{FF2B5EF4-FFF2-40B4-BE49-F238E27FC236}">
                <a16:creationId xmlns:a16="http://schemas.microsoft.com/office/drawing/2014/main" id="{1EE89540-4B4C-270D-B186-2C24674C44A1}"/>
              </a:ext>
            </a:extLst>
          </p:cNvPr>
          <p:cNvSpPr txBox="1"/>
          <p:nvPr/>
        </p:nvSpPr>
        <p:spPr>
          <a:xfrm>
            <a:off x="12206478" y="7050185"/>
            <a:ext cx="6081522" cy="4494115"/>
          </a:xfrm>
          <a:prstGeom prst="rect">
            <a:avLst/>
          </a:prstGeom>
        </p:spPr>
        <p:txBody>
          <a:bodyPr wrap="square" lIns="0" tIns="0" rIns="0" bIns="0" rtlCol="0" anchor="t">
            <a:spAutoFit/>
          </a:bodyPr>
          <a:lstStyle/>
          <a:p>
            <a:pPr algn="l">
              <a:lnSpc>
                <a:spcPts val="33600"/>
              </a:lnSpc>
            </a:pPr>
            <a:r>
              <a:rPr lang="en-US" sz="42000" b="1" spc="-1680">
                <a:solidFill>
                  <a:srgbClr val="9964CC"/>
                </a:solidFill>
                <a:latin typeface="Times New Roman Bold"/>
                <a:ea typeface="Times New Roman Bold"/>
                <a:cs typeface="Times New Roman Bold"/>
                <a:sym typeface="Times New Roman Bold"/>
              </a:rPr>
              <a:t>04</a:t>
            </a:r>
          </a:p>
        </p:txBody>
      </p:sp>
      <p:cxnSp>
        <p:nvCxnSpPr>
          <p:cNvPr id="8" name="Connecteur droit 7">
            <a:extLst>
              <a:ext uri="{FF2B5EF4-FFF2-40B4-BE49-F238E27FC236}">
                <a16:creationId xmlns:a16="http://schemas.microsoft.com/office/drawing/2014/main" id="{3B136B5C-41B9-EA2B-CB78-C29201E903BA}"/>
              </a:ext>
            </a:extLst>
          </p:cNvPr>
          <p:cNvCxnSpPr>
            <a:cxnSpLocks/>
          </p:cNvCxnSpPr>
          <p:nvPr/>
        </p:nvCxnSpPr>
        <p:spPr>
          <a:xfrm>
            <a:off x="17860471" y="-2552700"/>
            <a:ext cx="0" cy="16405860"/>
          </a:xfrm>
          <a:prstGeom prst="line">
            <a:avLst/>
          </a:prstGeom>
          <a:ln w="57150">
            <a:solidFill>
              <a:srgbClr val="7030A0"/>
            </a:solidFill>
          </a:ln>
        </p:spPr>
        <p:style>
          <a:lnRef idx="2">
            <a:schemeClr val="accent1"/>
          </a:lnRef>
          <a:fillRef idx="0">
            <a:schemeClr val="accent1"/>
          </a:fillRef>
          <a:effectRef idx="1">
            <a:schemeClr val="accent1"/>
          </a:effectRef>
          <a:fontRef idx="minor">
            <a:schemeClr val="tx1"/>
          </a:fontRef>
        </p:style>
      </p:cxnSp>
      <p:grpSp>
        <p:nvGrpSpPr>
          <p:cNvPr id="9" name="Groupe 8">
            <a:extLst>
              <a:ext uri="{FF2B5EF4-FFF2-40B4-BE49-F238E27FC236}">
                <a16:creationId xmlns:a16="http://schemas.microsoft.com/office/drawing/2014/main" id="{C5B79EA0-C549-F0F8-DB9B-59F4EBD312FA}"/>
              </a:ext>
            </a:extLst>
          </p:cNvPr>
          <p:cNvGrpSpPr/>
          <p:nvPr/>
        </p:nvGrpSpPr>
        <p:grpSpPr>
          <a:xfrm>
            <a:off x="17432943" y="-1529187"/>
            <a:ext cx="855057" cy="845229"/>
            <a:chOff x="2059401" y="468086"/>
            <a:chExt cx="570038" cy="563486"/>
          </a:xfrm>
        </p:grpSpPr>
        <p:sp>
          <p:nvSpPr>
            <p:cNvPr id="10" name="Ellipse 9">
              <a:extLst>
                <a:ext uri="{FF2B5EF4-FFF2-40B4-BE49-F238E27FC236}">
                  <a16:creationId xmlns:a16="http://schemas.microsoft.com/office/drawing/2014/main" id="{F43162C2-B09E-5EE6-9411-48E1E6BF177E}"/>
                </a:ext>
              </a:extLst>
            </p:cNvPr>
            <p:cNvSpPr/>
            <p:nvPr/>
          </p:nvSpPr>
          <p:spPr>
            <a:xfrm>
              <a:off x="2059401" y="468086"/>
              <a:ext cx="570038" cy="563486"/>
            </a:xfrm>
            <a:prstGeom prst="ellipse">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TN" sz="2700"/>
            </a:p>
          </p:txBody>
        </p:sp>
        <p:sp>
          <p:nvSpPr>
            <p:cNvPr id="11" name="ZoneTexte 10">
              <a:extLst>
                <a:ext uri="{FF2B5EF4-FFF2-40B4-BE49-F238E27FC236}">
                  <a16:creationId xmlns:a16="http://schemas.microsoft.com/office/drawing/2014/main" id="{7724A3AB-A0B3-AF13-D50E-C1223BE48AE9}"/>
                </a:ext>
              </a:extLst>
            </p:cNvPr>
            <p:cNvSpPr txBox="1"/>
            <p:nvPr/>
          </p:nvSpPr>
          <p:spPr>
            <a:xfrm>
              <a:off x="2175239" y="488109"/>
              <a:ext cx="338359" cy="523220"/>
            </a:xfrm>
            <a:prstGeom prst="rect">
              <a:avLst/>
            </a:prstGeom>
            <a:noFill/>
            <a:ln>
              <a:noFill/>
            </a:ln>
          </p:spPr>
          <p:txBody>
            <a:bodyPr wrap="square">
              <a:spAutoFit/>
            </a:bodyPr>
            <a:lstStyle/>
            <a:p>
              <a:r>
                <a:rPr lang="fr-FR" sz="4500" b="1">
                  <a:solidFill>
                    <a:schemeClr val="bg1"/>
                  </a:solidFill>
                  <a:effectLst>
                    <a:outerShdw blurRad="38100" dist="38100" dir="2700000" algn="tl">
                      <a:srgbClr val="000000">
                        <a:alpha val="43137"/>
                      </a:srgbClr>
                    </a:outerShdw>
                  </a:effectLst>
                </a:rPr>
                <a:t>1</a:t>
              </a:r>
            </a:p>
          </p:txBody>
        </p:sp>
      </p:grpSp>
      <p:pic>
        <p:nvPicPr>
          <p:cNvPr id="22" name="Image 21">
            <a:extLst>
              <a:ext uri="{FF2B5EF4-FFF2-40B4-BE49-F238E27FC236}">
                <a16:creationId xmlns:a16="http://schemas.microsoft.com/office/drawing/2014/main" id="{12E91DED-5871-0C8F-7FC0-DB3A9C84B36D}"/>
              </a:ext>
            </a:extLst>
          </p:cNvPr>
          <p:cNvPicPr>
            <a:picLocks noChangeAspect="1"/>
          </p:cNvPicPr>
          <p:nvPr/>
        </p:nvPicPr>
        <p:blipFill>
          <a:blip r:embed="rId3">
            <a:extLst>
              <a:ext uri="{28A0092B-C50C-407E-A947-70E740481C1C}">
                <a14:useLocalDpi xmlns:a14="http://schemas.microsoft.com/office/drawing/2010/main" val="0"/>
              </a:ext>
            </a:extLst>
          </a:blip>
          <a:srcRect t="12500" r="70561" b="78781"/>
          <a:stretch>
            <a:fillRect/>
          </a:stretch>
        </p:blipFill>
        <p:spPr>
          <a:xfrm>
            <a:off x="19354800" y="342900"/>
            <a:ext cx="4800600" cy="947835"/>
          </a:xfrm>
          <a:prstGeom prst="rect">
            <a:avLst/>
          </a:prstGeom>
        </p:spPr>
      </p:pic>
      <p:pic>
        <p:nvPicPr>
          <p:cNvPr id="7" name="Image 10">
            <a:extLst>
              <a:ext uri="{FF2B5EF4-FFF2-40B4-BE49-F238E27FC236}">
                <a16:creationId xmlns:a16="http://schemas.microsoft.com/office/drawing/2014/main" id="{A9B83A58-334D-045B-4366-8D79390A2E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84579" y="-333619"/>
            <a:ext cx="14889096" cy="8375117"/>
          </a:xfrm>
          <a:prstGeom prst="rect">
            <a:avLst/>
          </a:prstGeom>
        </p:spPr>
      </p:pic>
    </p:spTree>
    <p:extLst>
      <p:ext uri="{BB962C8B-B14F-4D97-AF65-F5344CB8AC3E}">
        <p14:creationId xmlns:p14="http://schemas.microsoft.com/office/powerpoint/2010/main" val="24957165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BD6FB"/>
        </a:solidFill>
        <a:effectLst/>
      </p:bgPr>
    </p:bg>
    <p:spTree>
      <p:nvGrpSpPr>
        <p:cNvPr id="1" name="">
          <a:extLst>
            <a:ext uri="{FF2B5EF4-FFF2-40B4-BE49-F238E27FC236}">
              <a16:creationId xmlns:a16="http://schemas.microsoft.com/office/drawing/2014/main" id="{3E5F3A43-37E1-612E-46C7-CB5D75DBF463}"/>
            </a:ext>
          </a:extLst>
        </p:cNvPr>
        <p:cNvGrpSpPr/>
        <p:nvPr/>
      </p:nvGrpSpPr>
      <p:grpSpPr>
        <a:xfrm>
          <a:off x="0" y="0"/>
          <a:ext cx="0" cy="0"/>
          <a:chOff x="0" y="0"/>
          <a:chExt cx="0" cy="0"/>
        </a:xfrm>
      </p:grpSpPr>
      <p:sp>
        <p:nvSpPr>
          <p:cNvPr id="77" name="TextBox 4">
            <a:extLst>
              <a:ext uri="{FF2B5EF4-FFF2-40B4-BE49-F238E27FC236}">
                <a16:creationId xmlns:a16="http://schemas.microsoft.com/office/drawing/2014/main" id="{094BE5F8-8EFE-76D1-9E5A-B196461E1E91}"/>
              </a:ext>
            </a:extLst>
          </p:cNvPr>
          <p:cNvSpPr txBox="1"/>
          <p:nvPr/>
        </p:nvSpPr>
        <p:spPr>
          <a:xfrm>
            <a:off x="685800" y="340574"/>
            <a:ext cx="2895600" cy="916726"/>
          </a:xfrm>
          <a:prstGeom prst="rect">
            <a:avLst/>
          </a:prstGeom>
        </p:spPr>
        <p:txBody>
          <a:bodyPr wrap="square" lIns="0" tIns="0" rIns="0" bIns="0" rtlCol="0" anchor="t">
            <a:spAutoFit/>
          </a:bodyPr>
          <a:lstStyle/>
          <a:p>
            <a:pPr algn="l">
              <a:lnSpc>
                <a:spcPts val="8496"/>
              </a:lnSpc>
            </a:pPr>
            <a:endParaRPr lang="en-US" sz="3300" b="1" spc="-265">
              <a:latin typeface="Times New Roman" panose="02020603050405020304" pitchFamily="18" charset="0"/>
              <a:ea typeface="Times New Roman Bold"/>
              <a:cs typeface="Times New Roman" panose="02020603050405020304" pitchFamily="18" charset="0"/>
              <a:sym typeface="Times New Roman Bold"/>
            </a:endParaRPr>
          </a:p>
        </p:txBody>
      </p:sp>
      <p:sp>
        <p:nvSpPr>
          <p:cNvPr id="21" name="TextBox 4">
            <a:extLst>
              <a:ext uri="{FF2B5EF4-FFF2-40B4-BE49-F238E27FC236}">
                <a16:creationId xmlns:a16="http://schemas.microsoft.com/office/drawing/2014/main" id="{4400ADBE-9DEF-3D3B-6332-B5944E33F1DE}"/>
              </a:ext>
            </a:extLst>
          </p:cNvPr>
          <p:cNvSpPr txBox="1"/>
          <p:nvPr/>
        </p:nvSpPr>
        <p:spPr>
          <a:xfrm>
            <a:off x="685800" y="495300"/>
            <a:ext cx="4876800" cy="997902"/>
          </a:xfrm>
          <a:prstGeom prst="rect">
            <a:avLst/>
          </a:prstGeom>
        </p:spPr>
        <p:txBody>
          <a:bodyPr wrap="square" lIns="0" tIns="0" rIns="0" bIns="0" rtlCol="0" anchor="t">
            <a:spAutoFit/>
          </a:bodyPr>
          <a:lstStyle/>
          <a:p>
            <a:pPr algn="l">
              <a:lnSpc>
                <a:spcPts val="8496"/>
              </a:lnSpc>
            </a:pPr>
            <a:r>
              <a:rPr lang="en-US" sz="6000" b="1" spc="-265">
                <a:latin typeface="Times New Roman" panose="02020603050405020304" pitchFamily="18" charset="0"/>
                <a:ea typeface="Times New Roman Bold"/>
                <a:cs typeface="Times New Roman" panose="02020603050405020304" pitchFamily="18" charset="0"/>
                <a:sym typeface="Times New Roman Bold"/>
              </a:rPr>
              <a:t>Conclusion</a:t>
            </a:r>
          </a:p>
        </p:txBody>
      </p:sp>
      <p:sp>
        <p:nvSpPr>
          <p:cNvPr id="22" name="Rectangle 21">
            <a:extLst>
              <a:ext uri="{FF2B5EF4-FFF2-40B4-BE49-F238E27FC236}">
                <a16:creationId xmlns:a16="http://schemas.microsoft.com/office/drawing/2014/main" id="{0E308000-5F8B-860E-A510-5B1D8C937E13}"/>
              </a:ext>
            </a:extLst>
          </p:cNvPr>
          <p:cNvSpPr/>
          <p:nvPr/>
        </p:nvSpPr>
        <p:spPr>
          <a:xfrm>
            <a:off x="12995031" y="3322100"/>
            <a:ext cx="3276600" cy="1477328"/>
          </a:xfrm>
          <a:prstGeom prst="rect">
            <a:avLst/>
          </a:prstGeom>
          <a:solidFill>
            <a:srgbClr val="EBD6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TN" sz="2800">
                <a:solidFill>
                  <a:schemeClr val="tx1"/>
                </a:solidFill>
                <a:latin typeface="Times New Roman" panose="02020603050405020304" pitchFamily="18" charset="0"/>
                <a:cs typeface="Times New Roman" panose="02020603050405020304" pitchFamily="18" charset="0"/>
              </a:rPr>
              <a:t> </a:t>
            </a:r>
            <a:r>
              <a:rPr lang="fr-FR" sz="2800" b="1">
                <a:solidFill>
                  <a:schemeClr val="tx1"/>
                </a:solidFill>
                <a:latin typeface="Times New Roman" panose="02020603050405020304" pitchFamily="18" charset="0"/>
                <a:cs typeface="Times New Roman" panose="02020603050405020304" pitchFamily="18" charset="0"/>
              </a:rPr>
              <a:t>Détection comportementale</a:t>
            </a:r>
            <a:endParaRPr lang="fr-TN" sz="2800">
              <a:solidFill>
                <a:schemeClr val="tx1"/>
              </a:solidFill>
              <a:latin typeface="Times New Roman" panose="02020603050405020304" pitchFamily="18" charset="0"/>
              <a:cs typeface="Times New Roman" panose="02020603050405020304" pitchFamily="18" charset="0"/>
            </a:endParaRPr>
          </a:p>
          <a:p>
            <a:pPr algn="ctr"/>
            <a:endParaRPr lang="fr-TN">
              <a:latin typeface="Times New Roman" panose="02020603050405020304" pitchFamily="18" charset="0"/>
              <a:cs typeface="Times New Roman" panose="02020603050405020304" pitchFamily="18" charset="0"/>
            </a:endParaRPr>
          </a:p>
        </p:txBody>
      </p:sp>
      <p:sp>
        <p:nvSpPr>
          <p:cNvPr id="23" name="Rectangle 22">
            <a:extLst>
              <a:ext uri="{FF2B5EF4-FFF2-40B4-BE49-F238E27FC236}">
                <a16:creationId xmlns:a16="http://schemas.microsoft.com/office/drawing/2014/main" id="{D7C1CAB2-291C-65F5-6928-29AF7887113F}"/>
              </a:ext>
            </a:extLst>
          </p:cNvPr>
          <p:cNvSpPr/>
          <p:nvPr/>
        </p:nvSpPr>
        <p:spPr>
          <a:xfrm>
            <a:off x="8727831" y="5600700"/>
            <a:ext cx="3276600" cy="1477328"/>
          </a:xfrm>
          <a:prstGeom prst="rect">
            <a:avLst/>
          </a:prstGeom>
          <a:solidFill>
            <a:srgbClr val="EBD6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a:solidFill>
                  <a:schemeClr val="tx1"/>
                </a:solidFill>
                <a:latin typeface="Times New Roman" panose="02020603050405020304" pitchFamily="18" charset="0"/>
                <a:cs typeface="Times New Roman" panose="02020603050405020304" pitchFamily="18" charset="0"/>
              </a:rPr>
              <a:t>Renseignement</a:t>
            </a:r>
          </a:p>
          <a:p>
            <a:pPr algn="ctr"/>
            <a:r>
              <a:rPr lang="fr-FR" sz="3200" b="1">
                <a:solidFill>
                  <a:schemeClr val="tx1"/>
                </a:solidFill>
                <a:latin typeface="Times New Roman" panose="02020603050405020304" pitchFamily="18" charset="0"/>
                <a:cs typeface="Times New Roman" panose="02020603050405020304" pitchFamily="18" charset="0"/>
              </a:rPr>
              <a:t>( CTI )</a:t>
            </a:r>
            <a:endParaRPr lang="fr-TN" sz="3200" b="1">
              <a:solidFill>
                <a:schemeClr val="tx1"/>
              </a:solidFill>
              <a:latin typeface="Times New Roman" panose="02020603050405020304" pitchFamily="18" charset="0"/>
              <a:cs typeface="Times New Roman" panose="02020603050405020304" pitchFamily="18" charset="0"/>
            </a:endParaRPr>
          </a:p>
        </p:txBody>
      </p:sp>
      <p:sp>
        <p:nvSpPr>
          <p:cNvPr id="24" name="Rectangle 23">
            <a:extLst>
              <a:ext uri="{FF2B5EF4-FFF2-40B4-BE49-F238E27FC236}">
                <a16:creationId xmlns:a16="http://schemas.microsoft.com/office/drawing/2014/main" id="{A0A20758-7316-1D1F-A487-F83F9170E762}"/>
              </a:ext>
            </a:extLst>
          </p:cNvPr>
          <p:cNvSpPr/>
          <p:nvPr/>
        </p:nvSpPr>
        <p:spPr>
          <a:xfrm>
            <a:off x="12995031" y="5600700"/>
            <a:ext cx="3276600" cy="1477328"/>
          </a:xfrm>
          <a:prstGeom prst="rect">
            <a:avLst/>
          </a:prstGeom>
          <a:solidFill>
            <a:srgbClr val="EBD6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a:solidFill>
                  <a:schemeClr val="tx1"/>
                </a:solidFill>
                <a:latin typeface="Times New Roman" panose="02020603050405020304" pitchFamily="18" charset="0"/>
                <a:cs typeface="Times New Roman" panose="02020603050405020304" pitchFamily="18" charset="0"/>
              </a:rPr>
              <a:t>Réponse orchestrée</a:t>
            </a:r>
            <a:endParaRPr lang="fr-TN" sz="3200">
              <a:solidFill>
                <a:schemeClr val="tx1"/>
              </a:solidFill>
              <a:latin typeface="Times New Roman" panose="02020603050405020304" pitchFamily="18" charset="0"/>
              <a:cs typeface="Times New Roman" panose="02020603050405020304" pitchFamily="18" charset="0"/>
            </a:endParaRPr>
          </a:p>
        </p:txBody>
      </p:sp>
      <p:sp>
        <p:nvSpPr>
          <p:cNvPr id="25" name="Rectangle 24">
            <a:extLst>
              <a:ext uri="{FF2B5EF4-FFF2-40B4-BE49-F238E27FC236}">
                <a16:creationId xmlns:a16="http://schemas.microsoft.com/office/drawing/2014/main" id="{C5E0B0BB-6641-BCE4-625C-48C592AEBC7D}"/>
              </a:ext>
            </a:extLst>
          </p:cNvPr>
          <p:cNvSpPr/>
          <p:nvPr/>
        </p:nvSpPr>
        <p:spPr>
          <a:xfrm>
            <a:off x="8751277" y="3374164"/>
            <a:ext cx="3276600" cy="1477328"/>
          </a:xfrm>
          <a:prstGeom prst="rect">
            <a:avLst/>
          </a:prstGeom>
          <a:solidFill>
            <a:srgbClr val="EBD6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a:solidFill>
                  <a:schemeClr val="tx1"/>
                </a:solidFill>
                <a:latin typeface="Times New Roman" panose="02020603050405020304" pitchFamily="18" charset="0"/>
                <a:cs typeface="Times New Roman" panose="02020603050405020304" pitchFamily="18" charset="0"/>
              </a:rPr>
              <a:t>Détection par signatures</a:t>
            </a:r>
            <a:endParaRPr lang="fr-TN" sz="3200">
              <a:solidFill>
                <a:schemeClr val="tx1"/>
              </a:solidFill>
              <a:latin typeface="Times New Roman" panose="02020603050405020304" pitchFamily="18" charset="0"/>
              <a:cs typeface="Times New Roman" panose="02020603050405020304" pitchFamily="18" charset="0"/>
            </a:endParaRPr>
          </a:p>
        </p:txBody>
      </p:sp>
      <p:sp>
        <p:nvSpPr>
          <p:cNvPr id="26" name="TextBox 4">
            <a:extLst>
              <a:ext uri="{FF2B5EF4-FFF2-40B4-BE49-F238E27FC236}">
                <a16:creationId xmlns:a16="http://schemas.microsoft.com/office/drawing/2014/main" id="{BA62F805-5782-A792-8A84-4777D6AEC6F9}"/>
              </a:ext>
            </a:extLst>
          </p:cNvPr>
          <p:cNvSpPr txBox="1"/>
          <p:nvPr/>
        </p:nvSpPr>
        <p:spPr>
          <a:xfrm>
            <a:off x="7596554" y="1612577"/>
            <a:ext cx="9829800" cy="922753"/>
          </a:xfrm>
          <a:prstGeom prst="rect">
            <a:avLst/>
          </a:prstGeom>
        </p:spPr>
        <p:txBody>
          <a:bodyPr wrap="square" lIns="0" tIns="0" rIns="0" bIns="0" rtlCol="0" anchor="t">
            <a:spAutoFit/>
          </a:bodyPr>
          <a:lstStyle/>
          <a:p>
            <a:pPr algn="ctr">
              <a:lnSpc>
                <a:spcPts val="8496"/>
              </a:lnSpc>
            </a:pPr>
            <a:r>
              <a:rPr lang="en-US" sz="3500" b="1" spc="-265">
                <a:solidFill>
                  <a:srgbClr val="7030A0"/>
                </a:solidFill>
                <a:effectLst>
                  <a:outerShdw blurRad="38100" dist="38100" dir="2700000" algn="tl">
                    <a:srgbClr val="000000">
                      <a:alpha val="43137"/>
                    </a:srgbClr>
                  </a:outerShdw>
                </a:effectLst>
                <a:latin typeface="Times New Roman" panose="02020603050405020304" pitchFamily="18" charset="0"/>
                <a:ea typeface="Times New Roman Bold"/>
                <a:cs typeface="Times New Roman" panose="02020603050405020304" pitchFamily="18" charset="0"/>
                <a:sym typeface="Times New Roman Bold"/>
              </a:rPr>
              <a:t>Next - Generation Intrusion Detection and Prevention System</a:t>
            </a:r>
          </a:p>
        </p:txBody>
      </p:sp>
      <p:sp>
        <p:nvSpPr>
          <p:cNvPr id="3" name="Rectangle 2">
            <a:extLst>
              <a:ext uri="{FF2B5EF4-FFF2-40B4-BE49-F238E27FC236}">
                <a16:creationId xmlns:a16="http://schemas.microsoft.com/office/drawing/2014/main" id="{C94AA5E3-0A57-8005-6310-5557BD74412F}"/>
              </a:ext>
            </a:extLst>
          </p:cNvPr>
          <p:cNvSpPr/>
          <p:nvPr/>
        </p:nvSpPr>
        <p:spPr>
          <a:xfrm>
            <a:off x="10861431" y="7790698"/>
            <a:ext cx="3276600" cy="1477328"/>
          </a:xfrm>
          <a:prstGeom prst="rect">
            <a:avLst/>
          </a:prstGeom>
          <a:solidFill>
            <a:srgbClr val="EBD6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3200" b="1">
                <a:solidFill>
                  <a:schemeClr val="tx1"/>
                </a:solidFill>
                <a:latin typeface="Times New Roman" panose="02020603050405020304" pitchFamily="18" charset="0"/>
                <a:cs typeface="Times New Roman" panose="02020603050405020304" pitchFamily="18" charset="0"/>
              </a:rPr>
              <a:t>Supervision SOC</a:t>
            </a:r>
            <a:endParaRPr lang="fr-TN" sz="3200" b="1">
              <a:solidFill>
                <a:schemeClr val="tx1"/>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CF922F84-372D-C3DF-B8B6-589B559DB42F}"/>
              </a:ext>
            </a:extLst>
          </p:cNvPr>
          <p:cNvPicPr>
            <a:picLocks noChangeAspect="1"/>
          </p:cNvPicPr>
          <p:nvPr/>
        </p:nvPicPr>
        <p:blipFill>
          <a:blip r:embed="rId3">
            <a:extLst>
              <a:ext uri="{28A0092B-C50C-407E-A947-70E740481C1C}">
                <a14:useLocalDpi xmlns:a14="http://schemas.microsoft.com/office/drawing/2010/main" val="0"/>
              </a:ext>
            </a:extLst>
          </a:blip>
          <a:srcRect l="28744" t="5676" r="29335" b="16981"/>
          <a:stretch>
            <a:fillRect/>
          </a:stretch>
        </p:blipFill>
        <p:spPr>
          <a:xfrm>
            <a:off x="1600200" y="2357857"/>
            <a:ext cx="5181600" cy="6748043"/>
          </a:xfrm>
          <a:prstGeom prst="rect">
            <a:avLst/>
          </a:prstGeom>
        </p:spPr>
      </p:pic>
      <p:sp>
        <p:nvSpPr>
          <p:cNvPr id="7" name="TextBox 6">
            <a:extLst>
              <a:ext uri="{FF2B5EF4-FFF2-40B4-BE49-F238E27FC236}">
                <a16:creationId xmlns:a16="http://schemas.microsoft.com/office/drawing/2014/main" id="{A04C4D97-CD49-528B-1E2E-7A9C2963C37A}"/>
              </a:ext>
            </a:extLst>
          </p:cNvPr>
          <p:cNvSpPr txBox="1"/>
          <p:nvPr/>
        </p:nvSpPr>
        <p:spPr>
          <a:xfrm>
            <a:off x="-381000" y="8856191"/>
            <a:ext cx="9144000" cy="1090235"/>
          </a:xfrm>
          <a:prstGeom prst="rect">
            <a:avLst/>
          </a:prstGeom>
          <a:noFill/>
        </p:spPr>
        <p:txBody>
          <a:bodyPr wrap="square">
            <a:spAutoFit/>
          </a:bodyPr>
          <a:lstStyle/>
          <a:p>
            <a:pPr algn="ctr">
              <a:lnSpc>
                <a:spcPts val="8496"/>
              </a:lnSpc>
            </a:pPr>
            <a:r>
              <a:rPr lang="fr-FR" sz="6000" b="1">
                <a:solidFill>
                  <a:srgbClr val="7030A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NG-IDPS</a:t>
            </a:r>
          </a:p>
        </p:txBody>
      </p:sp>
    </p:spTree>
    <p:extLst>
      <p:ext uri="{BB962C8B-B14F-4D97-AF65-F5344CB8AC3E}">
        <p14:creationId xmlns:p14="http://schemas.microsoft.com/office/powerpoint/2010/main" val="4914287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BD6FB"/>
        </a:solidFill>
        <a:effectLst/>
      </p:bgPr>
    </p:bg>
    <p:spTree>
      <p:nvGrpSpPr>
        <p:cNvPr id="1" name="">
          <a:extLst>
            <a:ext uri="{FF2B5EF4-FFF2-40B4-BE49-F238E27FC236}">
              <a16:creationId xmlns:a16="http://schemas.microsoft.com/office/drawing/2014/main" id="{D758C44C-91B3-082D-7345-C07AD6C00C46}"/>
            </a:ext>
          </a:extLst>
        </p:cNvPr>
        <p:cNvGrpSpPr/>
        <p:nvPr/>
      </p:nvGrpSpPr>
      <p:grpSpPr>
        <a:xfrm>
          <a:off x="0" y="0"/>
          <a:ext cx="0" cy="0"/>
          <a:chOff x="0" y="0"/>
          <a:chExt cx="0" cy="0"/>
        </a:xfrm>
      </p:grpSpPr>
      <p:grpSp>
        <p:nvGrpSpPr>
          <p:cNvPr id="58" name="Groupe 57">
            <a:extLst>
              <a:ext uri="{FF2B5EF4-FFF2-40B4-BE49-F238E27FC236}">
                <a16:creationId xmlns:a16="http://schemas.microsoft.com/office/drawing/2014/main" id="{738612F4-99AA-DDB4-7E14-6CEC32502BAE}"/>
              </a:ext>
            </a:extLst>
          </p:cNvPr>
          <p:cNvGrpSpPr/>
          <p:nvPr/>
        </p:nvGrpSpPr>
        <p:grpSpPr>
          <a:xfrm>
            <a:off x="-8551070" y="35943"/>
            <a:ext cx="16094870" cy="10287000"/>
            <a:chOff x="-3140870" y="0"/>
            <a:chExt cx="16094870" cy="10287000"/>
          </a:xfrm>
        </p:grpSpPr>
        <p:grpSp>
          <p:nvGrpSpPr>
            <p:cNvPr id="14" name="Group 28">
              <a:extLst>
                <a:ext uri="{FF2B5EF4-FFF2-40B4-BE49-F238E27FC236}">
                  <a16:creationId xmlns:a16="http://schemas.microsoft.com/office/drawing/2014/main" id="{67DF29CA-43D5-19E1-ADC8-93784FF5DE08}"/>
                </a:ext>
              </a:extLst>
            </p:cNvPr>
            <p:cNvGrpSpPr/>
            <p:nvPr/>
          </p:nvGrpSpPr>
          <p:grpSpPr>
            <a:xfrm>
              <a:off x="-3140870" y="0"/>
              <a:ext cx="16094870" cy="10287000"/>
              <a:chOff x="-4114800" y="0"/>
              <a:chExt cx="10729913" cy="6858000"/>
            </a:xfrm>
            <a:solidFill>
              <a:srgbClr val="D2E6F0"/>
            </a:solidFill>
            <a:effectLst>
              <a:outerShdw blurRad="254000" dist="88900" algn="l" rotWithShape="0">
                <a:schemeClr val="tx1">
                  <a:lumMod val="95000"/>
                  <a:lumOff val="5000"/>
                  <a:alpha val="51000"/>
                </a:schemeClr>
              </a:outerShdw>
            </a:effectLst>
          </p:grpSpPr>
          <p:grpSp>
            <p:nvGrpSpPr>
              <p:cNvPr id="17" name="Group 10">
                <a:extLst>
                  <a:ext uri="{FF2B5EF4-FFF2-40B4-BE49-F238E27FC236}">
                    <a16:creationId xmlns:a16="http://schemas.microsoft.com/office/drawing/2014/main" id="{E374027E-6E1B-1982-C085-BEEC253149B9}"/>
                  </a:ext>
                </a:extLst>
              </p:cNvPr>
              <p:cNvGrpSpPr/>
              <p:nvPr/>
            </p:nvGrpSpPr>
            <p:grpSpPr>
              <a:xfrm>
                <a:off x="5734050" y="2972999"/>
                <a:ext cx="881063" cy="881757"/>
                <a:chOff x="8401050" y="3628037"/>
                <a:chExt cx="881063" cy="881757"/>
              </a:xfrm>
              <a:grpFill/>
            </p:grpSpPr>
            <p:sp>
              <p:nvSpPr>
                <p:cNvPr id="18" name="Rectangle: Top Corners Rounded 1">
                  <a:extLst>
                    <a:ext uri="{FF2B5EF4-FFF2-40B4-BE49-F238E27FC236}">
                      <a16:creationId xmlns:a16="http://schemas.microsoft.com/office/drawing/2014/main" id="{7D927493-013D-D7ED-0548-FE9334C20797}"/>
                    </a:ext>
                  </a:extLst>
                </p:cNvPr>
                <p:cNvSpPr/>
                <p:nvPr/>
              </p:nvSpPr>
              <p:spPr>
                <a:xfrm rot="5400000">
                  <a:off x="8400703" y="3628384"/>
                  <a:ext cx="881757" cy="881063"/>
                </a:xfrm>
                <a:prstGeom prst="round2SameRect">
                  <a:avLst/>
                </a:prstGeom>
                <a:solidFill>
                  <a:srgbClr val="E5D9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rgbClr val="00195C"/>
                    </a:solidFill>
                    <a:latin typeface="Times New Roman" panose="02020603050405020304" pitchFamily="18" charset="0"/>
                    <a:cs typeface="Times New Roman" panose="02020603050405020304" pitchFamily="18" charset="0"/>
                  </a:endParaRPr>
                </a:p>
              </p:txBody>
            </p:sp>
            <p:sp>
              <p:nvSpPr>
                <p:cNvPr id="19" name="TextBox 2">
                  <a:extLst>
                    <a:ext uri="{FF2B5EF4-FFF2-40B4-BE49-F238E27FC236}">
                      <a16:creationId xmlns:a16="http://schemas.microsoft.com/office/drawing/2014/main" id="{D0A36440-26A5-1782-323B-FAEFBE845322}"/>
                    </a:ext>
                  </a:extLst>
                </p:cNvPr>
                <p:cNvSpPr txBox="1"/>
                <p:nvPr/>
              </p:nvSpPr>
              <p:spPr>
                <a:xfrm>
                  <a:off x="8483339" y="3643631"/>
                  <a:ext cx="703555" cy="830996"/>
                </a:xfrm>
                <a:prstGeom prst="rect">
                  <a:avLst/>
                </a:prstGeom>
                <a:solidFill>
                  <a:srgbClr val="E5D9F2"/>
                </a:solidFill>
                <a:effectLst/>
              </p:spPr>
              <p:txBody>
                <a:bodyPr wrap="square" rtlCol="0">
                  <a:spAutoFit/>
                </a:bodyPr>
                <a:lstStyle/>
                <a:p>
                  <a:pPr algn="ctr"/>
                  <a:r>
                    <a:rPr lang="en-US" sz="7500" b="1">
                      <a:latin typeface="Times New Roman" panose="02020603050405020304" pitchFamily="18" charset="0"/>
                      <a:cs typeface="Times New Roman" panose="02020603050405020304" pitchFamily="18" charset="0"/>
                    </a:rPr>
                    <a:t>1</a:t>
                  </a:r>
                </a:p>
              </p:txBody>
            </p:sp>
          </p:grpSp>
          <p:sp>
            <p:nvSpPr>
              <p:cNvPr id="16" name="Rectangle 15">
                <a:extLst>
                  <a:ext uri="{FF2B5EF4-FFF2-40B4-BE49-F238E27FC236}">
                    <a16:creationId xmlns:a16="http://schemas.microsoft.com/office/drawing/2014/main" id="{80E0650A-9D06-FFB6-265B-12A855370010}"/>
                  </a:ext>
                </a:extLst>
              </p:cNvPr>
              <p:cNvSpPr/>
              <p:nvPr/>
            </p:nvSpPr>
            <p:spPr>
              <a:xfrm>
                <a:off x="-4114800" y="0"/>
                <a:ext cx="9848850" cy="6858000"/>
              </a:xfrm>
              <a:prstGeom prst="rect">
                <a:avLst/>
              </a:prstGeom>
              <a:solidFill>
                <a:srgbClr val="E5D9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solidFill>
                    <a:srgbClr val="00195C"/>
                  </a:solidFill>
                  <a:latin typeface="Times New Roman" panose="02020603050405020304" pitchFamily="18" charset="0"/>
                  <a:cs typeface="Times New Roman" panose="02020603050405020304" pitchFamily="18" charset="0"/>
                </a:endParaRPr>
              </a:p>
            </p:txBody>
          </p:sp>
        </p:grpSp>
        <p:sp>
          <p:nvSpPr>
            <p:cNvPr id="57" name="TextBox 4">
              <a:extLst>
                <a:ext uri="{FF2B5EF4-FFF2-40B4-BE49-F238E27FC236}">
                  <a16:creationId xmlns:a16="http://schemas.microsoft.com/office/drawing/2014/main" id="{91250F6F-8893-E0E5-15B0-A3DD5869582D}"/>
                </a:ext>
              </a:extLst>
            </p:cNvPr>
            <p:cNvSpPr txBox="1"/>
            <p:nvPr/>
          </p:nvSpPr>
          <p:spPr>
            <a:xfrm>
              <a:off x="4495800" y="2145078"/>
              <a:ext cx="5804532" cy="2949525"/>
            </a:xfrm>
            <a:prstGeom prst="rect">
              <a:avLst/>
            </a:prstGeom>
          </p:spPr>
          <p:txBody>
            <a:bodyPr wrap="square" lIns="0" tIns="0" rIns="0" bIns="0" rtlCol="0" anchor="t">
              <a:spAutoFit/>
            </a:bodyPr>
            <a:lstStyle/>
            <a:p>
              <a:pPr algn="ctr">
                <a:lnSpc>
                  <a:spcPts val="8496"/>
                </a:lnSpc>
              </a:pPr>
              <a:r>
                <a:rPr lang="en-US" sz="6000" b="1">
                  <a:latin typeface="Times New Roman" panose="02020603050405020304" pitchFamily="18" charset="0"/>
                  <a:cs typeface="Times New Roman" panose="02020603050405020304" pitchFamily="18" charset="0"/>
                </a:rPr>
                <a:t>Conteneurisation et orchestration</a:t>
              </a:r>
            </a:p>
            <a:p>
              <a:pPr algn="ctr">
                <a:lnSpc>
                  <a:spcPct val="100000"/>
                </a:lnSpc>
              </a:pPr>
              <a:r>
                <a:rPr lang="en-US" sz="5000" spc="-265">
                  <a:latin typeface="Times New Roman" panose="02020603050405020304" pitchFamily="18" charset="0"/>
                  <a:ea typeface="Times New Roman Bold"/>
                  <a:cs typeface="Times New Roman" panose="02020603050405020304" pitchFamily="18" charset="0"/>
                  <a:sym typeface="Times New Roman Bold"/>
                </a:rPr>
                <a:t>(Docker / Kubernetes)</a:t>
              </a:r>
            </a:p>
          </p:txBody>
        </p:sp>
      </p:grpSp>
      <p:grpSp>
        <p:nvGrpSpPr>
          <p:cNvPr id="60" name="Groupe 59">
            <a:extLst>
              <a:ext uri="{FF2B5EF4-FFF2-40B4-BE49-F238E27FC236}">
                <a16:creationId xmlns:a16="http://schemas.microsoft.com/office/drawing/2014/main" id="{8F821DD3-4B49-F0D1-425E-C8D134D4B3FF}"/>
              </a:ext>
            </a:extLst>
          </p:cNvPr>
          <p:cNvGrpSpPr/>
          <p:nvPr/>
        </p:nvGrpSpPr>
        <p:grpSpPr>
          <a:xfrm>
            <a:off x="-10010777" y="-114300"/>
            <a:ext cx="16094870" cy="10287000"/>
            <a:chOff x="-2517276" y="621827"/>
            <a:chExt cx="16094870" cy="10287000"/>
          </a:xfrm>
        </p:grpSpPr>
        <p:grpSp>
          <p:nvGrpSpPr>
            <p:cNvPr id="21" name="Group 223">
              <a:extLst>
                <a:ext uri="{FF2B5EF4-FFF2-40B4-BE49-F238E27FC236}">
                  <a16:creationId xmlns:a16="http://schemas.microsoft.com/office/drawing/2014/main" id="{7D2525D7-0F7F-81D0-5E89-D34E65B42C56}"/>
                </a:ext>
              </a:extLst>
            </p:cNvPr>
            <p:cNvGrpSpPr/>
            <p:nvPr/>
          </p:nvGrpSpPr>
          <p:grpSpPr>
            <a:xfrm>
              <a:off x="-2517276" y="621827"/>
              <a:ext cx="16094870" cy="10287000"/>
              <a:chOff x="0" y="0"/>
              <a:chExt cx="10729913" cy="6858000"/>
            </a:xfrm>
          </p:grpSpPr>
          <p:grpSp>
            <p:nvGrpSpPr>
              <p:cNvPr id="23" name="Group 31">
                <a:extLst>
                  <a:ext uri="{FF2B5EF4-FFF2-40B4-BE49-F238E27FC236}">
                    <a16:creationId xmlns:a16="http://schemas.microsoft.com/office/drawing/2014/main" id="{44BE798D-1604-5AF1-2B94-139F742EDC6C}"/>
                  </a:ext>
                </a:extLst>
              </p:cNvPr>
              <p:cNvGrpSpPr/>
              <p:nvPr/>
            </p:nvGrpSpPr>
            <p:grpSpPr>
              <a:xfrm>
                <a:off x="0" y="0"/>
                <a:ext cx="10729913" cy="6858000"/>
                <a:chOff x="-5219700" y="0"/>
                <a:chExt cx="10729913" cy="6858000"/>
              </a:xfrm>
              <a:effectLst>
                <a:outerShdw blurRad="254000" dist="88900" algn="l" rotWithShape="0">
                  <a:prstClr val="black">
                    <a:alpha val="51000"/>
                  </a:prstClr>
                </a:outerShdw>
              </a:effectLst>
            </p:grpSpPr>
            <p:sp>
              <p:nvSpPr>
                <p:cNvPr id="29" name="Rectangle 28">
                  <a:extLst>
                    <a:ext uri="{FF2B5EF4-FFF2-40B4-BE49-F238E27FC236}">
                      <a16:creationId xmlns:a16="http://schemas.microsoft.com/office/drawing/2014/main" id="{C2C88A6F-D8F1-00BD-4AEB-44E9ECF57F2E}"/>
                    </a:ext>
                  </a:extLst>
                </p:cNvPr>
                <p:cNvSpPr/>
                <p:nvPr/>
              </p:nvSpPr>
              <p:spPr>
                <a:xfrm>
                  <a:off x="-5219700" y="0"/>
                  <a:ext cx="9848850" cy="6858000"/>
                </a:xfrm>
                <a:prstGeom prst="rect">
                  <a:avLst/>
                </a:prstGeom>
                <a:solidFill>
                  <a:srgbClr val="EBD6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latin typeface="Times New Roman" panose="02020603050405020304" pitchFamily="18" charset="0"/>
                    <a:cs typeface="Times New Roman" panose="02020603050405020304" pitchFamily="18" charset="0"/>
                  </a:endParaRPr>
                </a:p>
              </p:txBody>
            </p:sp>
            <p:grpSp>
              <p:nvGrpSpPr>
                <p:cNvPr id="30" name="Group 11">
                  <a:extLst>
                    <a:ext uri="{FF2B5EF4-FFF2-40B4-BE49-F238E27FC236}">
                      <a16:creationId xmlns:a16="http://schemas.microsoft.com/office/drawing/2014/main" id="{C1C1D035-6967-9D5B-B6DE-005913AF5728}"/>
                    </a:ext>
                  </a:extLst>
                </p:cNvPr>
                <p:cNvGrpSpPr/>
                <p:nvPr/>
              </p:nvGrpSpPr>
              <p:grpSpPr>
                <a:xfrm>
                  <a:off x="4629150" y="2511334"/>
                  <a:ext cx="881063" cy="902544"/>
                  <a:chOff x="8401050" y="3607250"/>
                  <a:chExt cx="881063" cy="902544"/>
                </a:xfrm>
              </p:grpSpPr>
              <p:sp>
                <p:nvSpPr>
                  <p:cNvPr id="31" name="Rectangle: Top Corners Rounded 12">
                    <a:extLst>
                      <a:ext uri="{FF2B5EF4-FFF2-40B4-BE49-F238E27FC236}">
                        <a16:creationId xmlns:a16="http://schemas.microsoft.com/office/drawing/2014/main" id="{1F2D525C-B7A6-1113-682D-ACD5624B8F75}"/>
                      </a:ext>
                    </a:extLst>
                  </p:cNvPr>
                  <p:cNvSpPr/>
                  <p:nvPr/>
                </p:nvSpPr>
                <p:spPr>
                  <a:xfrm rot="5400000">
                    <a:off x="8400703" y="3628384"/>
                    <a:ext cx="881757" cy="881063"/>
                  </a:xfrm>
                  <a:prstGeom prst="round2SameRect">
                    <a:avLst/>
                  </a:prstGeom>
                  <a:solidFill>
                    <a:srgbClr val="EBD6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latin typeface="Times New Roman" panose="02020603050405020304" pitchFamily="18" charset="0"/>
                      <a:cs typeface="Times New Roman" panose="02020603050405020304" pitchFamily="18" charset="0"/>
                    </a:endParaRPr>
                  </a:p>
                </p:txBody>
              </p:sp>
              <p:sp>
                <p:nvSpPr>
                  <p:cNvPr id="32" name="TextBox 13">
                    <a:extLst>
                      <a:ext uri="{FF2B5EF4-FFF2-40B4-BE49-F238E27FC236}">
                        <a16:creationId xmlns:a16="http://schemas.microsoft.com/office/drawing/2014/main" id="{47052AEE-4A8F-1BF0-A5AD-D1FBD986A480}"/>
                      </a:ext>
                    </a:extLst>
                  </p:cNvPr>
                  <p:cNvSpPr txBox="1"/>
                  <p:nvPr/>
                </p:nvSpPr>
                <p:spPr>
                  <a:xfrm>
                    <a:off x="8513922" y="3607250"/>
                    <a:ext cx="674370" cy="892552"/>
                  </a:xfrm>
                  <a:prstGeom prst="rect">
                    <a:avLst/>
                  </a:prstGeom>
                  <a:noFill/>
                </p:spPr>
                <p:txBody>
                  <a:bodyPr wrap="square" rtlCol="0">
                    <a:spAutoFit/>
                  </a:bodyPr>
                  <a:lstStyle/>
                  <a:p>
                    <a:pPr algn="ctr"/>
                    <a:r>
                      <a:rPr lang="en-US" sz="8100" b="1">
                        <a:latin typeface="Times New Roman" panose="02020603050405020304" pitchFamily="18" charset="0"/>
                        <a:cs typeface="Times New Roman" panose="02020603050405020304" pitchFamily="18" charset="0"/>
                      </a:rPr>
                      <a:t>2</a:t>
                    </a:r>
                  </a:p>
                </p:txBody>
              </p:sp>
            </p:grpSp>
          </p:grpSp>
          <p:grpSp>
            <p:nvGrpSpPr>
              <p:cNvPr id="24" name="Group 42">
                <a:extLst>
                  <a:ext uri="{FF2B5EF4-FFF2-40B4-BE49-F238E27FC236}">
                    <a16:creationId xmlns:a16="http://schemas.microsoft.com/office/drawing/2014/main" id="{7F019BDF-C917-AF53-A20F-BA4C0A0C72F3}"/>
                  </a:ext>
                </a:extLst>
              </p:cNvPr>
              <p:cNvGrpSpPr/>
              <p:nvPr/>
            </p:nvGrpSpPr>
            <p:grpSpPr>
              <a:xfrm>
                <a:off x="4322410" y="1114344"/>
                <a:ext cx="4480810" cy="3722669"/>
                <a:chOff x="4185096" y="1114344"/>
                <a:chExt cx="4480810" cy="3722669"/>
              </a:xfrm>
            </p:grpSpPr>
            <p:sp>
              <p:nvSpPr>
                <p:cNvPr id="25" name="TextBox 38">
                  <a:extLst>
                    <a:ext uri="{FF2B5EF4-FFF2-40B4-BE49-F238E27FC236}">
                      <a16:creationId xmlns:a16="http://schemas.microsoft.com/office/drawing/2014/main" id="{3F6D0DE8-EF9A-1273-923D-AAA163168D24}"/>
                    </a:ext>
                  </a:extLst>
                </p:cNvPr>
                <p:cNvSpPr txBox="1"/>
                <p:nvPr/>
              </p:nvSpPr>
              <p:spPr>
                <a:xfrm>
                  <a:off x="4185096" y="1114344"/>
                  <a:ext cx="2011287" cy="1077218"/>
                </a:xfrm>
                <a:prstGeom prst="rect">
                  <a:avLst/>
                </a:prstGeom>
                <a:noFill/>
              </p:spPr>
              <p:txBody>
                <a:bodyPr wrap="square" rtlCol="0">
                  <a:spAutoFit/>
                </a:bodyPr>
                <a:lstStyle/>
                <a:p>
                  <a:pPr algn="ctr"/>
                  <a:endParaRPr lang="en-US" sz="9900">
                    <a:solidFill>
                      <a:schemeClr val="bg1"/>
                    </a:solidFill>
                    <a:latin typeface="Times New Roman" panose="02020603050405020304" pitchFamily="18" charset="0"/>
                    <a:cs typeface="Times New Roman" panose="02020603050405020304" pitchFamily="18" charset="0"/>
                  </a:endParaRPr>
                </a:p>
              </p:txBody>
            </p:sp>
            <p:sp>
              <p:nvSpPr>
                <p:cNvPr id="26" name="TextBox 39">
                  <a:extLst>
                    <a:ext uri="{FF2B5EF4-FFF2-40B4-BE49-F238E27FC236}">
                      <a16:creationId xmlns:a16="http://schemas.microsoft.com/office/drawing/2014/main" id="{43BFE3DE-0739-F182-FC77-07A1840D918A}"/>
                    </a:ext>
                  </a:extLst>
                </p:cNvPr>
                <p:cNvSpPr txBox="1"/>
                <p:nvPr/>
              </p:nvSpPr>
              <p:spPr>
                <a:xfrm>
                  <a:off x="6443052" y="1719048"/>
                  <a:ext cx="1825248" cy="738664"/>
                </a:xfrm>
                <a:prstGeom prst="rect">
                  <a:avLst/>
                </a:prstGeom>
                <a:noFill/>
              </p:spPr>
              <p:txBody>
                <a:bodyPr wrap="square" rtlCol="0">
                  <a:spAutoFit/>
                </a:bodyPr>
                <a:lstStyle/>
                <a:p>
                  <a:pPr algn="ctr"/>
                  <a:endParaRPr lang="en-US" sz="6600">
                    <a:solidFill>
                      <a:schemeClr val="bg1"/>
                    </a:solidFill>
                    <a:latin typeface="Times New Roman" panose="02020603050405020304" pitchFamily="18" charset="0"/>
                    <a:cs typeface="Times New Roman" panose="02020603050405020304" pitchFamily="18" charset="0"/>
                  </a:endParaRPr>
                </a:p>
              </p:txBody>
            </p:sp>
            <p:sp>
              <p:nvSpPr>
                <p:cNvPr id="27" name="TextBox 40">
                  <a:extLst>
                    <a:ext uri="{FF2B5EF4-FFF2-40B4-BE49-F238E27FC236}">
                      <a16:creationId xmlns:a16="http://schemas.microsoft.com/office/drawing/2014/main" id="{973FC21E-F4EE-8253-E37B-5B177D365D24}"/>
                    </a:ext>
                  </a:extLst>
                </p:cNvPr>
                <p:cNvSpPr txBox="1"/>
                <p:nvPr/>
              </p:nvSpPr>
              <p:spPr>
                <a:xfrm>
                  <a:off x="4695719" y="4038608"/>
                  <a:ext cx="1825248" cy="615553"/>
                </a:xfrm>
                <a:prstGeom prst="rect">
                  <a:avLst/>
                </a:prstGeom>
                <a:noFill/>
              </p:spPr>
              <p:txBody>
                <a:bodyPr wrap="square" rtlCol="0">
                  <a:spAutoFit/>
                </a:bodyPr>
                <a:lstStyle/>
                <a:p>
                  <a:pPr algn="ctr"/>
                  <a:endParaRPr lang="en-US" sz="5400">
                    <a:solidFill>
                      <a:schemeClr val="bg1"/>
                    </a:solidFill>
                    <a:latin typeface="Times New Roman" panose="02020603050405020304" pitchFamily="18" charset="0"/>
                    <a:cs typeface="Times New Roman" panose="02020603050405020304" pitchFamily="18" charset="0"/>
                  </a:endParaRPr>
                </a:p>
              </p:txBody>
            </p:sp>
            <p:sp>
              <p:nvSpPr>
                <p:cNvPr id="28" name="TextBox 41">
                  <a:extLst>
                    <a:ext uri="{FF2B5EF4-FFF2-40B4-BE49-F238E27FC236}">
                      <a16:creationId xmlns:a16="http://schemas.microsoft.com/office/drawing/2014/main" id="{BDA2D793-830F-13A9-DE50-C37F0957004A}"/>
                    </a:ext>
                  </a:extLst>
                </p:cNvPr>
                <p:cNvSpPr txBox="1"/>
                <p:nvPr/>
              </p:nvSpPr>
              <p:spPr>
                <a:xfrm>
                  <a:off x="6708714" y="4498459"/>
                  <a:ext cx="1957192" cy="338554"/>
                </a:xfrm>
                <a:prstGeom prst="rect">
                  <a:avLst/>
                </a:prstGeom>
                <a:noFill/>
              </p:spPr>
              <p:txBody>
                <a:bodyPr wrap="square" rtlCol="0">
                  <a:spAutoFit/>
                </a:bodyPr>
                <a:lstStyle/>
                <a:p>
                  <a:endParaRPr lang="en-US" sz="2700">
                    <a:solidFill>
                      <a:srgbClr val="84AF9B"/>
                    </a:solidFill>
                    <a:latin typeface="Times New Roman" panose="02020603050405020304" pitchFamily="18" charset="0"/>
                    <a:cs typeface="Times New Roman" panose="02020603050405020304" pitchFamily="18" charset="0"/>
                  </a:endParaRPr>
                </a:p>
              </p:txBody>
            </p:sp>
          </p:grpSp>
        </p:grpSp>
        <p:sp>
          <p:nvSpPr>
            <p:cNvPr id="59" name="ZoneTexte 58">
              <a:extLst>
                <a:ext uri="{FF2B5EF4-FFF2-40B4-BE49-F238E27FC236}">
                  <a16:creationId xmlns:a16="http://schemas.microsoft.com/office/drawing/2014/main" id="{EC98FCC2-8CDA-CC8C-4E86-FD894EA12BF9}"/>
                </a:ext>
              </a:extLst>
            </p:cNvPr>
            <p:cNvSpPr txBox="1"/>
            <p:nvPr/>
          </p:nvSpPr>
          <p:spPr>
            <a:xfrm>
              <a:off x="6550525" y="3263063"/>
              <a:ext cx="4743955" cy="1631216"/>
            </a:xfrm>
            <a:prstGeom prst="rect">
              <a:avLst/>
            </a:prstGeom>
            <a:noFill/>
          </p:spPr>
          <p:txBody>
            <a:bodyPr wrap="square" rtlCol="0">
              <a:spAutoFit/>
            </a:bodyPr>
            <a:lstStyle/>
            <a:p>
              <a:pPr algn="ctr"/>
              <a:r>
                <a:rPr lang="en-US" sz="5000" b="1" err="1">
                  <a:latin typeface="Times New Roman" panose="02020603050405020304" pitchFamily="18" charset="0"/>
                  <a:cs typeface="Times New Roman" panose="02020603050405020304" pitchFamily="18" charset="0"/>
                </a:rPr>
                <a:t>Intégration</a:t>
              </a:r>
              <a:r>
                <a:rPr lang="en-US" sz="5000" b="1">
                  <a:latin typeface="Times New Roman" panose="02020603050405020304" pitchFamily="18" charset="0"/>
                  <a:cs typeface="Times New Roman" panose="02020603050405020304" pitchFamily="18" charset="0"/>
                </a:rPr>
                <a:t> XDR</a:t>
              </a:r>
            </a:p>
          </p:txBody>
        </p:sp>
      </p:grpSp>
      <p:grpSp>
        <p:nvGrpSpPr>
          <p:cNvPr id="62" name="Groupe 61">
            <a:extLst>
              <a:ext uri="{FF2B5EF4-FFF2-40B4-BE49-F238E27FC236}">
                <a16:creationId xmlns:a16="http://schemas.microsoft.com/office/drawing/2014/main" id="{4776D846-3FAF-FEAC-BD61-B90B5392743A}"/>
              </a:ext>
            </a:extLst>
          </p:cNvPr>
          <p:cNvGrpSpPr/>
          <p:nvPr/>
        </p:nvGrpSpPr>
        <p:grpSpPr>
          <a:xfrm>
            <a:off x="-11463336" y="-25070"/>
            <a:ext cx="16094870" cy="10287000"/>
            <a:chOff x="-3293270" y="-25070"/>
            <a:chExt cx="16094870" cy="10287000"/>
          </a:xfrm>
        </p:grpSpPr>
        <p:grpSp>
          <p:nvGrpSpPr>
            <p:cNvPr id="34" name="Group 30">
              <a:extLst>
                <a:ext uri="{FF2B5EF4-FFF2-40B4-BE49-F238E27FC236}">
                  <a16:creationId xmlns:a16="http://schemas.microsoft.com/office/drawing/2014/main" id="{8DF55F58-F31B-D850-DA2B-5966E334A9B5}"/>
                </a:ext>
              </a:extLst>
            </p:cNvPr>
            <p:cNvGrpSpPr/>
            <p:nvPr/>
          </p:nvGrpSpPr>
          <p:grpSpPr>
            <a:xfrm>
              <a:off x="-3293270" y="-25070"/>
              <a:ext cx="16094870" cy="10287000"/>
              <a:chOff x="-6324600" y="0"/>
              <a:chExt cx="10729913" cy="6858000"/>
            </a:xfrm>
            <a:effectLst>
              <a:outerShdw blurRad="254000" dist="88900" algn="l" rotWithShape="0">
                <a:prstClr val="black">
                  <a:alpha val="51000"/>
                </a:prstClr>
              </a:outerShdw>
            </a:effectLst>
          </p:grpSpPr>
          <p:sp>
            <p:nvSpPr>
              <p:cNvPr id="36" name="Rectangle 35">
                <a:extLst>
                  <a:ext uri="{FF2B5EF4-FFF2-40B4-BE49-F238E27FC236}">
                    <a16:creationId xmlns:a16="http://schemas.microsoft.com/office/drawing/2014/main" id="{F84B0C00-D94D-43A3-4352-37093E0C2A8D}"/>
                  </a:ext>
                </a:extLst>
              </p:cNvPr>
              <p:cNvSpPr/>
              <p:nvPr/>
            </p:nvSpPr>
            <p:spPr>
              <a:xfrm>
                <a:off x="-6324600" y="0"/>
                <a:ext cx="9848850" cy="6858000"/>
              </a:xfrm>
              <a:prstGeom prst="rect">
                <a:avLst/>
              </a:prstGeom>
              <a:solidFill>
                <a:srgbClr val="CDC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latin typeface="Times New Roman" panose="02020603050405020304" pitchFamily="18" charset="0"/>
                  <a:cs typeface="Times New Roman" panose="02020603050405020304" pitchFamily="18" charset="0"/>
                </a:endParaRPr>
              </a:p>
            </p:txBody>
          </p:sp>
          <p:grpSp>
            <p:nvGrpSpPr>
              <p:cNvPr id="37" name="Group 14">
                <a:extLst>
                  <a:ext uri="{FF2B5EF4-FFF2-40B4-BE49-F238E27FC236}">
                    <a16:creationId xmlns:a16="http://schemas.microsoft.com/office/drawing/2014/main" id="{A79AB2F4-D680-DCB3-4B49-19E8ADDCFE18}"/>
                  </a:ext>
                </a:extLst>
              </p:cNvPr>
              <p:cNvGrpSpPr/>
              <p:nvPr/>
            </p:nvGrpSpPr>
            <p:grpSpPr>
              <a:xfrm>
                <a:off x="3524250" y="2049669"/>
                <a:ext cx="881063" cy="902544"/>
                <a:chOff x="8401050" y="3607250"/>
                <a:chExt cx="881063" cy="902544"/>
              </a:xfrm>
            </p:grpSpPr>
            <p:sp>
              <p:nvSpPr>
                <p:cNvPr id="38" name="Rectangle: Top Corners Rounded 15">
                  <a:extLst>
                    <a:ext uri="{FF2B5EF4-FFF2-40B4-BE49-F238E27FC236}">
                      <a16:creationId xmlns:a16="http://schemas.microsoft.com/office/drawing/2014/main" id="{6A15A784-757E-EAD2-D481-21F4BB6F0EAF}"/>
                    </a:ext>
                  </a:extLst>
                </p:cNvPr>
                <p:cNvSpPr/>
                <p:nvPr/>
              </p:nvSpPr>
              <p:spPr>
                <a:xfrm rot="5400000">
                  <a:off x="8400703" y="3628384"/>
                  <a:ext cx="881757" cy="881063"/>
                </a:xfrm>
                <a:prstGeom prst="round2SameRect">
                  <a:avLst/>
                </a:prstGeom>
                <a:solidFill>
                  <a:srgbClr val="CDC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latin typeface="Times New Roman" panose="02020603050405020304" pitchFamily="18" charset="0"/>
                    <a:cs typeface="Times New Roman" panose="02020603050405020304" pitchFamily="18" charset="0"/>
                  </a:endParaRPr>
                </a:p>
              </p:txBody>
            </p:sp>
            <p:sp>
              <p:nvSpPr>
                <p:cNvPr id="39" name="TextBox 16">
                  <a:extLst>
                    <a:ext uri="{FF2B5EF4-FFF2-40B4-BE49-F238E27FC236}">
                      <a16:creationId xmlns:a16="http://schemas.microsoft.com/office/drawing/2014/main" id="{5BB1AA0C-E478-1932-9D8E-773B6495FC27}"/>
                    </a:ext>
                  </a:extLst>
                </p:cNvPr>
                <p:cNvSpPr txBox="1"/>
                <p:nvPr/>
              </p:nvSpPr>
              <p:spPr>
                <a:xfrm>
                  <a:off x="8513922" y="3607250"/>
                  <a:ext cx="674370" cy="892552"/>
                </a:xfrm>
                <a:prstGeom prst="rect">
                  <a:avLst/>
                </a:prstGeom>
                <a:noFill/>
              </p:spPr>
              <p:txBody>
                <a:bodyPr wrap="square" rtlCol="0">
                  <a:spAutoFit/>
                </a:bodyPr>
                <a:lstStyle/>
                <a:p>
                  <a:pPr algn="ctr"/>
                  <a:r>
                    <a:rPr lang="en-US" sz="8100" b="1">
                      <a:latin typeface="Times New Roman" panose="02020603050405020304" pitchFamily="18" charset="0"/>
                      <a:cs typeface="Times New Roman" panose="02020603050405020304" pitchFamily="18" charset="0"/>
                    </a:rPr>
                    <a:t>3</a:t>
                  </a:r>
                </a:p>
              </p:txBody>
            </p:sp>
          </p:grpSp>
        </p:grpSp>
        <p:sp>
          <p:nvSpPr>
            <p:cNvPr id="61" name="ZoneTexte 60">
              <a:extLst>
                <a:ext uri="{FF2B5EF4-FFF2-40B4-BE49-F238E27FC236}">
                  <a16:creationId xmlns:a16="http://schemas.microsoft.com/office/drawing/2014/main" id="{21A9EF50-EFD8-B9BD-AEE9-D9057C4F744E}"/>
                </a:ext>
              </a:extLst>
            </p:cNvPr>
            <p:cNvSpPr txBox="1"/>
            <p:nvPr/>
          </p:nvSpPr>
          <p:spPr>
            <a:xfrm>
              <a:off x="4911360" y="2465737"/>
              <a:ext cx="6048848" cy="1785104"/>
            </a:xfrm>
            <a:prstGeom prst="rect">
              <a:avLst/>
            </a:prstGeom>
            <a:noFill/>
          </p:spPr>
          <p:txBody>
            <a:bodyPr wrap="square" rtlCol="0">
              <a:spAutoFit/>
            </a:bodyPr>
            <a:lstStyle/>
            <a:p>
              <a:r>
                <a:rPr lang="fr-FR" sz="5500" b="1">
                  <a:latin typeface="Times New Roman" panose="02020603050405020304" pitchFamily="18" charset="0"/>
                  <a:cs typeface="Times New Roman" panose="02020603050405020304" pitchFamily="18" charset="0"/>
                </a:rPr>
                <a:t>Interopérabilité SOAR</a:t>
              </a:r>
            </a:p>
          </p:txBody>
        </p:sp>
      </p:grpSp>
      <p:grpSp>
        <p:nvGrpSpPr>
          <p:cNvPr id="64" name="Groupe 63">
            <a:extLst>
              <a:ext uri="{FF2B5EF4-FFF2-40B4-BE49-F238E27FC236}">
                <a16:creationId xmlns:a16="http://schemas.microsoft.com/office/drawing/2014/main" id="{0EB655D2-66B6-44F0-6973-BB77DA5074A4}"/>
              </a:ext>
            </a:extLst>
          </p:cNvPr>
          <p:cNvGrpSpPr/>
          <p:nvPr/>
        </p:nvGrpSpPr>
        <p:grpSpPr>
          <a:xfrm>
            <a:off x="-12909461" y="0"/>
            <a:ext cx="16094870" cy="10287000"/>
            <a:chOff x="-13338096" y="0"/>
            <a:chExt cx="16094870" cy="10287000"/>
          </a:xfrm>
        </p:grpSpPr>
        <p:grpSp>
          <p:nvGrpSpPr>
            <p:cNvPr id="41" name="Group 224">
              <a:extLst>
                <a:ext uri="{FF2B5EF4-FFF2-40B4-BE49-F238E27FC236}">
                  <a16:creationId xmlns:a16="http://schemas.microsoft.com/office/drawing/2014/main" id="{976A7E16-A183-3006-3BAB-30D4E40FAB8F}"/>
                </a:ext>
              </a:extLst>
            </p:cNvPr>
            <p:cNvGrpSpPr/>
            <p:nvPr/>
          </p:nvGrpSpPr>
          <p:grpSpPr>
            <a:xfrm>
              <a:off x="-13338096" y="0"/>
              <a:ext cx="16094870" cy="10287000"/>
              <a:chOff x="-8716908" y="0"/>
              <a:chExt cx="10729913" cy="6858000"/>
            </a:xfrm>
            <a:solidFill>
              <a:srgbClr val="A594F9"/>
            </a:solidFill>
          </p:grpSpPr>
          <p:grpSp>
            <p:nvGrpSpPr>
              <p:cNvPr id="43" name="Group 29">
                <a:extLst>
                  <a:ext uri="{FF2B5EF4-FFF2-40B4-BE49-F238E27FC236}">
                    <a16:creationId xmlns:a16="http://schemas.microsoft.com/office/drawing/2014/main" id="{9289410C-34E7-F59C-1057-7A8BAD1C3813}"/>
                  </a:ext>
                </a:extLst>
              </p:cNvPr>
              <p:cNvGrpSpPr/>
              <p:nvPr/>
            </p:nvGrpSpPr>
            <p:grpSpPr>
              <a:xfrm>
                <a:off x="-8716908" y="0"/>
                <a:ext cx="10729913" cy="6858000"/>
                <a:chOff x="-7429500" y="0"/>
                <a:chExt cx="10729913" cy="6858000"/>
              </a:xfrm>
              <a:grpFill/>
              <a:effectLst>
                <a:outerShdw blurRad="254000" dist="88900" algn="l" rotWithShape="0">
                  <a:prstClr val="black">
                    <a:alpha val="51000"/>
                  </a:prstClr>
                </a:outerShdw>
              </a:effectLst>
            </p:grpSpPr>
            <p:sp>
              <p:nvSpPr>
                <p:cNvPr id="53" name="Rectangle 52">
                  <a:extLst>
                    <a:ext uri="{FF2B5EF4-FFF2-40B4-BE49-F238E27FC236}">
                      <a16:creationId xmlns:a16="http://schemas.microsoft.com/office/drawing/2014/main" id="{A254DFE4-E2CD-2BFB-F298-64E25BE42F65}"/>
                    </a:ext>
                  </a:extLst>
                </p:cNvPr>
                <p:cNvSpPr/>
                <p:nvPr/>
              </p:nvSpPr>
              <p:spPr>
                <a:xfrm>
                  <a:off x="-7429500" y="0"/>
                  <a:ext cx="9848850" cy="68580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latin typeface="Times New Roman" panose="02020603050405020304" pitchFamily="18" charset="0"/>
                    <a:cs typeface="Times New Roman" panose="02020603050405020304" pitchFamily="18" charset="0"/>
                  </a:endParaRPr>
                </a:p>
              </p:txBody>
            </p:sp>
            <p:grpSp>
              <p:nvGrpSpPr>
                <p:cNvPr id="54" name="Group 17">
                  <a:extLst>
                    <a:ext uri="{FF2B5EF4-FFF2-40B4-BE49-F238E27FC236}">
                      <a16:creationId xmlns:a16="http://schemas.microsoft.com/office/drawing/2014/main" id="{FDF5F1B2-3364-6459-E1D8-8BB3DE638E31}"/>
                    </a:ext>
                  </a:extLst>
                </p:cNvPr>
                <p:cNvGrpSpPr/>
                <p:nvPr/>
              </p:nvGrpSpPr>
              <p:grpSpPr>
                <a:xfrm>
                  <a:off x="2419350" y="1588004"/>
                  <a:ext cx="881063" cy="902544"/>
                  <a:chOff x="8401050" y="3607250"/>
                  <a:chExt cx="881063" cy="902544"/>
                </a:xfrm>
                <a:grpFill/>
              </p:grpSpPr>
              <p:sp>
                <p:nvSpPr>
                  <p:cNvPr id="55" name="Rectangle: Top Corners Rounded 18">
                    <a:extLst>
                      <a:ext uri="{FF2B5EF4-FFF2-40B4-BE49-F238E27FC236}">
                        <a16:creationId xmlns:a16="http://schemas.microsoft.com/office/drawing/2014/main" id="{60D79BAC-EE28-5999-1E7E-19F05C0BA1E9}"/>
                      </a:ext>
                    </a:extLst>
                  </p:cNvPr>
                  <p:cNvSpPr/>
                  <p:nvPr/>
                </p:nvSpPr>
                <p:spPr>
                  <a:xfrm rot="5400000">
                    <a:off x="8400703" y="3628384"/>
                    <a:ext cx="881757" cy="881063"/>
                  </a:xfrm>
                  <a:prstGeom prst="round2Same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latin typeface="Times New Roman" panose="02020603050405020304" pitchFamily="18" charset="0"/>
                      <a:cs typeface="Times New Roman" panose="02020603050405020304" pitchFamily="18" charset="0"/>
                    </a:endParaRPr>
                  </a:p>
                </p:txBody>
              </p:sp>
              <p:sp>
                <p:nvSpPr>
                  <p:cNvPr id="56" name="TextBox 19">
                    <a:extLst>
                      <a:ext uri="{FF2B5EF4-FFF2-40B4-BE49-F238E27FC236}">
                        <a16:creationId xmlns:a16="http://schemas.microsoft.com/office/drawing/2014/main" id="{D01D6060-DDCA-F5CC-EC1F-4C5D72F0B535}"/>
                      </a:ext>
                    </a:extLst>
                  </p:cNvPr>
                  <p:cNvSpPr txBox="1"/>
                  <p:nvPr/>
                </p:nvSpPr>
                <p:spPr>
                  <a:xfrm>
                    <a:off x="8513922" y="3607250"/>
                    <a:ext cx="674370" cy="892552"/>
                  </a:xfrm>
                  <a:prstGeom prst="rect">
                    <a:avLst/>
                  </a:prstGeom>
                  <a:grpFill/>
                </p:spPr>
                <p:txBody>
                  <a:bodyPr wrap="square" rtlCol="0">
                    <a:spAutoFit/>
                  </a:bodyPr>
                  <a:lstStyle/>
                  <a:p>
                    <a:pPr algn="ctr"/>
                    <a:r>
                      <a:rPr lang="en-US" sz="8100" b="1">
                        <a:latin typeface="Times New Roman" panose="02020603050405020304" pitchFamily="18" charset="0"/>
                        <a:cs typeface="Times New Roman" panose="02020603050405020304" pitchFamily="18" charset="0"/>
                      </a:rPr>
                      <a:t>4</a:t>
                    </a:r>
                  </a:p>
                </p:txBody>
              </p:sp>
            </p:grpSp>
          </p:grpSp>
          <p:grpSp>
            <p:nvGrpSpPr>
              <p:cNvPr id="44" name="Group 220">
                <a:extLst>
                  <a:ext uri="{FF2B5EF4-FFF2-40B4-BE49-F238E27FC236}">
                    <a16:creationId xmlns:a16="http://schemas.microsoft.com/office/drawing/2014/main" id="{1152EB66-E0E2-072F-3D32-1FA3940EF176}"/>
                  </a:ext>
                </a:extLst>
              </p:cNvPr>
              <p:cNvGrpSpPr/>
              <p:nvPr/>
            </p:nvGrpSpPr>
            <p:grpSpPr>
              <a:xfrm>
                <a:off x="-3634286" y="2071428"/>
                <a:ext cx="3968259" cy="3302377"/>
                <a:chOff x="2736843" y="1729018"/>
                <a:chExt cx="3968259" cy="3302377"/>
              </a:xfrm>
              <a:grpFill/>
            </p:grpSpPr>
            <p:grpSp>
              <p:nvGrpSpPr>
                <p:cNvPr id="45" name="Group 195">
                  <a:extLst>
                    <a:ext uri="{FF2B5EF4-FFF2-40B4-BE49-F238E27FC236}">
                      <a16:creationId xmlns:a16="http://schemas.microsoft.com/office/drawing/2014/main" id="{3EF29C6A-EA38-AF86-D623-04A27809B104}"/>
                    </a:ext>
                  </a:extLst>
                </p:cNvPr>
                <p:cNvGrpSpPr/>
                <p:nvPr/>
              </p:nvGrpSpPr>
              <p:grpSpPr>
                <a:xfrm>
                  <a:off x="2736843" y="1729018"/>
                  <a:ext cx="1758766" cy="1225975"/>
                  <a:chOff x="828691" y="2039551"/>
                  <a:chExt cx="1758766" cy="1225975"/>
                </a:xfrm>
                <a:grpFill/>
              </p:grpSpPr>
              <p:sp>
                <p:nvSpPr>
                  <p:cNvPr id="51" name="TextBox 198">
                    <a:extLst>
                      <a:ext uri="{FF2B5EF4-FFF2-40B4-BE49-F238E27FC236}">
                        <a16:creationId xmlns:a16="http://schemas.microsoft.com/office/drawing/2014/main" id="{59918546-0188-80E8-6CC7-3FF68281CC22}"/>
                      </a:ext>
                    </a:extLst>
                  </p:cNvPr>
                  <p:cNvSpPr txBox="1"/>
                  <p:nvPr/>
                </p:nvSpPr>
                <p:spPr>
                  <a:xfrm>
                    <a:off x="1229509" y="2039551"/>
                    <a:ext cx="963342" cy="430887"/>
                  </a:xfrm>
                  <a:prstGeom prst="rect">
                    <a:avLst/>
                  </a:prstGeom>
                  <a:grpFill/>
                </p:spPr>
                <p:txBody>
                  <a:bodyPr wrap="square" rtlCol="0">
                    <a:spAutoFit/>
                  </a:bodyPr>
                  <a:lstStyle/>
                  <a:p>
                    <a:pPr algn="ctr"/>
                    <a:endParaRPr lang="en-US" sz="3600">
                      <a:solidFill>
                        <a:schemeClr val="bg1"/>
                      </a:solidFill>
                      <a:latin typeface="Times New Roman" panose="02020603050405020304" pitchFamily="18" charset="0"/>
                      <a:cs typeface="Times New Roman" panose="02020603050405020304" pitchFamily="18" charset="0"/>
                    </a:endParaRPr>
                  </a:p>
                </p:txBody>
              </p:sp>
              <p:sp>
                <p:nvSpPr>
                  <p:cNvPr id="52" name="TextBox 199">
                    <a:extLst>
                      <a:ext uri="{FF2B5EF4-FFF2-40B4-BE49-F238E27FC236}">
                        <a16:creationId xmlns:a16="http://schemas.microsoft.com/office/drawing/2014/main" id="{0684EC30-CC07-431E-4800-5429187DF1BC}"/>
                      </a:ext>
                    </a:extLst>
                  </p:cNvPr>
                  <p:cNvSpPr txBox="1"/>
                  <p:nvPr/>
                </p:nvSpPr>
                <p:spPr>
                  <a:xfrm>
                    <a:off x="828691" y="2988527"/>
                    <a:ext cx="1758766" cy="276999"/>
                  </a:xfrm>
                  <a:prstGeom prst="rect">
                    <a:avLst/>
                  </a:prstGeom>
                  <a:grpFill/>
                </p:spPr>
                <p:txBody>
                  <a:bodyPr wrap="square" rtlCol="0">
                    <a:spAutoFit/>
                  </a:bodyPr>
                  <a:lstStyle/>
                  <a:p>
                    <a:pPr algn="ctr"/>
                    <a:endParaRPr lang="en-US" sz="2100">
                      <a:solidFill>
                        <a:schemeClr val="bg1"/>
                      </a:solidFill>
                      <a:latin typeface="Times New Roman" panose="02020603050405020304" pitchFamily="18" charset="0"/>
                      <a:cs typeface="Times New Roman" panose="02020603050405020304" pitchFamily="18" charset="0"/>
                    </a:endParaRPr>
                  </a:p>
                </p:txBody>
              </p:sp>
            </p:grpSp>
            <p:sp>
              <p:nvSpPr>
                <p:cNvPr id="46" name="TextBox 203">
                  <a:extLst>
                    <a:ext uri="{FF2B5EF4-FFF2-40B4-BE49-F238E27FC236}">
                      <a16:creationId xmlns:a16="http://schemas.microsoft.com/office/drawing/2014/main" id="{091FF27F-34E5-7273-1811-7CD2E36BEC2A}"/>
                    </a:ext>
                  </a:extLst>
                </p:cNvPr>
                <p:cNvSpPr txBox="1"/>
                <p:nvPr/>
              </p:nvSpPr>
              <p:spPr>
                <a:xfrm>
                  <a:off x="5347154" y="1729018"/>
                  <a:ext cx="963342" cy="430887"/>
                </a:xfrm>
                <a:prstGeom prst="rect">
                  <a:avLst/>
                </a:prstGeom>
                <a:grpFill/>
              </p:spPr>
              <p:txBody>
                <a:bodyPr wrap="square" rtlCol="0">
                  <a:spAutoFit/>
                </a:bodyPr>
                <a:lstStyle/>
                <a:p>
                  <a:pPr algn="ctr"/>
                  <a:endParaRPr lang="en-US" sz="3600">
                    <a:solidFill>
                      <a:schemeClr val="bg1"/>
                    </a:solidFill>
                    <a:latin typeface="Times New Roman" panose="02020603050405020304" pitchFamily="18" charset="0"/>
                    <a:cs typeface="Times New Roman" panose="02020603050405020304" pitchFamily="18" charset="0"/>
                  </a:endParaRPr>
                </a:p>
              </p:txBody>
            </p:sp>
            <p:sp>
              <p:nvSpPr>
                <p:cNvPr id="47" name="TextBox 214">
                  <a:extLst>
                    <a:ext uri="{FF2B5EF4-FFF2-40B4-BE49-F238E27FC236}">
                      <a16:creationId xmlns:a16="http://schemas.microsoft.com/office/drawing/2014/main" id="{52957275-1788-84DC-55B3-3EE06164A6A8}"/>
                    </a:ext>
                  </a:extLst>
                </p:cNvPr>
                <p:cNvSpPr txBox="1"/>
                <p:nvPr/>
              </p:nvSpPr>
              <p:spPr>
                <a:xfrm>
                  <a:off x="2736843" y="4754396"/>
                  <a:ext cx="1758766" cy="276999"/>
                </a:xfrm>
                <a:prstGeom prst="rect">
                  <a:avLst/>
                </a:prstGeom>
                <a:grpFill/>
              </p:spPr>
              <p:txBody>
                <a:bodyPr wrap="square" rtlCol="0">
                  <a:spAutoFit/>
                </a:bodyPr>
                <a:lstStyle/>
                <a:p>
                  <a:pPr algn="ctr"/>
                  <a:endParaRPr lang="en-US" sz="2100">
                    <a:solidFill>
                      <a:schemeClr val="bg1"/>
                    </a:solidFill>
                    <a:latin typeface="Times New Roman" panose="02020603050405020304" pitchFamily="18" charset="0"/>
                    <a:cs typeface="Times New Roman" panose="02020603050405020304" pitchFamily="18" charset="0"/>
                  </a:endParaRPr>
                </a:p>
              </p:txBody>
            </p:sp>
            <p:grpSp>
              <p:nvGrpSpPr>
                <p:cNvPr id="48" name="Group 215">
                  <a:extLst>
                    <a:ext uri="{FF2B5EF4-FFF2-40B4-BE49-F238E27FC236}">
                      <a16:creationId xmlns:a16="http://schemas.microsoft.com/office/drawing/2014/main" id="{12D0600F-6555-5311-C0CF-01ABBE98C049}"/>
                    </a:ext>
                  </a:extLst>
                </p:cNvPr>
                <p:cNvGrpSpPr/>
                <p:nvPr/>
              </p:nvGrpSpPr>
              <p:grpSpPr>
                <a:xfrm>
                  <a:off x="4946336" y="3805420"/>
                  <a:ext cx="1758766" cy="1225975"/>
                  <a:chOff x="828691" y="2039551"/>
                  <a:chExt cx="1758766" cy="1225975"/>
                </a:xfrm>
                <a:grpFill/>
              </p:grpSpPr>
              <p:sp>
                <p:nvSpPr>
                  <p:cNvPr id="49" name="TextBox 218">
                    <a:extLst>
                      <a:ext uri="{FF2B5EF4-FFF2-40B4-BE49-F238E27FC236}">
                        <a16:creationId xmlns:a16="http://schemas.microsoft.com/office/drawing/2014/main" id="{0683EFF3-9D2F-FA0D-9779-1A970CD7FE18}"/>
                      </a:ext>
                    </a:extLst>
                  </p:cNvPr>
                  <p:cNvSpPr txBox="1"/>
                  <p:nvPr/>
                </p:nvSpPr>
                <p:spPr>
                  <a:xfrm>
                    <a:off x="1229509" y="2039551"/>
                    <a:ext cx="963342" cy="430887"/>
                  </a:xfrm>
                  <a:prstGeom prst="rect">
                    <a:avLst/>
                  </a:prstGeom>
                  <a:grpFill/>
                </p:spPr>
                <p:txBody>
                  <a:bodyPr wrap="square" rtlCol="0">
                    <a:spAutoFit/>
                  </a:bodyPr>
                  <a:lstStyle/>
                  <a:p>
                    <a:pPr algn="ctr"/>
                    <a:endParaRPr lang="en-US" sz="3600">
                      <a:solidFill>
                        <a:schemeClr val="bg1"/>
                      </a:solidFill>
                      <a:latin typeface="Times New Roman" panose="02020603050405020304" pitchFamily="18" charset="0"/>
                      <a:cs typeface="Times New Roman" panose="02020603050405020304" pitchFamily="18" charset="0"/>
                    </a:endParaRPr>
                  </a:p>
                </p:txBody>
              </p:sp>
              <p:sp>
                <p:nvSpPr>
                  <p:cNvPr id="50" name="TextBox 219">
                    <a:extLst>
                      <a:ext uri="{FF2B5EF4-FFF2-40B4-BE49-F238E27FC236}">
                        <a16:creationId xmlns:a16="http://schemas.microsoft.com/office/drawing/2014/main" id="{2AA0C3BC-152C-8B88-27E2-677F941C5EE5}"/>
                      </a:ext>
                    </a:extLst>
                  </p:cNvPr>
                  <p:cNvSpPr txBox="1"/>
                  <p:nvPr/>
                </p:nvSpPr>
                <p:spPr>
                  <a:xfrm>
                    <a:off x="828691" y="2988527"/>
                    <a:ext cx="1758766" cy="276999"/>
                  </a:xfrm>
                  <a:prstGeom prst="rect">
                    <a:avLst/>
                  </a:prstGeom>
                  <a:grpFill/>
                </p:spPr>
                <p:txBody>
                  <a:bodyPr wrap="square" rtlCol="0">
                    <a:spAutoFit/>
                  </a:bodyPr>
                  <a:lstStyle/>
                  <a:p>
                    <a:pPr algn="ctr"/>
                    <a:endParaRPr lang="en-US" sz="2100">
                      <a:solidFill>
                        <a:schemeClr val="bg1"/>
                      </a:solidFill>
                      <a:latin typeface="Times New Roman" panose="02020603050405020304" pitchFamily="18" charset="0"/>
                      <a:cs typeface="Times New Roman" panose="02020603050405020304" pitchFamily="18" charset="0"/>
                    </a:endParaRPr>
                  </a:p>
                </p:txBody>
              </p:sp>
            </p:grpSp>
          </p:grpSp>
        </p:grpSp>
        <p:sp>
          <p:nvSpPr>
            <p:cNvPr id="63" name="ZoneTexte 62">
              <a:extLst>
                <a:ext uri="{FF2B5EF4-FFF2-40B4-BE49-F238E27FC236}">
                  <a16:creationId xmlns:a16="http://schemas.microsoft.com/office/drawing/2014/main" id="{1CDCA447-00FD-47BE-DA41-AD737B62AC12}"/>
                </a:ext>
              </a:extLst>
            </p:cNvPr>
            <p:cNvSpPr txBox="1"/>
            <p:nvPr/>
          </p:nvSpPr>
          <p:spPr>
            <a:xfrm>
              <a:off x="-5444883" y="2556595"/>
              <a:ext cx="5806205" cy="1938992"/>
            </a:xfrm>
            <a:prstGeom prst="rect">
              <a:avLst/>
            </a:prstGeom>
            <a:noFill/>
          </p:spPr>
          <p:txBody>
            <a:bodyPr wrap="square" rtlCol="0">
              <a:spAutoFit/>
            </a:bodyPr>
            <a:lstStyle/>
            <a:p>
              <a:r>
                <a:rPr lang="en-US" sz="6000" b="1">
                  <a:latin typeface="Times New Roman" panose="02020603050405020304" pitchFamily="18" charset="0"/>
                  <a:cs typeface="Times New Roman" panose="02020603050405020304" pitchFamily="18" charset="0"/>
                </a:rPr>
                <a:t>Évolution des LLM</a:t>
              </a:r>
              <a:endParaRPr lang="fr-TN" sz="6000" b="1">
                <a:latin typeface="Times New Roman" panose="02020603050405020304" pitchFamily="18" charset="0"/>
                <a:cs typeface="Times New Roman" panose="02020603050405020304" pitchFamily="18" charset="0"/>
              </a:endParaRPr>
            </a:p>
          </p:txBody>
        </p:sp>
      </p:grpSp>
      <p:sp>
        <p:nvSpPr>
          <p:cNvPr id="77" name="TextBox 4">
            <a:extLst>
              <a:ext uri="{FF2B5EF4-FFF2-40B4-BE49-F238E27FC236}">
                <a16:creationId xmlns:a16="http://schemas.microsoft.com/office/drawing/2014/main" id="{4BF31ABD-D635-8051-8618-2C458FEF2D14}"/>
              </a:ext>
            </a:extLst>
          </p:cNvPr>
          <p:cNvSpPr txBox="1"/>
          <p:nvPr/>
        </p:nvSpPr>
        <p:spPr>
          <a:xfrm>
            <a:off x="14478000" y="342900"/>
            <a:ext cx="4876800" cy="997902"/>
          </a:xfrm>
          <a:prstGeom prst="rect">
            <a:avLst/>
          </a:prstGeom>
        </p:spPr>
        <p:txBody>
          <a:bodyPr wrap="square" lIns="0" tIns="0" rIns="0" bIns="0" rtlCol="0" anchor="t">
            <a:spAutoFit/>
          </a:bodyPr>
          <a:lstStyle/>
          <a:p>
            <a:pPr algn="l">
              <a:lnSpc>
                <a:spcPts val="8496"/>
              </a:lnSpc>
            </a:pPr>
            <a:r>
              <a:rPr lang="en-US" sz="6000" b="1" spc="-265">
                <a:latin typeface="Times New Roman" panose="02020603050405020304" pitchFamily="18" charset="0"/>
                <a:ea typeface="Times New Roman Bold"/>
                <a:cs typeface="Times New Roman" panose="02020603050405020304" pitchFamily="18" charset="0"/>
                <a:sym typeface="Times New Roman Bold"/>
              </a:rPr>
              <a:t>Perspectives</a:t>
            </a:r>
          </a:p>
        </p:txBody>
      </p:sp>
      <p:sp>
        <p:nvSpPr>
          <p:cNvPr id="67" name="TextBox 4">
            <a:extLst>
              <a:ext uri="{FF2B5EF4-FFF2-40B4-BE49-F238E27FC236}">
                <a16:creationId xmlns:a16="http://schemas.microsoft.com/office/drawing/2014/main" id="{02721C4D-913C-77B6-6266-2A9D21F775CA}"/>
              </a:ext>
            </a:extLst>
          </p:cNvPr>
          <p:cNvSpPr txBox="1"/>
          <p:nvPr/>
        </p:nvSpPr>
        <p:spPr>
          <a:xfrm>
            <a:off x="19626863" y="495300"/>
            <a:ext cx="4876800" cy="997902"/>
          </a:xfrm>
          <a:prstGeom prst="rect">
            <a:avLst/>
          </a:prstGeom>
        </p:spPr>
        <p:txBody>
          <a:bodyPr wrap="square" lIns="0" tIns="0" rIns="0" bIns="0" rtlCol="0" anchor="t">
            <a:spAutoFit/>
          </a:bodyPr>
          <a:lstStyle/>
          <a:p>
            <a:pPr algn="l">
              <a:lnSpc>
                <a:spcPts val="8496"/>
              </a:lnSpc>
            </a:pPr>
            <a:r>
              <a:rPr lang="en-US" sz="6000" b="1" spc="-265">
                <a:latin typeface="Times New Roman" panose="02020603050405020304" pitchFamily="18" charset="0"/>
                <a:ea typeface="Times New Roman Bold"/>
                <a:cs typeface="Times New Roman" panose="02020603050405020304" pitchFamily="18" charset="0"/>
                <a:sym typeface="Times New Roman Bold"/>
              </a:rPr>
              <a:t>Conclusion</a:t>
            </a:r>
          </a:p>
        </p:txBody>
      </p:sp>
      <p:sp>
        <p:nvSpPr>
          <p:cNvPr id="68" name="Rectangle 67">
            <a:extLst>
              <a:ext uri="{FF2B5EF4-FFF2-40B4-BE49-F238E27FC236}">
                <a16:creationId xmlns:a16="http://schemas.microsoft.com/office/drawing/2014/main" id="{2028160A-9ABD-4360-F841-EAC7B2C02723}"/>
              </a:ext>
            </a:extLst>
          </p:cNvPr>
          <p:cNvSpPr/>
          <p:nvPr/>
        </p:nvSpPr>
        <p:spPr>
          <a:xfrm>
            <a:off x="32352263" y="4991100"/>
            <a:ext cx="3276600" cy="1477328"/>
          </a:xfrm>
          <a:prstGeom prst="rect">
            <a:avLst/>
          </a:prstGeom>
          <a:solidFill>
            <a:srgbClr val="EBD6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TN" sz="2800">
                <a:solidFill>
                  <a:schemeClr val="tx1"/>
                </a:solidFill>
                <a:latin typeface="Times New Roman" panose="02020603050405020304" pitchFamily="18" charset="0"/>
                <a:cs typeface="Times New Roman" panose="02020603050405020304" pitchFamily="18" charset="0"/>
              </a:rPr>
              <a:t> </a:t>
            </a:r>
            <a:r>
              <a:rPr lang="fr-TN" sz="2800" b="1">
                <a:solidFill>
                  <a:schemeClr val="tx1"/>
                </a:solidFill>
                <a:latin typeface="Times New Roman" panose="02020603050405020304" pitchFamily="18" charset="0"/>
                <a:cs typeface="Times New Roman" panose="02020603050405020304" pitchFamily="18" charset="0"/>
              </a:rPr>
              <a:t>Assistant intelligent adaptatif</a:t>
            </a:r>
            <a:endParaRPr lang="fr-TN" sz="2800">
              <a:solidFill>
                <a:schemeClr val="tx1"/>
              </a:solidFill>
              <a:latin typeface="Times New Roman" panose="02020603050405020304" pitchFamily="18" charset="0"/>
              <a:cs typeface="Times New Roman" panose="02020603050405020304" pitchFamily="18" charset="0"/>
            </a:endParaRPr>
          </a:p>
          <a:p>
            <a:pPr algn="ctr"/>
            <a:endParaRPr lang="fr-TN">
              <a:latin typeface="Times New Roman" panose="02020603050405020304" pitchFamily="18" charset="0"/>
              <a:cs typeface="Times New Roman" panose="02020603050405020304" pitchFamily="18" charset="0"/>
            </a:endParaRPr>
          </a:p>
        </p:txBody>
      </p:sp>
      <p:sp>
        <p:nvSpPr>
          <p:cNvPr id="69" name="Rectangle 68">
            <a:extLst>
              <a:ext uri="{FF2B5EF4-FFF2-40B4-BE49-F238E27FC236}">
                <a16:creationId xmlns:a16="http://schemas.microsoft.com/office/drawing/2014/main" id="{76DC74C4-6C2E-D641-C39C-1CE56F2D0DB5}"/>
              </a:ext>
            </a:extLst>
          </p:cNvPr>
          <p:cNvSpPr/>
          <p:nvPr/>
        </p:nvSpPr>
        <p:spPr>
          <a:xfrm>
            <a:off x="28085063" y="7886700"/>
            <a:ext cx="3276600" cy="1477328"/>
          </a:xfrm>
          <a:prstGeom prst="rect">
            <a:avLst/>
          </a:prstGeom>
          <a:solidFill>
            <a:srgbClr val="EBD6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TN" sz="3200" b="1">
                <a:solidFill>
                  <a:schemeClr val="tx1"/>
                </a:solidFill>
                <a:latin typeface="Times New Roman" panose="02020603050405020304" pitchFamily="18" charset="0"/>
                <a:cs typeface="Times New Roman" panose="02020603050405020304" pitchFamily="18" charset="0"/>
              </a:rPr>
              <a:t>IA Générative</a:t>
            </a:r>
          </a:p>
        </p:txBody>
      </p:sp>
      <p:sp>
        <p:nvSpPr>
          <p:cNvPr id="70" name="Rectangle 69">
            <a:extLst>
              <a:ext uri="{FF2B5EF4-FFF2-40B4-BE49-F238E27FC236}">
                <a16:creationId xmlns:a16="http://schemas.microsoft.com/office/drawing/2014/main" id="{F276D280-B3C9-0DE5-F783-9208D695D10D}"/>
              </a:ext>
            </a:extLst>
          </p:cNvPr>
          <p:cNvSpPr/>
          <p:nvPr/>
        </p:nvSpPr>
        <p:spPr>
          <a:xfrm>
            <a:off x="32352263" y="7848600"/>
            <a:ext cx="3276600" cy="1477328"/>
          </a:xfrm>
          <a:prstGeom prst="rect">
            <a:avLst/>
          </a:prstGeom>
          <a:solidFill>
            <a:srgbClr val="EBD6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TN" sz="3200" b="1">
                <a:solidFill>
                  <a:schemeClr val="tx1"/>
                </a:solidFill>
                <a:latin typeface="Times New Roman" panose="02020603050405020304" pitchFamily="18" charset="0"/>
                <a:cs typeface="Times New Roman" panose="02020603050405020304" pitchFamily="18" charset="0"/>
              </a:rPr>
              <a:t>Systèmes embarqués</a:t>
            </a:r>
            <a:endParaRPr lang="fr-TN" sz="3200">
              <a:solidFill>
                <a:schemeClr val="tx1"/>
              </a:solidFill>
              <a:latin typeface="Times New Roman" panose="02020603050405020304" pitchFamily="18" charset="0"/>
              <a:cs typeface="Times New Roman" panose="02020603050405020304" pitchFamily="18" charset="0"/>
            </a:endParaRPr>
          </a:p>
        </p:txBody>
      </p:sp>
      <p:sp>
        <p:nvSpPr>
          <p:cNvPr id="71" name="Rectangle 70">
            <a:extLst>
              <a:ext uri="{FF2B5EF4-FFF2-40B4-BE49-F238E27FC236}">
                <a16:creationId xmlns:a16="http://schemas.microsoft.com/office/drawing/2014/main" id="{C0D52FCF-ADD3-16B6-8C42-9EAE013F5B00}"/>
              </a:ext>
            </a:extLst>
          </p:cNvPr>
          <p:cNvSpPr/>
          <p:nvPr/>
        </p:nvSpPr>
        <p:spPr>
          <a:xfrm>
            <a:off x="28073340" y="4991100"/>
            <a:ext cx="3276600" cy="1477328"/>
          </a:xfrm>
          <a:prstGeom prst="rect">
            <a:avLst/>
          </a:prstGeom>
          <a:solidFill>
            <a:srgbClr val="EBD6F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TN" sz="3200" b="1">
                <a:solidFill>
                  <a:schemeClr val="tx1"/>
                </a:solidFill>
                <a:latin typeface="Times New Roman" panose="02020603050405020304" pitchFamily="18" charset="0"/>
                <a:cs typeface="Times New Roman" panose="02020603050405020304" pitchFamily="18" charset="0"/>
              </a:rPr>
              <a:t>Développement Mobile</a:t>
            </a:r>
            <a:endParaRPr lang="fr-TN" sz="3200">
              <a:solidFill>
                <a:schemeClr val="tx1"/>
              </a:solidFill>
              <a:latin typeface="Times New Roman" panose="02020603050405020304" pitchFamily="18" charset="0"/>
              <a:cs typeface="Times New Roman" panose="02020603050405020304" pitchFamily="18" charset="0"/>
            </a:endParaRPr>
          </a:p>
        </p:txBody>
      </p:sp>
      <p:sp>
        <p:nvSpPr>
          <p:cNvPr id="72" name="TextBox 4">
            <a:extLst>
              <a:ext uri="{FF2B5EF4-FFF2-40B4-BE49-F238E27FC236}">
                <a16:creationId xmlns:a16="http://schemas.microsoft.com/office/drawing/2014/main" id="{D2F70CFF-719D-2057-1501-35BDFBBEDEC3}"/>
              </a:ext>
            </a:extLst>
          </p:cNvPr>
          <p:cNvSpPr txBox="1"/>
          <p:nvPr/>
        </p:nvSpPr>
        <p:spPr>
          <a:xfrm>
            <a:off x="27704063" y="1714500"/>
            <a:ext cx="8338537" cy="2105833"/>
          </a:xfrm>
          <a:prstGeom prst="rect">
            <a:avLst/>
          </a:prstGeom>
        </p:spPr>
        <p:txBody>
          <a:bodyPr wrap="square" lIns="0" tIns="0" rIns="0" bIns="0" rtlCol="0" anchor="t">
            <a:spAutoFit/>
          </a:bodyPr>
          <a:lstStyle/>
          <a:p>
            <a:pPr algn="ctr">
              <a:lnSpc>
                <a:spcPts val="8496"/>
              </a:lnSpc>
            </a:pPr>
            <a:r>
              <a:rPr lang="fr-TN" sz="6000" b="1" err="1">
                <a:solidFill>
                  <a:srgbClr val="7030A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SmartFocus</a:t>
            </a:r>
            <a:r>
              <a:rPr lang="fr-TN" sz="6000" b="1">
                <a:solidFill>
                  <a:srgbClr val="7030A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Life Assistant</a:t>
            </a:r>
            <a:endParaRPr lang="en-US" sz="6000" b="1" spc="-265">
              <a:solidFill>
                <a:srgbClr val="7030A0"/>
              </a:solidFill>
              <a:effectLst>
                <a:outerShdw blurRad="38100" dist="38100" dir="2700000" algn="tl">
                  <a:srgbClr val="000000">
                    <a:alpha val="43137"/>
                  </a:srgbClr>
                </a:outerShdw>
              </a:effectLst>
              <a:latin typeface="Times New Roman" panose="02020603050405020304" pitchFamily="18" charset="0"/>
              <a:ea typeface="Times New Roman Bold"/>
              <a:cs typeface="Times New Roman" panose="02020603050405020304" pitchFamily="18" charset="0"/>
              <a:sym typeface="Times New Roman Bold"/>
            </a:endParaRPr>
          </a:p>
        </p:txBody>
      </p:sp>
      <p:sp>
        <p:nvSpPr>
          <p:cNvPr id="3" name="TextBox 4">
            <a:extLst>
              <a:ext uri="{FF2B5EF4-FFF2-40B4-BE49-F238E27FC236}">
                <a16:creationId xmlns:a16="http://schemas.microsoft.com/office/drawing/2014/main" id="{0962401F-0A57-6CDD-9844-4B88E2051F26}"/>
              </a:ext>
            </a:extLst>
          </p:cNvPr>
          <p:cNvSpPr txBox="1"/>
          <p:nvPr/>
        </p:nvSpPr>
        <p:spPr>
          <a:xfrm>
            <a:off x="4323987" y="-1846029"/>
            <a:ext cx="12230826" cy="1090042"/>
          </a:xfrm>
          <a:prstGeom prst="rect">
            <a:avLst/>
          </a:prstGeom>
        </p:spPr>
        <p:txBody>
          <a:bodyPr wrap="square" lIns="0" tIns="0" rIns="0" bIns="0" rtlCol="0" anchor="t">
            <a:spAutoFit/>
          </a:bodyPr>
          <a:lstStyle/>
          <a:p>
            <a:pPr algn="l">
              <a:lnSpc>
                <a:spcPts val="8496"/>
              </a:lnSpc>
            </a:pPr>
            <a:r>
              <a:rPr lang="en-US" sz="8850" b="1" spc="-265">
                <a:latin typeface="Times New Roman Bold"/>
                <a:ea typeface="Times New Roman Bold"/>
                <a:cs typeface="Times New Roman Bold"/>
                <a:sym typeface="Times New Roman Bold"/>
              </a:rPr>
              <a:t>Merci pour votre attention</a:t>
            </a:r>
          </a:p>
        </p:txBody>
      </p:sp>
    </p:spTree>
    <p:extLst>
      <p:ext uri="{BB962C8B-B14F-4D97-AF65-F5344CB8AC3E}">
        <p14:creationId xmlns:p14="http://schemas.microsoft.com/office/powerpoint/2010/main" val="26558307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09028 6.17284E-7 L 0.38585 -0.0037 " pathEditMode="relative" rAng="0" ptsTypes="AA">
                                      <p:cBhvr>
                                        <p:cTn id="6" dur="2000" fill="hold"/>
                                        <p:tgtEl>
                                          <p:spTgt spid="58"/>
                                        </p:tgtEl>
                                        <p:attrNameLst>
                                          <p:attrName>ppt_x</p:attrName>
                                          <p:attrName>ppt_y</p:attrName>
                                        </p:attrNameLst>
                                      </p:cBhvr>
                                      <p:rCtr x="14774" y="-185"/>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13906 1.11111E-6 L 0.38906 1.11111E-6 " pathEditMode="relative" rAng="0" ptsTypes="AA">
                                      <p:cBhvr>
                                        <p:cTn id="10" dur="2000" fill="hold"/>
                                        <p:tgtEl>
                                          <p:spTgt spid="60"/>
                                        </p:tgtEl>
                                        <p:attrNameLst>
                                          <p:attrName>ppt_x</p:attrName>
                                          <p:attrName>ppt_y</p:attrName>
                                        </p:attrNameLst>
                                      </p:cBhvr>
                                      <p:rCtr x="12500" y="0"/>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nodeType="clickEffect">
                                  <p:stCondLst>
                                    <p:cond delay="0"/>
                                  </p:stCondLst>
                                  <p:childTnLst>
                                    <p:animMotion origin="layout" path="M 0.1224 -8.64198E-7 L 0.3724 -8.64198E-7 " pathEditMode="relative" rAng="0" ptsTypes="AA">
                                      <p:cBhvr>
                                        <p:cTn id="14" dur="2000" fill="hold"/>
                                        <p:tgtEl>
                                          <p:spTgt spid="62"/>
                                        </p:tgtEl>
                                        <p:attrNameLst>
                                          <p:attrName>ppt_x</p:attrName>
                                          <p:attrName>ppt_y</p:attrName>
                                        </p:attrNameLst>
                                      </p:cBhvr>
                                      <p:rCtr x="12500" y="0"/>
                                    </p:animMotion>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12257 0 L 0.37257 0 " pathEditMode="relative" rAng="0" ptsTypes="AA">
                                      <p:cBhvr>
                                        <p:cTn id="18" dur="2000" fill="hold"/>
                                        <p:tgtEl>
                                          <p:spTgt spid="64"/>
                                        </p:tgtEl>
                                        <p:attrNameLst>
                                          <p:attrName>ppt_x</p:attrName>
                                          <p:attrName>ppt_y</p:attrName>
                                        </p:attrNameLst>
                                      </p:cBhvr>
                                      <p:rCtr x="1250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49598-4BCF-2E73-492A-52924C11557F}"/>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4700B75C-3D5F-3833-6291-A87FBFA06C4E}"/>
              </a:ext>
            </a:extLst>
          </p:cNvPr>
          <p:cNvSpPr/>
          <p:nvPr/>
        </p:nvSpPr>
        <p:spPr>
          <a:xfrm>
            <a:off x="0" y="0"/>
            <a:ext cx="18288000" cy="10287000"/>
          </a:xfrm>
          <a:prstGeom prst="rect">
            <a:avLst/>
          </a:prstGeom>
          <a:solidFill>
            <a:srgbClr val="EBD6FB"/>
          </a:solidFill>
        </p:spPr>
        <p:txBody>
          <a:bodyPr/>
          <a:lstStyle/>
          <a:p>
            <a:endParaRPr lang="fr-TN">
              <a:solidFill>
                <a:srgbClr val="9964CC"/>
              </a:solidFill>
            </a:endParaRPr>
          </a:p>
        </p:txBody>
      </p:sp>
      <p:sp>
        <p:nvSpPr>
          <p:cNvPr id="4" name="TextBox 4">
            <a:extLst>
              <a:ext uri="{FF2B5EF4-FFF2-40B4-BE49-F238E27FC236}">
                <a16:creationId xmlns:a16="http://schemas.microsoft.com/office/drawing/2014/main" id="{E30BC03B-76C1-A176-53CD-393A7DF63288}"/>
              </a:ext>
            </a:extLst>
          </p:cNvPr>
          <p:cNvSpPr txBox="1"/>
          <p:nvPr/>
        </p:nvSpPr>
        <p:spPr>
          <a:xfrm>
            <a:off x="3028587" y="4493811"/>
            <a:ext cx="12230826" cy="1090042"/>
          </a:xfrm>
          <a:prstGeom prst="rect">
            <a:avLst/>
          </a:prstGeom>
        </p:spPr>
        <p:txBody>
          <a:bodyPr wrap="square" lIns="0" tIns="0" rIns="0" bIns="0" rtlCol="0" anchor="t">
            <a:spAutoFit/>
          </a:bodyPr>
          <a:lstStyle/>
          <a:p>
            <a:pPr algn="l">
              <a:lnSpc>
                <a:spcPts val="8496"/>
              </a:lnSpc>
            </a:pPr>
            <a:r>
              <a:rPr lang="en-US" sz="8850" b="1" spc="-265" dirty="0">
                <a:latin typeface="Times New Roman Bold"/>
                <a:ea typeface="Times New Roman Bold"/>
                <a:cs typeface="Times New Roman Bold"/>
                <a:sym typeface="Times New Roman Bold"/>
              </a:rPr>
              <a:t>Merci pour votre attention</a:t>
            </a:r>
          </a:p>
        </p:txBody>
      </p:sp>
      <p:cxnSp>
        <p:nvCxnSpPr>
          <p:cNvPr id="21" name="Connecteur droit 20">
            <a:extLst>
              <a:ext uri="{FF2B5EF4-FFF2-40B4-BE49-F238E27FC236}">
                <a16:creationId xmlns:a16="http://schemas.microsoft.com/office/drawing/2014/main" id="{6C3411AF-2E2B-08B3-A514-92663763C927}"/>
              </a:ext>
            </a:extLst>
          </p:cNvPr>
          <p:cNvCxnSpPr>
            <a:cxnSpLocks/>
          </p:cNvCxnSpPr>
          <p:nvPr/>
        </p:nvCxnSpPr>
        <p:spPr>
          <a:xfrm>
            <a:off x="2819400" y="5676900"/>
            <a:ext cx="12260580" cy="0"/>
          </a:xfrm>
          <a:prstGeom prst="line">
            <a:avLst/>
          </a:prstGeom>
          <a:ln>
            <a:solidFill>
              <a:srgbClr val="9964CC"/>
            </a:solidFill>
          </a:ln>
        </p:spPr>
        <p:style>
          <a:lnRef idx="2">
            <a:schemeClr val="dk1"/>
          </a:lnRef>
          <a:fillRef idx="0">
            <a:schemeClr val="dk1"/>
          </a:fillRef>
          <a:effectRef idx="1">
            <a:schemeClr val="dk1"/>
          </a:effectRef>
          <a:fontRef idx="minor">
            <a:schemeClr val="tx1"/>
          </a:fontRef>
        </p:style>
      </p:cxnSp>
      <p:sp>
        <p:nvSpPr>
          <p:cNvPr id="7" name="ZoneTexte 6">
            <a:extLst>
              <a:ext uri="{FF2B5EF4-FFF2-40B4-BE49-F238E27FC236}">
                <a16:creationId xmlns:a16="http://schemas.microsoft.com/office/drawing/2014/main" id="{833BEA25-A7EC-117E-3C78-10C00566BA0B}"/>
              </a:ext>
            </a:extLst>
          </p:cNvPr>
          <p:cNvSpPr txBox="1"/>
          <p:nvPr/>
        </p:nvSpPr>
        <p:spPr>
          <a:xfrm>
            <a:off x="838200" y="1183088"/>
            <a:ext cx="10163906" cy="1198405"/>
          </a:xfrm>
          <a:prstGeom prst="rect">
            <a:avLst/>
          </a:prstGeom>
          <a:noFill/>
        </p:spPr>
        <p:txBody>
          <a:bodyPr wrap="square">
            <a:spAutoFit/>
          </a:bodyPr>
          <a:lstStyle/>
          <a:p>
            <a:pPr algn="l">
              <a:lnSpc>
                <a:spcPts val="8496"/>
              </a:lnSpc>
            </a:pPr>
            <a:r>
              <a:rPr lang="en-US" sz="9600" b="1" spc="-265">
                <a:solidFill>
                  <a:srgbClr val="EBD6FB"/>
                </a:solidFill>
                <a:latin typeface="Times New Roman Bold"/>
                <a:ea typeface="Times New Roman Bold"/>
                <a:cs typeface="Times New Roman Bold"/>
                <a:sym typeface="Times New Roman Bold"/>
              </a:rPr>
              <a:t>Sprint 1</a:t>
            </a:r>
          </a:p>
        </p:txBody>
      </p:sp>
      <p:sp>
        <p:nvSpPr>
          <p:cNvPr id="9" name="TextBox 4">
            <a:extLst>
              <a:ext uri="{FF2B5EF4-FFF2-40B4-BE49-F238E27FC236}">
                <a16:creationId xmlns:a16="http://schemas.microsoft.com/office/drawing/2014/main" id="{73AFC591-EF3D-1D58-5FFC-6B32AAD916FF}"/>
              </a:ext>
            </a:extLst>
          </p:cNvPr>
          <p:cNvSpPr txBox="1"/>
          <p:nvPr/>
        </p:nvSpPr>
        <p:spPr>
          <a:xfrm>
            <a:off x="838200" y="6725420"/>
            <a:ext cx="4876800" cy="997902"/>
          </a:xfrm>
          <a:prstGeom prst="rect">
            <a:avLst/>
          </a:prstGeom>
        </p:spPr>
        <p:txBody>
          <a:bodyPr wrap="square" lIns="0" tIns="0" rIns="0" bIns="0" rtlCol="0" anchor="t">
            <a:spAutoFit/>
          </a:bodyPr>
          <a:lstStyle/>
          <a:p>
            <a:pPr algn="l">
              <a:lnSpc>
                <a:spcPts val="8496"/>
              </a:lnSpc>
            </a:pPr>
            <a:r>
              <a:rPr lang="en-US" sz="6000" b="1" spc="-265">
                <a:solidFill>
                  <a:srgbClr val="EBD6FB"/>
                </a:solidFill>
                <a:latin typeface="Times New Roman Bold"/>
                <a:ea typeface="Times New Roman Bold"/>
                <a:cs typeface="Times New Roman Bold"/>
                <a:sym typeface="Times New Roman Bold"/>
              </a:rPr>
              <a:t>Perspectives</a:t>
            </a:r>
          </a:p>
        </p:txBody>
      </p:sp>
      <p:sp>
        <p:nvSpPr>
          <p:cNvPr id="23" name="Ellipse 22">
            <a:extLst>
              <a:ext uri="{FF2B5EF4-FFF2-40B4-BE49-F238E27FC236}">
                <a16:creationId xmlns:a16="http://schemas.microsoft.com/office/drawing/2014/main" id="{86295E9F-DEF6-4169-FD08-489610EE0664}"/>
              </a:ext>
            </a:extLst>
          </p:cNvPr>
          <p:cNvSpPr/>
          <p:nvPr/>
        </p:nvSpPr>
        <p:spPr>
          <a:xfrm>
            <a:off x="-1155449" y="-985157"/>
            <a:ext cx="2177143" cy="1970314"/>
          </a:xfrm>
          <a:prstGeom prst="ellipse">
            <a:avLst/>
          </a:prstGeom>
          <a:noFill/>
          <a:ln w="381000" cap="flat" cmpd="sng" algn="ctr">
            <a:solidFill>
              <a:srgbClr val="9964CC"/>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TN">
              <a:solidFill>
                <a:srgbClr val="00195C"/>
              </a:solidFill>
            </a:endParaRPr>
          </a:p>
        </p:txBody>
      </p:sp>
      <p:sp>
        <p:nvSpPr>
          <p:cNvPr id="24" name="Ellipse 23">
            <a:extLst>
              <a:ext uri="{FF2B5EF4-FFF2-40B4-BE49-F238E27FC236}">
                <a16:creationId xmlns:a16="http://schemas.microsoft.com/office/drawing/2014/main" id="{B71CD5D0-A88D-C2E5-5A79-C53B664DDFE0}"/>
              </a:ext>
            </a:extLst>
          </p:cNvPr>
          <p:cNvSpPr/>
          <p:nvPr/>
        </p:nvSpPr>
        <p:spPr>
          <a:xfrm rot="8330170">
            <a:off x="16863477" y="9026762"/>
            <a:ext cx="2177143" cy="1970314"/>
          </a:xfrm>
          <a:prstGeom prst="ellipse">
            <a:avLst/>
          </a:prstGeom>
          <a:noFill/>
          <a:ln w="381000" cap="flat" cmpd="sng" algn="ctr">
            <a:solidFill>
              <a:srgbClr val="9964CC"/>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TN">
              <a:solidFill>
                <a:srgbClr val="00195C"/>
              </a:solidFill>
            </a:endParaRPr>
          </a:p>
        </p:txBody>
      </p:sp>
      <p:sp>
        <p:nvSpPr>
          <p:cNvPr id="5" name="Freeform 2">
            <a:extLst>
              <a:ext uri="{FF2B5EF4-FFF2-40B4-BE49-F238E27FC236}">
                <a16:creationId xmlns:a16="http://schemas.microsoft.com/office/drawing/2014/main" id="{540F0800-7914-9F00-617C-42C080F508D3}"/>
              </a:ext>
            </a:extLst>
          </p:cNvPr>
          <p:cNvSpPr/>
          <p:nvPr/>
        </p:nvSpPr>
        <p:spPr>
          <a:xfrm>
            <a:off x="15110460" y="11989405"/>
            <a:ext cx="2304716" cy="1840963"/>
          </a:xfrm>
          <a:custGeom>
            <a:avLst/>
            <a:gdLst/>
            <a:ahLst/>
            <a:cxnLst/>
            <a:rect l="l" t="t" r="r" b="b"/>
            <a:pathLst>
              <a:path w="2304716" h="1840963">
                <a:moveTo>
                  <a:pt x="0" y="0"/>
                </a:moveTo>
                <a:lnTo>
                  <a:pt x="2304716" y="0"/>
                </a:lnTo>
                <a:lnTo>
                  <a:pt x="2304716" y="1840962"/>
                </a:lnTo>
                <a:lnTo>
                  <a:pt x="0" y="1840962"/>
                </a:lnTo>
                <a:lnTo>
                  <a:pt x="0" y="0"/>
                </a:lnTo>
                <a:close/>
              </a:path>
            </a:pathLst>
          </a:custGeom>
          <a:blipFill>
            <a:blip r:embed="rId3"/>
            <a:stretch>
              <a:fillRect/>
            </a:stretch>
          </a:blipFill>
        </p:spPr>
        <p:txBody>
          <a:bodyPr/>
          <a:lstStyle/>
          <a:p>
            <a:endParaRPr lang="fr-TN"/>
          </a:p>
        </p:txBody>
      </p:sp>
    </p:spTree>
    <p:extLst>
      <p:ext uri="{BB962C8B-B14F-4D97-AF65-F5344CB8AC3E}">
        <p14:creationId xmlns:p14="http://schemas.microsoft.com/office/powerpoint/2010/main" val="30479604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0F7FE"/>
        </a:solidFill>
        <a:effectLst/>
      </p:bgPr>
    </p:bg>
    <p:spTree>
      <p:nvGrpSpPr>
        <p:cNvPr id="1" name="">
          <a:extLst>
            <a:ext uri="{FF2B5EF4-FFF2-40B4-BE49-F238E27FC236}">
              <a16:creationId xmlns:a16="http://schemas.microsoft.com/office/drawing/2014/main" id="{27C0D4B1-75A6-D50A-4F82-45A26EC8C3C9}"/>
            </a:ext>
          </a:extLst>
        </p:cNvPr>
        <p:cNvGrpSpPr/>
        <p:nvPr/>
      </p:nvGrpSpPr>
      <p:grpSpPr>
        <a:xfrm>
          <a:off x="0" y="0"/>
          <a:ext cx="0" cy="0"/>
          <a:chOff x="0" y="0"/>
          <a:chExt cx="0" cy="0"/>
        </a:xfrm>
      </p:grpSpPr>
      <p:sp>
        <p:nvSpPr>
          <p:cNvPr id="22" name="TextBox 2">
            <a:extLst>
              <a:ext uri="{FF2B5EF4-FFF2-40B4-BE49-F238E27FC236}">
                <a16:creationId xmlns:a16="http://schemas.microsoft.com/office/drawing/2014/main" id="{F88707B0-588B-4DC7-28A8-BC6A89888162}"/>
              </a:ext>
            </a:extLst>
          </p:cNvPr>
          <p:cNvSpPr txBox="1"/>
          <p:nvPr/>
        </p:nvSpPr>
        <p:spPr>
          <a:xfrm>
            <a:off x="18764584" y="357867"/>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1</a:t>
            </a:r>
          </a:p>
        </p:txBody>
      </p:sp>
      <p:sp>
        <p:nvSpPr>
          <p:cNvPr id="23" name="TextBox 3">
            <a:extLst>
              <a:ext uri="{FF2B5EF4-FFF2-40B4-BE49-F238E27FC236}">
                <a16:creationId xmlns:a16="http://schemas.microsoft.com/office/drawing/2014/main" id="{82AB1FBB-0832-1276-7B84-669E74B72CBF}"/>
              </a:ext>
            </a:extLst>
          </p:cNvPr>
          <p:cNvSpPr txBox="1"/>
          <p:nvPr/>
        </p:nvSpPr>
        <p:spPr>
          <a:xfrm>
            <a:off x="-14478000" y="6518276"/>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4</a:t>
            </a:r>
          </a:p>
        </p:txBody>
      </p:sp>
      <p:sp>
        <p:nvSpPr>
          <p:cNvPr id="24" name="TextBox 4">
            <a:extLst>
              <a:ext uri="{FF2B5EF4-FFF2-40B4-BE49-F238E27FC236}">
                <a16:creationId xmlns:a16="http://schemas.microsoft.com/office/drawing/2014/main" id="{D6F1BB00-6C24-714B-AE74-360E96AB34FF}"/>
              </a:ext>
            </a:extLst>
          </p:cNvPr>
          <p:cNvSpPr txBox="1"/>
          <p:nvPr/>
        </p:nvSpPr>
        <p:spPr>
          <a:xfrm>
            <a:off x="24378868" y="357867"/>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2</a:t>
            </a:r>
          </a:p>
        </p:txBody>
      </p:sp>
      <p:sp>
        <p:nvSpPr>
          <p:cNvPr id="25" name="TextBox 5">
            <a:extLst>
              <a:ext uri="{FF2B5EF4-FFF2-40B4-BE49-F238E27FC236}">
                <a16:creationId xmlns:a16="http://schemas.microsoft.com/office/drawing/2014/main" id="{F54D5D56-3B5C-056C-5FB0-1EA0CD38D10F}"/>
              </a:ext>
            </a:extLst>
          </p:cNvPr>
          <p:cNvSpPr txBox="1"/>
          <p:nvPr/>
        </p:nvSpPr>
        <p:spPr>
          <a:xfrm>
            <a:off x="-8863716" y="6518276"/>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5</a:t>
            </a:r>
          </a:p>
        </p:txBody>
      </p:sp>
      <p:sp>
        <p:nvSpPr>
          <p:cNvPr id="26" name="TextBox 10">
            <a:extLst>
              <a:ext uri="{FF2B5EF4-FFF2-40B4-BE49-F238E27FC236}">
                <a16:creationId xmlns:a16="http://schemas.microsoft.com/office/drawing/2014/main" id="{750F1A5C-D6A0-8719-89E4-A43B3AEB58E6}"/>
              </a:ext>
            </a:extLst>
          </p:cNvPr>
          <p:cNvSpPr txBox="1"/>
          <p:nvPr/>
        </p:nvSpPr>
        <p:spPr>
          <a:xfrm>
            <a:off x="29994559" y="357867"/>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3</a:t>
            </a:r>
          </a:p>
        </p:txBody>
      </p:sp>
      <p:sp>
        <p:nvSpPr>
          <p:cNvPr id="27" name="TextBox 11">
            <a:extLst>
              <a:ext uri="{FF2B5EF4-FFF2-40B4-BE49-F238E27FC236}">
                <a16:creationId xmlns:a16="http://schemas.microsoft.com/office/drawing/2014/main" id="{48F48A1B-0471-7B46-97FA-A10110F48221}"/>
              </a:ext>
            </a:extLst>
          </p:cNvPr>
          <p:cNvSpPr txBox="1"/>
          <p:nvPr/>
        </p:nvSpPr>
        <p:spPr>
          <a:xfrm>
            <a:off x="-3248025" y="6518276"/>
            <a:ext cx="2543132" cy="3425824"/>
          </a:xfrm>
          <a:prstGeom prst="rect">
            <a:avLst/>
          </a:prstGeom>
        </p:spPr>
        <p:txBody>
          <a:bodyPr lIns="0" tIns="0" rIns="0" bIns="0" rtlCol="0" anchor="t">
            <a:spAutoFit/>
          </a:bodyPr>
          <a:lstStyle/>
          <a:p>
            <a:pPr algn="ctr">
              <a:lnSpc>
                <a:spcPts val="28000"/>
              </a:lnSpc>
              <a:spcBef>
                <a:spcPct val="0"/>
              </a:spcBef>
            </a:pPr>
            <a:r>
              <a:rPr lang="en-US" sz="20000" b="1">
                <a:solidFill>
                  <a:srgbClr val="6C63FF"/>
                </a:solidFill>
                <a:latin typeface="Bricolage Grotesque Bold"/>
                <a:ea typeface="Bricolage Grotesque Bold"/>
                <a:cs typeface="Bricolage Grotesque Bold"/>
                <a:sym typeface="Bricolage Grotesque Bold"/>
              </a:rPr>
              <a:t>6</a:t>
            </a:r>
          </a:p>
        </p:txBody>
      </p:sp>
      <p:sp>
        <p:nvSpPr>
          <p:cNvPr id="2" name="Freeform 2">
            <a:extLst>
              <a:ext uri="{FF2B5EF4-FFF2-40B4-BE49-F238E27FC236}">
                <a16:creationId xmlns:a16="http://schemas.microsoft.com/office/drawing/2014/main" id="{EBC8B2A2-EB77-C76F-514A-F7A82E6502B4}"/>
              </a:ext>
            </a:extLst>
          </p:cNvPr>
          <p:cNvSpPr/>
          <p:nvPr/>
        </p:nvSpPr>
        <p:spPr>
          <a:xfrm>
            <a:off x="878514" y="357867"/>
            <a:ext cx="2304716" cy="1840963"/>
          </a:xfrm>
          <a:custGeom>
            <a:avLst/>
            <a:gdLst/>
            <a:ahLst/>
            <a:cxnLst/>
            <a:rect l="l" t="t" r="r" b="b"/>
            <a:pathLst>
              <a:path w="2304716" h="1840963">
                <a:moveTo>
                  <a:pt x="0" y="0"/>
                </a:moveTo>
                <a:lnTo>
                  <a:pt x="2304716" y="0"/>
                </a:lnTo>
                <a:lnTo>
                  <a:pt x="2304716" y="1840962"/>
                </a:lnTo>
                <a:lnTo>
                  <a:pt x="0" y="1840962"/>
                </a:lnTo>
                <a:lnTo>
                  <a:pt x="0" y="0"/>
                </a:lnTo>
                <a:close/>
              </a:path>
            </a:pathLst>
          </a:custGeom>
          <a:blipFill>
            <a:blip r:embed="rId2"/>
            <a:stretch>
              <a:fillRect/>
            </a:stretch>
          </a:blipFill>
        </p:spPr>
        <p:txBody>
          <a:bodyPr/>
          <a:lstStyle/>
          <a:p>
            <a:endParaRPr lang="fr-TN"/>
          </a:p>
        </p:txBody>
      </p:sp>
      <p:sp>
        <p:nvSpPr>
          <p:cNvPr id="3" name="Freeform 3">
            <a:extLst>
              <a:ext uri="{FF2B5EF4-FFF2-40B4-BE49-F238E27FC236}">
                <a16:creationId xmlns:a16="http://schemas.microsoft.com/office/drawing/2014/main" id="{EF4DAC32-4D59-0B67-369A-0D27E39C2288}"/>
              </a:ext>
            </a:extLst>
          </p:cNvPr>
          <p:cNvSpPr/>
          <p:nvPr/>
        </p:nvSpPr>
        <p:spPr>
          <a:xfrm>
            <a:off x="15098908" y="-5198"/>
            <a:ext cx="2104457" cy="2939283"/>
          </a:xfrm>
          <a:custGeom>
            <a:avLst/>
            <a:gdLst/>
            <a:ahLst/>
            <a:cxnLst/>
            <a:rect l="l" t="t" r="r" b="b"/>
            <a:pathLst>
              <a:path w="2104457" h="2939283">
                <a:moveTo>
                  <a:pt x="0" y="0"/>
                </a:moveTo>
                <a:lnTo>
                  <a:pt x="2104457" y="0"/>
                </a:lnTo>
                <a:lnTo>
                  <a:pt x="2104457" y="2939283"/>
                </a:lnTo>
                <a:lnTo>
                  <a:pt x="0" y="29392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fr-TN"/>
          </a:p>
        </p:txBody>
      </p:sp>
      <p:sp>
        <p:nvSpPr>
          <p:cNvPr id="4" name="TextBox 4">
            <a:extLst>
              <a:ext uri="{FF2B5EF4-FFF2-40B4-BE49-F238E27FC236}">
                <a16:creationId xmlns:a16="http://schemas.microsoft.com/office/drawing/2014/main" id="{0C2DE89C-BF3E-C6A5-4189-D7B7AB99627C}"/>
              </a:ext>
            </a:extLst>
          </p:cNvPr>
          <p:cNvSpPr txBox="1"/>
          <p:nvPr/>
        </p:nvSpPr>
        <p:spPr>
          <a:xfrm>
            <a:off x="5235819" y="970259"/>
            <a:ext cx="7810500" cy="861518"/>
          </a:xfrm>
          <a:prstGeom prst="rect">
            <a:avLst/>
          </a:prstGeom>
        </p:spPr>
        <p:txBody>
          <a:bodyPr wrap="square" lIns="0" tIns="0" rIns="0" bIns="0" rtlCol="0" anchor="t">
            <a:spAutoFit/>
          </a:bodyPr>
          <a:lstStyle/>
          <a:p>
            <a:pPr marL="0" lvl="0" indent="0" algn="ctr">
              <a:lnSpc>
                <a:spcPts val="3541"/>
              </a:lnSpc>
              <a:spcBef>
                <a:spcPct val="0"/>
              </a:spcBef>
            </a:pPr>
            <a:r>
              <a:rPr lang="en-US" sz="2529" b="1" u="none" strike="noStrike" spc="-159">
                <a:solidFill>
                  <a:srgbClr val="1A1A2E"/>
                </a:solidFill>
                <a:latin typeface="Times New Roman" panose="02020603050405020304" pitchFamily="18" charset="0"/>
                <a:ea typeface="Proxima Nova Bold"/>
                <a:cs typeface="Times New Roman" panose="02020603050405020304" pitchFamily="18" charset="0"/>
                <a:sym typeface="Proxima Nova Bold"/>
              </a:rPr>
              <a:t>UNIVERSITÉ DE MONASTIR </a:t>
            </a:r>
          </a:p>
          <a:p>
            <a:pPr marL="0" lvl="0" indent="0" algn="ctr">
              <a:lnSpc>
                <a:spcPts val="3541"/>
              </a:lnSpc>
              <a:spcBef>
                <a:spcPct val="0"/>
              </a:spcBef>
            </a:pPr>
            <a:r>
              <a:rPr lang="en-US" sz="2529" b="1" u="none" strike="noStrike" spc="-159">
                <a:solidFill>
                  <a:srgbClr val="1A1A2E"/>
                </a:solidFill>
                <a:latin typeface="Times New Roman" panose="02020603050405020304" pitchFamily="18" charset="0"/>
                <a:ea typeface="Proxima Nova Bold"/>
                <a:cs typeface="Times New Roman" panose="02020603050405020304" pitchFamily="18" charset="0"/>
                <a:sym typeface="Proxima Nova Bold"/>
              </a:rPr>
              <a:t> INSTITUT SUPÉRIEUR D'INFORMATIQUE DE MAHDIA </a:t>
            </a:r>
          </a:p>
        </p:txBody>
      </p:sp>
      <p:sp>
        <p:nvSpPr>
          <p:cNvPr id="5" name="TextBox 5">
            <a:extLst>
              <a:ext uri="{FF2B5EF4-FFF2-40B4-BE49-F238E27FC236}">
                <a16:creationId xmlns:a16="http://schemas.microsoft.com/office/drawing/2014/main" id="{E2967DCF-CAED-0FB5-7CA0-8B11D384F267}"/>
              </a:ext>
            </a:extLst>
          </p:cNvPr>
          <p:cNvSpPr txBox="1"/>
          <p:nvPr/>
        </p:nvSpPr>
        <p:spPr>
          <a:xfrm>
            <a:off x="4757622" y="2904907"/>
            <a:ext cx="11701578" cy="1439818"/>
          </a:xfrm>
          <a:prstGeom prst="rect">
            <a:avLst/>
          </a:prstGeom>
        </p:spPr>
        <p:txBody>
          <a:bodyPr wrap="square" lIns="0" tIns="0" rIns="0" bIns="0" rtlCol="0" anchor="t">
            <a:spAutoFit/>
          </a:bodyPr>
          <a:lstStyle/>
          <a:p>
            <a:pPr marL="0" lvl="0" indent="0" algn="l">
              <a:lnSpc>
                <a:spcPts val="5631"/>
              </a:lnSpc>
              <a:spcBef>
                <a:spcPct val="0"/>
              </a:spcBef>
            </a:pPr>
            <a:r>
              <a:rPr lang="en-US" sz="6399" b="1" u="none" strike="noStrike" spc="-403">
                <a:solidFill>
                  <a:srgbClr val="7030A0"/>
                </a:solidFill>
                <a:latin typeface="Times New Roman" panose="02020603050405020304" pitchFamily="18" charset="0"/>
                <a:ea typeface="Proxima Nova Bold"/>
                <a:cs typeface="Times New Roman" panose="02020603050405020304" pitchFamily="18" charset="0"/>
                <a:sym typeface="Proxima Nova Bold"/>
              </a:rPr>
              <a:t>PROJET DE FIN D'ÉTUDES</a:t>
            </a:r>
          </a:p>
          <a:p>
            <a:pPr algn="l">
              <a:lnSpc>
                <a:spcPts val="5631"/>
              </a:lnSpc>
            </a:pPr>
            <a:endParaRPr lang="en-US" sz="6399" b="1" u="none" strike="noStrike" spc="-403">
              <a:solidFill>
                <a:srgbClr val="1A1A2E"/>
              </a:solidFill>
              <a:latin typeface="Proxima Nova Bold"/>
              <a:ea typeface="Proxima Nova Bold"/>
              <a:cs typeface="Proxima Nova Bold"/>
              <a:sym typeface="Proxima Nova Bold"/>
            </a:endParaRPr>
          </a:p>
        </p:txBody>
      </p:sp>
      <p:sp>
        <p:nvSpPr>
          <p:cNvPr id="6" name="TextBox 6">
            <a:extLst>
              <a:ext uri="{FF2B5EF4-FFF2-40B4-BE49-F238E27FC236}">
                <a16:creationId xmlns:a16="http://schemas.microsoft.com/office/drawing/2014/main" id="{34A98F2A-2359-A4F9-3026-AA5F10323F9B}"/>
              </a:ext>
            </a:extLst>
          </p:cNvPr>
          <p:cNvSpPr txBox="1"/>
          <p:nvPr/>
        </p:nvSpPr>
        <p:spPr>
          <a:xfrm>
            <a:off x="1483846" y="8420100"/>
            <a:ext cx="3699140" cy="949071"/>
          </a:xfrm>
          <a:prstGeom prst="rect">
            <a:avLst/>
          </a:prstGeom>
        </p:spPr>
        <p:txBody>
          <a:bodyPr wrap="square" lIns="0" tIns="0" rIns="0" bIns="0" rtlCol="0" anchor="t">
            <a:spAutoFit/>
          </a:bodyPr>
          <a:lstStyle/>
          <a:p>
            <a:pPr marL="0" lvl="0" indent="0" algn="ctr">
              <a:lnSpc>
                <a:spcPts val="3863"/>
              </a:lnSpc>
              <a:spcBef>
                <a:spcPct val="0"/>
              </a:spcBef>
            </a:pPr>
            <a:r>
              <a:rPr lang="en-US" sz="2760" b="1" u="none" strike="noStrike" dirty="0" err="1">
                <a:solidFill>
                  <a:srgbClr val="7030A0"/>
                </a:solidFill>
                <a:latin typeface="Proxima Nova Bold"/>
                <a:ea typeface="Proxima Nova Bold"/>
                <a:cs typeface="Proxima Nova Bold"/>
                <a:sym typeface="Proxima Nova Bold"/>
              </a:rPr>
              <a:t>Encadrant</a:t>
            </a:r>
            <a:r>
              <a:rPr lang="en-US" sz="2760" b="1" u="none" strike="noStrike" dirty="0">
                <a:solidFill>
                  <a:srgbClr val="7030A0"/>
                </a:solidFill>
                <a:latin typeface="Proxima Nova Bold"/>
                <a:ea typeface="Proxima Nova Bold"/>
                <a:cs typeface="Proxima Nova Bold"/>
                <a:sym typeface="Proxima Nova Bold"/>
              </a:rPr>
              <a:t> </a:t>
            </a:r>
            <a:r>
              <a:rPr lang="en-US" sz="2760" b="1" u="none" strike="noStrike" dirty="0" err="1">
                <a:solidFill>
                  <a:srgbClr val="7030A0"/>
                </a:solidFill>
                <a:latin typeface="Proxima Nova Bold"/>
                <a:ea typeface="Proxima Nova Bold"/>
                <a:cs typeface="Proxima Nova Bold"/>
                <a:sym typeface="Proxima Nova Bold"/>
              </a:rPr>
              <a:t>Académique</a:t>
            </a:r>
            <a:endParaRPr lang="en-US" sz="2760" b="1" u="none" strike="noStrike" dirty="0">
              <a:solidFill>
                <a:srgbClr val="7030A0"/>
              </a:solidFill>
              <a:latin typeface="Proxima Nova Bold"/>
              <a:ea typeface="Proxima Nova Bold"/>
              <a:cs typeface="Proxima Nova Bold"/>
              <a:sym typeface="Proxima Nova Bold"/>
            </a:endParaRPr>
          </a:p>
          <a:p>
            <a:pPr marL="0" lvl="0" indent="0" algn="ctr">
              <a:lnSpc>
                <a:spcPts val="3863"/>
              </a:lnSpc>
              <a:spcBef>
                <a:spcPct val="0"/>
              </a:spcBef>
            </a:pPr>
            <a:r>
              <a:rPr lang="en-US" sz="2760" b="1" u="none" strike="noStrike" dirty="0">
                <a:solidFill>
                  <a:srgbClr val="1A1A2E"/>
                </a:solidFill>
                <a:latin typeface="Proxima Nova Bold"/>
                <a:ea typeface="Proxima Nova Bold"/>
                <a:cs typeface="Proxima Nova Bold"/>
                <a:sym typeface="Proxima Nova Bold"/>
              </a:rPr>
              <a:t>Hamdi </a:t>
            </a:r>
            <a:r>
              <a:rPr lang="en-US" sz="2760" b="1" u="none" strike="noStrike" dirty="0" err="1">
                <a:solidFill>
                  <a:srgbClr val="1A1A2E"/>
                </a:solidFill>
                <a:latin typeface="Proxima Nova Bold"/>
                <a:ea typeface="Proxima Nova Bold"/>
                <a:cs typeface="Proxima Nova Bold"/>
                <a:sym typeface="Proxima Nova Bold"/>
              </a:rPr>
              <a:t>Aloulou</a:t>
            </a:r>
            <a:r>
              <a:rPr lang="en-US" sz="2760" b="1" u="none" strike="noStrike" dirty="0">
                <a:solidFill>
                  <a:srgbClr val="1A1A2E"/>
                </a:solidFill>
                <a:latin typeface="Proxima Nova Bold"/>
                <a:ea typeface="Proxima Nova Bold"/>
                <a:cs typeface="Proxima Nova Bold"/>
                <a:sym typeface="Proxima Nova Bold"/>
              </a:rPr>
              <a:t> </a:t>
            </a:r>
          </a:p>
        </p:txBody>
      </p:sp>
      <p:sp>
        <p:nvSpPr>
          <p:cNvPr id="7" name="TextBox 7">
            <a:extLst>
              <a:ext uri="{FF2B5EF4-FFF2-40B4-BE49-F238E27FC236}">
                <a16:creationId xmlns:a16="http://schemas.microsoft.com/office/drawing/2014/main" id="{12A24DDF-341A-5DBC-20B4-F8A2D4E83C8E}"/>
              </a:ext>
            </a:extLst>
          </p:cNvPr>
          <p:cNvSpPr txBox="1"/>
          <p:nvPr/>
        </p:nvSpPr>
        <p:spPr>
          <a:xfrm>
            <a:off x="12297343" y="8290624"/>
            <a:ext cx="5715000" cy="949071"/>
          </a:xfrm>
          <a:prstGeom prst="rect">
            <a:avLst/>
          </a:prstGeom>
        </p:spPr>
        <p:txBody>
          <a:bodyPr wrap="square" lIns="0" tIns="0" rIns="0" bIns="0" rtlCol="0" anchor="t">
            <a:spAutoFit/>
          </a:bodyPr>
          <a:lstStyle/>
          <a:p>
            <a:pPr marL="0" lvl="0" indent="0" algn="ctr">
              <a:lnSpc>
                <a:spcPts val="3863"/>
              </a:lnSpc>
              <a:spcBef>
                <a:spcPct val="0"/>
              </a:spcBef>
            </a:pPr>
            <a:r>
              <a:rPr lang="en-US" sz="2760" b="1" u="none" strike="noStrike" err="1">
                <a:solidFill>
                  <a:srgbClr val="7030A0"/>
                </a:solidFill>
                <a:latin typeface="Proxima Nova Bold"/>
                <a:ea typeface="Proxima Nova Bold"/>
                <a:cs typeface="Proxima Nova Bold"/>
                <a:sym typeface="Proxima Nova Bold"/>
              </a:rPr>
              <a:t>Elaboré</a:t>
            </a:r>
            <a:r>
              <a:rPr lang="en-US" sz="2760" b="1" u="none" strike="noStrike">
                <a:solidFill>
                  <a:srgbClr val="7030A0"/>
                </a:solidFill>
                <a:latin typeface="Proxima Nova Bold"/>
                <a:ea typeface="Proxima Nova Bold"/>
                <a:cs typeface="Proxima Nova Bold"/>
                <a:sym typeface="Proxima Nova Bold"/>
              </a:rPr>
              <a:t> par </a:t>
            </a:r>
          </a:p>
          <a:p>
            <a:pPr marL="0" lvl="0" indent="0" algn="ctr">
              <a:lnSpc>
                <a:spcPts val="3863"/>
              </a:lnSpc>
              <a:spcBef>
                <a:spcPct val="0"/>
              </a:spcBef>
            </a:pPr>
            <a:r>
              <a:rPr lang="en-US" sz="2760" b="1" u="none" strike="noStrike">
                <a:solidFill>
                  <a:srgbClr val="1A1A2E"/>
                </a:solidFill>
                <a:latin typeface="Proxima Nova Bold"/>
                <a:ea typeface="Proxima Nova Bold"/>
                <a:cs typeface="Proxima Nova Bold"/>
                <a:sym typeface="Proxima Nova Bold"/>
              </a:rPr>
              <a:t>Aziz Dhifaoui</a:t>
            </a:r>
          </a:p>
        </p:txBody>
      </p:sp>
      <p:grpSp>
        <p:nvGrpSpPr>
          <p:cNvPr id="21" name="Group 20">
            <a:extLst>
              <a:ext uri="{FF2B5EF4-FFF2-40B4-BE49-F238E27FC236}">
                <a16:creationId xmlns:a16="http://schemas.microsoft.com/office/drawing/2014/main" id="{1498E0B0-018D-0A02-52DD-D799A81A95D9}"/>
              </a:ext>
            </a:extLst>
          </p:cNvPr>
          <p:cNvGrpSpPr/>
          <p:nvPr/>
        </p:nvGrpSpPr>
        <p:grpSpPr>
          <a:xfrm>
            <a:off x="1330901" y="4330437"/>
            <a:ext cx="15626198" cy="2667000"/>
            <a:chOff x="1638964" y="4152900"/>
            <a:chExt cx="15626198" cy="2667000"/>
          </a:xfrm>
        </p:grpSpPr>
        <p:sp>
          <p:nvSpPr>
            <p:cNvPr id="9" name="TextBox 9">
              <a:extLst>
                <a:ext uri="{FF2B5EF4-FFF2-40B4-BE49-F238E27FC236}">
                  <a16:creationId xmlns:a16="http://schemas.microsoft.com/office/drawing/2014/main" id="{E0BC0424-C0AB-22CF-AE7F-D9A451B327AE}"/>
                </a:ext>
              </a:extLst>
            </p:cNvPr>
            <p:cNvSpPr txBox="1"/>
            <p:nvPr/>
          </p:nvSpPr>
          <p:spPr>
            <a:xfrm>
              <a:off x="1644826" y="4513597"/>
              <a:ext cx="15620336" cy="641201"/>
            </a:xfrm>
            <a:prstGeom prst="rect">
              <a:avLst/>
            </a:prstGeom>
          </p:spPr>
          <p:txBody>
            <a:bodyPr lIns="0" tIns="0" rIns="0" bIns="0" rtlCol="0" anchor="t">
              <a:spAutoFit/>
            </a:bodyPr>
            <a:lstStyle/>
            <a:p>
              <a:pPr marL="0" lvl="0" indent="0" algn="ctr">
                <a:lnSpc>
                  <a:spcPts val="4950"/>
                </a:lnSpc>
                <a:spcBef>
                  <a:spcPct val="0"/>
                </a:spcBef>
              </a:pPr>
              <a:r>
                <a:rPr lang="en-US" sz="5000" b="1" u="none" strike="noStrike" spc="460">
                  <a:solidFill>
                    <a:srgbClr val="1A1A2E"/>
                  </a:solidFill>
                  <a:latin typeface="Times New Roman" panose="02020603050405020304" pitchFamily="18" charset="0"/>
                  <a:ea typeface="Proxima Nova Bold"/>
                  <a:cs typeface="Times New Roman" panose="02020603050405020304" pitchFamily="18" charset="0"/>
                  <a:sym typeface="Proxima Nova Bold"/>
                </a:rPr>
                <a:t>NG-IDPS</a:t>
              </a:r>
            </a:p>
          </p:txBody>
        </p:sp>
        <p:cxnSp>
          <p:nvCxnSpPr>
            <p:cNvPr id="11" name="Connecteur droit 10">
              <a:extLst>
                <a:ext uri="{FF2B5EF4-FFF2-40B4-BE49-F238E27FC236}">
                  <a16:creationId xmlns:a16="http://schemas.microsoft.com/office/drawing/2014/main" id="{B174B64B-03B9-A404-34C1-0D8A5B34399C}"/>
                </a:ext>
              </a:extLst>
            </p:cNvPr>
            <p:cNvCxnSpPr>
              <a:cxnSpLocks/>
            </p:cNvCxnSpPr>
            <p:nvPr/>
          </p:nvCxnSpPr>
          <p:spPr>
            <a:xfrm>
              <a:off x="2438400" y="6819900"/>
              <a:ext cx="14097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C7FA0783-9029-080C-6E5C-FE6D464DB9EC}"/>
                </a:ext>
              </a:extLst>
            </p:cNvPr>
            <p:cNvCxnSpPr>
              <a:cxnSpLocks/>
            </p:cNvCxnSpPr>
            <p:nvPr/>
          </p:nvCxnSpPr>
          <p:spPr>
            <a:xfrm>
              <a:off x="2362200" y="4152900"/>
              <a:ext cx="14097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TextBox 9">
              <a:extLst>
                <a:ext uri="{FF2B5EF4-FFF2-40B4-BE49-F238E27FC236}">
                  <a16:creationId xmlns:a16="http://schemas.microsoft.com/office/drawing/2014/main" id="{6D067E6A-1E0A-245C-C370-A22FDE17CC43}"/>
                </a:ext>
              </a:extLst>
            </p:cNvPr>
            <p:cNvSpPr txBox="1"/>
            <p:nvPr/>
          </p:nvSpPr>
          <p:spPr>
            <a:xfrm>
              <a:off x="1638964" y="5224102"/>
              <a:ext cx="15620336" cy="1231106"/>
            </a:xfrm>
            <a:prstGeom prst="rect">
              <a:avLst/>
            </a:prstGeom>
          </p:spPr>
          <p:txBody>
            <a:bodyPr lIns="0" tIns="0" rIns="0" bIns="0" rtlCol="0" anchor="t">
              <a:spAutoFit/>
            </a:bodyPr>
            <a:lstStyle/>
            <a:p>
              <a:pPr algn="ctr"/>
              <a:r>
                <a:rPr lang="fr-FR" sz="4000" i="1" dirty="0">
                  <a:latin typeface="Times New Roman" panose="02020603050405020304" pitchFamily="18" charset="0"/>
                  <a:cs typeface="Times New Roman" panose="02020603050405020304" pitchFamily="18" charset="0"/>
                </a:rPr>
                <a:t>Plateforme autonome de cyberdéfense pour la détection et la prévention </a:t>
              </a:r>
            </a:p>
            <a:p>
              <a:pPr algn="ctr"/>
              <a:r>
                <a:rPr lang="fr-FR" sz="4000" i="1" dirty="0">
                  <a:latin typeface="Times New Roman" panose="02020603050405020304" pitchFamily="18" charset="0"/>
                  <a:cs typeface="Times New Roman" panose="02020603050405020304" pitchFamily="18" charset="0"/>
                </a:rPr>
                <a:t>des cyberattaques</a:t>
              </a:r>
              <a:endParaRPr lang="en-US" sz="4000" dirty="0">
                <a:effectLst/>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4124945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A539A0FC82CE845B23D17829AD420C2" ma:contentTypeVersion="6" ma:contentTypeDescription="Create a new document." ma:contentTypeScope="" ma:versionID="40f5163b8f0821511539ec881d575f7b">
  <xsd:schema xmlns:xsd="http://www.w3.org/2001/XMLSchema" xmlns:xs="http://www.w3.org/2001/XMLSchema" xmlns:p="http://schemas.microsoft.com/office/2006/metadata/properties" xmlns:ns3="c9ccaf80-d9df-456a-8bf7-56f413aac9e0" targetNamespace="http://schemas.microsoft.com/office/2006/metadata/properties" ma:root="true" ma:fieldsID="33cbaf6721cba15ce46876926baaf7fc" ns3:_="">
    <xsd:import namespace="c9ccaf80-d9df-456a-8bf7-56f413aac9e0"/>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MediaServiceSearchProperties" minOccurs="0"/>
                <xsd:element ref="ns3:MediaServiceDateTaken"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9ccaf80-d9df-456a-8bf7-56f413aac9e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_activity" ma:index="13"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c9ccaf80-d9df-456a-8bf7-56f413aac9e0" xsi:nil="true"/>
  </documentManagement>
</p:properties>
</file>

<file path=customXml/itemProps1.xml><?xml version="1.0" encoding="utf-8"?>
<ds:datastoreItem xmlns:ds="http://schemas.openxmlformats.org/officeDocument/2006/customXml" ds:itemID="{DFD64AE9-AE60-4FAA-AE5B-F0CCB691730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9ccaf80-d9df-456a-8bf7-56f413aac9e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01EBEC8-DE67-4435-8D1B-CB1928E4EE06}">
  <ds:schemaRefs>
    <ds:schemaRef ds:uri="http://schemas.microsoft.com/sharepoint/v3/contenttype/forms"/>
  </ds:schemaRefs>
</ds:datastoreItem>
</file>

<file path=customXml/itemProps3.xml><?xml version="1.0" encoding="utf-8"?>
<ds:datastoreItem xmlns:ds="http://schemas.openxmlformats.org/officeDocument/2006/customXml" ds:itemID="{B53F84C3-8936-4C5F-95B0-64A479EA862E}">
  <ds:schemaRefs>
    <ds:schemaRef ds:uri="http://schemas.openxmlformats.org/package/2006/metadata/core-properties"/>
    <ds:schemaRef ds:uri="http://schemas.microsoft.com/office/2006/documentManagement/types"/>
    <ds:schemaRef ds:uri="http://www.w3.org/XML/1998/namespace"/>
    <ds:schemaRef ds:uri="http://purl.org/dc/terms/"/>
    <ds:schemaRef ds:uri="c9ccaf80-d9df-456a-8bf7-56f413aac9e0"/>
    <ds:schemaRef ds:uri="http://purl.org/dc/dcmitype/"/>
    <ds:schemaRef ds:uri="http://purl.org/dc/elements/1.1/"/>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kacemghof (1)</Template>
  <TotalTime>569</TotalTime>
  <Words>4533</Words>
  <Application>Microsoft Office PowerPoint</Application>
  <PresentationFormat>Custom</PresentationFormat>
  <Paragraphs>461</Paragraphs>
  <Slides>35</Slides>
  <Notes>34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Times New Roman</vt:lpstr>
      <vt:lpstr>Calibri</vt:lpstr>
      <vt:lpstr>Times New Roman Bold</vt:lpstr>
      <vt:lpstr>Proxima Nova Bold</vt:lpstr>
      <vt:lpstr>Bricolage Grotesque Bold</vt:lpstr>
      <vt:lpstr>DejaVu Sans Light</vt:lpstr>
      <vt:lpstr>Arial</vt:lpstr>
      <vt:lpstr>Aptos</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aziz dhifaoui</dc:creator>
  <cp:lastModifiedBy>aziz dhifaoui</cp:lastModifiedBy>
  <cp:revision>3</cp:revision>
  <dcterms:created xsi:type="dcterms:W3CDTF">2026-10-10T11:58:30Z</dcterms:created>
  <dcterms:modified xsi:type="dcterms:W3CDTF">2026-10-13T10:26:28Z</dcterms:modified>
  <dc:identifier>DAHL-h76PEE</dc:identifie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0x0101006A539A0FC82CE845B23D17829AD420C2</vt:lpwstr>
  </property>
</Properties>
</file>